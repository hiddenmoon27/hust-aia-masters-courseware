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handoutMasterIdLst>
    <p:handoutMasterId r:id="rId43"/>
  </p:handoutMasterIdLst>
  <p:sldIdLst>
    <p:sldId id="257" r:id="rId2"/>
    <p:sldId id="539" r:id="rId3"/>
    <p:sldId id="596" r:id="rId4"/>
    <p:sldId id="597" r:id="rId5"/>
    <p:sldId id="598" r:id="rId6"/>
    <p:sldId id="599" r:id="rId7"/>
    <p:sldId id="600" r:id="rId8"/>
    <p:sldId id="601" r:id="rId9"/>
    <p:sldId id="535" r:id="rId10"/>
    <p:sldId id="537" r:id="rId11"/>
    <p:sldId id="602" r:id="rId12"/>
    <p:sldId id="612" r:id="rId13"/>
    <p:sldId id="486" r:id="rId14"/>
    <p:sldId id="287" r:id="rId15"/>
    <p:sldId id="609" r:id="rId16"/>
    <p:sldId id="538" r:id="rId17"/>
    <p:sldId id="300" r:id="rId18"/>
    <p:sldId id="610" r:id="rId19"/>
    <p:sldId id="385" r:id="rId20"/>
    <p:sldId id="540" r:id="rId21"/>
    <p:sldId id="541" r:id="rId22"/>
    <p:sldId id="534" r:id="rId23"/>
    <p:sldId id="388" r:id="rId24"/>
    <p:sldId id="611" r:id="rId25"/>
    <p:sldId id="811" r:id="rId26"/>
    <p:sldId id="812" r:id="rId27"/>
    <p:sldId id="834" r:id="rId28"/>
    <p:sldId id="835" r:id="rId29"/>
    <p:sldId id="836" r:id="rId30"/>
    <p:sldId id="837" r:id="rId31"/>
    <p:sldId id="551" r:id="rId32"/>
    <p:sldId id="552" r:id="rId33"/>
    <p:sldId id="603" r:id="rId34"/>
    <p:sldId id="553" r:id="rId35"/>
    <p:sldId id="554" r:id="rId36"/>
    <p:sldId id="555" r:id="rId37"/>
    <p:sldId id="593" r:id="rId38"/>
    <p:sldId id="604" r:id="rId39"/>
    <p:sldId id="605" r:id="rId40"/>
    <p:sldId id="606" r:id="rId41"/>
  </p:sldIdLst>
  <p:sldSz cx="9144000" cy="6858000" type="screen4x3"/>
  <p:notesSz cx="7099300" cy="10234613"/>
  <p:custShowLst>
    <p:custShow name="自定义放映1" id="0">
      <p:sldLst>
        <p:sld r:id="rId2"/>
      </p:sldLst>
    </p:custShow>
  </p:custShowLst>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0000"/>
    <a:srgbClr val="FFFFFF"/>
    <a:srgbClr val="FF9900"/>
    <a:srgbClr val="CC0099"/>
    <a:srgbClr val="FF66CC"/>
    <a:srgbClr val="FF99CC"/>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78"/>
    <p:restoredTop sz="94652"/>
  </p:normalViewPr>
  <p:slideViewPr>
    <p:cSldViewPr showGuides="1">
      <p:cViewPr varScale="1">
        <p:scale>
          <a:sx n="64" d="100"/>
          <a:sy n="64" d="100"/>
        </p:scale>
        <p:origin x="1380"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1747" name="Rectangle 3"/>
          <p:cNvSpPr>
            <a:spLocks noGrp="1" noChangeArrowheads="1"/>
          </p:cNvSpPr>
          <p:nvPr>
            <p:ph type="dt" sz="quarter"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3F8CDD84-A8CB-4477-99B9-AD3CCAF4EC94}" type="datetime1">
              <a:rPr kumimoji="1"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rPr>
              <a:t>2026/9/7</a:t>
            </a:fld>
            <a:endParaRPr kumimoji="1" lang="en-US" altLang="zh-CN" sz="13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1748" name="Rectangle 4"/>
          <p:cNvSpPr>
            <a:spLocks noGrp="1" noChangeArrowheads="1"/>
          </p:cNvSpPr>
          <p:nvPr>
            <p:ph type="ftr" sz="quarter" idx="2"/>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1749" name="Rectangle 5"/>
          <p:cNvSpPr>
            <a:spLocks noGrp="1" noChangeArrowheads="1"/>
          </p:cNvSpPr>
          <p:nvPr>
            <p:ph type="sldNum" sz="quarter" idx="3"/>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A8023455-A7CA-446A-B75C-22D5E92CE5F5}" type="slidenum">
              <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rPr>
              <a:t>‹#›</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0723"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19AA040B-C1B5-4D32-82A0-784A070E5229}" type="datetime1">
              <a:rPr kumimoji="1"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rPr>
              <a:t>2026/9/7</a:t>
            </a:fld>
            <a:endParaRPr kumimoji="1" lang="en-US" altLang="zh-CN" sz="13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2052" name="Rectangle 4"/>
          <p:cNvSpPr>
            <a:spLocks noGrp="1" noRot="1" noChangeAspect="1" noTextEdit="1"/>
          </p:cNvSpPr>
          <p:nvPr>
            <p:ph type="sldImg" idx="2"/>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mn-cs"/>
              </a:rPr>
              <a:t>第五级</a:t>
            </a:r>
          </a:p>
        </p:txBody>
      </p:sp>
      <p:sp>
        <p:nvSpPr>
          <p:cNvPr id="30726"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latinLnBrk="1" hangingPunct="1">
              <a:defRPr sz="1300">
                <a:latin typeface="Times New Roman" panose="02020603050405020304" pitchFamily="18" charset="0"/>
                <a:ea typeface="微软雅黑" panose="020B0503020204020204" pitchFamily="34" charset="-122"/>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
        <p:nvSpPr>
          <p:cNvPr id="30727"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eaLnBrk="1" latinLnBrk="1" hangingPunct="1">
              <a:defRPr sz="1300">
                <a:latin typeface="Times New Roman" panose="02020603050405020304" pitchFamily="18" charset="0"/>
                <a:ea typeface="微软雅黑" panose="020B0503020204020204" pitchFamily="34" charset="-122"/>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BC1F9884-5053-47F6-B977-9210A9ECFCC7}" type="slidenum">
              <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rPr>
              <a:t>‹#›</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txBox="1">
            <a:spLocks noGrp="1"/>
          </p:cNvSpPr>
          <p:nvPr>
            <p:ph type="dt" sz="half"/>
          </p:nvPr>
        </p:nvSpPr>
        <p:spPr>
          <a:xfrm>
            <a:off x="4022725" y="0"/>
            <a:ext cx="3076575" cy="511175"/>
          </a:xfrm>
          <a:prstGeom prst="rect">
            <a:avLst/>
          </a:prstGeom>
          <a:noFill/>
          <a:ln w="9525">
            <a:noFill/>
          </a:ln>
        </p:spPr>
        <p:txBody>
          <a:bodyPr lIns="99048" tIns="49524" rIns="99048" bIns="49524"/>
          <a:lstStyle/>
          <a:p>
            <a:pPr lvl="0" algn="r" eaLnBrk="1" latinLnBrk="1" hangingPunct="1">
              <a:spcBef>
                <a:spcPct val="0"/>
              </a:spcBef>
            </a:pPr>
            <a:fld id="{BB962C8B-B14F-4D97-AF65-F5344CB8AC3E}" type="datetime1">
              <a:rPr lang="zh-CN" altLang="en-US" sz="1300" dirty="0"/>
              <a:t>2026/9/7</a:t>
            </a:fld>
            <a:endParaRPr lang="zh-CN" altLang="en-US" sz="1300" dirty="0"/>
          </a:p>
        </p:txBody>
      </p:sp>
      <p:sp>
        <p:nvSpPr>
          <p:cNvPr id="5123"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lstStyle/>
          <a:p>
            <a:pPr lvl="0" algn="r" eaLnBrk="1" latinLnBrk="1" hangingPunct="1">
              <a:spcBef>
                <a:spcPct val="0"/>
              </a:spcBef>
            </a:pPr>
            <a:fld id="{9A0DB2DC-4C9A-4742-B13C-FB6460FD3503}" type="slidenum">
              <a:rPr lang="en-US" altLang="zh-CN" sz="1300" dirty="0"/>
              <a:t>1</a:t>
            </a:fld>
            <a:endParaRPr lang="en-US" altLang="zh-CN" sz="1300" dirty="0"/>
          </a:p>
        </p:txBody>
      </p:sp>
      <p:sp>
        <p:nvSpPr>
          <p:cNvPr id="5124" name="Rectangle 1026"/>
          <p:cNvSpPr>
            <a:spLocks noGrp="1" noRot="1" noChangeAspect="1" noTextEdit="1"/>
          </p:cNvSpPr>
          <p:nvPr>
            <p:ph type="sldImg"/>
          </p:nvPr>
        </p:nvSpPr>
        <p:spPr/>
      </p:sp>
      <p:sp>
        <p:nvSpPr>
          <p:cNvPr id="5125" name="Rectangle 1027"/>
          <p:cNvSpPr>
            <a:spLocks noGrp="1"/>
          </p:cNvSpPr>
          <p:nvPr>
            <p:ph type="body" idx="1"/>
          </p:nvPr>
        </p:nvSpPr>
        <p:spPr/>
        <p:txBody>
          <a:bodyPr wrap="square" lIns="99048" tIns="49524" rIns="99048" bIns="49524" anchor="t"/>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ea typeface="微软雅黑" panose="020B0503020204020204" pitchFamily="34"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ea typeface="微软雅黑" panose="020B0503020204020204" pitchFamily="34" charset="-122"/>
              </a:defRPr>
            </a:lvl1pPr>
            <a:lvl2pPr>
              <a:defRPr sz="2400">
                <a:ea typeface="微软雅黑" panose="020B0503020204020204" pitchFamily="34" charset="-122"/>
              </a:defRPr>
            </a:lvl2pPr>
            <a:lvl3pPr>
              <a:defRPr sz="2000">
                <a:ea typeface="微软雅黑" panose="020B0503020204020204" pitchFamily="34" charset="-122"/>
              </a:defRPr>
            </a:lvl3pPr>
            <a:lvl4pPr>
              <a:defRPr sz="1800">
                <a:ea typeface="微软雅黑" panose="020B0503020204020204" pitchFamily="34" charset="-122"/>
              </a:defRPr>
            </a:lvl4pPr>
            <a:lvl5pPr>
              <a:defRPr sz="1800">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45088" y="2017713"/>
            <a:ext cx="3810000" cy="4114800"/>
          </a:xfrm>
        </p:spPr>
        <p:txBody>
          <a:bodyPr/>
          <a:lstStyle>
            <a:lvl1pPr>
              <a:defRPr sz="2800">
                <a:ea typeface="微软雅黑" panose="020B0503020204020204" pitchFamily="34" charset="-122"/>
              </a:defRPr>
            </a:lvl1pPr>
            <a:lvl2pPr>
              <a:defRPr sz="2400">
                <a:ea typeface="微软雅黑" panose="020B0503020204020204" pitchFamily="34" charset="-122"/>
              </a:defRPr>
            </a:lvl2pPr>
            <a:lvl3pPr>
              <a:defRPr sz="2000">
                <a:ea typeface="微软雅黑" panose="020B0503020204020204" pitchFamily="34" charset="-122"/>
              </a:defRPr>
            </a:lvl3pPr>
            <a:lvl4pPr>
              <a:defRPr sz="1800">
                <a:ea typeface="微软雅黑" panose="020B0503020204020204" pitchFamily="34" charset="-122"/>
              </a:defRPr>
            </a:lvl4pPr>
            <a:lvl5pPr>
              <a:defRPr sz="1800">
                <a:ea typeface="微软雅黑" panose="020B0503020204020204" pitchFamily="34"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ea typeface="微软雅黑" panose="020B0503020204020204" pitchFamily="34" charset="-122"/>
              </a:defRPr>
            </a:lvl1pPr>
            <a:lvl2pPr>
              <a:defRPr sz="2000">
                <a:ea typeface="微软雅黑" panose="020B0503020204020204" pitchFamily="34" charset="-122"/>
              </a:defRPr>
            </a:lvl2pPr>
            <a:lvl3pPr>
              <a:defRPr sz="1800">
                <a:ea typeface="微软雅黑" panose="020B0503020204020204" pitchFamily="34" charset="-122"/>
              </a:defRPr>
            </a:lvl3pPr>
            <a:lvl4pPr>
              <a:defRPr sz="1600">
                <a:ea typeface="微软雅黑" panose="020B0503020204020204" pitchFamily="34" charset="-122"/>
              </a:defRPr>
            </a:lvl4pPr>
            <a:lvl5pPr>
              <a:defRPr sz="1600">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ea typeface="微软雅黑" panose="020B0503020204020204" pitchFamily="34" charset="-122"/>
              </a:defRPr>
            </a:lvl1pPr>
            <a:lvl2pPr>
              <a:defRPr sz="2000">
                <a:ea typeface="微软雅黑" panose="020B0503020204020204" pitchFamily="34" charset="-122"/>
              </a:defRPr>
            </a:lvl2pPr>
            <a:lvl3pPr>
              <a:defRPr sz="1800">
                <a:ea typeface="微软雅黑" panose="020B0503020204020204" pitchFamily="34" charset="-122"/>
              </a:defRPr>
            </a:lvl3pPr>
            <a:lvl4pPr>
              <a:defRPr sz="1600">
                <a:ea typeface="微软雅黑" panose="020B0503020204020204" pitchFamily="34" charset="-122"/>
              </a:defRPr>
            </a:lvl4pPr>
            <a:lvl5pPr>
              <a:defRPr sz="1600">
                <a:ea typeface="微软雅黑" panose="020B0503020204020204" pitchFamily="34"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ea typeface="微软雅黑" panose="020B0503020204020204" pitchFamily="34" charset="-122"/>
              </a:defRPr>
            </a:lvl1pPr>
            <a:lvl2pPr>
              <a:defRPr sz="2800">
                <a:ea typeface="微软雅黑" panose="020B0503020204020204" pitchFamily="34" charset="-122"/>
              </a:defRPr>
            </a:lvl2pPr>
            <a:lvl3pPr>
              <a:defRPr sz="2400">
                <a:ea typeface="微软雅黑" panose="020B0503020204020204" pitchFamily="34" charset="-122"/>
              </a:defRPr>
            </a:lvl3pPr>
            <a:lvl4pPr>
              <a:defRPr sz="2000">
                <a:ea typeface="微软雅黑" panose="020B0503020204020204" pitchFamily="34" charset="-122"/>
              </a:defRPr>
            </a:lvl4pPr>
            <a:lvl5pPr>
              <a:defRPr sz="2000">
                <a:ea typeface="微软雅黑" panose="020B0503020204020204" pitchFamily="34"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ea typeface="微软雅黑"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ea typeface="微软雅黑" panose="020B0503020204020204" pitchFamily="34" charset="-122"/>
              </a:defRPr>
            </a:lvl1pPr>
          </a:lstStyle>
          <a:p>
            <a:r>
              <a:rPr lang="zh-CN" altLang="en-US" dirty="0"/>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ea typeface="微软雅黑" panose="020B0503020204020204"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3200" b="0" i="0" u="none" strike="noStrike" kern="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ea typeface="微软雅黑"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anose="020B0503020204020204" pitchFamily="34"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lvl1pPr>
              <a:defRPr>
                <a:ea typeface="微软雅黑" panose="020B0503020204020204" pitchFamily="34"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lvl1pPr>
              <a:defRPr>
                <a:ea typeface="微软雅黑" panose="020B0503020204020204" pitchFamily="34" charset="-122"/>
              </a:defRPr>
            </a:lvl1pPr>
          </a:lstStyle>
          <a:p>
            <a:r>
              <a:rPr lang="zh-CN" altLang="en-US" dirty="0"/>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45088" y="2017713"/>
            <a:ext cx="3810000" cy="4114800"/>
          </a:xfr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4512859"/>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文本与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642687287"/>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27"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0" sz="1400">
                <a:ea typeface="微软雅黑" panose="020B0503020204020204" pitchFamily="34"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8D4837E-DEA5-4B23-BF04-4A2C85F57114}"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2026/9/7</a:t>
            </a:fld>
            <a:endParaRPr kumimoji="0" lang="en-US" altLang="zh-CN" sz="1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137228"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400">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137229"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400">
                <a:ea typeface="微软雅黑" panose="020B0503020204020204" pitchFamily="34"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AC0FA60-9B2D-485B-9064-8D8C5844070E}"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transition>
  <p:hf sldNum="0"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wmf"/><Relationship Id="rId7"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6.xml"/><Relationship Id="rId5" Type="http://schemas.openxmlformats.org/officeDocument/2006/relationships/image" Target="../media/image9.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10.wmf"/><Relationship Id="rId7" Type="http://schemas.openxmlformats.org/officeDocument/2006/relationships/image" Target="../media/image12.wmf"/><Relationship Id="rId2" Type="http://schemas.openxmlformats.org/officeDocument/2006/relationships/oleObject" Target="../embeddings/oleObject5.bin"/><Relationship Id="rId1" Type="http://schemas.openxmlformats.org/officeDocument/2006/relationships/slideLayout" Target="../slideLayouts/slideLayout12.xml"/><Relationship Id="rId6" Type="http://schemas.openxmlformats.org/officeDocument/2006/relationships/oleObject" Target="../embeddings/oleObject7.bin"/><Relationship Id="rId5" Type="http://schemas.openxmlformats.org/officeDocument/2006/relationships/image" Target="../media/image11.wmf"/><Relationship Id="rId4" Type="http://schemas.openxmlformats.org/officeDocument/2006/relationships/oleObject" Target="../embeddings/oleObject6.bin"/><Relationship Id="rId9" Type="http://schemas.openxmlformats.org/officeDocument/2006/relationships/image" Target="../media/image13.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0.wmf"/><Relationship Id="rId7"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slideLayout" Target="../slideLayouts/slideLayout12.xml"/><Relationship Id="rId6" Type="http://schemas.openxmlformats.org/officeDocument/2006/relationships/oleObject" Target="../embeddings/oleObject11.bin"/><Relationship Id="rId5" Type="http://schemas.openxmlformats.org/officeDocument/2006/relationships/image" Target="../media/image11.wmf"/><Relationship Id="rId4" Type="http://schemas.openxmlformats.org/officeDocument/2006/relationships/oleObject" Target="../embeddings/oleObject10.bin"/><Relationship Id="rId9" Type="http://schemas.openxmlformats.org/officeDocument/2006/relationships/image" Target="../media/image14.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0.wmf"/><Relationship Id="rId18" Type="http://schemas.openxmlformats.org/officeDocument/2006/relationships/oleObject" Target="../embeddings/oleObject21.bin"/><Relationship Id="rId3" Type="http://schemas.openxmlformats.org/officeDocument/2006/relationships/image" Target="../media/image15.wmf"/><Relationship Id="rId21" Type="http://schemas.openxmlformats.org/officeDocument/2006/relationships/image" Target="../media/image24.wmf"/><Relationship Id="rId7" Type="http://schemas.openxmlformats.org/officeDocument/2006/relationships/image" Target="../media/image17.wmf"/><Relationship Id="rId12" Type="http://schemas.openxmlformats.org/officeDocument/2006/relationships/oleObject" Target="../embeddings/oleObject18.bin"/><Relationship Id="rId17" Type="http://schemas.openxmlformats.org/officeDocument/2006/relationships/image" Target="../media/image22.wmf"/><Relationship Id="rId2" Type="http://schemas.openxmlformats.org/officeDocument/2006/relationships/oleObject" Target="../embeddings/oleObject13.bin"/><Relationship Id="rId16" Type="http://schemas.openxmlformats.org/officeDocument/2006/relationships/oleObject" Target="../embeddings/oleObject20.bin"/><Relationship Id="rId20" Type="http://schemas.openxmlformats.org/officeDocument/2006/relationships/oleObject" Target="../embeddings/oleObject22.bin"/><Relationship Id="rId1" Type="http://schemas.openxmlformats.org/officeDocument/2006/relationships/slideLayout" Target="../slideLayouts/slideLayout12.xml"/><Relationship Id="rId6" Type="http://schemas.openxmlformats.org/officeDocument/2006/relationships/oleObject" Target="../embeddings/oleObject15.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wmf"/><Relationship Id="rId23" Type="http://schemas.openxmlformats.org/officeDocument/2006/relationships/image" Target="../media/image25.wmf"/><Relationship Id="rId10" Type="http://schemas.openxmlformats.org/officeDocument/2006/relationships/oleObject" Target="../embeddings/oleObject17.bin"/><Relationship Id="rId19" Type="http://schemas.openxmlformats.org/officeDocument/2006/relationships/image" Target="../media/image23.wmf"/><Relationship Id="rId4" Type="http://schemas.openxmlformats.org/officeDocument/2006/relationships/oleObject" Target="../embeddings/oleObject14.bin"/><Relationship Id="rId9" Type="http://schemas.openxmlformats.org/officeDocument/2006/relationships/image" Target="../media/image18.wmf"/><Relationship Id="rId14" Type="http://schemas.openxmlformats.org/officeDocument/2006/relationships/oleObject" Target="../embeddings/oleObject19.bin"/><Relationship Id="rId22" Type="http://schemas.openxmlformats.org/officeDocument/2006/relationships/oleObject" Target="../embeddings/oleObject23.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oleObject" Target="../embeddings/oleObject29.bin"/><Relationship Id="rId2" Type="http://schemas.openxmlformats.org/officeDocument/2006/relationships/oleObject" Target="../embeddings/oleObject24.bin"/><Relationship Id="rId1" Type="http://schemas.openxmlformats.org/officeDocument/2006/relationships/slideLayout" Target="../slideLayouts/slideLayout13.xml"/><Relationship Id="rId6" Type="http://schemas.openxmlformats.org/officeDocument/2006/relationships/oleObject" Target="../embeddings/oleObject26.bin"/><Relationship Id="rId11" Type="http://schemas.openxmlformats.org/officeDocument/2006/relationships/image" Target="../media/image30.wmf"/><Relationship Id="rId5" Type="http://schemas.openxmlformats.org/officeDocument/2006/relationships/image" Target="../media/image27.wmf"/><Relationship Id="rId15" Type="http://schemas.openxmlformats.org/officeDocument/2006/relationships/image" Target="../media/image32.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29.wmf"/><Relationship Id="rId14" Type="http://schemas.openxmlformats.org/officeDocument/2006/relationships/oleObject" Target="../embeddings/oleObject30.bin"/></Relationships>
</file>

<file path=ppt/slides/_rels/slide19.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37.bin"/><Relationship Id="rId18" Type="http://schemas.openxmlformats.org/officeDocument/2006/relationships/oleObject" Target="../embeddings/oleObject40.bin"/><Relationship Id="rId3" Type="http://schemas.openxmlformats.org/officeDocument/2006/relationships/image" Target="../media/image15.wmf"/><Relationship Id="rId21" Type="http://schemas.openxmlformats.org/officeDocument/2006/relationships/image" Target="../media/image38.wmf"/><Relationship Id="rId7" Type="http://schemas.openxmlformats.org/officeDocument/2006/relationships/oleObject" Target="../embeddings/oleObject34.bin"/><Relationship Id="rId12" Type="http://schemas.openxmlformats.org/officeDocument/2006/relationships/image" Target="../media/image34.wmf"/><Relationship Id="rId17" Type="http://schemas.openxmlformats.org/officeDocument/2006/relationships/image" Target="../media/image36.wmf"/><Relationship Id="rId2" Type="http://schemas.openxmlformats.org/officeDocument/2006/relationships/oleObject" Target="../embeddings/oleObject31.bin"/><Relationship Id="rId16" Type="http://schemas.openxmlformats.org/officeDocument/2006/relationships/oleObject" Target="../embeddings/oleObject39.bin"/><Relationship Id="rId20" Type="http://schemas.openxmlformats.org/officeDocument/2006/relationships/oleObject" Target="../embeddings/oleObject41.bin"/><Relationship Id="rId1" Type="http://schemas.openxmlformats.org/officeDocument/2006/relationships/slideLayout" Target="../slideLayouts/slideLayout12.xml"/><Relationship Id="rId6" Type="http://schemas.openxmlformats.org/officeDocument/2006/relationships/image" Target="../media/image33.wmf"/><Relationship Id="rId11" Type="http://schemas.openxmlformats.org/officeDocument/2006/relationships/oleObject" Target="../embeddings/oleObject36.bin"/><Relationship Id="rId5" Type="http://schemas.openxmlformats.org/officeDocument/2006/relationships/oleObject" Target="../embeddings/oleObject33.bin"/><Relationship Id="rId15" Type="http://schemas.openxmlformats.org/officeDocument/2006/relationships/oleObject" Target="../embeddings/oleObject38.bin"/><Relationship Id="rId10" Type="http://schemas.openxmlformats.org/officeDocument/2006/relationships/image" Target="../media/image32.wmf"/><Relationship Id="rId19" Type="http://schemas.openxmlformats.org/officeDocument/2006/relationships/image" Target="../media/image37.wmf"/><Relationship Id="rId4" Type="http://schemas.openxmlformats.org/officeDocument/2006/relationships/oleObject" Target="../embeddings/oleObject32.bin"/><Relationship Id="rId9" Type="http://schemas.openxmlformats.org/officeDocument/2006/relationships/oleObject" Target="../embeddings/oleObject35.bin"/><Relationship Id="rId14" Type="http://schemas.openxmlformats.org/officeDocument/2006/relationships/image" Target="../media/image35.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20.wmf"/><Relationship Id="rId18" Type="http://schemas.openxmlformats.org/officeDocument/2006/relationships/oleObject" Target="../embeddings/oleObject50.bin"/><Relationship Id="rId3" Type="http://schemas.openxmlformats.org/officeDocument/2006/relationships/image" Target="../media/image39.wmf"/><Relationship Id="rId21" Type="http://schemas.openxmlformats.org/officeDocument/2006/relationships/image" Target="../media/image43.wmf"/><Relationship Id="rId7" Type="http://schemas.openxmlformats.org/officeDocument/2006/relationships/image" Target="../media/image40.wmf"/><Relationship Id="rId12" Type="http://schemas.openxmlformats.org/officeDocument/2006/relationships/oleObject" Target="../embeddings/oleObject47.bin"/><Relationship Id="rId17" Type="http://schemas.openxmlformats.org/officeDocument/2006/relationships/image" Target="../media/image22.wmf"/><Relationship Id="rId2" Type="http://schemas.openxmlformats.org/officeDocument/2006/relationships/oleObject" Target="../embeddings/oleObject42.bin"/><Relationship Id="rId16" Type="http://schemas.openxmlformats.org/officeDocument/2006/relationships/oleObject" Target="../embeddings/oleObject49.bin"/><Relationship Id="rId20" Type="http://schemas.openxmlformats.org/officeDocument/2006/relationships/oleObject" Target="../embeddings/oleObject51.bin"/><Relationship Id="rId1" Type="http://schemas.openxmlformats.org/officeDocument/2006/relationships/slideLayout" Target="../slideLayouts/slideLayout12.xml"/><Relationship Id="rId6" Type="http://schemas.openxmlformats.org/officeDocument/2006/relationships/oleObject" Target="../embeddings/oleObject44.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wmf"/><Relationship Id="rId10" Type="http://schemas.openxmlformats.org/officeDocument/2006/relationships/oleObject" Target="../embeddings/oleObject46.bin"/><Relationship Id="rId19" Type="http://schemas.openxmlformats.org/officeDocument/2006/relationships/image" Target="../media/image42.wmf"/><Relationship Id="rId4" Type="http://schemas.openxmlformats.org/officeDocument/2006/relationships/oleObject" Target="../embeddings/oleObject43.bin"/><Relationship Id="rId9" Type="http://schemas.openxmlformats.org/officeDocument/2006/relationships/image" Target="../media/image41.wmf"/><Relationship Id="rId14" Type="http://schemas.openxmlformats.org/officeDocument/2006/relationships/oleObject" Target="../embeddings/oleObject48.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4.wmf"/><Relationship Id="rId7" Type="http://schemas.openxmlformats.org/officeDocument/2006/relationships/image" Target="../media/image46.wmf"/><Relationship Id="rId2" Type="http://schemas.openxmlformats.org/officeDocument/2006/relationships/oleObject" Target="../embeddings/oleObject52.bin"/><Relationship Id="rId1" Type="http://schemas.openxmlformats.org/officeDocument/2006/relationships/slideLayout" Target="../slideLayouts/slideLayout12.xml"/><Relationship Id="rId6" Type="http://schemas.openxmlformats.org/officeDocument/2006/relationships/oleObject" Target="../embeddings/oleObject54.bin"/><Relationship Id="rId5" Type="http://schemas.openxmlformats.org/officeDocument/2006/relationships/image" Target="../media/image45.emf"/><Relationship Id="rId4" Type="http://schemas.openxmlformats.org/officeDocument/2006/relationships/oleObject" Target="../embeddings/oleObject53.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50.wmf"/><Relationship Id="rId3" Type="http://schemas.openxmlformats.org/officeDocument/2006/relationships/image" Target="../media/image47.wmf"/><Relationship Id="rId7" Type="http://schemas.openxmlformats.org/officeDocument/2006/relationships/image" Target="../media/image45.emf"/><Relationship Id="rId12" Type="http://schemas.openxmlformats.org/officeDocument/2006/relationships/oleObject" Target="../embeddings/oleObject60.bin"/><Relationship Id="rId2" Type="http://schemas.openxmlformats.org/officeDocument/2006/relationships/oleObject" Target="../embeddings/oleObject55.bin"/><Relationship Id="rId1" Type="http://schemas.openxmlformats.org/officeDocument/2006/relationships/slideLayout" Target="../slideLayouts/slideLayout12.xml"/><Relationship Id="rId6" Type="http://schemas.openxmlformats.org/officeDocument/2006/relationships/oleObject" Target="../embeddings/oleObject57.bin"/><Relationship Id="rId11" Type="http://schemas.openxmlformats.org/officeDocument/2006/relationships/image" Target="../media/image49.wmf"/><Relationship Id="rId5" Type="http://schemas.openxmlformats.org/officeDocument/2006/relationships/image" Target="../media/image48.wmf"/><Relationship Id="rId15" Type="http://schemas.openxmlformats.org/officeDocument/2006/relationships/image" Target="../media/image51.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46.wmf"/><Relationship Id="rId14" Type="http://schemas.openxmlformats.org/officeDocument/2006/relationships/oleObject" Target="../embeddings/oleObject61.bin"/></Relationships>
</file>

<file path=ppt/slides/_rels/slide25.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53.wmf"/><Relationship Id="rId5" Type="http://schemas.openxmlformats.org/officeDocument/2006/relationships/oleObject" Target="../embeddings/oleObject63.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65.bin"/></Relationships>
</file>

<file path=ppt/slides/_rels/slide26.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57.wmf"/><Relationship Id="rId11" Type="http://schemas.openxmlformats.org/officeDocument/2006/relationships/image" Target="../media/image60.png"/><Relationship Id="rId5" Type="http://schemas.openxmlformats.org/officeDocument/2006/relationships/oleObject" Target="../embeddings/oleObject67.bin"/><Relationship Id="rId10" Type="http://schemas.openxmlformats.org/officeDocument/2006/relationships/image" Target="../media/image59.png"/><Relationship Id="rId4" Type="http://schemas.openxmlformats.org/officeDocument/2006/relationships/image" Target="../media/image56.wmf"/></Relationships>
</file>

<file path=ppt/slides/_rels/slide27.xml.rels><?xml version="1.0" encoding="UTF-8" standalone="yes"?>
<Relationships xmlns="http://schemas.openxmlformats.org/package/2006/relationships"><Relationship Id="rId8" Type="http://schemas.openxmlformats.org/officeDocument/2006/relationships/image" Target="../media/image60.wmf"/><Relationship Id="rId13" Type="http://schemas.openxmlformats.org/officeDocument/2006/relationships/image" Target="../media/image67.png"/><Relationship Id="rId3" Type="http://schemas.openxmlformats.org/officeDocument/2006/relationships/oleObject" Target="../embeddings/oleObject69.bin"/><Relationship Id="rId7" Type="http://schemas.openxmlformats.org/officeDocument/2006/relationships/oleObject" Target="../embeddings/oleObject70.bin"/><Relationship Id="rId12" Type="http://schemas.openxmlformats.org/officeDocument/2006/relationships/image" Target="../media/image62.wmf"/><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66.png"/><Relationship Id="rId11" Type="http://schemas.openxmlformats.org/officeDocument/2006/relationships/oleObject" Target="../embeddings/oleObject72.bin"/><Relationship Id="rId15" Type="http://schemas.openxmlformats.org/officeDocument/2006/relationships/image" Target="../media/image63.wmf"/><Relationship Id="rId10" Type="http://schemas.openxmlformats.org/officeDocument/2006/relationships/image" Target="../media/image61.wmf"/><Relationship Id="rId4" Type="http://schemas.openxmlformats.org/officeDocument/2006/relationships/image" Target="../media/image59.wmf"/><Relationship Id="rId9" Type="http://schemas.openxmlformats.org/officeDocument/2006/relationships/oleObject" Target="../embeddings/oleObject71.bin"/><Relationship Id="rId14" Type="http://schemas.openxmlformats.org/officeDocument/2006/relationships/oleObject" Target="../embeddings/oleObject73.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4.bin"/><Relationship Id="rId7"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65.wmf"/><Relationship Id="rId5" Type="http://schemas.openxmlformats.org/officeDocument/2006/relationships/oleObject" Target="../embeddings/oleObject75.bin"/><Relationship Id="rId4" Type="http://schemas.openxmlformats.org/officeDocument/2006/relationships/image" Target="../media/image64.wmf"/><Relationship Id="rId9" Type="http://schemas.openxmlformats.org/officeDocument/2006/relationships/image" Target="../media/image71.png"/></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oleObject" Target="../embeddings/oleObject76.bin"/><Relationship Id="rId7" Type="http://schemas.openxmlformats.org/officeDocument/2006/relationships/image" Target="../media/image73.png"/><Relationship Id="rId2" Type="http://schemas.openxmlformats.org/officeDocument/2006/relationships/slideLayout" Target="../slideLayouts/slideLayout1.xml"/><Relationship Id="rId1" Type="http://schemas.openxmlformats.org/officeDocument/2006/relationships/tags" Target="../tags/tag5.xml"/><Relationship Id="rId11" Type="http://schemas.openxmlformats.org/officeDocument/2006/relationships/image" Target="../media/image65.wmf"/><Relationship Id="rId5" Type="http://schemas.openxmlformats.org/officeDocument/2006/relationships/image" Target="../media/image68.png"/><Relationship Id="rId10" Type="http://schemas.openxmlformats.org/officeDocument/2006/relationships/oleObject" Target="../embeddings/oleObject78.bin"/><Relationship Id="rId4" Type="http://schemas.openxmlformats.org/officeDocument/2006/relationships/image" Target="../media/image69.wmf"/><Relationship Id="rId9" Type="http://schemas.openxmlformats.org/officeDocument/2006/relationships/image" Target="../media/image64.wmf"/></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1.xml"/><Relationship Id="rId1" Type="http://schemas.openxmlformats.org/officeDocument/2006/relationships/tags" Target="../tags/tag6.xml"/><Relationship Id="rId5" Type="http://schemas.openxmlformats.org/officeDocument/2006/relationships/image" Target="../media/image76.png"/><Relationship Id="rId4" Type="http://schemas.openxmlformats.org/officeDocument/2006/relationships/image" Target="../media/image75.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p:cNvSpPr>
          <p:nvPr>
            <p:ph type="sldNum" sz="quarter" idx="12"/>
          </p:nvPr>
        </p:nvSpPr>
        <p:spPr/>
        <p:txBody>
          <a:bodyPr anchor="b"/>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400" dirty="0">
                <a:ea typeface="微软雅黑" panose="020B0503020204020204" pitchFamily="34" charset="-122"/>
              </a:rPr>
              <a:t>1</a:t>
            </a:fld>
            <a:endParaRPr lang="en-US" altLang="zh-CN" sz="1400" dirty="0">
              <a:ea typeface="微软雅黑" panose="020B0503020204020204" pitchFamily="34" charset="-122"/>
            </a:endParaRPr>
          </a:p>
        </p:txBody>
      </p:sp>
      <p:grpSp>
        <p:nvGrpSpPr>
          <p:cNvPr id="2" name="Group 5"/>
          <p:cNvGrpSpPr/>
          <p:nvPr/>
        </p:nvGrpSpPr>
        <p:grpSpPr>
          <a:xfrm>
            <a:off x="683568" y="188914"/>
            <a:ext cx="7992888" cy="2503488"/>
            <a:chOff x="1104" y="1591"/>
            <a:chExt cx="3600" cy="1577"/>
          </a:xfrm>
        </p:grpSpPr>
        <p:sp>
          <p:nvSpPr>
            <p:cNvPr id="4104" name="Rectangle 6" descr="信纸"/>
            <p:cNvSpPr/>
            <p:nvPr/>
          </p:nvSpPr>
          <p:spPr>
            <a:xfrm>
              <a:off x="1464" y="1970"/>
              <a:ext cx="2880" cy="816"/>
            </a:xfrm>
            <a:prstGeom prst="rect">
              <a:avLst/>
            </a:prstGeom>
            <a:blipFill rotWithShape="0">
              <a:blip r:embed="rId3"/>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a typeface="微软雅黑" panose="020B0503020204020204" pitchFamily="34" charset="-122"/>
              </a:endParaRPr>
            </a:p>
          </p:txBody>
        </p:sp>
        <p:grpSp>
          <p:nvGrpSpPr>
            <p:cNvPr id="4105" name="Group 7"/>
            <p:cNvGrpSpPr/>
            <p:nvPr/>
          </p:nvGrpSpPr>
          <p:grpSpPr>
            <a:xfrm>
              <a:off x="1104" y="1591"/>
              <a:ext cx="3600" cy="1577"/>
              <a:chOff x="1104" y="1591"/>
              <a:chExt cx="3600" cy="1577"/>
            </a:xfrm>
          </p:grpSpPr>
          <p:pic>
            <p:nvPicPr>
              <p:cNvPr id="4106" name="Picture 8" descr="印"/>
              <p:cNvPicPr>
                <a:picLocks noChangeAspect="1"/>
              </p:cNvPicPr>
              <p:nvPr/>
            </p:nvPicPr>
            <p:blipFill>
              <a:blip r:embed="rId4"/>
              <a:stretch>
                <a:fillRect/>
              </a:stretch>
            </p:blipFill>
            <p:spPr>
              <a:xfrm>
                <a:off x="1507" y="2663"/>
                <a:ext cx="101" cy="101"/>
              </a:xfrm>
              <a:prstGeom prst="rect">
                <a:avLst/>
              </a:prstGeom>
              <a:noFill/>
              <a:ln w="9525">
                <a:noFill/>
              </a:ln>
            </p:spPr>
          </p:pic>
          <p:grpSp>
            <p:nvGrpSpPr>
              <p:cNvPr id="4107" name="Group 9"/>
              <p:cNvGrpSpPr/>
              <p:nvPr/>
            </p:nvGrpSpPr>
            <p:grpSpPr>
              <a:xfrm>
                <a:off x="1104" y="1591"/>
                <a:ext cx="3600" cy="1577"/>
                <a:chOff x="1104" y="1584"/>
                <a:chExt cx="3600" cy="1577"/>
              </a:xfrm>
            </p:grpSpPr>
            <p:pic>
              <p:nvPicPr>
                <p:cNvPr id="4108" name="Picture 10" descr="卷轴2"/>
                <p:cNvPicPr>
                  <a:picLocks noChangeAspect="1"/>
                </p:cNvPicPr>
                <p:nvPr/>
              </p:nvPicPr>
              <p:blipFill>
                <a:blip r:embed="rId5"/>
                <a:stretch>
                  <a:fillRect/>
                </a:stretch>
              </p:blipFill>
              <p:spPr>
                <a:xfrm>
                  <a:off x="1104" y="1584"/>
                  <a:ext cx="3600" cy="1577"/>
                </a:xfrm>
                <a:prstGeom prst="rect">
                  <a:avLst/>
                </a:prstGeom>
                <a:noFill/>
                <a:ln w="9525">
                  <a:noFill/>
                </a:ln>
              </p:spPr>
            </p:pic>
            <p:sp>
              <p:nvSpPr>
                <p:cNvPr id="4109" name="Text Box 11"/>
                <p:cNvSpPr txBox="1"/>
                <p:nvPr/>
              </p:nvSpPr>
              <p:spPr>
                <a:xfrm>
                  <a:off x="1463" y="2121"/>
                  <a:ext cx="2837" cy="582"/>
                </a:xfrm>
                <a:prstGeom prst="rect">
                  <a:avLst/>
                </a:prstGeom>
                <a:noFill/>
                <a:ln w="9525">
                  <a:noFill/>
                </a:ln>
              </p:spPr>
              <p:txBody>
                <a:bodyPr wrap="square">
                  <a:spAutoFit/>
                </a:bodyPr>
                <a:lstStyle/>
                <a:p>
                  <a:pPr algn="ctr" eaLnBrk="1" hangingPunct="1">
                    <a:spcBef>
                      <a:spcPct val="50000"/>
                    </a:spcBef>
                  </a:pPr>
                  <a:r>
                    <a:rPr lang="zh-CN" altLang="en-US" sz="5400" b="1" dirty="0">
                      <a:latin typeface="微软雅黑" panose="020B0503020204020204" pitchFamily="34" charset="-122"/>
                      <a:ea typeface="微软雅黑" panose="020B0503020204020204" pitchFamily="34" charset="-122"/>
                    </a:rPr>
                    <a:t>优化理论及应用</a:t>
                  </a:r>
                </a:p>
              </p:txBody>
            </p:sp>
          </p:grpSp>
        </p:grpSp>
      </p:grpSp>
      <p:grpSp>
        <p:nvGrpSpPr>
          <p:cNvPr id="5" name="Group 12"/>
          <p:cNvGrpSpPr/>
          <p:nvPr/>
        </p:nvGrpSpPr>
        <p:grpSpPr>
          <a:xfrm>
            <a:off x="534988" y="2205038"/>
            <a:ext cx="8207375" cy="3941762"/>
            <a:chOff x="528" y="1440"/>
            <a:chExt cx="4608" cy="2256"/>
          </a:xfrm>
        </p:grpSpPr>
        <p:sp>
          <p:nvSpPr>
            <p:cNvPr id="4102" name="Text Box 13"/>
            <p:cNvSpPr txBox="1"/>
            <p:nvPr/>
          </p:nvSpPr>
          <p:spPr>
            <a:xfrm>
              <a:off x="528" y="1440"/>
              <a:ext cx="346" cy="2256"/>
            </a:xfrm>
            <a:prstGeom prst="rect">
              <a:avLst/>
            </a:prstGeom>
            <a:noFill/>
            <a:ln w="9525">
              <a:noFill/>
            </a:ln>
          </p:spPr>
          <p:txBody>
            <a:bodyPr vert="eaVert">
              <a:spAutoFit/>
            </a:bodyPr>
            <a:lstStyle/>
            <a:p>
              <a:pPr eaLnBrk="1" hangingPunct="1">
                <a:spcBef>
                  <a:spcPct val="50000"/>
                </a:spcBef>
              </a:pPr>
              <a:r>
                <a:rPr lang="zh-CN" altLang="en-US" sz="2800" b="1" dirty="0">
                  <a:solidFill>
                    <a:srgbClr val="FF0000"/>
                  </a:solidFill>
                  <a:latin typeface="微软雅黑" panose="020B0503020204020204" pitchFamily="34" charset="-122"/>
                  <a:ea typeface="微软雅黑" panose="020B0503020204020204" pitchFamily="34" charset="-122"/>
                </a:rPr>
                <a:t>运 筹 帷 幄 之 中</a:t>
              </a:r>
            </a:p>
          </p:txBody>
        </p:sp>
        <p:sp>
          <p:nvSpPr>
            <p:cNvPr id="4103" name="Text Box 14"/>
            <p:cNvSpPr txBox="1"/>
            <p:nvPr/>
          </p:nvSpPr>
          <p:spPr>
            <a:xfrm>
              <a:off x="4790" y="1488"/>
              <a:ext cx="346" cy="2208"/>
            </a:xfrm>
            <a:prstGeom prst="rect">
              <a:avLst/>
            </a:prstGeom>
            <a:noFill/>
            <a:ln w="9525">
              <a:noFill/>
            </a:ln>
          </p:spPr>
          <p:txBody>
            <a:bodyPr vert="eaVert">
              <a:spAutoFit/>
            </a:bodyPr>
            <a:lstStyle/>
            <a:p>
              <a:pPr eaLnBrk="1" hangingPunct="1">
                <a:spcBef>
                  <a:spcPct val="50000"/>
                </a:spcBef>
              </a:pPr>
              <a:r>
                <a:rPr lang="zh-CN" altLang="en-US" sz="2800" b="1" dirty="0">
                  <a:solidFill>
                    <a:srgbClr val="FF0000"/>
                  </a:solidFill>
                  <a:latin typeface="微软雅黑" panose="020B0503020204020204" pitchFamily="34" charset="-122"/>
                  <a:ea typeface="微软雅黑" panose="020B0503020204020204" pitchFamily="34" charset="-122"/>
                </a:rPr>
                <a:t>决 胜 千 里 之 外</a:t>
              </a:r>
            </a:p>
          </p:txBody>
        </p:sp>
      </p:grpSp>
      <p:sp>
        <p:nvSpPr>
          <p:cNvPr id="4101" name="Text Box 15"/>
          <p:cNvSpPr txBox="1"/>
          <p:nvPr/>
        </p:nvSpPr>
        <p:spPr>
          <a:xfrm>
            <a:off x="1763688" y="3501008"/>
            <a:ext cx="5760640" cy="1815882"/>
          </a:xfrm>
          <a:prstGeom prst="rect">
            <a:avLst/>
          </a:prstGeom>
          <a:noFill/>
          <a:ln w="9525">
            <a:noFill/>
          </a:ln>
        </p:spPr>
        <p:txBody>
          <a:bodyPr wrap="square">
            <a:spAutoFit/>
          </a:bodyPr>
          <a:lstStyle/>
          <a:p>
            <a:pPr algn="ctr" eaLnBrk="1" hangingPunct="1">
              <a:spcBef>
                <a:spcPct val="50000"/>
              </a:spcBef>
            </a:pPr>
            <a:r>
              <a:rPr lang="zh-CN" altLang="en-US" sz="2800" b="1" dirty="0">
                <a:solidFill>
                  <a:schemeClr val="bg2"/>
                </a:solidFill>
                <a:latin typeface="微软雅黑" panose="020B0503020204020204" pitchFamily="34" charset="-122"/>
                <a:ea typeface="微软雅黑" panose="020B0503020204020204" pitchFamily="34" charset="-122"/>
              </a:rPr>
              <a:t>王小平</a:t>
            </a:r>
            <a:endParaRPr lang="en-US" altLang="zh-CN" sz="2800" b="1" dirty="0">
              <a:solidFill>
                <a:schemeClr val="bg2"/>
              </a:solidFill>
              <a:latin typeface="微软雅黑" panose="020B0503020204020204" pitchFamily="34" charset="-122"/>
              <a:ea typeface="微软雅黑" panose="020B0503020204020204" pitchFamily="34" charset="-122"/>
            </a:endParaRPr>
          </a:p>
          <a:p>
            <a:pPr algn="ctr" eaLnBrk="1" hangingPunct="1">
              <a:spcBef>
                <a:spcPct val="50000"/>
              </a:spcBef>
            </a:pPr>
            <a:r>
              <a:rPr lang="zh-CN" altLang="en-US" sz="2800" b="1" dirty="0">
                <a:solidFill>
                  <a:schemeClr val="bg2"/>
                </a:solidFill>
                <a:latin typeface="微软雅黑" panose="020B0503020204020204" pitchFamily="34" charset="-122"/>
                <a:ea typeface="微软雅黑" panose="020B0503020204020204" pitchFamily="34" charset="-122"/>
              </a:rPr>
              <a:t>主校区人工智能新大楼</a:t>
            </a:r>
            <a:r>
              <a:rPr lang="en-US" altLang="zh-CN" sz="2800" b="1" dirty="0">
                <a:solidFill>
                  <a:schemeClr val="bg2"/>
                </a:solidFill>
                <a:latin typeface="微软雅黑" panose="020B0503020204020204" pitchFamily="34" charset="-122"/>
                <a:ea typeface="微软雅黑" panose="020B0503020204020204" pitchFamily="34" charset="-122"/>
              </a:rPr>
              <a:t>S617</a:t>
            </a:r>
          </a:p>
          <a:p>
            <a:pPr algn="ctr" eaLnBrk="1" hangingPunct="1">
              <a:spcBef>
                <a:spcPct val="50000"/>
              </a:spcBef>
            </a:pPr>
            <a:r>
              <a:rPr lang="en-US" altLang="zh-CN" sz="2800" b="1" dirty="0">
                <a:solidFill>
                  <a:schemeClr val="bg2"/>
                </a:solidFill>
                <a:latin typeface="微软雅黑" panose="020B0503020204020204" pitchFamily="34" charset="-122"/>
                <a:ea typeface="微软雅黑" panose="020B0503020204020204" pitchFamily="34" charset="-122"/>
              </a:rPr>
              <a:t>wangxiaoping@hust.edu.cn</a:t>
            </a:r>
            <a:endParaRPr lang="zh-CN" altLang="en-US" sz="2800" b="1" dirty="0">
              <a:solidFill>
                <a:schemeClr val="bg2"/>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ppt_h/2"/>
                                          </p:val>
                                        </p:tav>
                                        <p:tav tm="100000">
                                          <p:val>
                                            <p:strVal val="#ppt_y"/>
                                          </p:val>
                                        </p:tav>
                                      </p:tavLst>
                                    </p:anim>
                                    <p:anim calcmode="lin" valueType="num">
                                      <p:cBhvr>
                                        <p:cTn id="14" dur="500" fill="hold"/>
                                        <p:tgtEl>
                                          <p:spTgt spid="5"/>
                                        </p:tgtEl>
                                        <p:attrNameLst>
                                          <p:attrName>ppt_w</p:attrName>
                                        </p:attrNameLst>
                                      </p:cBhvr>
                                      <p:tavLst>
                                        <p:tav tm="0">
                                          <p:val>
                                            <p:strVal val="#ppt_w"/>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p:cNvSpPr>
          <p:nvPr>
            <p:ph idx="1"/>
          </p:nvPr>
        </p:nvSpPr>
        <p:spPr>
          <a:xfrm>
            <a:off x="0" y="1123950"/>
            <a:ext cx="9144000" cy="5761355"/>
          </a:xfrm>
          <a:prstGeom prst="rect">
            <a:avLst/>
          </a:prstGeom>
          <a:solidFill>
            <a:srgbClr val="FFFFFF"/>
          </a:solidFill>
          <a:ln>
            <a:noFill/>
          </a:ln>
        </p:spPr>
        <p:txBody>
          <a:bodyPr/>
          <a:lstStyle/>
          <a:p>
            <a:pPr eaLnBrk="1" hangingPunct="1">
              <a:lnSpc>
                <a:spcPct val="80000"/>
              </a:lnSpc>
              <a:buSzPct val="60000"/>
            </a:pPr>
            <a:r>
              <a:rPr kumimoji="1" lang="zh-CN" altLang="en-US" sz="2800" b="1" dirty="0">
                <a:solidFill>
                  <a:schemeClr val="bg2"/>
                </a:solidFill>
                <a:latin typeface="微软雅黑" panose="020B0503020204020204" pitchFamily="34" charset="-122"/>
                <a:ea typeface="微软雅黑" panose="020B0503020204020204" pitchFamily="34" charset="-122"/>
                <a:cs typeface="+mn-cs"/>
              </a:rPr>
              <a:t>教材：</a:t>
            </a:r>
            <a:endParaRPr kumimoji="1" lang="en-US" altLang="zh-CN" sz="2800" b="1" dirty="0">
              <a:solidFill>
                <a:schemeClr val="bg2"/>
              </a:solidFill>
              <a:latin typeface="微软雅黑" panose="020B0503020204020204" pitchFamily="34" charset="-122"/>
              <a:ea typeface="微软雅黑" panose="020B0503020204020204" pitchFamily="34" charset="-122"/>
              <a:cs typeface="+mn-cs"/>
            </a:endParaRPr>
          </a:p>
          <a:p>
            <a:pPr marL="0" indent="0" eaLnBrk="1" hangingPunct="1">
              <a:lnSpc>
                <a:spcPct val="150000"/>
              </a:lnSpc>
              <a:buSzPct val="60000"/>
              <a:buNone/>
            </a:pPr>
            <a:r>
              <a:rPr lang="en-US" altLang="zh-CN" sz="2400" b="1" dirty="0">
                <a:solidFill>
                  <a:srgbClr val="0033CC"/>
                </a:solidFill>
                <a:latin typeface="微软雅黑" panose="020B0503020204020204" pitchFamily="34" charset="-122"/>
              </a:rPr>
              <a:t>1.  </a:t>
            </a:r>
            <a:r>
              <a:rPr lang="zh-CN" altLang="en-US" sz="2400" b="1" dirty="0">
                <a:solidFill>
                  <a:srgbClr val="0033CC"/>
                </a:solidFill>
                <a:latin typeface="微软雅黑" panose="020B0503020204020204" pitchFamily="34" charset="-122"/>
              </a:rPr>
              <a:t>陈宝林 编著，</a:t>
            </a:r>
            <a:r>
              <a:rPr lang="en-US" altLang="zh-CN" sz="2400" b="1" dirty="0">
                <a:solidFill>
                  <a:srgbClr val="0033CC"/>
                </a:solidFill>
                <a:latin typeface="微软雅黑" panose="020B0503020204020204" pitchFamily="34" charset="-122"/>
              </a:rPr>
              <a:t>《</a:t>
            </a:r>
            <a:r>
              <a:rPr lang="zh-CN" altLang="en-US" sz="2400" b="1" dirty="0">
                <a:solidFill>
                  <a:srgbClr val="0033CC"/>
                </a:solidFill>
                <a:latin typeface="微软雅黑" panose="020B0503020204020204" pitchFamily="34" charset="-122"/>
              </a:rPr>
              <a:t>最优化理论与算法</a:t>
            </a:r>
            <a:r>
              <a:rPr lang="en-US" altLang="zh-CN" sz="2400" b="1" dirty="0">
                <a:solidFill>
                  <a:srgbClr val="0033CC"/>
                </a:solidFill>
                <a:latin typeface="微软雅黑" panose="020B0503020204020204" pitchFamily="34" charset="-122"/>
              </a:rPr>
              <a:t>》</a:t>
            </a:r>
            <a:r>
              <a:rPr lang="zh-CN" altLang="en-US" sz="2400" b="1" dirty="0">
                <a:solidFill>
                  <a:srgbClr val="0033CC"/>
                </a:solidFill>
                <a:latin typeface="微软雅黑" panose="020B0503020204020204" pitchFamily="34" charset="-122"/>
              </a:rPr>
              <a:t>，清华  大学出版社</a:t>
            </a:r>
            <a:endParaRPr lang="en-US" altLang="zh-CN" sz="2400" b="1" dirty="0">
              <a:solidFill>
                <a:srgbClr val="0033CC"/>
              </a:solidFill>
              <a:latin typeface="微软雅黑" panose="020B0503020204020204" pitchFamily="34" charset="-122"/>
            </a:endParaRPr>
          </a:p>
          <a:p>
            <a:pPr marL="0" indent="0" eaLnBrk="1" hangingPunct="1">
              <a:lnSpc>
                <a:spcPct val="150000"/>
              </a:lnSpc>
              <a:buSzPct val="60000"/>
              <a:buNone/>
            </a:pPr>
            <a:r>
              <a:rPr lang="en-US" altLang="zh-CN" sz="2400" b="1" dirty="0">
                <a:solidFill>
                  <a:srgbClr val="0033CC"/>
                </a:solidFill>
                <a:latin typeface="微软雅黑" panose="020B0503020204020204" pitchFamily="34" charset="-122"/>
              </a:rPr>
              <a:t>2.《</a:t>
            </a:r>
            <a:r>
              <a:rPr lang="zh-CN" altLang="en-US" sz="2400" b="1" dirty="0">
                <a:solidFill>
                  <a:srgbClr val="0033CC"/>
                </a:solidFill>
                <a:latin typeface="微软雅黑" panose="020B0503020204020204" pitchFamily="34" charset="-122"/>
              </a:rPr>
              <a:t>运筹学</a:t>
            </a:r>
            <a:r>
              <a:rPr lang="en-US" altLang="zh-CN" sz="2400" b="1" dirty="0">
                <a:solidFill>
                  <a:srgbClr val="0033CC"/>
                </a:solidFill>
                <a:latin typeface="微软雅黑" panose="020B0503020204020204" pitchFamily="34" charset="-122"/>
              </a:rPr>
              <a:t>》</a:t>
            </a:r>
            <a:r>
              <a:rPr lang="zh-CN" altLang="en-US" sz="2400" b="1" dirty="0">
                <a:solidFill>
                  <a:srgbClr val="0033CC"/>
                </a:solidFill>
                <a:latin typeface="微软雅黑" panose="020B0503020204020204" pitchFamily="34" charset="-122"/>
              </a:rPr>
              <a:t>，清华大学出版社（第</a:t>
            </a:r>
            <a:r>
              <a:rPr lang="en-US" altLang="zh-CN" sz="2400" b="1" dirty="0">
                <a:solidFill>
                  <a:srgbClr val="0033CC"/>
                </a:solidFill>
                <a:latin typeface="微软雅黑" panose="020B0503020204020204" pitchFamily="34" charset="-122"/>
              </a:rPr>
              <a:t>5</a:t>
            </a:r>
            <a:r>
              <a:rPr lang="zh-CN" altLang="en-US" sz="2400" b="1" dirty="0">
                <a:solidFill>
                  <a:srgbClr val="0033CC"/>
                </a:solidFill>
                <a:latin typeface="微软雅黑" panose="020B0503020204020204" pitchFamily="34" charset="-122"/>
              </a:rPr>
              <a:t>版）</a:t>
            </a:r>
          </a:p>
          <a:p>
            <a:pPr eaLnBrk="1" hangingPunct="1">
              <a:lnSpc>
                <a:spcPct val="60000"/>
              </a:lnSpc>
              <a:spcBef>
                <a:spcPct val="0"/>
              </a:spcBef>
              <a:buSzPct val="60000"/>
              <a:buNone/>
            </a:pPr>
            <a:endParaRPr kumimoji="1" lang="zh-CN" altLang="en-US" sz="2800" b="1" dirty="0">
              <a:solidFill>
                <a:schemeClr val="bg2"/>
              </a:solidFill>
              <a:latin typeface="微软雅黑" panose="020B0503020204020204" pitchFamily="34" charset="-122"/>
              <a:ea typeface="微软雅黑" panose="020B0503020204020204" pitchFamily="34" charset="-122"/>
              <a:cs typeface="+mn-cs"/>
            </a:endParaRPr>
          </a:p>
          <a:p>
            <a:pPr>
              <a:lnSpc>
                <a:spcPct val="80000"/>
              </a:lnSpc>
              <a:buSzPct val="60000"/>
            </a:pPr>
            <a:r>
              <a:rPr kumimoji="1" lang="zh-CN" altLang="en-US" sz="2800" b="1" dirty="0">
                <a:solidFill>
                  <a:schemeClr val="bg2"/>
                </a:solidFill>
                <a:latin typeface="微软雅黑" panose="020B0503020204020204" pitchFamily="34" charset="-122"/>
                <a:ea typeface="微软雅黑" panose="020B0503020204020204" pitchFamily="34" charset="-122"/>
                <a:cs typeface="+mn-cs"/>
              </a:rPr>
              <a:t>参考书：</a:t>
            </a:r>
          </a:p>
          <a:p>
            <a:pPr marL="457200" indent="-457200" eaLnBrk="1" hangingPunct="1">
              <a:lnSpc>
                <a:spcPct val="150000"/>
              </a:lnSpc>
              <a:buFont typeface="+mj-lt"/>
              <a:buAutoNum type="arabicPeriod"/>
            </a:pPr>
            <a:r>
              <a:rPr lang="zh-CN" altLang="en-US" sz="2400" b="1" dirty="0">
                <a:solidFill>
                  <a:srgbClr val="0033CC"/>
                </a:solidFill>
                <a:latin typeface="微软雅黑" panose="020B0503020204020204" pitchFamily="34" charset="-122"/>
              </a:rPr>
              <a:t>焦宝聪、陈兰平，运筹学的思想方法及应用，北京大学出版社</a:t>
            </a:r>
            <a:r>
              <a:rPr lang="en-US" altLang="zh-CN" sz="2400" b="1" dirty="0">
                <a:solidFill>
                  <a:srgbClr val="0033CC"/>
                </a:solidFill>
                <a:latin typeface="微软雅黑" panose="020B0503020204020204" pitchFamily="34" charset="-122"/>
              </a:rPr>
              <a:t>,</a:t>
            </a:r>
            <a:r>
              <a:rPr lang="zh-CN" altLang="en-US" sz="2400" b="1" dirty="0">
                <a:solidFill>
                  <a:srgbClr val="0033CC"/>
                </a:solidFill>
                <a:latin typeface="微软雅黑" panose="020B0503020204020204" pitchFamily="34" charset="-122"/>
              </a:rPr>
              <a:t>北京，</a:t>
            </a:r>
            <a:r>
              <a:rPr lang="en-US" altLang="zh-CN" sz="2400" b="1" dirty="0">
                <a:solidFill>
                  <a:srgbClr val="0033CC"/>
                </a:solidFill>
                <a:latin typeface="微软雅黑" panose="020B0503020204020204" pitchFamily="34" charset="-122"/>
              </a:rPr>
              <a:t>2008</a:t>
            </a:r>
            <a:r>
              <a:rPr lang="zh-CN" altLang="en-US" sz="2400" b="1" dirty="0">
                <a:solidFill>
                  <a:srgbClr val="0033CC"/>
                </a:solidFill>
                <a:latin typeface="微软雅黑" panose="020B0503020204020204" pitchFamily="34" charset="-122"/>
              </a:rPr>
              <a:t>年</a:t>
            </a:r>
          </a:p>
          <a:p>
            <a:pPr marL="457200" indent="-457200" eaLnBrk="1" hangingPunct="1">
              <a:lnSpc>
                <a:spcPct val="150000"/>
              </a:lnSpc>
              <a:buFont typeface="+mj-lt"/>
              <a:buAutoNum type="arabicPeriod"/>
            </a:pPr>
            <a:r>
              <a:rPr lang="zh-CN" altLang="en-US" sz="2400" b="1" dirty="0">
                <a:solidFill>
                  <a:srgbClr val="0033CC"/>
                </a:solidFill>
                <a:latin typeface="微软雅黑" panose="020B0503020204020204" pitchFamily="34" charset="-122"/>
              </a:rPr>
              <a:t>韩中庚，实用运筹学模型、方法与计算， 清华大学出版社，北京，</a:t>
            </a:r>
            <a:r>
              <a:rPr lang="en-US" altLang="zh-CN" sz="2400" b="1" dirty="0">
                <a:solidFill>
                  <a:srgbClr val="0033CC"/>
                </a:solidFill>
                <a:latin typeface="微软雅黑" panose="020B0503020204020204" pitchFamily="34" charset="-122"/>
              </a:rPr>
              <a:t>2007</a:t>
            </a:r>
            <a:r>
              <a:rPr lang="zh-CN" altLang="en-US" sz="2400" b="1" dirty="0">
                <a:solidFill>
                  <a:srgbClr val="0033CC"/>
                </a:solidFill>
                <a:latin typeface="微软雅黑" panose="020B0503020204020204" pitchFamily="34" charset="-122"/>
              </a:rPr>
              <a:t>年</a:t>
            </a:r>
          </a:p>
          <a:p>
            <a:pPr marL="457200" indent="-457200" eaLnBrk="1" hangingPunct="1">
              <a:lnSpc>
                <a:spcPct val="150000"/>
              </a:lnSpc>
              <a:buFont typeface="+mj-lt"/>
              <a:buAutoNum type="arabicPeriod"/>
            </a:pPr>
            <a:r>
              <a:rPr lang="zh-CN" altLang="en-US" sz="2400" b="1" dirty="0">
                <a:solidFill>
                  <a:srgbClr val="0033CC"/>
                </a:solidFill>
                <a:latin typeface="微软雅黑" panose="020B0503020204020204" pitchFamily="34" charset="-122"/>
              </a:rPr>
              <a:t>胡运权，运筹学习题集，清华大学出版社，北京，</a:t>
            </a:r>
            <a:r>
              <a:rPr lang="en-US" altLang="zh-CN" sz="2400" b="1" dirty="0">
                <a:solidFill>
                  <a:srgbClr val="0033CC"/>
                </a:solidFill>
                <a:latin typeface="微软雅黑" panose="020B0503020204020204" pitchFamily="34" charset="-122"/>
              </a:rPr>
              <a:t>2010</a:t>
            </a:r>
            <a:r>
              <a:rPr lang="zh-CN" altLang="en-US" sz="2400" b="1" dirty="0">
                <a:solidFill>
                  <a:srgbClr val="0033CC"/>
                </a:solidFill>
                <a:latin typeface="微软雅黑" panose="020B0503020204020204" pitchFamily="34" charset="-122"/>
              </a:rPr>
              <a:t>年</a:t>
            </a:r>
          </a:p>
          <a:p>
            <a:pPr eaLnBrk="1" hangingPunct="1">
              <a:lnSpc>
                <a:spcPct val="150000"/>
              </a:lnSpc>
              <a:buSzPct val="60000"/>
              <a:buNone/>
            </a:pPr>
            <a:r>
              <a:rPr lang="en-US" altLang="zh-CN" sz="2800" b="1" dirty="0">
                <a:solidFill>
                  <a:schemeClr val="bg2"/>
                </a:solidFill>
                <a:latin typeface="微软雅黑" panose="020B0503020204020204" pitchFamily="34" charset="-122"/>
              </a:rPr>
              <a:t> </a:t>
            </a:r>
            <a:endParaRPr lang="zh-CN" altLang="en-US" sz="2800" b="1" dirty="0">
              <a:solidFill>
                <a:schemeClr val="bg2"/>
              </a:solidFill>
              <a:latin typeface="微软雅黑" panose="020B0503020204020204" pitchFamily="34" charset="-122"/>
            </a:endParaRPr>
          </a:p>
        </p:txBody>
      </p:sp>
      <p:sp>
        <p:nvSpPr>
          <p:cNvPr id="7171" name="Text Box 4"/>
          <p:cNvSpPr txBox="1">
            <a:spLocks noChangeArrowheads="1"/>
          </p:cNvSpPr>
          <p:nvPr/>
        </p:nvSpPr>
        <p:spPr bwMode="auto">
          <a:xfrm>
            <a:off x="1382884" y="260648"/>
            <a:ext cx="6408712" cy="584775"/>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lvl="0" eaLnBrk="1" hangingPunct="1">
              <a:defRPr/>
            </a:pPr>
            <a:r>
              <a:rPr kumimoji="1" lang="en-US" altLang="zh-CN" sz="3200" b="1"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rPr>
              <a:t>《</a:t>
            </a:r>
            <a:r>
              <a:rPr kumimoji="1" lang="zh-CN" altLang="en-US" sz="3200" b="1" dirty="0">
                <a:ea typeface="微软雅黑" panose="020B0503020204020204" pitchFamily="34" charset="-122"/>
              </a:rPr>
              <a:t>优化理论及应用</a:t>
            </a:r>
            <a:r>
              <a:rPr kumimoji="1" lang="en-US" altLang="zh-CN" sz="3200" b="1"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rPr>
              <a:t>》</a:t>
            </a:r>
            <a:r>
              <a:rPr kumimoji="1" lang="zh-CN" altLang="en-US" sz="3200" b="1" i="0" u="none" strike="noStrike" kern="1200" cap="none" spc="0" normalizeH="0" baseline="0" noProof="0" dirty="0">
                <a:ln>
                  <a:noFill/>
                </a:ln>
                <a:solidFill>
                  <a:schemeClr val="lt1"/>
                </a:solidFill>
                <a:effectLst/>
                <a:uLnTx/>
                <a:uFillTx/>
                <a:latin typeface="+mn-lt"/>
                <a:ea typeface="微软雅黑" panose="020B0503020204020204" pitchFamily="34" charset="-122"/>
                <a:cs typeface="+mn-cs"/>
              </a:rPr>
              <a:t>课程介绍</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A12737-BDAC-4BCB-B9EF-FB9433A6C3C2}"/>
              </a:ext>
            </a:extLst>
          </p:cNvPr>
          <p:cNvSpPr>
            <a:spLocks noGrp="1"/>
          </p:cNvSpPr>
          <p:nvPr>
            <p:ph type="title"/>
          </p:nvPr>
        </p:nvSpPr>
        <p:spPr>
          <a:xfrm>
            <a:off x="467544" y="44625"/>
            <a:ext cx="7772400" cy="864095"/>
          </a:xfrm>
        </p:spPr>
        <p:txBody>
          <a:bodyPr/>
          <a:lstStyle/>
          <a:p>
            <a:r>
              <a:rPr lang="zh-CN" altLang="en-US" dirty="0"/>
              <a:t>什么是最优化？</a:t>
            </a:r>
          </a:p>
        </p:txBody>
      </p:sp>
      <p:sp>
        <p:nvSpPr>
          <p:cNvPr id="4" name="文本框 3">
            <a:extLst>
              <a:ext uri="{FF2B5EF4-FFF2-40B4-BE49-F238E27FC236}">
                <a16:creationId xmlns:a16="http://schemas.microsoft.com/office/drawing/2014/main" id="{6ACFFF21-AF0B-4009-9591-3495F1CB7D65}"/>
              </a:ext>
            </a:extLst>
          </p:cNvPr>
          <p:cNvSpPr txBox="1"/>
          <p:nvPr/>
        </p:nvSpPr>
        <p:spPr>
          <a:xfrm>
            <a:off x="315199" y="836712"/>
            <a:ext cx="8433266" cy="5001113"/>
          </a:xfrm>
          <a:prstGeom prst="rect">
            <a:avLst/>
          </a:prstGeom>
          <a:noFill/>
        </p:spPr>
        <p:txBody>
          <a:bodyPr wrap="square" rtlCol="0">
            <a:spAutoFit/>
          </a:bodyPr>
          <a:lstStyle/>
          <a:p>
            <a:pPr algn="l">
              <a:lnSpc>
                <a:spcPct val="150000"/>
              </a:lnSpc>
              <a:buFont typeface="Arial" panose="020B0604020202020204" pitchFamily="34" charset="0"/>
              <a:buChar char="•"/>
            </a:pPr>
            <a:r>
              <a:rPr lang="zh-CN" altLang="en-US" b="1" i="0" dirty="0">
                <a:solidFill>
                  <a:srgbClr val="0F1115"/>
                </a:solidFill>
                <a:effectLst/>
                <a:latin typeface="quote-cjk-patch"/>
              </a:rPr>
              <a:t>核心问题</a:t>
            </a:r>
            <a:r>
              <a:rPr lang="zh-CN" altLang="en-US" b="0" i="0" dirty="0">
                <a:solidFill>
                  <a:srgbClr val="0F1115"/>
                </a:solidFill>
                <a:effectLst/>
                <a:latin typeface="quote-cjk-patch"/>
              </a:rPr>
              <a:t>：</a:t>
            </a:r>
          </a:p>
          <a:p>
            <a:pPr marL="742950" lvl="1" indent="-285750" algn="l">
              <a:lnSpc>
                <a:spcPct val="150000"/>
              </a:lnSpc>
              <a:buFont typeface="Arial" panose="020B0604020202020204" pitchFamily="34" charset="0"/>
              <a:buChar char="•"/>
            </a:pPr>
            <a:r>
              <a:rPr lang="zh-CN" altLang="en-US" b="0" i="0" dirty="0">
                <a:solidFill>
                  <a:srgbClr val="0F1115"/>
                </a:solidFill>
                <a:effectLst/>
                <a:latin typeface="quote-cjk-patch"/>
              </a:rPr>
              <a:t>资源有限，如何分配？</a:t>
            </a:r>
          </a:p>
          <a:p>
            <a:pPr marL="742950" lvl="1" indent="-285750" algn="l">
              <a:lnSpc>
                <a:spcPct val="150000"/>
              </a:lnSpc>
              <a:buFont typeface="Arial" panose="020B0604020202020204" pitchFamily="34" charset="0"/>
              <a:buChar char="•"/>
            </a:pPr>
            <a:r>
              <a:rPr lang="zh-CN" altLang="en-US" b="0" i="0" dirty="0">
                <a:solidFill>
                  <a:srgbClr val="0F1115"/>
                </a:solidFill>
                <a:effectLst/>
                <a:latin typeface="quote-cjk-patch"/>
              </a:rPr>
              <a:t>方案众多，哪个最优？</a:t>
            </a:r>
          </a:p>
          <a:p>
            <a:pPr marL="742950" lvl="1" indent="-285750" algn="l">
              <a:lnSpc>
                <a:spcPct val="150000"/>
              </a:lnSpc>
              <a:buFont typeface="Arial" panose="020B0604020202020204" pitchFamily="34" charset="0"/>
              <a:buChar char="•"/>
            </a:pPr>
            <a:r>
              <a:rPr lang="zh-CN" altLang="en-US" b="0" i="0" dirty="0">
                <a:solidFill>
                  <a:srgbClr val="0F1115"/>
                </a:solidFill>
                <a:effectLst/>
                <a:latin typeface="quote-cjk-patch"/>
              </a:rPr>
              <a:t>怎样系统性地找到最优方案？</a:t>
            </a:r>
            <a:endParaRPr lang="en-US" altLang="zh-CN" b="0" i="0" dirty="0">
              <a:solidFill>
                <a:srgbClr val="0F1115"/>
              </a:solidFill>
              <a:effectLst/>
              <a:latin typeface="quote-cjk-patch"/>
            </a:endParaRPr>
          </a:p>
          <a:p>
            <a:pPr marL="742950" lvl="1" indent="-285750" algn="l">
              <a:lnSpc>
                <a:spcPct val="150000"/>
              </a:lnSpc>
              <a:buFont typeface="Arial" panose="020B0604020202020204" pitchFamily="34" charset="0"/>
              <a:buChar char="•"/>
            </a:pPr>
            <a:r>
              <a:rPr lang="en-US" altLang="zh-CN" b="0" i="0" dirty="0">
                <a:solidFill>
                  <a:srgbClr val="0F1115"/>
                </a:solidFill>
                <a:effectLst/>
                <a:latin typeface="quote-cjk-patch"/>
              </a:rPr>
              <a:t>……</a:t>
            </a:r>
            <a:endParaRPr lang="zh-CN" altLang="en-US" b="0" i="0" dirty="0">
              <a:solidFill>
                <a:srgbClr val="0F1115"/>
              </a:solidFill>
              <a:effectLst/>
              <a:latin typeface="quote-cjk-patch"/>
            </a:endParaRPr>
          </a:p>
          <a:p>
            <a:pPr algn="l">
              <a:lnSpc>
                <a:spcPct val="150000"/>
              </a:lnSpc>
              <a:buFont typeface="Arial" panose="020B0604020202020204" pitchFamily="34" charset="0"/>
              <a:buChar char="•"/>
            </a:pPr>
            <a:r>
              <a:rPr lang="zh-CN" altLang="en-US" b="1" i="0" dirty="0">
                <a:solidFill>
                  <a:srgbClr val="0F1115"/>
                </a:solidFill>
                <a:effectLst/>
                <a:latin typeface="quote-cjk-patch"/>
              </a:rPr>
              <a:t>课程定义</a:t>
            </a:r>
            <a:r>
              <a:rPr lang="zh-CN" altLang="en-US" b="0"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最优化理论与方法是一个重要的</a:t>
            </a:r>
            <a:r>
              <a:rPr lang="zh-CN" altLang="en-US" b="1" i="0" dirty="0">
                <a:solidFill>
                  <a:srgbClr val="0F1115"/>
                </a:solidFill>
                <a:effectLst/>
                <a:latin typeface="quote-cjk-patch"/>
              </a:rPr>
              <a:t>数学分支</a:t>
            </a:r>
            <a:r>
              <a:rPr lang="zh-CN" altLang="en-US" b="0" i="0" dirty="0">
                <a:solidFill>
                  <a:srgbClr val="0F1115"/>
                </a:solidFill>
                <a:effectLst/>
                <a:latin typeface="quote-cjk-patch"/>
              </a:rPr>
              <a:t>，也是</a:t>
            </a:r>
            <a:r>
              <a:rPr lang="zh-CN" altLang="en-US" b="1" i="0" dirty="0">
                <a:solidFill>
                  <a:srgbClr val="0F1115"/>
                </a:solidFill>
                <a:effectLst/>
                <a:latin typeface="quote-cjk-patch"/>
              </a:rPr>
              <a:t>应用性很强的学科</a:t>
            </a:r>
            <a:r>
              <a:rPr lang="zh-CN" altLang="en-US" b="0"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它为各类决策问题提供</a:t>
            </a:r>
            <a:r>
              <a:rPr lang="zh-CN" altLang="en-US" b="1" i="0" dirty="0">
                <a:solidFill>
                  <a:srgbClr val="0F1115"/>
                </a:solidFill>
                <a:effectLst/>
                <a:latin typeface="quote-cjk-patch"/>
              </a:rPr>
              <a:t>理论基础</a:t>
            </a:r>
            <a:r>
              <a:rPr lang="zh-CN" altLang="en-US" b="0" i="0" dirty="0">
                <a:solidFill>
                  <a:srgbClr val="0F1115"/>
                </a:solidFill>
                <a:effectLst/>
                <a:latin typeface="quote-cjk-patch"/>
              </a:rPr>
              <a:t>和</a:t>
            </a:r>
            <a:r>
              <a:rPr lang="zh-CN" altLang="en-US" b="1" i="0" dirty="0">
                <a:solidFill>
                  <a:srgbClr val="0F1115"/>
                </a:solidFill>
                <a:effectLst/>
                <a:latin typeface="quote-cjk-patch"/>
              </a:rPr>
              <a:t>求解方法</a:t>
            </a:r>
            <a:r>
              <a:rPr lang="zh-CN" altLang="en-US" b="0" i="0" dirty="0">
                <a:solidFill>
                  <a:srgbClr val="0F1115"/>
                </a:solidFill>
                <a:effectLst/>
                <a:latin typeface="quote-cjk-patch"/>
              </a:rPr>
              <a:t>。</a:t>
            </a:r>
            <a:endParaRPr lang="zh-CN" altLang="en-US" dirty="0"/>
          </a:p>
        </p:txBody>
      </p:sp>
    </p:spTree>
    <p:extLst>
      <p:ext uri="{BB962C8B-B14F-4D97-AF65-F5344CB8AC3E}">
        <p14:creationId xmlns:p14="http://schemas.microsoft.com/office/powerpoint/2010/main" val="3929239286"/>
      </p:ext>
    </p:ext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F6E5B1-F50C-4BC6-B26A-36FDEE01E173}"/>
              </a:ext>
            </a:extLst>
          </p:cNvPr>
          <p:cNvSpPr>
            <a:spLocks noGrp="1"/>
          </p:cNvSpPr>
          <p:nvPr>
            <p:ph type="title"/>
          </p:nvPr>
        </p:nvSpPr>
        <p:spPr>
          <a:xfrm>
            <a:off x="323528" y="188640"/>
            <a:ext cx="7772400" cy="1362075"/>
          </a:xfrm>
        </p:spPr>
        <p:txBody>
          <a:bodyPr/>
          <a:lstStyle/>
          <a:p>
            <a:r>
              <a:rPr lang="zh-CN" altLang="en-US" dirty="0"/>
              <a:t>最优化学科的发展历史</a:t>
            </a:r>
          </a:p>
        </p:txBody>
      </p:sp>
      <p:sp>
        <p:nvSpPr>
          <p:cNvPr id="3" name="文本占位符 2">
            <a:extLst>
              <a:ext uri="{FF2B5EF4-FFF2-40B4-BE49-F238E27FC236}">
                <a16:creationId xmlns:a16="http://schemas.microsoft.com/office/drawing/2014/main" id="{9DF87A76-681D-4721-807C-CA4984499A4E}"/>
              </a:ext>
            </a:extLst>
          </p:cNvPr>
          <p:cNvSpPr>
            <a:spLocks noGrp="1"/>
          </p:cNvSpPr>
          <p:nvPr>
            <p:ph type="body" idx="1"/>
          </p:nvPr>
        </p:nvSpPr>
        <p:spPr>
          <a:xfrm>
            <a:off x="467544" y="980728"/>
            <a:ext cx="7772400" cy="5328592"/>
          </a:xfrm>
        </p:spPr>
        <p:txBody>
          <a:bodyPr/>
          <a:lstStyle/>
          <a:p>
            <a:pPr>
              <a:lnSpc>
                <a:spcPct val="150000"/>
              </a:lnSpc>
            </a:pPr>
            <a:r>
              <a:rPr lang="zh-CN" altLang="en-US" dirty="0"/>
              <a:t>早期发展：</a:t>
            </a:r>
            <a:endParaRPr lang="en-US" altLang="zh-CN" dirty="0"/>
          </a:p>
          <a:p>
            <a:pPr marL="342900" indent="-342900">
              <a:lnSpc>
                <a:spcPct val="150000"/>
              </a:lnSpc>
              <a:buFont typeface="Wingdings" panose="05000000000000000000" pitchFamily="2" charset="2"/>
              <a:buChar char="Ø"/>
            </a:pPr>
            <a:r>
              <a:rPr lang="zh-CN" altLang="en-US" b="1" dirty="0"/>
              <a:t>微积分时代：</a:t>
            </a:r>
            <a:r>
              <a:rPr lang="zh-CN" altLang="en-US" dirty="0"/>
              <a:t>早在 </a:t>
            </a:r>
            <a:r>
              <a:rPr lang="en-US" altLang="zh-CN" dirty="0"/>
              <a:t>17 </a:t>
            </a:r>
            <a:r>
              <a:rPr lang="zh-CN" altLang="en-US" dirty="0"/>
              <a:t>世纪，微积分的确立为研究函数极值问题提供了基础，这可以视为最优化理论的早期萌芽。牛顿、莱布尼茨等人在微积分领域的贡献为后来的最优化研究奠定了基础。</a:t>
            </a:r>
            <a:endParaRPr lang="en-US" altLang="zh-CN" dirty="0"/>
          </a:p>
          <a:p>
            <a:pPr marL="342900" indent="-342900">
              <a:lnSpc>
                <a:spcPct val="150000"/>
              </a:lnSpc>
              <a:buFont typeface="Wingdings" panose="05000000000000000000" pitchFamily="2" charset="2"/>
              <a:buChar char="Ø"/>
            </a:pPr>
            <a:r>
              <a:rPr lang="zh-CN" altLang="en-US" b="1" dirty="0"/>
              <a:t>拉格朗日乘子法：</a:t>
            </a:r>
            <a:r>
              <a:rPr lang="zh-CN" altLang="en-US" dirty="0"/>
              <a:t>随着数学的发展，拉格朗日提出了求解约束优化问题的方法，即拉格朗日乘子法，这是最优化理论中的一个重要里程碑。</a:t>
            </a:r>
            <a:endParaRPr lang="en-US" altLang="zh-CN" dirty="0"/>
          </a:p>
          <a:p>
            <a:pPr marL="342900" indent="-342900">
              <a:lnSpc>
                <a:spcPct val="150000"/>
              </a:lnSpc>
              <a:buFont typeface="Wingdings" panose="05000000000000000000" pitchFamily="2" charset="2"/>
              <a:buChar char="Ø"/>
            </a:pPr>
            <a:r>
              <a:rPr lang="zh-CN" altLang="en-US" b="1" dirty="0"/>
              <a:t>最速下降法：</a:t>
            </a:r>
            <a:r>
              <a:rPr lang="en-US" altLang="zh-CN" dirty="0"/>
              <a:t>1847 </a:t>
            </a:r>
            <a:r>
              <a:rPr lang="zh-CN" altLang="en-US" dirty="0"/>
              <a:t>年法国数学家 </a:t>
            </a:r>
            <a:r>
              <a:rPr lang="en-US" altLang="zh-CN" dirty="0"/>
              <a:t>Cauchy </a:t>
            </a:r>
            <a:r>
              <a:rPr lang="zh-CN" altLang="en-US" dirty="0"/>
              <a:t>研究了函数沿什么方向下降最快的问题，提出最速下降法。</a:t>
            </a:r>
            <a:endParaRPr lang="en-US" altLang="zh-CN" dirty="0"/>
          </a:p>
          <a:p>
            <a:pPr marL="342900" indent="-342900">
              <a:lnSpc>
                <a:spcPct val="150000"/>
              </a:lnSpc>
              <a:buFont typeface="Wingdings" panose="05000000000000000000" pitchFamily="2" charset="2"/>
              <a:buChar char="Ø"/>
            </a:pPr>
            <a:r>
              <a:rPr lang="zh-CN" altLang="en-US" b="1" dirty="0"/>
              <a:t>下料问题和运输问题：</a:t>
            </a:r>
            <a:r>
              <a:rPr lang="en-US" altLang="zh-CN" dirty="0"/>
              <a:t>1937 </a:t>
            </a:r>
            <a:r>
              <a:rPr lang="zh-CN" altLang="en-US" dirty="0"/>
              <a:t>年前苏联数学家提出了解决下料问题和运输问题这两种线性规划问题的求解方法。</a:t>
            </a:r>
          </a:p>
        </p:txBody>
      </p:sp>
    </p:spTree>
    <p:extLst>
      <p:ext uri="{BB962C8B-B14F-4D97-AF65-F5344CB8AC3E}">
        <p14:creationId xmlns:p14="http://schemas.microsoft.com/office/powerpoint/2010/main" val="2554323680"/>
      </p:ext>
    </p:ext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AA03609D-60C0-41B2-9365-B5A1609E92F9}"/>
              </a:ext>
            </a:extLst>
          </p:cNvPr>
          <p:cNvSpPr>
            <a:spLocks noGrp="1"/>
          </p:cNvSpPr>
          <p:nvPr>
            <p:ph type="body" idx="1"/>
          </p:nvPr>
        </p:nvSpPr>
        <p:spPr>
          <a:xfrm>
            <a:off x="107504" y="188640"/>
            <a:ext cx="8964488" cy="4680520"/>
          </a:xfrm>
        </p:spPr>
        <p:txBody>
          <a:bodyPr/>
          <a:lstStyle/>
          <a:p>
            <a:pPr>
              <a:lnSpc>
                <a:spcPct val="150000"/>
              </a:lnSpc>
            </a:pPr>
            <a:r>
              <a:rPr lang="en-US" altLang="zh-CN" b="1" dirty="0"/>
              <a:t>20 </a:t>
            </a:r>
            <a:r>
              <a:rPr lang="zh-CN" altLang="en-US" b="1" dirty="0"/>
              <a:t>世纪 </a:t>
            </a:r>
            <a:r>
              <a:rPr lang="en-US" altLang="zh-CN" b="1" dirty="0"/>
              <a:t>40 </a:t>
            </a:r>
            <a:r>
              <a:rPr lang="zh-CN" altLang="en-US" b="1" dirty="0"/>
              <a:t>年代 </a:t>
            </a:r>
            <a:r>
              <a:rPr lang="en-US" altLang="zh-CN" b="1" dirty="0"/>
              <a:t>— </a:t>
            </a:r>
            <a:r>
              <a:rPr lang="zh-CN" altLang="en-US" b="1" dirty="0">
                <a:solidFill>
                  <a:srgbClr val="C00000"/>
                </a:solidFill>
              </a:rPr>
              <a:t>学科形成</a:t>
            </a:r>
            <a:endParaRPr lang="en-US" altLang="zh-CN" b="1" dirty="0">
              <a:solidFill>
                <a:srgbClr val="C00000"/>
              </a:solidFill>
            </a:endParaRPr>
          </a:p>
          <a:p>
            <a:pPr marL="342900" indent="-342900">
              <a:lnSpc>
                <a:spcPct val="150000"/>
              </a:lnSpc>
              <a:buFont typeface="Wingdings" panose="05000000000000000000" pitchFamily="2" charset="2"/>
              <a:buChar char="Ø"/>
            </a:pPr>
            <a:r>
              <a:rPr lang="zh-CN" altLang="en-US" b="1" dirty="0"/>
              <a:t>运筹学的诞生：</a:t>
            </a:r>
            <a:r>
              <a:rPr lang="en-US" altLang="zh-CN" dirty="0"/>
              <a:t>20 </a:t>
            </a:r>
            <a:r>
              <a:rPr lang="zh-CN" altLang="en-US" dirty="0"/>
              <a:t>世纪 </a:t>
            </a:r>
            <a:r>
              <a:rPr lang="en-US" altLang="zh-CN" dirty="0"/>
              <a:t>40 </a:t>
            </a:r>
            <a:r>
              <a:rPr lang="zh-CN" altLang="en-US" dirty="0"/>
              <a:t>年代，运筹学作为一门应用数学学科诞生，它利用数学方法和计算机技术来解决各种实际问题，其中最优化理论成为运筹学的重要组成部分。运筹学的诞生标志着最优化学科开始作为一个独立的学科领域出现。</a:t>
            </a:r>
            <a:endParaRPr lang="en-US" altLang="zh-CN" dirty="0"/>
          </a:p>
          <a:p>
            <a:pPr marL="342900" indent="-342900">
              <a:lnSpc>
                <a:spcPct val="150000"/>
              </a:lnSpc>
              <a:buFont typeface="Wingdings" panose="05000000000000000000" pitchFamily="2" charset="2"/>
              <a:buChar char="Ø"/>
            </a:pPr>
            <a:r>
              <a:rPr lang="zh-CN" altLang="en-US" b="1" dirty="0"/>
              <a:t>线性规划与非线性规划理论的逐渐成熟</a:t>
            </a:r>
            <a:r>
              <a:rPr lang="zh-CN" altLang="en-US" dirty="0"/>
              <a:t>，进一步推动了最优化学科的形成和发展。其中，关键事件和人物包括：</a:t>
            </a:r>
            <a:endParaRPr lang="en-US" altLang="zh-CN" dirty="0"/>
          </a:p>
          <a:p>
            <a:pPr marL="342900" indent="-342900">
              <a:lnSpc>
                <a:spcPct val="150000"/>
              </a:lnSpc>
              <a:buFont typeface="Wingdings" panose="05000000000000000000" pitchFamily="2" charset="2"/>
              <a:buChar char="Ø"/>
            </a:pPr>
            <a:r>
              <a:rPr lang="zh-CN" altLang="en-US" b="1" dirty="0"/>
              <a:t>康托罗维奇与线性规划：</a:t>
            </a:r>
            <a:r>
              <a:rPr lang="en-US" altLang="zh-CN" dirty="0"/>
              <a:t>1939 </a:t>
            </a:r>
            <a:r>
              <a:rPr lang="zh-CN" altLang="en-US" dirty="0"/>
              <a:t>年，坎托罗维奇提出了线性规划模型及其求解算法，为线性规划理论的发展奠定了基础。这一成果对最优化学科的诞生具有重要意义。</a:t>
            </a:r>
            <a:endParaRPr lang="en-US" altLang="zh-CN" dirty="0"/>
          </a:p>
        </p:txBody>
      </p:sp>
      <p:sp>
        <p:nvSpPr>
          <p:cNvPr id="6" name="矩形 5">
            <a:extLst>
              <a:ext uri="{FF2B5EF4-FFF2-40B4-BE49-F238E27FC236}">
                <a16:creationId xmlns:a16="http://schemas.microsoft.com/office/drawing/2014/main" id="{052B5A02-5257-4FB9-A779-1C979302C31F}"/>
              </a:ext>
            </a:extLst>
          </p:cNvPr>
          <p:cNvSpPr/>
          <p:nvPr/>
        </p:nvSpPr>
        <p:spPr>
          <a:xfrm>
            <a:off x="2195736" y="4847050"/>
            <a:ext cx="6660232" cy="1884427"/>
          </a:xfrm>
          <a:prstGeom prst="rect">
            <a:avLst/>
          </a:prstGeom>
          <a:noFill/>
          <a:ln w="9525">
            <a:noFill/>
          </a:ln>
        </p:spPr>
        <p:txBody>
          <a:bodyPr wrap="square">
            <a:spAutoFit/>
          </a:bodyPr>
          <a:lstStyle/>
          <a:p>
            <a:pPr algn="just" eaLnBrk="1" hangingPunct="1">
              <a:lnSpc>
                <a:spcPct val="150000"/>
              </a:lnSpc>
            </a:pPr>
            <a:r>
              <a:rPr lang="zh-CN" altLang="en-US" sz="2000" dirty="0">
                <a:latin typeface="Times New Roman" panose="02020603050405020304" pitchFamily="18" charset="0"/>
                <a:ea typeface="微软雅黑" panose="020B0503020204020204" pitchFamily="34" charset="-122"/>
              </a:rPr>
              <a:t>列奥尼德</a:t>
            </a:r>
            <a:r>
              <a:rPr lang="en-US" altLang="zh-CN" sz="2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康托罗维奇，前苏联人，由于在</a:t>
            </a:r>
            <a:r>
              <a:rPr lang="en-US" altLang="zh-CN" sz="2000" dirty="0">
                <a:latin typeface="Times New Roman" panose="02020603050405020304" pitchFamily="18" charset="0"/>
                <a:ea typeface="微软雅黑" panose="020B0503020204020204" pitchFamily="34" charset="-122"/>
              </a:rPr>
              <a:t>1939</a:t>
            </a:r>
            <a:r>
              <a:rPr lang="zh-CN" altLang="en-US" sz="2000" dirty="0">
                <a:latin typeface="Times New Roman" panose="02020603050405020304" pitchFamily="18" charset="0"/>
                <a:ea typeface="微软雅黑" panose="020B0503020204020204" pitchFamily="34" charset="-122"/>
              </a:rPr>
              <a:t>年创立了享誉全球的线性规划要点，对资源最优分配理论做出了贡献，而获得诺贝尔经济学奖。</a:t>
            </a:r>
            <a:endParaRPr lang="en-US" altLang="zh-CN" sz="2000" dirty="0">
              <a:latin typeface="Times New Roman" panose="02020603050405020304" pitchFamily="18" charset="0"/>
              <a:ea typeface="微软雅黑" panose="020B0503020204020204" pitchFamily="34" charset="-122"/>
            </a:endParaRPr>
          </a:p>
          <a:p>
            <a:pPr algn="just" eaLnBrk="1" hangingPunct="1">
              <a:lnSpc>
                <a:spcPct val="150000"/>
              </a:lnSpc>
            </a:pP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生产组织与计划中的数学方法</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提出 “解乘数法”</a:t>
            </a:r>
          </a:p>
        </p:txBody>
      </p:sp>
      <p:pic>
        <p:nvPicPr>
          <p:cNvPr id="7" name="Picture 2" descr="http://s7.sinaimg.cn/orignal/43af69214d7901dda3f96">
            <a:extLst>
              <a:ext uri="{FF2B5EF4-FFF2-40B4-BE49-F238E27FC236}">
                <a16:creationId xmlns:a16="http://schemas.microsoft.com/office/drawing/2014/main" id="{8D02D44C-9EEF-4A80-8685-C6865094F6CC}"/>
              </a:ext>
            </a:extLst>
          </p:cNvPr>
          <p:cNvPicPr>
            <a:picLocks noChangeAspect="1"/>
          </p:cNvPicPr>
          <p:nvPr/>
        </p:nvPicPr>
        <p:blipFill>
          <a:blip r:embed="rId2"/>
          <a:stretch>
            <a:fillRect/>
          </a:stretch>
        </p:blipFill>
        <p:spPr>
          <a:xfrm>
            <a:off x="700200" y="4911752"/>
            <a:ext cx="1224136" cy="1727137"/>
          </a:xfrm>
          <a:prstGeom prst="rect">
            <a:avLst/>
          </a:prstGeom>
          <a:noFill/>
          <a:ln w="9525">
            <a:noFill/>
          </a:ln>
        </p:spPr>
      </p:pic>
    </p:spTree>
    <p:extLst>
      <p:ext uri="{BB962C8B-B14F-4D97-AF65-F5344CB8AC3E}">
        <p14:creationId xmlns:p14="http://schemas.microsoft.com/office/powerpoint/2010/main" val="418514253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AA03609D-60C0-41B2-9365-B5A1609E92F9}"/>
              </a:ext>
            </a:extLst>
          </p:cNvPr>
          <p:cNvSpPr>
            <a:spLocks noGrp="1"/>
          </p:cNvSpPr>
          <p:nvPr>
            <p:ph type="body" idx="1"/>
          </p:nvPr>
        </p:nvSpPr>
        <p:spPr>
          <a:xfrm>
            <a:off x="107504" y="188640"/>
            <a:ext cx="8964488" cy="2808312"/>
          </a:xfrm>
        </p:spPr>
        <p:txBody>
          <a:bodyPr/>
          <a:lstStyle/>
          <a:p>
            <a:pPr marL="342900" indent="-342900">
              <a:lnSpc>
                <a:spcPct val="150000"/>
              </a:lnSpc>
              <a:buFont typeface="Wingdings" panose="05000000000000000000" pitchFamily="2" charset="2"/>
              <a:buChar char="Ø"/>
            </a:pPr>
            <a:r>
              <a:rPr lang="en-US" altLang="zh-CN" b="1" dirty="0"/>
              <a:t>Dantzig </a:t>
            </a:r>
            <a:r>
              <a:rPr lang="zh-CN" altLang="en-US" b="1" dirty="0"/>
              <a:t>与单纯形方法：</a:t>
            </a:r>
            <a:r>
              <a:rPr lang="en-US" altLang="zh-CN" dirty="0"/>
              <a:t>1947 </a:t>
            </a:r>
            <a:r>
              <a:rPr lang="zh-CN" altLang="en-US" dirty="0"/>
              <a:t>年，</a:t>
            </a:r>
            <a:r>
              <a:rPr lang="en-US" altLang="zh-CN" dirty="0"/>
              <a:t>Dantzig </a:t>
            </a:r>
            <a:r>
              <a:rPr lang="zh-CN" altLang="en-US" dirty="0"/>
              <a:t>提出了单纯形方法，成为解决线性规划问题的有效工具。单纯形方法的出现极大推动了线性规划在实际问题当中的应用，促进了最优化学科的快速发展。</a:t>
            </a:r>
            <a:endParaRPr lang="en-US" altLang="zh-CN" dirty="0"/>
          </a:p>
          <a:p>
            <a:pPr marL="342900" indent="-342900">
              <a:lnSpc>
                <a:spcPct val="150000"/>
              </a:lnSpc>
              <a:buFont typeface="Wingdings" panose="05000000000000000000" pitchFamily="2" charset="2"/>
              <a:buChar char="Ø"/>
            </a:pPr>
            <a:r>
              <a:rPr lang="en-US" altLang="zh-CN" b="1" dirty="0"/>
              <a:t>Kuhn‑Tucker </a:t>
            </a:r>
            <a:r>
              <a:rPr lang="zh-CN" altLang="en-US" b="1" dirty="0"/>
              <a:t>条件：</a:t>
            </a:r>
            <a:r>
              <a:rPr lang="en-US" altLang="zh-CN" dirty="0"/>
              <a:t>1951 </a:t>
            </a:r>
            <a:r>
              <a:rPr lang="zh-CN" altLang="en-US" dirty="0"/>
              <a:t>年，</a:t>
            </a:r>
            <a:r>
              <a:rPr lang="en-US" altLang="zh-CN" dirty="0"/>
              <a:t>Kuhn </a:t>
            </a:r>
            <a:r>
              <a:rPr lang="zh-CN" altLang="en-US" dirty="0"/>
              <a:t>和 </a:t>
            </a:r>
            <a:r>
              <a:rPr lang="en-US" altLang="zh-CN" dirty="0"/>
              <a:t>Tucker </a:t>
            </a:r>
            <a:r>
              <a:rPr lang="zh-CN" altLang="en-US" dirty="0"/>
              <a:t>提出了非线性问题的最优性条件 </a:t>
            </a:r>
            <a:r>
              <a:rPr lang="en-US" altLang="zh-CN" dirty="0"/>
              <a:t>(KKT </a:t>
            </a:r>
            <a:r>
              <a:rPr lang="zh-CN" altLang="en-US" dirty="0"/>
              <a:t>条件</a:t>
            </a:r>
            <a:r>
              <a:rPr lang="en-US" altLang="zh-CN" dirty="0"/>
              <a:t>)</a:t>
            </a:r>
            <a:r>
              <a:rPr lang="zh-CN" altLang="en-US" dirty="0"/>
              <a:t>，为非线性规划的研究提供了重要的理论基础。这一成果进一步丰富了最优化理论的内容和方法。</a:t>
            </a:r>
          </a:p>
        </p:txBody>
      </p:sp>
      <p:pic>
        <p:nvPicPr>
          <p:cNvPr id="4" name="Picture 2">
            <a:extLst>
              <a:ext uri="{FF2B5EF4-FFF2-40B4-BE49-F238E27FC236}">
                <a16:creationId xmlns:a16="http://schemas.microsoft.com/office/drawing/2014/main" id="{52F9F7D0-ADE4-4E12-BB31-D4E7CF2BD2AE}"/>
              </a:ext>
            </a:extLst>
          </p:cNvPr>
          <p:cNvPicPr>
            <a:picLocks noChangeAspect="1"/>
          </p:cNvPicPr>
          <p:nvPr/>
        </p:nvPicPr>
        <p:blipFill>
          <a:blip r:embed="rId2"/>
          <a:stretch>
            <a:fillRect/>
          </a:stretch>
        </p:blipFill>
        <p:spPr>
          <a:xfrm>
            <a:off x="323528" y="3429000"/>
            <a:ext cx="1659545" cy="2520280"/>
          </a:xfrm>
          <a:prstGeom prst="rect">
            <a:avLst/>
          </a:prstGeom>
          <a:noFill/>
          <a:ln w="9525">
            <a:noFill/>
          </a:ln>
        </p:spPr>
      </p:pic>
      <p:sp>
        <p:nvSpPr>
          <p:cNvPr id="5" name="矩形 6">
            <a:extLst>
              <a:ext uri="{FF2B5EF4-FFF2-40B4-BE49-F238E27FC236}">
                <a16:creationId xmlns:a16="http://schemas.microsoft.com/office/drawing/2014/main" id="{C5AA781F-A680-4472-8467-9C5A81BD9938}"/>
              </a:ext>
            </a:extLst>
          </p:cNvPr>
          <p:cNvSpPr/>
          <p:nvPr/>
        </p:nvSpPr>
        <p:spPr>
          <a:xfrm>
            <a:off x="2195736" y="3020844"/>
            <a:ext cx="6696744" cy="960328"/>
          </a:xfrm>
          <a:prstGeom prst="rect">
            <a:avLst/>
          </a:prstGeom>
          <a:solidFill>
            <a:srgbClr val="66FFFF"/>
          </a:solidFill>
          <a:ln w="9525">
            <a:noFill/>
          </a:ln>
        </p:spPr>
        <p:txBody>
          <a:bodyPr wrap="square">
            <a:spAutoFit/>
          </a:bodyPr>
          <a:lstStyle/>
          <a:p>
            <a:pPr algn="just" eaLnBrk="1" hangingPunct="1">
              <a:lnSpc>
                <a:spcPct val="150000"/>
              </a:lnSpc>
              <a:buClr>
                <a:srgbClr val="00B050"/>
              </a:buClr>
            </a:pPr>
            <a:r>
              <a:rPr lang="zh-CN" altLang="en-US" sz="2000" dirty="0">
                <a:latin typeface="Times New Roman" panose="02020603050405020304" pitchFamily="18" charset="0"/>
                <a:ea typeface="微软雅黑" panose="020B0503020204020204" pitchFamily="34" charset="-122"/>
              </a:rPr>
              <a:t>美国科学院院士</a:t>
            </a:r>
            <a:r>
              <a:rPr lang="en-US" altLang="zh-CN" sz="2000" dirty="0">
                <a:latin typeface="Times New Roman" panose="02020603050405020304" pitchFamily="18" charset="0"/>
                <a:ea typeface="微软雅黑" panose="020B0503020204020204" pitchFamily="34" charset="-122"/>
              </a:rPr>
              <a:t>Dantzig</a:t>
            </a:r>
            <a:r>
              <a:rPr lang="zh-CN" altLang="en-US" sz="2000" dirty="0">
                <a:latin typeface="Times New Roman" panose="02020603050405020304" pitchFamily="18" charset="0"/>
                <a:ea typeface="微软雅黑" panose="020B0503020204020204" pitchFamily="34" charset="-122"/>
              </a:rPr>
              <a:t>（丹捷格）</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线性规划之父</a:t>
            </a:r>
            <a:endParaRPr lang="en-US" altLang="zh-CN" sz="2000" dirty="0">
              <a:latin typeface="Times New Roman" panose="02020603050405020304" pitchFamily="18" charset="0"/>
              <a:ea typeface="微软雅黑" panose="020B0503020204020204" pitchFamily="34" charset="-122"/>
            </a:endParaRPr>
          </a:p>
          <a:p>
            <a:pPr algn="just" eaLnBrk="1" hangingPunct="1">
              <a:lnSpc>
                <a:spcPct val="150000"/>
              </a:lnSpc>
              <a:buClr>
                <a:srgbClr val="00B050"/>
              </a:buClr>
            </a:pPr>
            <a:r>
              <a:rPr lang="zh-CN" altLang="en-US" sz="2000" dirty="0">
                <a:solidFill>
                  <a:srgbClr val="0033CC"/>
                </a:solidFill>
                <a:latin typeface="Times New Roman" panose="02020603050405020304" pitchFamily="18" charset="0"/>
                <a:ea typeface="微软雅黑" panose="020B0503020204020204" pitchFamily="34" charset="-122"/>
              </a:rPr>
              <a:t>其为计算机科学、经济学、统计学做出了突出贡献</a:t>
            </a:r>
          </a:p>
        </p:txBody>
      </p:sp>
      <p:sp>
        <p:nvSpPr>
          <p:cNvPr id="7" name="矩形 6">
            <a:extLst>
              <a:ext uri="{FF2B5EF4-FFF2-40B4-BE49-F238E27FC236}">
                <a16:creationId xmlns:a16="http://schemas.microsoft.com/office/drawing/2014/main" id="{738DE334-9A60-4375-BD10-66CE45E99F29}"/>
              </a:ext>
            </a:extLst>
          </p:cNvPr>
          <p:cNvSpPr/>
          <p:nvPr/>
        </p:nvSpPr>
        <p:spPr>
          <a:xfrm>
            <a:off x="2123728" y="4114815"/>
            <a:ext cx="6840760" cy="2554545"/>
          </a:xfrm>
          <a:prstGeom prst="rect">
            <a:avLst/>
          </a:prstGeom>
          <a:noFill/>
          <a:ln w="9525">
            <a:noFill/>
          </a:ln>
        </p:spPr>
        <p:txBody>
          <a:bodyPr wrap="square">
            <a:spAutoFit/>
          </a:bodyPr>
          <a:lstStyle/>
          <a:p>
            <a:pPr eaLnBrk="1" hangingPunct="1"/>
            <a:r>
              <a:rPr lang="zh-CN" altLang="en-US" sz="2000" dirty="0">
                <a:latin typeface="微软雅黑" panose="020B0503020204020204" pitchFamily="34" charset="-122"/>
                <a:ea typeface="微软雅黑" panose="020B0503020204020204" pitchFamily="34" charset="-122"/>
              </a:rPr>
              <a:t>据说，一次上课，</a:t>
            </a:r>
            <a:r>
              <a:rPr lang="en-US" altLang="zh-CN" sz="2000" dirty="0">
                <a:latin typeface="微软雅黑" panose="020B0503020204020204" pitchFamily="34" charset="-122"/>
                <a:ea typeface="微软雅黑" panose="020B0503020204020204" pitchFamily="34" charset="-122"/>
              </a:rPr>
              <a:t>Dantzig)</a:t>
            </a:r>
            <a:r>
              <a:rPr lang="zh-CN" altLang="en-US" sz="2000" dirty="0">
                <a:latin typeface="微软雅黑" panose="020B0503020204020204" pitchFamily="34" charset="-122"/>
                <a:ea typeface="微软雅黑" panose="020B0503020204020204" pitchFamily="34" charset="-122"/>
              </a:rPr>
              <a:t>迟到了，仰头看去，黑板上留了几个题目，他就抄了一下，回家后埋头苦做。几个星期之后，疲惫的去找老师说，这件事情真的对不起，作业好像太难了，我所以现在才交，言下很是惭愧。几天之后，他的老师就把他召了过去，兴奋的告诉他说他太兴奋了。</a:t>
            </a:r>
            <a:r>
              <a:rPr lang="en-US" altLang="zh-CN" sz="2000" dirty="0">
                <a:latin typeface="微软雅黑" panose="020B0503020204020204" pitchFamily="34" charset="-122"/>
                <a:ea typeface="微软雅黑" panose="020B0503020204020204" pitchFamily="34" charset="-122"/>
              </a:rPr>
              <a:t>Dantzig</a:t>
            </a:r>
            <a:r>
              <a:rPr lang="zh-CN" altLang="en-US" sz="2000" dirty="0">
                <a:latin typeface="微软雅黑" panose="020B0503020204020204" pitchFamily="34" charset="-122"/>
                <a:ea typeface="微软雅黑" panose="020B0503020204020204" pitchFamily="34" charset="-122"/>
              </a:rPr>
              <a:t>很不解，后来才知道原来黑板上的题目根本就不是什么家庭作业，而是老师说的本领域的未解决的问题，他给出的那个解法也就是单纯形法。这个方法是上个世纪前十位的算法。</a:t>
            </a:r>
          </a:p>
        </p:txBody>
      </p:sp>
    </p:spTree>
    <p:extLst>
      <p:ext uri="{BB962C8B-B14F-4D97-AF65-F5344CB8AC3E}">
        <p14:creationId xmlns:p14="http://schemas.microsoft.com/office/powerpoint/2010/main" val="355292823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EF5F68B-4DF5-413E-8157-D0F509AE9CD0}"/>
              </a:ext>
            </a:extLst>
          </p:cNvPr>
          <p:cNvSpPr>
            <a:spLocks noGrp="1"/>
          </p:cNvSpPr>
          <p:nvPr>
            <p:ph type="body" idx="1"/>
          </p:nvPr>
        </p:nvSpPr>
        <p:spPr>
          <a:xfrm>
            <a:off x="611560" y="1412776"/>
            <a:ext cx="2088232" cy="1728192"/>
          </a:xfrm>
        </p:spPr>
        <p:txBody>
          <a:bodyPr/>
          <a:lstStyle/>
          <a:p>
            <a:endParaRPr lang="en-US" altLang="zh-CN" sz="2400" dirty="0"/>
          </a:p>
          <a:p>
            <a:pPr marL="342900" indent="-342900">
              <a:lnSpc>
                <a:spcPct val="150000"/>
              </a:lnSpc>
              <a:buFont typeface="Wingdings" panose="05000000000000000000" pitchFamily="2" charset="2"/>
              <a:buChar char="l"/>
            </a:pPr>
            <a:r>
              <a:rPr lang="zh-CN" altLang="en-US" sz="2400" kern="1200" dirty="0"/>
              <a:t>线性规划</a:t>
            </a:r>
            <a:endParaRPr lang="en-US" altLang="zh-CN" sz="2400" kern="1200" dirty="0"/>
          </a:p>
          <a:p>
            <a:pPr marL="342900" indent="-342900">
              <a:lnSpc>
                <a:spcPct val="150000"/>
              </a:lnSpc>
              <a:buFont typeface="Wingdings" panose="05000000000000000000" pitchFamily="2" charset="2"/>
              <a:buChar char="l"/>
            </a:pPr>
            <a:r>
              <a:rPr lang="zh-CN" altLang="en-US" sz="2400" kern="1200" dirty="0"/>
              <a:t>整数规划</a:t>
            </a:r>
            <a:endParaRPr lang="en-US" altLang="zh-CN" sz="2400" kern="1200" dirty="0"/>
          </a:p>
          <a:p>
            <a:pPr marL="342900" indent="-342900">
              <a:lnSpc>
                <a:spcPct val="150000"/>
              </a:lnSpc>
              <a:buFont typeface="Wingdings" panose="05000000000000000000" pitchFamily="2" charset="2"/>
              <a:buChar char="l"/>
            </a:pPr>
            <a:r>
              <a:rPr lang="zh-CN" altLang="en-US" sz="2400" kern="1200" dirty="0"/>
              <a:t>非线性规划</a:t>
            </a:r>
            <a:endParaRPr lang="en-US" altLang="zh-CN" sz="2400" kern="1200" dirty="0"/>
          </a:p>
        </p:txBody>
      </p:sp>
      <p:sp>
        <p:nvSpPr>
          <p:cNvPr id="4" name="文本框 3">
            <a:extLst>
              <a:ext uri="{FF2B5EF4-FFF2-40B4-BE49-F238E27FC236}">
                <a16:creationId xmlns:a16="http://schemas.microsoft.com/office/drawing/2014/main" id="{B99AD1D9-ED49-4C05-8989-C96B9A0E9D69}"/>
              </a:ext>
            </a:extLst>
          </p:cNvPr>
          <p:cNvSpPr txBox="1"/>
          <p:nvPr/>
        </p:nvSpPr>
        <p:spPr>
          <a:xfrm>
            <a:off x="395536" y="4005064"/>
            <a:ext cx="8280920" cy="2232984"/>
          </a:xfrm>
          <a:prstGeom prst="rect">
            <a:avLst/>
          </a:prstGeom>
          <a:noFill/>
        </p:spPr>
        <p:txBody>
          <a:bodyPr wrap="square" rtlCol="0">
            <a:spAutoFit/>
          </a:bodyPr>
          <a:lstStyle/>
          <a:p>
            <a:pPr>
              <a:lnSpc>
                <a:spcPct val="150000"/>
              </a:lnSpc>
            </a:pPr>
            <a:r>
              <a:rPr lang="zh-CN" altLang="en-US" dirty="0"/>
              <a:t>在电子计算机的推动下，最优化理论与方法在经济计划、工程设计、生产管理、交通运输、国防建设等方面得到广泛应用，成为一门十分活跃的学科。</a:t>
            </a:r>
          </a:p>
          <a:p>
            <a:pPr>
              <a:lnSpc>
                <a:spcPct val="150000"/>
              </a:lnSpc>
            </a:pPr>
            <a:endParaRPr lang="zh-CN" altLang="en-US" dirty="0"/>
          </a:p>
        </p:txBody>
      </p:sp>
      <p:sp>
        <p:nvSpPr>
          <p:cNvPr id="6" name="文本框 5">
            <a:extLst>
              <a:ext uri="{FF2B5EF4-FFF2-40B4-BE49-F238E27FC236}">
                <a16:creationId xmlns:a16="http://schemas.microsoft.com/office/drawing/2014/main" id="{E950229E-69E1-4369-BA04-3322389E97AC}"/>
              </a:ext>
            </a:extLst>
          </p:cNvPr>
          <p:cNvSpPr txBox="1"/>
          <p:nvPr/>
        </p:nvSpPr>
        <p:spPr>
          <a:xfrm>
            <a:off x="3347864" y="1377177"/>
            <a:ext cx="1762021" cy="2123658"/>
          </a:xfrm>
          <a:prstGeom prst="rect">
            <a:avLst/>
          </a:prstGeom>
          <a:noFill/>
        </p:spPr>
        <p:txBody>
          <a:bodyPr wrap="none" rtlCol="0">
            <a:spAutoFit/>
          </a:bodyPr>
          <a:lstStyle/>
          <a:p>
            <a:pPr marL="342900" indent="-342900">
              <a:lnSpc>
                <a:spcPct val="150000"/>
              </a:lnSpc>
              <a:buClr>
                <a:srgbClr val="0033CC"/>
              </a:buClr>
              <a:buSzPct val="80000"/>
              <a:buFont typeface="Wingdings" panose="05000000000000000000" pitchFamily="2" charset="2"/>
              <a:buChar char="l"/>
            </a:pPr>
            <a:r>
              <a:rPr kumimoji="1" lang="zh-CN" altLang="en-US" dirty="0">
                <a:latin typeface="+mn-lt"/>
                <a:ea typeface="微软雅黑" panose="020B0503020204020204" pitchFamily="34" charset="-122"/>
              </a:rPr>
              <a:t>几何规划</a:t>
            </a:r>
            <a:endParaRPr kumimoji="1" lang="en-US" altLang="zh-CN" dirty="0">
              <a:latin typeface="+mn-lt"/>
              <a:ea typeface="微软雅黑" panose="020B0503020204020204" pitchFamily="34" charset="-122"/>
            </a:endParaRPr>
          </a:p>
          <a:p>
            <a:pPr marL="342900" indent="-342900">
              <a:lnSpc>
                <a:spcPct val="150000"/>
              </a:lnSpc>
              <a:buClr>
                <a:srgbClr val="0033CC"/>
              </a:buClr>
              <a:buSzPct val="80000"/>
              <a:buFont typeface="Wingdings" panose="05000000000000000000" pitchFamily="2" charset="2"/>
              <a:buChar char="l"/>
            </a:pPr>
            <a:r>
              <a:rPr kumimoji="1" lang="zh-CN" altLang="en-US" dirty="0">
                <a:latin typeface="+mn-lt"/>
                <a:ea typeface="微软雅黑" panose="020B0503020204020204" pitchFamily="34" charset="-122"/>
              </a:rPr>
              <a:t>动态规划</a:t>
            </a:r>
            <a:endParaRPr kumimoji="1" lang="en-US" altLang="zh-CN" dirty="0">
              <a:latin typeface="+mn-lt"/>
              <a:ea typeface="微软雅黑" panose="020B0503020204020204" pitchFamily="34" charset="-122"/>
            </a:endParaRPr>
          </a:p>
          <a:p>
            <a:pPr marL="342900" indent="-342900">
              <a:lnSpc>
                <a:spcPct val="150000"/>
              </a:lnSpc>
              <a:buClr>
                <a:srgbClr val="0033CC"/>
              </a:buClr>
              <a:buSzPct val="80000"/>
              <a:buFont typeface="Wingdings" panose="05000000000000000000" pitchFamily="2" charset="2"/>
              <a:buChar char="l"/>
            </a:pPr>
            <a:r>
              <a:rPr kumimoji="1" lang="zh-CN" altLang="en-US" dirty="0">
                <a:latin typeface="+mn-lt"/>
                <a:ea typeface="微软雅黑" panose="020B0503020204020204" pitchFamily="34" charset="-122"/>
              </a:rPr>
              <a:t>随机规划</a:t>
            </a:r>
            <a:endParaRPr kumimoji="1" lang="en-US" altLang="zh-CN" dirty="0">
              <a:latin typeface="+mn-lt"/>
              <a:ea typeface="微软雅黑" panose="020B0503020204020204" pitchFamily="34" charset="-122"/>
            </a:endParaRPr>
          </a:p>
          <a:p>
            <a:endParaRPr lang="zh-CN" altLang="en-US" dirty="0"/>
          </a:p>
        </p:txBody>
      </p:sp>
      <p:sp>
        <p:nvSpPr>
          <p:cNvPr id="7" name="文本框 6">
            <a:extLst>
              <a:ext uri="{FF2B5EF4-FFF2-40B4-BE49-F238E27FC236}">
                <a16:creationId xmlns:a16="http://schemas.microsoft.com/office/drawing/2014/main" id="{C50A14FB-0B43-4225-9134-754C9023EFBC}"/>
              </a:ext>
            </a:extLst>
          </p:cNvPr>
          <p:cNvSpPr txBox="1"/>
          <p:nvPr/>
        </p:nvSpPr>
        <p:spPr>
          <a:xfrm>
            <a:off x="5796136" y="1377177"/>
            <a:ext cx="2069797" cy="1677126"/>
          </a:xfrm>
          <a:prstGeom prst="rect">
            <a:avLst/>
          </a:prstGeom>
          <a:noFill/>
        </p:spPr>
        <p:txBody>
          <a:bodyPr wrap="none" rtlCol="0">
            <a:spAutoFit/>
          </a:bodyPr>
          <a:lstStyle/>
          <a:p>
            <a:pPr marL="342900" indent="-342900">
              <a:lnSpc>
                <a:spcPct val="150000"/>
              </a:lnSpc>
              <a:buClr>
                <a:srgbClr val="0033CC"/>
              </a:buClr>
              <a:buSzPct val="80000"/>
              <a:buFont typeface="Wingdings" panose="05000000000000000000" pitchFamily="2" charset="2"/>
              <a:buChar char="l"/>
            </a:pPr>
            <a:r>
              <a:rPr kumimoji="1" lang="zh-CN" altLang="en-US" dirty="0">
                <a:latin typeface="+mn-lt"/>
                <a:ea typeface="微软雅黑" panose="020B0503020204020204" pitchFamily="34" charset="-122"/>
              </a:rPr>
              <a:t>非光滑规划</a:t>
            </a:r>
            <a:endParaRPr kumimoji="1" lang="en-US" altLang="zh-CN" dirty="0">
              <a:latin typeface="+mn-lt"/>
              <a:ea typeface="微软雅黑" panose="020B0503020204020204" pitchFamily="34" charset="-122"/>
            </a:endParaRPr>
          </a:p>
          <a:p>
            <a:pPr marL="342900" indent="-342900">
              <a:lnSpc>
                <a:spcPct val="150000"/>
              </a:lnSpc>
              <a:buClr>
                <a:srgbClr val="0033CC"/>
              </a:buClr>
              <a:buSzPct val="80000"/>
              <a:buFont typeface="Wingdings" panose="05000000000000000000" pitchFamily="2" charset="2"/>
              <a:buChar char="l"/>
            </a:pPr>
            <a:r>
              <a:rPr kumimoji="1" lang="zh-CN" altLang="en-US" dirty="0">
                <a:latin typeface="+mn-lt"/>
                <a:ea typeface="微软雅黑" panose="020B0503020204020204" pitchFamily="34" charset="-122"/>
              </a:rPr>
              <a:t>多目标规划</a:t>
            </a:r>
            <a:endParaRPr kumimoji="1" lang="en-US" altLang="zh-CN" dirty="0">
              <a:latin typeface="+mn-lt"/>
              <a:ea typeface="微软雅黑" panose="020B0503020204020204" pitchFamily="34" charset="-122"/>
            </a:endParaRPr>
          </a:p>
          <a:p>
            <a:pPr marL="342900" indent="-342900">
              <a:lnSpc>
                <a:spcPct val="150000"/>
              </a:lnSpc>
              <a:buClr>
                <a:srgbClr val="0033CC"/>
              </a:buClr>
              <a:buSzPct val="80000"/>
              <a:buFont typeface="Wingdings" panose="05000000000000000000" pitchFamily="2" charset="2"/>
              <a:buChar char="l"/>
            </a:pPr>
            <a:r>
              <a:rPr kumimoji="1" lang="zh-CN" altLang="en-US" dirty="0">
                <a:latin typeface="+mn-lt"/>
                <a:ea typeface="微软雅黑" panose="020B0503020204020204" pitchFamily="34" charset="-122"/>
              </a:rPr>
              <a:t>网络流，等</a:t>
            </a:r>
          </a:p>
        </p:txBody>
      </p:sp>
      <p:sp>
        <p:nvSpPr>
          <p:cNvPr id="9" name="文本框 8">
            <a:extLst>
              <a:ext uri="{FF2B5EF4-FFF2-40B4-BE49-F238E27FC236}">
                <a16:creationId xmlns:a16="http://schemas.microsoft.com/office/drawing/2014/main" id="{70711E74-E3C6-4490-A59D-71E85D49F4A0}"/>
              </a:ext>
            </a:extLst>
          </p:cNvPr>
          <p:cNvSpPr txBox="1"/>
          <p:nvPr/>
        </p:nvSpPr>
        <p:spPr>
          <a:xfrm>
            <a:off x="323529" y="325403"/>
            <a:ext cx="3960440" cy="461665"/>
          </a:xfrm>
          <a:prstGeom prst="rect">
            <a:avLst/>
          </a:prstGeom>
          <a:noFill/>
        </p:spPr>
        <p:txBody>
          <a:bodyPr wrap="square" rtlCol="0">
            <a:spAutoFit/>
          </a:bodyPr>
          <a:lstStyle/>
          <a:p>
            <a:r>
              <a:rPr lang="zh-CN" altLang="en-US" b="1" dirty="0"/>
              <a:t>最优化学科出现许多分支：</a:t>
            </a:r>
          </a:p>
        </p:txBody>
      </p:sp>
    </p:spTree>
    <p:extLst>
      <p:ext uri="{BB962C8B-B14F-4D97-AF65-F5344CB8AC3E}">
        <p14:creationId xmlns:p14="http://schemas.microsoft.com/office/powerpoint/2010/main" val="1003029750"/>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0857F-FB6E-467F-8D23-59EC0CB66AC7}"/>
              </a:ext>
            </a:extLst>
          </p:cNvPr>
          <p:cNvSpPr>
            <a:spLocks noGrp="1"/>
          </p:cNvSpPr>
          <p:nvPr>
            <p:ph type="title"/>
          </p:nvPr>
        </p:nvSpPr>
        <p:spPr>
          <a:xfrm>
            <a:off x="539552" y="332657"/>
            <a:ext cx="4104456" cy="504056"/>
          </a:xfrm>
        </p:spPr>
        <p:txBody>
          <a:bodyPr/>
          <a:lstStyle/>
          <a:p>
            <a:r>
              <a:rPr lang="zh-CN" altLang="en-US" sz="2400" dirty="0"/>
              <a:t>最优化问题（一般形式）：</a:t>
            </a:r>
          </a:p>
        </p:txBody>
      </p:sp>
      <p:sp>
        <p:nvSpPr>
          <p:cNvPr id="4" name="文本框 3">
            <a:extLst>
              <a:ext uri="{FF2B5EF4-FFF2-40B4-BE49-F238E27FC236}">
                <a16:creationId xmlns:a16="http://schemas.microsoft.com/office/drawing/2014/main" id="{B5B343CE-B166-49C7-B6A9-4128D2AB3F25}"/>
              </a:ext>
            </a:extLst>
          </p:cNvPr>
          <p:cNvSpPr txBox="1"/>
          <p:nvPr/>
        </p:nvSpPr>
        <p:spPr>
          <a:xfrm>
            <a:off x="611560" y="2996952"/>
            <a:ext cx="2736304" cy="461665"/>
          </a:xfrm>
          <a:prstGeom prst="rect">
            <a:avLst/>
          </a:prstGeom>
          <a:noFill/>
        </p:spPr>
        <p:txBody>
          <a:bodyPr wrap="square" rtlCol="0">
            <a:spAutoFit/>
          </a:bodyPr>
          <a:lstStyle/>
          <a:p>
            <a:r>
              <a:rPr lang="zh-CN" altLang="en-US" dirty="0"/>
              <a:t>约束最优化问题：</a:t>
            </a:r>
          </a:p>
        </p:txBody>
      </p:sp>
      <p:graphicFrame>
        <p:nvGraphicFramePr>
          <p:cNvPr id="5" name="对象 4">
            <a:extLst>
              <a:ext uri="{FF2B5EF4-FFF2-40B4-BE49-F238E27FC236}">
                <a16:creationId xmlns:a16="http://schemas.microsoft.com/office/drawing/2014/main" id="{98FF28B6-ABEC-4C38-8E3C-21A6379D77FD}"/>
              </a:ext>
            </a:extLst>
          </p:cNvPr>
          <p:cNvGraphicFramePr>
            <a:graphicFrameLocks noChangeAspect="1"/>
          </p:cNvGraphicFramePr>
          <p:nvPr>
            <p:extLst>
              <p:ext uri="{D42A27DB-BD31-4B8C-83A1-F6EECF244321}">
                <p14:modId xmlns:p14="http://schemas.microsoft.com/office/powerpoint/2010/main" val="1535852498"/>
              </p:ext>
            </p:extLst>
          </p:nvPr>
        </p:nvGraphicFramePr>
        <p:xfrm>
          <a:off x="3491880" y="2996952"/>
          <a:ext cx="4191000" cy="1193800"/>
        </p:xfrm>
        <a:graphic>
          <a:graphicData uri="http://schemas.openxmlformats.org/presentationml/2006/ole">
            <mc:AlternateContent xmlns:mc="http://schemas.openxmlformats.org/markup-compatibility/2006">
              <mc:Choice xmlns:v="urn:schemas-microsoft-com:vml" Requires="v">
                <p:oleObj name="Equation" r:id="rId2" imgW="4190760" imgH="1193760" progId="Equation.DSMT4">
                  <p:embed/>
                </p:oleObj>
              </mc:Choice>
              <mc:Fallback>
                <p:oleObj name="Equation" r:id="rId2" imgW="4190760" imgH="1193760" progId="Equation.DSMT4">
                  <p:embed/>
                  <p:pic>
                    <p:nvPicPr>
                      <p:cNvPr id="0" name=""/>
                      <p:cNvPicPr/>
                      <p:nvPr/>
                    </p:nvPicPr>
                    <p:blipFill>
                      <a:blip r:embed="rId3"/>
                      <a:stretch>
                        <a:fillRect/>
                      </a:stretch>
                    </p:blipFill>
                    <p:spPr>
                      <a:xfrm>
                        <a:off x="3491880" y="2996952"/>
                        <a:ext cx="4191000" cy="11938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3949F22-566E-495C-8223-95D31745E113}"/>
                  </a:ext>
                </a:extLst>
              </p:cNvPr>
              <p:cNvSpPr txBox="1"/>
              <p:nvPr/>
            </p:nvSpPr>
            <p:spPr>
              <a:xfrm>
                <a:off x="899592" y="4725144"/>
                <a:ext cx="7848872" cy="860748"/>
              </a:xfrm>
              <a:prstGeom prst="rect">
                <a:avLst/>
              </a:prstGeom>
              <a:noFill/>
            </p:spPr>
            <p:txBody>
              <a:bodyPr wrap="square" rtlCol="0">
                <a:spAutoFit/>
              </a:bodyPr>
              <a:lstStyle/>
              <a:p>
                <a:r>
                  <a:rPr lang="zh-CN" altLang="en-US" dirty="0"/>
                  <a:t>其中，</a:t>
                </a:r>
                <a14:m>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𝑛</m:t>
                        </m:r>
                      </m:sup>
                    </m:sSup>
                  </m:oMath>
                </a14:m>
                <a:r>
                  <a:rPr lang="zh-CN" altLang="en-US" dirty="0"/>
                  <a:t>是决策变量，</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zh-CN" altLang="en-US" dirty="0"/>
                  <a:t>是目标函数，</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𝑖</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zh-CN" altLang="en-US" i="1">
                        <a:latin typeface="Cambria Math" panose="02040503050406030204" pitchFamily="18" charset="0"/>
                      </a:rPr>
                      <m:t>是</m:t>
                    </m:r>
                  </m:oMath>
                </a14:m>
                <a:r>
                  <a:rPr lang="zh-CN" altLang="en-US" dirty="0"/>
                  <a:t>约束函数。</a:t>
                </a:r>
              </a:p>
            </p:txBody>
          </p:sp>
        </mc:Choice>
        <mc:Fallback xmlns="">
          <p:sp>
            <p:nvSpPr>
              <p:cNvPr id="6" name="文本框 5">
                <a:extLst>
                  <a:ext uri="{FF2B5EF4-FFF2-40B4-BE49-F238E27FC236}">
                    <a16:creationId xmlns:a16="http://schemas.microsoft.com/office/drawing/2014/main" id="{F3949F22-566E-495C-8223-95D31745E113}"/>
                  </a:ext>
                </a:extLst>
              </p:cNvPr>
              <p:cNvSpPr txBox="1">
                <a:spLocks noRot="1" noChangeAspect="1" noMove="1" noResize="1" noEditPoints="1" noAdjustHandles="1" noChangeArrowheads="1" noChangeShapeType="1" noTextEdit="1"/>
              </p:cNvSpPr>
              <p:nvPr/>
            </p:nvSpPr>
            <p:spPr>
              <a:xfrm>
                <a:off x="899592" y="4725144"/>
                <a:ext cx="7848872" cy="860748"/>
              </a:xfrm>
              <a:prstGeom prst="rect">
                <a:avLst/>
              </a:prstGeom>
              <a:blipFill>
                <a:blip r:embed="rId5"/>
                <a:stretch>
                  <a:fillRect l="-1243" t="-7801" b="-13475"/>
                </a:stretch>
              </a:blipFill>
            </p:spPr>
            <p:txBody>
              <a:bodyPr/>
              <a:lstStyle/>
              <a:p>
                <a:r>
                  <a:rPr lang="zh-CN" altLang="en-US">
                    <a:noFill/>
                  </a:rPr>
                  <a:t> </a:t>
                </a:r>
              </a:p>
            </p:txBody>
          </p:sp>
        </mc:Fallback>
      </mc:AlternateContent>
      <p:graphicFrame>
        <p:nvGraphicFramePr>
          <p:cNvPr id="7" name="对象 6">
            <a:extLst>
              <a:ext uri="{FF2B5EF4-FFF2-40B4-BE49-F238E27FC236}">
                <a16:creationId xmlns:a16="http://schemas.microsoft.com/office/drawing/2014/main" id="{3A9B64CC-B0C8-4B6F-B2C6-CBED5DCE91C2}"/>
              </a:ext>
            </a:extLst>
          </p:cNvPr>
          <p:cNvGraphicFramePr>
            <a:graphicFrameLocks noChangeAspect="1"/>
          </p:cNvGraphicFramePr>
          <p:nvPr>
            <p:extLst>
              <p:ext uri="{D42A27DB-BD31-4B8C-83A1-F6EECF244321}">
                <p14:modId xmlns:p14="http://schemas.microsoft.com/office/powerpoint/2010/main" val="915804215"/>
              </p:ext>
            </p:extLst>
          </p:nvPr>
        </p:nvGraphicFramePr>
        <p:xfrm>
          <a:off x="4499992" y="468413"/>
          <a:ext cx="1612900" cy="736600"/>
        </p:xfrm>
        <a:graphic>
          <a:graphicData uri="http://schemas.openxmlformats.org/presentationml/2006/ole">
            <mc:AlternateContent xmlns:mc="http://schemas.openxmlformats.org/markup-compatibility/2006">
              <mc:Choice xmlns:v="urn:schemas-microsoft-com:vml" Requires="v">
                <p:oleObj name="Equation" r:id="rId6" imgW="1612800" imgH="736560" progId="Equation.DSMT4">
                  <p:embed/>
                </p:oleObj>
              </mc:Choice>
              <mc:Fallback>
                <p:oleObj name="Equation" r:id="rId6" imgW="1612800" imgH="736560" progId="Equation.DSMT4">
                  <p:embed/>
                  <p:pic>
                    <p:nvPicPr>
                      <p:cNvPr id="0" name=""/>
                      <p:cNvPicPr/>
                      <p:nvPr/>
                    </p:nvPicPr>
                    <p:blipFill>
                      <a:blip r:embed="rId7"/>
                      <a:stretch>
                        <a:fillRect/>
                      </a:stretch>
                    </p:blipFill>
                    <p:spPr>
                      <a:xfrm>
                        <a:off x="4499992" y="468413"/>
                        <a:ext cx="1612900" cy="7366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9839494-D2C8-4B95-9C89-8D614C4BB830}"/>
                  </a:ext>
                </a:extLst>
              </p:cNvPr>
              <p:cNvSpPr txBox="1"/>
              <p:nvPr/>
            </p:nvSpPr>
            <p:spPr>
              <a:xfrm>
                <a:off x="539552" y="1723708"/>
                <a:ext cx="7848872" cy="830997"/>
              </a:xfrm>
              <a:prstGeom prst="rect">
                <a:avLst/>
              </a:prstGeom>
              <a:noFill/>
            </p:spPr>
            <p:txBody>
              <a:bodyPr wrap="square" rtlCol="0">
                <a:spAutoFit/>
              </a:bodyPr>
              <a:lstStyle/>
              <a:p>
                <a:r>
                  <a:rPr lang="zh-CN" altLang="en-US" dirty="0"/>
                  <a:t>其中，</a:t>
                </a:r>
                <a14:m>
                  <m:oMath xmlns:m="http://schemas.openxmlformats.org/officeDocument/2006/math">
                    <m:r>
                      <m:rPr>
                        <m:sty m:val="p"/>
                      </m:rPr>
                      <a:rPr lang="en-US" altLang="zh-CN" b="0" i="0" smtClean="0">
                        <a:latin typeface="Cambria Math" panose="02040503050406030204" pitchFamily="18" charset="0"/>
                        <a:ea typeface="Cambria Math" panose="02040503050406030204" pitchFamily="18" charset="0"/>
                      </a:rPr>
                      <m:t>x</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𝑛</m:t>
                        </m:r>
                      </m:sup>
                    </m:sSup>
                  </m:oMath>
                </a14:m>
                <a:r>
                  <a:rPr lang="zh-CN" altLang="en-US" dirty="0"/>
                  <a:t>是决策变量，</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zh-CN" altLang="en-US" dirty="0"/>
                  <a:t>是目标函数，</a:t>
                </a:r>
                <a14:m>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𝑋</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𝑅</m:t>
                        </m:r>
                      </m:e>
                      <m:sup>
                        <m:r>
                          <a:rPr lang="en-US" altLang="zh-CN" b="0" i="1" smtClean="0">
                            <a:latin typeface="Cambria Math" panose="02040503050406030204" pitchFamily="18" charset="0"/>
                          </a:rPr>
                          <m:t>𝑛</m:t>
                        </m:r>
                      </m:sup>
                    </m:sSup>
                    <m:r>
                      <a:rPr lang="zh-CN" altLang="en-US" i="1">
                        <a:latin typeface="Cambria Math" panose="02040503050406030204" pitchFamily="18" charset="0"/>
                      </a:rPr>
                      <m:t>是</m:t>
                    </m:r>
                  </m:oMath>
                </a14:m>
                <a:r>
                  <a:rPr lang="zh-CN" altLang="en-US" dirty="0"/>
                  <a:t>约束集或可行域。</a:t>
                </a:r>
              </a:p>
            </p:txBody>
          </p:sp>
        </mc:Choice>
        <mc:Fallback xmlns="">
          <p:sp>
            <p:nvSpPr>
              <p:cNvPr id="8" name="文本框 7">
                <a:extLst>
                  <a:ext uri="{FF2B5EF4-FFF2-40B4-BE49-F238E27FC236}">
                    <a16:creationId xmlns:a16="http://schemas.microsoft.com/office/drawing/2014/main" id="{49839494-D2C8-4B95-9C89-8D614C4BB830}"/>
                  </a:ext>
                </a:extLst>
              </p:cNvPr>
              <p:cNvSpPr txBox="1">
                <a:spLocks noRot="1" noChangeAspect="1" noMove="1" noResize="1" noEditPoints="1" noAdjustHandles="1" noChangeArrowheads="1" noChangeShapeType="1" noTextEdit="1"/>
              </p:cNvSpPr>
              <p:nvPr/>
            </p:nvSpPr>
            <p:spPr>
              <a:xfrm>
                <a:off x="539552" y="1723708"/>
                <a:ext cx="7848872" cy="830997"/>
              </a:xfrm>
              <a:prstGeom prst="rect">
                <a:avLst/>
              </a:prstGeom>
              <a:blipFill>
                <a:blip r:embed="rId8"/>
                <a:stretch>
                  <a:fillRect l="-1243" t="-8088" b="-147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99359676"/>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539552" y="1988840"/>
            <a:ext cx="7776864" cy="3513078"/>
          </a:xfrm>
          <a:prstGeom prst="rect">
            <a:avLst/>
          </a:prstGeom>
          <a:noFill/>
          <a:ln w="9525">
            <a:noFill/>
            <a:miter lim="800000"/>
          </a:ln>
          <a:effectLst/>
        </p:spPr>
        <p:txBody>
          <a:bodyPr wrap="square">
            <a:spAutoFit/>
          </a:bodyPr>
          <a:lstStyle/>
          <a:p>
            <a:pPr marL="914400" marR="0" lvl="2" indent="0" algn="just" defTabSz="914400" rtl="0" eaLnBrk="1" fontAlgn="base" latinLnBrk="0" hangingPunct="1">
              <a:lnSpc>
                <a:spcPct val="100000"/>
              </a:lnSpc>
              <a:spcBef>
                <a:spcPct val="0"/>
              </a:spcBef>
              <a:spcAft>
                <a:spcPct val="0"/>
              </a:spcAft>
              <a:buClr>
                <a:srgbClr val="FF0000"/>
              </a:buClr>
              <a:buSzTx/>
              <a:buFontTx/>
              <a:buNone/>
              <a:defRPr/>
            </a:pPr>
            <a:r>
              <a:rPr kumimoji="1" lang="zh-CN" altLang="en-US" sz="40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	         上	    中  	下	</a:t>
            </a:r>
          </a:p>
          <a:p>
            <a:pPr marR="0" defTabSz="914400" eaLnBrk="1" hangingPunct="1">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上</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中</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下	</a:t>
            </a:r>
          </a:p>
        </p:txBody>
      </p:sp>
      <p:sp>
        <p:nvSpPr>
          <p:cNvPr id="9219" name="Line 3"/>
          <p:cNvSpPr/>
          <p:nvPr/>
        </p:nvSpPr>
        <p:spPr>
          <a:xfrm>
            <a:off x="1835150" y="1700213"/>
            <a:ext cx="5562600" cy="0"/>
          </a:xfrm>
          <a:prstGeom prst="line">
            <a:avLst/>
          </a:prstGeom>
          <a:ln w="28575" cap="flat" cmpd="sng">
            <a:solidFill>
              <a:srgbClr val="FF0000"/>
            </a:solidFill>
            <a:prstDash val="solid"/>
            <a:headEnd type="none" w="med" len="med"/>
            <a:tailEnd type="none" w="med" len="med"/>
          </a:ln>
        </p:spPr>
      </p:sp>
      <p:sp>
        <p:nvSpPr>
          <p:cNvPr id="9220" name="Line 4"/>
          <p:cNvSpPr/>
          <p:nvPr/>
        </p:nvSpPr>
        <p:spPr>
          <a:xfrm>
            <a:off x="1835150" y="2781300"/>
            <a:ext cx="5562600" cy="0"/>
          </a:xfrm>
          <a:prstGeom prst="line">
            <a:avLst/>
          </a:prstGeom>
          <a:ln w="28575" cap="flat" cmpd="sng">
            <a:solidFill>
              <a:srgbClr val="FF0000"/>
            </a:solidFill>
            <a:prstDash val="solid"/>
            <a:headEnd type="none" w="med" len="med"/>
            <a:tailEnd type="none" w="med" len="med"/>
          </a:ln>
        </p:spPr>
      </p:sp>
      <p:sp>
        <p:nvSpPr>
          <p:cNvPr id="9221" name="Line 5"/>
          <p:cNvSpPr/>
          <p:nvPr/>
        </p:nvSpPr>
        <p:spPr>
          <a:xfrm>
            <a:off x="1908175" y="4797425"/>
            <a:ext cx="5562600" cy="0"/>
          </a:xfrm>
          <a:prstGeom prst="line">
            <a:avLst/>
          </a:prstGeom>
          <a:ln w="28575" cap="flat" cmpd="sng">
            <a:solidFill>
              <a:srgbClr val="FF0000"/>
            </a:solidFill>
            <a:prstDash val="solid"/>
            <a:headEnd type="none" w="med" len="med"/>
            <a:tailEnd type="none" w="med" len="med"/>
          </a:ln>
        </p:spPr>
      </p:sp>
      <p:sp>
        <p:nvSpPr>
          <p:cNvPr id="9222" name="Line 6"/>
          <p:cNvSpPr/>
          <p:nvPr/>
        </p:nvSpPr>
        <p:spPr>
          <a:xfrm>
            <a:off x="3276600" y="1628775"/>
            <a:ext cx="0" cy="4176713"/>
          </a:xfrm>
          <a:prstGeom prst="line">
            <a:avLst/>
          </a:prstGeom>
          <a:ln w="38100" cap="flat" cmpd="sng">
            <a:solidFill>
              <a:srgbClr val="FF0000"/>
            </a:solidFill>
            <a:prstDash val="solid"/>
            <a:headEnd type="none" w="med" len="med"/>
            <a:tailEnd type="none" w="med" len="med"/>
          </a:ln>
        </p:spPr>
      </p:sp>
      <p:sp>
        <p:nvSpPr>
          <p:cNvPr id="9223" name="Line 4"/>
          <p:cNvSpPr/>
          <p:nvPr/>
        </p:nvSpPr>
        <p:spPr>
          <a:xfrm>
            <a:off x="1908175" y="3789363"/>
            <a:ext cx="5562600" cy="0"/>
          </a:xfrm>
          <a:prstGeom prst="line">
            <a:avLst/>
          </a:prstGeom>
          <a:ln w="28575" cap="flat" cmpd="sng">
            <a:solidFill>
              <a:srgbClr val="FF0000"/>
            </a:solidFill>
            <a:prstDash val="solid"/>
            <a:headEnd type="none" w="med" len="med"/>
            <a:tailEnd type="none" w="med" len="med"/>
          </a:ln>
        </p:spPr>
      </p:sp>
      <p:sp>
        <p:nvSpPr>
          <p:cNvPr id="9224" name="Line 4"/>
          <p:cNvSpPr/>
          <p:nvPr/>
        </p:nvSpPr>
        <p:spPr>
          <a:xfrm>
            <a:off x="1835150" y="5805488"/>
            <a:ext cx="5562600" cy="0"/>
          </a:xfrm>
          <a:prstGeom prst="line">
            <a:avLst/>
          </a:prstGeom>
          <a:ln w="28575" cap="flat" cmpd="sng">
            <a:solidFill>
              <a:srgbClr val="FF0000"/>
            </a:solidFill>
            <a:prstDash val="solid"/>
            <a:headEnd type="none" w="med" len="med"/>
            <a:tailEnd type="none" w="med" len="med"/>
          </a:ln>
        </p:spPr>
      </p:sp>
      <p:sp>
        <p:nvSpPr>
          <p:cNvPr id="9225" name="Line 6"/>
          <p:cNvSpPr/>
          <p:nvPr/>
        </p:nvSpPr>
        <p:spPr>
          <a:xfrm>
            <a:off x="4500563" y="1628775"/>
            <a:ext cx="0" cy="4176713"/>
          </a:xfrm>
          <a:prstGeom prst="line">
            <a:avLst/>
          </a:prstGeom>
          <a:ln w="38100" cap="flat" cmpd="sng">
            <a:solidFill>
              <a:srgbClr val="FF0000"/>
            </a:solidFill>
            <a:prstDash val="solid"/>
            <a:headEnd type="none" w="med" len="med"/>
            <a:tailEnd type="none" w="med" len="med"/>
          </a:ln>
        </p:spPr>
      </p:sp>
      <p:sp>
        <p:nvSpPr>
          <p:cNvPr id="9226" name="Line 6"/>
          <p:cNvSpPr/>
          <p:nvPr/>
        </p:nvSpPr>
        <p:spPr>
          <a:xfrm>
            <a:off x="5940425" y="1700213"/>
            <a:ext cx="0" cy="4176712"/>
          </a:xfrm>
          <a:prstGeom prst="line">
            <a:avLst/>
          </a:prstGeom>
          <a:ln w="38100" cap="flat" cmpd="sng">
            <a:solidFill>
              <a:srgbClr val="FF0000"/>
            </a:solidFill>
            <a:prstDash val="solid"/>
            <a:headEnd type="none" w="med" len="med"/>
            <a:tailEnd type="none" w="med" len="med"/>
          </a:ln>
        </p:spPr>
      </p:sp>
      <p:sp>
        <p:nvSpPr>
          <p:cNvPr id="9227" name="Line 6"/>
          <p:cNvSpPr/>
          <p:nvPr/>
        </p:nvSpPr>
        <p:spPr>
          <a:xfrm>
            <a:off x="7380288" y="1700213"/>
            <a:ext cx="0" cy="4176712"/>
          </a:xfrm>
          <a:prstGeom prst="line">
            <a:avLst/>
          </a:prstGeom>
          <a:ln w="38100" cap="flat" cmpd="sng">
            <a:solidFill>
              <a:srgbClr val="FF0000"/>
            </a:solidFill>
            <a:prstDash val="solid"/>
            <a:headEnd type="none" w="med" len="med"/>
            <a:tailEnd type="none" w="med" len="med"/>
          </a:ln>
        </p:spPr>
      </p:sp>
      <p:sp>
        <p:nvSpPr>
          <p:cNvPr id="9228" name="Line 6"/>
          <p:cNvSpPr/>
          <p:nvPr/>
        </p:nvSpPr>
        <p:spPr>
          <a:xfrm>
            <a:off x="1835150" y="1628775"/>
            <a:ext cx="0" cy="4176713"/>
          </a:xfrm>
          <a:prstGeom prst="line">
            <a:avLst/>
          </a:prstGeom>
          <a:ln w="38100" cap="flat" cmpd="sng">
            <a:solidFill>
              <a:srgbClr val="FF0000"/>
            </a:solidFill>
            <a:prstDash val="solid"/>
            <a:headEnd type="none" w="med" len="med"/>
            <a:tailEnd type="none" w="med" len="med"/>
          </a:ln>
        </p:spPr>
      </p:sp>
      <p:sp>
        <p:nvSpPr>
          <p:cNvPr id="15" name="矩形 14"/>
          <p:cNvSpPr/>
          <p:nvPr/>
        </p:nvSpPr>
        <p:spPr>
          <a:xfrm>
            <a:off x="2411413" y="1773238"/>
            <a:ext cx="8001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齐王</a:t>
            </a:r>
            <a:endParaRPr kumimoji="1" lang="zh-CN" altLang="en-US" sz="2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16" name="矩形 15"/>
          <p:cNvSpPr/>
          <p:nvPr/>
        </p:nvSpPr>
        <p:spPr>
          <a:xfrm>
            <a:off x="1908175" y="2205038"/>
            <a:ext cx="8001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田忌</a:t>
            </a:r>
            <a:endParaRPr kumimoji="1" lang="zh-CN" altLang="en-US" sz="2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cxnSp>
        <p:nvCxnSpPr>
          <p:cNvPr id="9231" name="直接连接符 17"/>
          <p:cNvCxnSpPr>
            <a:cxnSpLocks/>
            <a:stCxn id="9228" idx="0"/>
          </p:cNvCxnSpPr>
          <p:nvPr/>
        </p:nvCxnSpPr>
        <p:spPr>
          <a:xfrm>
            <a:off x="1835150" y="1628775"/>
            <a:ext cx="1440706" cy="1152153"/>
          </a:xfrm>
          <a:prstGeom prst="line">
            <a:avLst/>
          </a:prstGeom>
          <a:ln w="9525" cap="flat" cmpd="sng">
            <a:solidFill>
              <a:schemeClr val="tx1"/>
            </a:solidFill>
            <a:prstDash val="solid"/>
            <a:miter/>
            <a:headEnd type="none" w="med" len="med"/>
            <a:tailEnd type="none" w="med" len="med"/>
          </a:ln>
        </p:spPr>
      </p:cxnSp>
      <p:sp>
        <p:nvSpPr>
          <p:cNvPr id="19" name="五角星 18"/>
          <p:cNvSpPr/>
          <p:nvPr/>
        </p:nvSpPr>
        <p:spPr bwMode="auto">
          <a:xfrm>
            <a:off x="3708400" y="3141663"/>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0" name="五角星 19"/>
          <p:cNvSpPr/>
          <p:nvPr/>
        </p:nvSpPr>
        <p:spPr bwMode="auto">
          <a:xfrm>
            <a:off x="4859338" y="4149725"/>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1" name="五角星 20"/>
          <p:cNvSpPr/>
          <p:nvPr/>
        </p:nvSpPr>
        <p:spPr bwMode="auto">
          <a:xfrm>
            <a:off x="6300788" y="5157788"/>
            <a:ext cx="574675"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2" name="五角星 21"/>
          <p:cNvSpPr/>
          <p:nvPr/>
        </p:nvSpPr>
        <p:spPr bwMode="auto">
          <a:xfrm>
            <a:off x="4859338" y="3141663"/>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3" name="五角星 22"/>
          <p:cNvSpPr/>
          <p:nvPr/>
        </p:nvSpPr>
        <p:spPr bwMode="auto">
          <a:xfrm>
            <a:off x="6300788" y="4076700"/>
            <a:ext cx="574675"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4" name="五角星 23"/>
          <p:cNvSpPr/>
          <p:nvPr/>
        </p:nvSpPr>
        <p:spPr bwMode="auto">
          <a:xfrm>
            <a:off x="3492500" y="5013325"/>
            <a:ext cx="574675"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9238" name="Text Box 2"/>
          <p:cNvSpPr txBox="1"/>
          <p:nvPr/>
        </p:nvSpPr>
        <p:spPr>
          <a:xfrm>
            <a:off x="143000" y="0"/>
            <a:ext cx="9001000" cy="1446212"/>
          </a:xfrm>
          <a:prstGeom prst="rect">
            <a:avLst/>
          </a:prstGeom>
          <a:noFill/>
          <a:ln w="9525">
            <a:noFill/>
          </a:ln>
        </p:spPr>
        <p:txBody>
          <a:bodyPr wrap="square">
            <a:spAutoFit/>
          </a:bodyPr>
          <a:lstStyle/>
          <a:p>
            <a:pPr lvl="2" algn="just" eaLnBrk="1" hangingPunct="1">
              <a:buClr>
                <a:srgbClr val="FF0000"/>
              </a:buClr>
              <a:buFont typeface="Wingdings" panose="05000000000000000000" pitchFamily="2" charset="2"/>
              <a:buChar char="v"/>
            </a:pPr>
            <a:r>
              <a:rPr lang="zh-CN" altLang="en-US" sz="4000" b="1" dirty="0">
                <a:solidFill>
                  <a:srgbClr val="FF0000"/>
                </a:solidFill>
                <a:latin typeface="微软雅黑" panose="020B0503020204020204" pitchFamily="34" charset="-122"/>
                <a:ea typeface="微软雅黑" panose="020B0503020204020204" pitchFamily="34" charset="-122"/>
              </a:rPr>
              <a:t>例</a:t>
            </a:r>
            <a:r>
              <a:rPr lang="en-US" altLang="zh-CN" sz="4000" b="1" dirty="0">
                <a:solidFill>
                  <a:srgbClr val="FF0000"/>
                </a:solidFill>
                <a:latin typeface="微软雅黑" panose="020B0503020204020204" pitchFamily="34" charset="-122"/>
                <a:ea typeface="微软雅黑" panose="020B0503020204020204" pitchFamily="34" charset="-122"/>
              </a:rPr>
              <a:t>1</a:t>
            </a:r>
            <a:r>
              <a:rPr lang="zh-CN" altLang="en-US" sz="4000" b="1" dirty="0">
                <a:solidFill>
                  <a:srgbClr val="FF0000"/>
                </a:solidFill>
                <a:latin typeface="微软雅黑" panose="020B0503020204020204" pitchFamily="34" charset="-122"/>
                <a:ea typeface="微软雅黑" panose="020B0503020204020204" pitchFamily="34" charset="-122"/>
              </a:rPr>
              <a:t>：田忌赛马        </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史记</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孙子吴起列传第五</a:t>
            </a:r>
            <a:r>
              <a:rPr lang="en-US" altLang="zh-CN" sz="1800" b="1" dirty="0">
                <a:latin typeface="微软雅黑" panose="020B0503020204020204" pitchFamily="34" charset="-122"/>
                <a:ea typeface="微软雅黑" panose="020B0503020204020204" pitchFamily="34" charset="-122"/>
              </a:rPr>
              <a:t>》</a:t>
            </a:r>
            <a:endParaRPr lang="zh-CN" altLang="en-US" sz="1800" b="1" dirty="0">
              <a:solidFill>
                <a:srgbClr val="FF0000"/>
              </a:solidFill>
              <a:latin typeface="微软雅黑" panose="020B0503020204020204" pitchFamily="34" charset="-122"/>
              <a:ea typeface="微软雅黑" panose="020B0503020204020204" pitchFamily="34" charset="-122"/>
            </a:endParaRPr>
          </a:p>
          <a:p>
            <a:pPr algn="just" eaLnBrk="1" hangingPunct="1"/>
            <a:r>
              <a:rPr lang="zh-CN" altLang="en-US" b="1" dirty="0">
                <a:solidFill>
                  <a:srgbClr val="121224"/>
                </a:solidFill>
                <a:latin typeface="微软雅黑" panose="020B0503020204020204" pitchFamily="34" charset="-122"/>
                <a:ea typeface="微软雅黑" panose="020B0503020204020204" pitchFamily="34" charset="-122"/>
              </a:rPr>
              <a:t>齐王要与大臣田忌赛马，双方各出上、中、下马各一匹，对局三次，每次胜负</a:t>
            </a:r>
            <a:r>
              <a:rPr lang="en-US" altLang="zh-CN" b="1" dirty="0">
                <a:solidFill>
                  <a:srgbClr val="121224"/>
                </a:solidFill>
                <a:latin typeface="微软雅黑" panose="020B0503020204020204" pitchFamily="34" charset="-122"/>
                <a:ea typeface="微软雅黑" panose="020B0503020204020204" pitchFamily="34" charset="-122"/>
              </a:rPr>
              <a:t>1000</a:t>
            </a:r>
            <a:r>
              <a:rPr lang="zh-CN" altLang="en-US" b="1" dirty="0">
                <a:solidFill>
                  <a:srgbClr val="121224"/>
                </a:solidFill>
                <a:latin typeface="微软雅黑" panose="020B0503020204020204" pitchFamily="34" charset="-122"/>
                <a:ea typeface="微软雅黑" panose="020B0503020204020204" pitchFamily="34" charset="-122"/>
              </a:rPr>
              <a:t>金</a:t>
            </a:r>
            <a:endParaRPr lang="en-US" altLang="zh-CN" b="1" dirty="0">
              <a:solidFill>
                <a:srgbClr val="121224"/>
              </a:solidFill>
              <a:latin typeface="微软雅黑" panose="020B0503020204020204" pitchFamily="34" charset="-122"/>
              <a:ea typeface="微软雅黑" panose="020B0503020204020204" pitchFamily="34" charset="-122"/>
            </a:endParaRPr>
          </a:p>
        </p:txBody>
      </p:sp>
      <p:sp>
        <p:nvSpPr>
          <p:cNvPr id="26" name="矩形 25"/>
          <p:cNvSpPr/>
          <p:nvPr/>
        </p:nvSpPr>
        <p:spPr>
          <a:xfrm>
            <a:off x="0" y="5949950"/>
            <a:ext cx="8675688" cy="460375"/>
          </a:xfrm>
          <a:prstGeom prst="rect">
            <a:avLst/>
          </a:prstGeom>
          <a:noFill/>
          <a:ln w="9525">
            <a:noFill/>
          </a:ln>
        </p:spPr>
        <p:txBody>
          <a:bodyPr>
            <a:spAutoFit/>
          </a:bodyPr>
          <a:lstStyle/>
          <a:p>
            <a:pPr eaLnBrk="1" hangingPunct="1"/>
            <a:r>
              <a:rPr lang="zh-CN" altLang="en-US" b="1" dirty="0">
                <a:solidFill>
                  <a:srgbClr val="121224"/>
                </a:solidFill>
                <a:latin typeface="微软雅黑" panose="020B0503020204020204" pitchFamily="34" charset="-122"/>
                <a:ea typeface="微软雅黑" panose="020B0503020204020204" pitchFamily="34" charset="-122"/>
              </a:rPr>
              <a:t>田忌在好友、著名的军事谋略家孙膑的指导下</a:t>
            </a:r>
            <a:endParaRPr lang="zh-CN" altLang="en-US" dirty="0">
              <a:latin typeface="Tahoma" panose="020B0604030504040204" pitchFamily="34" charset="0"/>
              <a:ea typeface="微软雅黑" panose="020B0503020204020204" pitchFamily="34" charset="-122"/>
            </a:endParaRPr>
          </a:p>
        </p:txBody>
      </p:sp>
      <p:sp>
        <p:nvSpPr>
          <p:cNvPr id="27" name="矩形 26"/>
          <p:cNvSpPr/>
          <p:nvPr/>
        </p:nvSpPr>
        <p:spPr>
          <a:xfrm>
            <a:off x="34925" y="6396038"/>
            <a:ext cx="401955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最终净胜一局，赢得</a:t>
            </a:r>
            <a:r>
              <a:rPr kumimoji="1" lang="en-US" altLang="zh-CN"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1000</a:t>
            </a: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金</a:t>
            </a:r>
            <a:endParaRPr kumimoji="1"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linds(horizontal)">
                                      <p:cBhvr>
                                        <p:cTn id="10" dur="500"/>
                                        <p:tgtEl>
                                          <p:spTgt spid="20"/>
                                        </p:tgtEl>
                                      </p:cBhvr>
                                    </p:animEffect>
                                  </p:childTnLst>
                                </p:cTn>
                              </p:par>
                              <p:par>
                                <p:cTn id="11" presetID="3" presetClass="entr" presetSubtype="1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linds(horizontal)">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xit" presetSubtype="10" fill="hold" nodeType="clickEffect">
                                  <p:stCondLst>
                                    <p:cond delay="0"/>
                                  </p:stCondLst>
                                  <p:childTnLst>
                                    <p:animEffect transition="out" filter="blinds(horizontal)">
                                      <p:cBhvr>
                                        <p:cTn id="17" dur="500"/>
                                        <p:tgtEl>
                                          <p:spTgt spid="21"/>
                                        </p:tgtEl>
                                      </p:cBhvr>
                                    </p:animEffect>
                                    <p:set>
                                      <p:cBhvr>
                                        <p:cTn id="18" dur="1" fill="hold">
                                          <p:stCondLst>
                                            <p:cond delay="499"/>
                                          </p:stCondLst>
                                        </p:cTn>
                                        <p:tgtEl>
                                          <p:spTgt spid="21"/>
                                        </p:tgtEl>
                                        <p:attrNameLst>
                                          <p:attrName>style.visibility</p:attrName>
                                        </p:attrNameLst>
                                      </p:cBhvr>
                                      <p:to>
                                        <p:strVal val="hidden"/>
                                      </p:to>
                                    </p:set>
                                  </p:childTnLst>
                                </p:cTn>
                              </p:par>
                              <p:par>
                                <p:cTn id="19" presetID="3" presetClass="exit" presetSubtype="10" fill="hold" nodeType="withEffect">
                                  <p:stCondLst>
                                    <p:cond delay="0"/>
                                  </p:stCondLst>
                                  <p:childTnLst>
                                    <p:animEffect transition="out" filter="blinds(horizontal)">
                                      <p:cBhvr>
                                        <p:cTn id="20" dur="500"/>
                                        <p:tgtEl>
                                          <p:spTgt spid="20"/>
                                        </p:tgtEl>
                                      </p:cBhvr>
                                    </p:animEffect>
                                    <p:set>
                                      <p:cBhvr>
                                        <p:cTn id="21" dur="1" fill="hold">
                                          <p:stCondLst>
                                            <p:cond delay="499"/>
                                          </p:stCondLst>
                                        </p:cTn>
                                        <p:tgtEl>
                                          <p:spTgt spid="20"/>
                                        </p:tgtEl>
                                        <p:attrNameLst>
                                          <p:attrName>style.visibility</p:attrName>
                                        </p:attrNameLst>
                                      </p:cBhvr>
                                      <p:to>
                                        <p:strVal val="hidden"/>
                                      </p:to>
                                    </p:set>
                                  </p:childTnLst>
                                </p:cTn>
                              </p:par>
                              <p:par>
                                <p:cTn id="22" presetID="3" presetClass="exit" presetSubtype="10" fill="hold" nodeType="withEffect">
                                  <p:stCondLst>
                                    <p:cond delay="0"/>
                                  </p:stCondLst>
                                  <p:childTnLst>
                                    <p:animEffect transition="out" filter="blinds(horizontal)">
                                      <p:cBhvr>
                                        <p:cTn id="23" dur="500"/>
                                        <p:tgtEl>
                                          <p:spTgt spid="19"/>
                                        </p:tgtEl>
                                      </p:cBhvr>
                                    </p:animEffect>
                                    <p:set>
                                      <p:cBhvr>
                                        <p:cTn id="24" dur="1" fill="hold">
                                          <p:stCondLst>
                                            <p:cond delay="499"/>
                                          </p:stCondLst>
                                        </p:cTn>
                                        <p:tgtEl>
                                          <p:spTgt spid="1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blinds(horizontal)">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blinds(horizontal)">
                                      <p:cBhvr>
                                        <p:cTn id="34" dur="500"/>
                                        <p:tgtEl>
                                          <p:spTgt spid="24"/>
                                        </p:tgtEl>
                                      </p:cBhvr>
                                    </p:animEffect>
                                  </p:childTnLst>
                                </p:cTn>
                              </p:par>
                              <p:par>
                                <p:cTn id="35" presetID="3" presetClass="entr" presetSubtype="1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par>
                                <p:cTn id="38" presetID="3" presetClass="entr" presetSubtype="1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blinds(horizontal)">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blinds(horizontal)">
                                      <p:cBhvr>
                                        <p:cTn id="4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11188" y="2832100"/>
            <a:ext cx="8763000" cy="3476625"/>
          </a:xfrm>
          <a:prstGeom prst="rect">
            <a:avLst/>
          </a:prstGeom>
          <a:noFill/>
          <a:ln w="9525">
            <a:noFill/>
            <a:miter lim="800000"/>
          </a:ln>
          <a:effectLst/>
        </p:spPr>
        <p:txBody>
          <a:bodyPr>
            <a:spAutoFit/>
          </a:bodyPr>
          <a:lstStyle/>
          <a:p>
            <a:pPr marL="914400" marR="0" lvl="2" indent="0" algn="just" defTabSz="914400" rtl="0" eaLnBrk="1" fontAlgn="base" latinLnBrk="0" hangingPunct="1">
              <a:lnSpc>
                <a:spcPct val="100000"/>
              </a:lnSpc>
              <a:spcBef>
                <a:spcPct val="0"/>
              </a:spcBef>
              <a:spcAft>
                <a:spcPct val="0"/>
              </a:spcAft>
              <a:buClr>
                <a:srgbClr val="FF0000"/>
              </a:buClr>
              <a:buSzTx/>
              <a:buFontTx/>
              <a:buNone/>
              <a:defRPr/>
            </a:pPr>
            <a:r>
              <a:rPr kumimoji="1" lang="zh-CN" altLang="en-US" sz="40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	         上	    中  	下	</a:t>
            </a:r>
          </a:p>
          <a:p>
            <a:pPr marR="0" defTabSz="914400" eaLnBrk="1" hangingPunct="1">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上</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中</a:t>
            </a: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endParaRPr kumimoji="1" lang="en-US" altLang="zh-CN"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endParaRPr>
          </a:p>
          <a:p>
            <a:pPr marR="0" defTabSz="914400" eaLnBrk="1" hangingPunct="1">
              <a:lnSpc>
                <a:spcPct val="70000"/>
              </a:lnSpc>
              <a:buClrTx/>
              <a:buSzTx/>
              <a:buFontTx/>
              <a:defRPr/>
            </a:pPr>
            <a:r>
              <a:rPr kumimoji="1" lang="zh-CN" altLang="en-US" sz="4000" b="1" kern="1200" cap="none" spc="0" normalizeH="0" baseline="0" noProof="0" dirty="0">
                <a:solidFill>
                  <a:srgbClr val="121224"/>
                </a:solidFill>
                <a:effectLst>
                  <a:outerShdw blurRad="38100" dist="38100" dir="2700000" algn="tl">
                    <a:srgbClr val="C0C0C0"/>
                  </a:outerShdw>
                </a:effectLst>
                <a:latin typeface="华文楷体" panose="02010600040101010101" pitchFamily="2" charset="-122"/>
                <a:ea typeface="华文楷体" panose="02010600040101010101" pitchFamily="2" charset="-122"/>
                <a:cs typeface="+mn-cs"/>
              </a:rPr>
              <a:t>               下	</a:t>
            </a:r>
          </a:p>
        </p:txBody>
      </p:sp>
      <p:sp>
        <p:nvSpPr>
          <p:cNvPr id="10243" name="Line 3"/>
          <p:cNvSpPr/>
          <p:nvPr/>
        </p:nvSpPr>
        <p:spPr>
          <a:xfrm>
            <a:off x="1835150" y="2565400"/>
            <a:ext cx="5562600" cy="0"/>
          </a:xfrm>
          <a:prstGeom prst="line">
            <a:avLst/>
          </a:prstGeom>
          <a:ln w="28575" cap="flat" cmpd="sng">
            <a:solidFill>
              <a:srgbClr val="FF0000"/>
            </a:solidFill>
            <a:prstDash val="solid"/>
            <a:headEnd type="none" w="med" len="med"/>
            <a:tailEnd type="none" w="med" len="med"/>
          </a:ln>
        </p:spPr>
      </p:sp>
      <p:sp>
        <p:nvSpPr>
          <p:cNvPr id="10244" name="Line 4"/>
          <p:cNvSpPr/>
          <p:nvPr/>
        </p:nvSpPr>
        <p:spPr>
          <a:xfrm>
            <a:off x="1835150" y="3644900"/>
            <a:ext cx="5562600" cy="0"/>
          </a:xfrm>
          <a:prstGeom prst="line">
            <a:avLst/>
          </a:prstGeom>
          <a:ln w="28575" cap="flat" cmpd="sng">
            <a:solidFill>
              <a:srgbClr val="FF0000"/>
            </a:solidFill>
            <a:prstDash val="solid"/>
            <a:headEnd type="none" w="med" len="med"/>
            <a:tailEnd type="none" w="med" len="med"/>
          </a:ln>
        </p:spPr>
      </p:sp>
      <p:sp>
        <p:nvSpPr>
          <p:cNvPr id="10245" name="Line 5"/>
          <p:cNvSpPr/>
          <p:nvPr/>
        </p:nvSpPr>
        <p:spPr>
          <a:xfrm>
            <a:off x="1908175" y="5661025"/>
            <a:ext cx="5562600" cy="0"/>
          </a:xfrm>
          <a:prstGeom prst="line">
            <a:avLst/>
          </a:prstGeom>
          <a:ln w="28575" cap="flat" cmpd="sng">
            <a:solidFill>
              <a:srgbClr val="FF0000"/>
            </a:solidFill>
            <a:prstDash val="solid"/>
            <a:headEnd type="none" w="med" len="med"/>
            <a:tailEnd type="none" w="med" len="med"/>
          </a:ln>
        </p:spPr>
      </p:sp>
      <p:sp>
        <p:nvSpPr>
          <p:cNvPr id="10246" name="Line 6"/>
          <p:cNvSpPr/>
          <p:nvPr/>
        </p:nvSpPr>
        <p:spPr>
          <a:xfrm>
            <a:off x="3276600" y="2492375"/>
            <a:ext cx="0" cy="4176713"/>
          </a:xfrm>
          <a:prstGeom prst="line">
            <a:avLst/>
          </a:prstGeom>
          <a:ln w="38100" cap="flat" cmpd="sng">
            <a:solidFill>
              <a:srgbClr val="FF0000"/>
            </a:solidFill>
            <a:prstDash val="solid"/>
            <a:headEnd type="none" w="med" len="med"/>
            <a:tailEnd type="none" w="med" len="med"/>
          </a:ln>
        </p:spPr>
      </p:sp>
      <p:sp>
        <p:nvSpPr>
          <p:cNvPr id="10247" name="Line 4"/>
          <p:cNvSpPr/>
          <p:nvPr/>
        </p:nvSpPr>
        <p:spPr>
          <a:xfrm>
            <a:off x="1908175" y="4652963"/>
            <a:ext cx="5562600" cy="0"/>
          </a:xfrm>
          <a:prstGeom prst="line">
            <a:avLst/>
          </a:prstGeom>
          <a:ln w="28575" cap="flat" cmpd="sng">
            <a:solidFill>
              <a:srgbClr val="FF0000"/>
            </a:solidFill>
            <a:prstDash val="solid"/>
            <a:headEnd type="none" w="med" len="med"/>
            <a:tailEnd type="none" w="med" len="med"/>
          </a:ln>
        </p:spPr>
      </p:sp>
      <p:sp>
        <p:nvSpPr>
          <p:cNvPr id="10248" name="Line 4"/>
          <p:cNvSpPr/>
          <p:nvPr/>
        </p:nvSpPr>
        <p:spPr>
          <a:xfrm>
            <a:off x="1835150" y="6669088"/>
            <a:ext cx="5562600" cy="0"/>
          </a:xfrm>
          <a:prstGeom prst="line">
            <a:avLst/>
          </a:prstGeom>
          <a:ln w="28575" cap="flat" cmpd="sng">
            <a:solidFill>
              <a:srgbClr val="FF0000"/>
            </a:solidFill>
            <a:prstDash val="solid"/>
            <a:headEnd type="none" w="med" len="med"/>
            <a:tailEnd type="none" w="med" len="med"/>
          </a:ln>
        </p:spPr>
      </p:sp>
      <p:sp>
        <p:nvSpPr>
          <p:cNvPr id="10249" name="Line 6"/>
          <p:cNvSpPr/>
          <p:nvPr/>
        </p:nvSpPr>
        <p:spPr>
          <a:xfrm>
            <a:off x="4500563" y="2492375"/>
            <a:ext cx="0" cy="4176713"/>
          </a:xfrm>
          <a:prstGeom prst="line">
            <a:avLst/>
          </a:prstGeom>
          <a:ln w="38100" cap="flat" cmpd="sng">
            <a:solidFill>
              <a:srgbClr val="FF0000"/>
            </a:solidFill>
            <a:prstDash val="solid"/>
            <a:headEnd type="none" w="med" len="med"/>
            <a:tailEnd type="none" w="med" len="med"/>
          </a:ln>
        </p:spPr>
      </p:sp>
      <p:sp>
        <p:nvSpPr>
          <p:cNvPr id="10250" name="Line 6"/>
          <p:cNvSpPr/>
          <p:nvPr/>
        </p:nvSpPr>
        <p:spPr>
          <a:xfrm>
            <a:off x="5940425" y="2565400"/>
            <a:ext cx="0" cy="4176713"/>
          </a:xfrm>
          <a:prstGeom prst="line">
            <a:avLst/>
          </a:prstGeom>
          <a:ln w="38100" cap="flat" cmpd="sng">
            <a:solidFill>
              <a:srgbClr val="FF0000"/>
            </a:solidFill>
            <a:prstDash val="solid"/>
            <a:headEnd type="none" w="med" len="med"/>
            <a:tailEnd type="none" w="med" len="med"/>
          </a:ln>
        </p:spPr>
      </p:sp>
      <p:sp>
        <p:nvSpPr>
          <p:cNvPr id="10251" name="Line 6"/>
          <p:cNvSpPr/>
          <p:nvPr/>
        </p:nvSpPr>
        <p:spPr>
          <a:xfrm>
            <a:off x="7380288" y="2565400"/>
            <a:ext cx="0" cy="4176713"/>
          </a:xfrm>
          <a:prstGeom prst="line">
            <a:avLst/>
          </a:prstGeom>
          <a:ln w="38100" cap="flat" cmpd="sng">
            <a:solidFill>
              <a:srgbClr val="FF0000"/>
            </a:solidFill>
            <a:prstDash val="solid"/>
            <a:headEnd type="none" w="med" len="med"/>
            <a:tailEnd type="none" w="med" len="med"/>
          </a:ln>
        </p:spPr>
      </p:sp>
      <p:sp>
        <p:nvSpPr>
          <p:cNvPr id="10252" name="Line 6"/>
          <p:cNvSpPr/>
          <p:nvPr/>
        </p:nvSpPr>
        <p:spPr>
          <a:xfrm>
            <a:off x="1835150" y="2492375"/>
            <a:ext cx="0" cy="4176713"/>
          </a:xfrm>
          <a:prstGeom prst="line">
            <a:avLst/>
          </a:prstGeom>
          <a:ln w="38100" cap="flat" cmpd="sng">
            <a:solidFill>
              <a:srgbClr val="FF0000"/>
            </a:solidFill>
            <a:prstDash val="solid"/>
            <a:headEnd type="none" w="med" len="med"/>
            <a:tailEnd type="none" w="med" len="med"/>
          </a:ln>
        </p:spPr>
      </p:sp>
      <p:sp>
        <p:nvSpPr>
          <p:cNvPr id="15" name="矩形 14"/>
          <p:cNvSpPr/>
          <p:nvPr/>
        </p:nvSpPr>
        <p:spPr>
          <a:xfrm>
            <a:off x="2411413" y="2636838"/>
            <a:ext cx="8001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齐王</a:t>
            </a:r>
            <a:endParaRPr kumimoji="1" lang="zh-CN" altLang="en-US" sz="2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sp>
        <p:nvSpPr>
          <p:cNvPr id="16" name="矩形 15"/>
          <p:cNvSpPr/>
          <p:nvPr/>
        </p:nvSpPr>
        <p:spPr>
          <a:xfrm>
            <a:off x="1908175" y="3068638"/>
            <a:ext cx="8001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121224"/>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田忌</a:t>
            </a:r>
            <a:endParaRPr kumimoji="1" lang="zh-CN" altLang="en-US" sz="2400" b="0" i="0" u="none" strike="noStrike" kern="1200" cap="none" spc="0" normalizeH="0" baseline="0" noProof="0" dirty="0">
              <a:ln>
                <a:noFill/>
              </a:ln>
              <a:solidFill>
                <a:schemeClr val="tx1"/>
              </a:solidFill>
              <a:effectLst/>
              <a:uLnTx/>
              <a:uFillTx/>
              <a:latin typeface="Tahoma" panose="020B0604030504040204" pitchFamily="34" charset="0"/>
              <a:ea typeface="微软雅黑" panose="020B0503020204020204" pitchFamily="34" charset="-122"/>
              <a:cs typeface="+mn-cs"/>
            </a:endParaRPr>
          </a:p>
        </p:txBody>
      </p:sp>
      <p:cxnSp>
        <p:nvCxnSpPr>
          <p:cNvPr id="10255" name="直接连接符 17"/>
          <p:cNvCxnSpPr>
            <a:stCxn id="10252" idx="0"/>
          </p:cNvCxnSpPr>
          <p:nvPr/>
        </p:nvCxnSpPr>
        <p:spPr>
          <a:xfrm>
            <a:off x="1835150" y="2492375"/>
            <a:ext cx="1512888" cy="1223963"/>
          </a:xfrm>
          <a:prstGeom prst="line">
            <a:avLst/>
          </a:prstGeom>
          <a:ln w="9525" cap="flat" cmpd="sng">
            <a:solidFill>
              <a:schemeClr val="tx1"/>
            </a:solidFill>
            <a:prstDash val="solid"/>
            <a:miter/>
            <a:headEnd type="none" w="med" len="med"/>
            <a:tailEnd type="none" w="med" len="med"/>
          </a:ln>
        </p:spPr>
      </p:cxnSp>
      <p:sp>
        <p:nvSpPr>
          <p:cNvPr id="19" name="五角星 18"/>
          <p:cNvSpPr/>
          <p:nvPr/>
        </p:nvSpPr>
        <p:spPr bwMode="auto">
          <a:xfrm>
            <a:off x="3708400" y="4005263"/>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0" name="五角星 19"/>
          <p:cNvSpPr/>
          <p:nvPr/>
        </p:nvSpPr>
        <p:spPr bwMode="auto">
          <a:xfrm>
            <a:off x="4859338" y="5013325"/>
            <a:ext cx="576263"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1" name="五角星 20"/>
          <p:cNvSpPr/>
          <p:nvPr/>
        </p:nvSpPr>
        <p:spPr bwMode="auto">
          <a:xfrm>
            <a:off x="6300788" y="6021388"/>
            <a:ext cx="574675" cy="431800"/>
          </a:xfrm>
          <a:prstGeom prst="star5">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2" name="五角星 21"/>
          <p:cNvSpPr/>
          <p:nvPr/>
        </p:nvSpPr>
        <p:spPr bwMode="auto">
          <a:xfrm>
            <a:off x="4859338" y="4005263"/>
            <a:ext cx="576263" cy="431800"/>
          </a:xfrm>
          <a:prstGeom prst="star5">
            <a:avLst/>
          </a:prstGeom>
          <a:solidFill>
            <a:srgbClr val="0033CC"/>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3" name="五角星 22"/>
          <p:cNvSpPr/>
          <p:nvPr/>
        </p:nvSpPr>
        <p:spPr bwMode="auto">
          <a:xfrm>
            <a:off x="6300788" y="4941888"/>
            <a:ext cx="574675" cy="431800"/>
          </a:xfrm>
          <a:prstGeom prst="star5">
            <a:avLst/>
          </a:prstGeom>
          <a:solidFill>
            <a:srgbClr val="0033CC"/>
          </a:solidFill>
          <a:ln w="9525" cap="flat" cmpd="sng" algn="ctr">
            <a:solidFill>
              <a:srgbClr val="0033CC"/>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24" name="五角星 23"/>
          <p:cNvSpPr/>
          <p:nvPr/>
        </p:nvSpPr>
        <p:spPr bwMode="auto">
          <a:xfrm>
            <a:off x="3492500" y="5876925"/>
            <a:ext cx="574675" cy="431800"/>
          </a:xfrm>
          <a:prstGeom prst="star5">
            <a:avLst/>
          </a:prstGeom>
          <a:solidFill>
            <a:srgbClr val="0033CC"/>
          </a:solidFill>
          <a:ln w="9525" cap="flat" cmpd="sng" algn="ctr">
            <a:solidFill>
              <a:srgbClr val="0033CC"/>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dirty="0">
              <a:ln>
                <a:noFill/>
              </a:ln>
              <a:solidFill>
                <a:srgbClr val="FF0000"/>
              </a:solidFill>
              <a:effectLst/>
              <a:uLnTx/>
              <a:uFillTx/>
              <a:latin typeface="Tahoma" panose="020B0604030504040204" pitchFamily="34" charset="0"/>
              <a:ea typeface="微软雅黑" panose="020B0503020204020204" pitchFamily="34" charset="-122"/>
              <a:cs typeface="+mn-cs"/>
            </a:endParaRPr>
          </a:p>
        </p:txBody>
      </p:sp>
      <p:sp>
        <p:nvSpPr>
          <p:cNvPr id="10262" name="矩形 27"/>
          <p:cNvSpPr/>
          <p:nvPr/>
        </p:nvSpPr>
        <p:spPr>
          <a:xfrm>
            <a:off x="0" y="222250"/>
            <a:ext cx="9144000" cy="830263"/>
          </a:xfrm>
          <a:prstGeom prst="rect">
            <a:avLst/>
          </a:prstGeom>
          <a:noFill/>
          <a:ln w="9525">
            <a:noFill/>
          </a:ln>
        </p:spPr>
        <p:txBody>
          <a:bodyPr>
            <a:spAutoFit/>
          </a:bodyPr>
          <a:lstStyle/>
          <a:p>
            <a:pPr eaLnBrk="1" hangingPunct="1"/>
            <a:r>
              <a:rPr lang="zh-CN" altLang="en-US" b="1" dirty="0">
                <a:latin typeface="微软雅黑" panose="020B0503020204020204" pitchFamily="34" charset="-122"/>
                <a:ea typeface="微软雅黑" panose="020B0503020204020204" pitchFamily="34" charset="-122"/>
              </a:rPr>
              <a:t>孙膑运用了一种科学合理的思想方法，就是我国数学家华罗庚先生在</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统筹方法</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中所介绍的</a:t>
            </a:r>
            <a:r>
              <a:rPr lang="zh-CN" altLang="en-US" b="1" dirty="0">
                <a:solidFill>
                  <a:srgbClr val="FF0000"/>
                </a:solidFill>
                <a:latin typeface="微软雅黑" panose="020B0503020204020204" pitchFamily="34" charset="-122"/>
                <a:ea typeface="微软雅黑" panose="020B0503020204020204" pitchFamily="34" charset="-122"/>
              </a:rPr>
              <a:t>对策论</a:t>
            </a:r>
          </a:p>
        </p:txBody>
      </p:sp>
      <p:sp>
        <p:nvSpPr>
          <p:cNvPr id="29" name="矩形 28"/>
          <p:cNvSpPr/>
          <p:nvPr/>
        </p:nvSpPr>
        <p:spPr>
          <a:xfrm>
            <a:off x="0" y="1125538"/>
            <a:ext cx="9144000" cy="831850"/>
          </a:xfrm>
          <a:prstGeom prst="rect">
            <a:avLst/>
          </a:prstGeom>
          <a:noFill/>
          <a:ln w="9525">
            <a:noFill/>
          </a:ln>
        </p:spPr>
        <p:txBody>
          <a:bodyPr>
            <a:spAutoFit/>
          </a:bodyPr>
          <a:lstStyle/>
          <a:p>
            <a:pPr eaLnBrk="1" hangingPunct="1"/>
            <a:r>
              <a:rPr lang="zh-CN" altLang="en-US" b="1" dirty="0">
                <a:solidFill>
                  <a:srgbClr val="0033CC"/>
                </a:solidFill>
                <a:latin typeface="微软雅黑" panose="020B0503020204020204" pitchFamily="34" charset="-122"/>
                <a:ea typeface="微软雅黑" panose="020B0503020204020204" pitchFamily="34" charset="-122"/>
              </a:rPr>
              <a:t>田忌赛马的故事说明，在已有条件下，经过统筹安排，选择一个最好的方案，就会取得最好的效果</a:t>
            </a:r>
          </a:p>
        </p:txBody>
      </p:sp>
      <p:sp>
        <p:nvSpPr>
          <p:cNvPr id="2" name="矩形 1"/>
          <p:cNvSpPr/>
          <p:nvPr/>
        </p:nvSpPr>
        <p:spPr>
          <a:xfrm>
            <a:off x="5940425" y="1725613"/>
            <a:ext cx="3024188" cy="830262"/>
          </a:xfrm>
          <a:prstGeom prst="rect">
            <a:avLst/>
          </a:prstGeom>
          <a:noFill/>
          <a:ln w="9525">
            <a:noFill/>
          </a:ln>
        </p:spPr>
        <p:txBody>
          <a:bodyPr>
            <a:spAutoFit/>
          </a:bodyPr>
          <a:lstStyle/>
          <a:p>
            <a:r>
              <a:rPr lang="zh-CN" altLang="en-US" dirty="0">
                <a:solidFill>
                  <a:srgbClr val="FF0000"/>
                </a:solidFill>
                <a:latin typeface="微软雅黑" panose="020B0503020204020204" pitchFamily="34" charset="-122"/>
                <a:ea typeface="微软雅黑" panose="020B0503020204020204" pitchFamily="34" charset="-122"/>
              </a:rPr>
              <a:t>知已知彼 百战不殆？</a:t>
            </a:r>
            <a:endParaRPr lang="en-US" altLang="zh-CN" dirty="0">
              <a:solidFill>
                <a:srgbClr val="FF0000"/>
              </a:solidFill>
              <a:latin typeface="微软雅黑" panose="020B0503020204020204" pitchFamily="34" charset="-122"/>
              <a:ea typeface="微软雅黑" panose="020B0503020204020204" pitchFamily="34" charset="-122"/>
            </a:endParaRPr>
          </a:p>
          <a:p>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需要学好运筹学</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blinds(horizontal)">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2125135-C594-44B3-9CE5-F573C043D8F1}"/>
              </a:ext>
            </a:extLst>
          </p:cNvPr>
          <p:cNvSpPr txBox="1"/>
          <p:nvPr/>
        </p:nvSpPr>
        <p:spPr>
          <a:xfrm>
            <a:off x="179512" y="260648"/>
            <a:ext cx="3278462" cy="523220"/>
          </a:xfrm>
          <a:prstGeom prst="rect">
            <a:avLst/>
          </a:prstGeom>
          <a:noFill/>
        </p:spPr>
        <p:txBody>
          <a:bodyPr wrap="none" rtlCol="0">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例</a:t>
            </a:r>
            <a:r>
              <a:rPr lang="en-US" altLang="zh-CN" sz="2800" b="1" dirty="0">
                <a:solidFill>
                  <a:srgbClr val="FF0000"/>
                </a:solidFill>
                <a:latin typeface="微软雅黑" panose="020B0503020204020204" pitchFamily="34" charset="-122"/>
                <a:ea typeface="微软雅黑" panose="020B0503020204020204" pitchFamily="34" charset="-122"/>
              </a:rPr>
              <a:t>2</a:t>
            </a:r>
            <a:r>
              <a:rPr lang="zh-CN" altLang="en-US" sz="2800" b="1" dirty="0">
                <a:solidFill>
                  <a:srgbClr val="FF0000"/>
                </a:solidFill>
                <a:latin typeface="微软雅黑" panose="020B0503020204020204" pitchFamily="34" charset="-122"/>
                <a:ea typeface="微软雅黑" panose="020B0503020204020204" pitchFamily="34" charset="-122"/>
              </a:rPr>
              <a:t>：经典极值问题</a:t>
            </a:r>
          </a:p>
        </p:txBody>
      </p:sp>
      <p:sp>
        <p:nvSpPr>
          <p:cNvPr id="5" name="Rectangle 1">
            <a:extLst>
              <a:ext uri="{FF2B5EF4-FFF2-40B4-BE49-F238E27FC236}">
                <a16:creationId xmlns:a16="http://schemas.microsoft.com/office/drawing/2014/main" id="{1AA9BD0B-C5F0-4C12-8605-0EA168A21748}"/>
              </a:ext>
            </a:extLst>
          </p:cNvPr>
          <p:cNvSpPr>
            <a:spLocks noChangeArrowheads="1"/>
          </p:cNvSpPr>
          <p:nvPr/>
        </p:nvSpPr>
        <p:spPr bwMode="auto">
          <a:xfrm>
            <a:off x="179512" y="1034420"/>
            <a:ext cx="8640960" cy="179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
                <a:srgbClr val="0033CC"/>
              </a:buClr>
              <a:buSzTx/>
              <a:buFont typeface="Wingdings" panose="05000000000000000000" pitchFamily="2" charset="2"/>
              <a:buChar char="Ø"/>
              <a:tabLst/>
            </a:pP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把一个半径为 1 的实心金属球融化后，铸成一个实心圆柱体，问圆柱体取什么尺寸才能使它的表面积最小？</a:t>
            </a:r>
            <a:endParaRPr kumimoji="0" lang="en-US"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342900" marR="0" lvl="0" indent="-342900" algn="l" defTabSz="914400" rtl="0" eaLnBrk="0" fontAlgn="base" latinLnBrk="0" hangingPunct="0">
              <a:lnSpc>
                <a:spcPct val="150000"/>
              </a:lnSpc>
              <a:spcBef>
                <a:spcPct val="0"/>
              </a:spcBef>
              <a:spcAft>
                <a:spcPct val="0"/>
              </a:spcAft>
              <a:buClr>
                <a:srgbClr val="0033CC"/>
              </a:buClr>
              <a:buSzTx/>
              <a:buFont typeface="Wingdings" panose="05000000000000000000" pitchFamily="2" charset="2"/>
              <a:buChar char="ü"/>
              <a:tabLst/>
            </a:pP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解：设圆柱体的底面半径为 </a:t>
            </a:r>
            <a:r>
              <a:rPr kumimoji="0" lang="zh-CN" altLang="zh-CN" sz="2000" b="0" i="1"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r</a:t>
            </a: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，高为 </a:t>
            </a:r>
            <a:r>
              <a:rPr lang="zh-CN" altLang="zh-CN" sz="20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h</a:t>
            </a:r>
            <a:r>
              <a:rPr kumimoji="0" lang="zh-CN" altLang="zh-CN" sz="20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，则该问题可表达为：</a:t>
            </a:r>
            <a:endPar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 name="Rectangle 2">
            <a:extLst>
              <a:ext uri="{FF2B5EF4-FFF2-40B4-BE49-F238E27FC236}">
                <a16:creationId xmlns:a16="http://schemas.microsoft.com/office/drawing/2014/main" id="{7E855B5F-E948-4602-9754-ED87A297E883}"/>
              </a:ext>
            </a:extLst>
          </p:cNvPr>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文本框 11">
            <a:extLst>
              <a:ext uri="{FF2B5EF4-FFF2-40B4-BE49-F238E27FC236}">
                <a16:creationId xmlns:a16="http://schemas.microsoft.com/office/drawing/2014/main" id="{BB232B70-9260-4165-9685-818305649A9F}"/>
              </a:ext>
            </a:extLst>
          </p:cNvPr>
          <p:cNvSpPr txBox="1"/>
          <p:nvPr/>
        </p:nvSpPr>
        <p:spPr>
          <a:xfrm>
            <a:off x="611560" y="4581128"/>
            <a:ext cx="4031873" cy="769441"/>
          </a:xfrm>
          <a:prstGeom prst="rect">
            <a:avLst/>
          </a:prstGeom>
          <a:noFill/>
        </p:spPr>
        <p:txBody>
          <a:bodyPr wrap="none" rtlCol="0">
            <a:spAutoFit/>
          </a:bodyPr>
          <a:lstStyle/>
          <a:p>
            <a:r>
              <a:rPr lang="zh-CN" altLang="zh-CN" sz="2000" dirty="0">
                <a:solidFill>
                  <a:srgbClr val="000000"/>
                </a:solidFill>
                <a:latin typeface="微软雅黑" panose="020B0503020204020204" pitchFamily="34" charset="-122"/>
                <a:ea typeface="微软雅黑" panose="020B0503020204020204" pitchFamily="34" charset="-122"/>
              </a:rPr>
              <a:t>也可化为无约束的函数极值问题：</a:t>
            </a:r>
          </a:p>
          <a:p>
            <a:endParaRPr lang="zh-CN" altLang="en-US" dirty="0"/>
          </a:p>
        </p:txBody>
      </p:sp>
      <p:graphicFrame>
        <p:nvGraphicFramePr>
          <p:cNvPr id="13" name="对象 12">
            <a:extLst>
              <a:ext uri="{FF2B5EF4-FFF2-40B4-BE49-F238E27FC236}">
                <a16:creationId xmlns:a16="http://schemas.microsoft.com/office/drawing/2014/main" id="{E5AE3270-EBA5-468C-A0AF-0554B0F7A654}"/>
              </a:ext>
            </a:extLst>
          </p:cNvPr>
          <p:cNvGraphicFramePr>
            <a:graphicFrameLocks noChangeAspect="1"/>
          </p:cNvGraphicFramePr>
          <p:nvPr>
            <p:extLst>
              <p:ext uri="{D42A27DB-BD31-4B8C-83A1-F6EECF244321}">
                <p14:modId xmlns:p14="http://schemas.microsoft.com/office/powerpoint/2010/main" val="352154347"/>
              </p:ext>
            </p:extLst>
          </p:nvPr>
        </p:nvGraphicFramePr>
        <p:xfrm>
          <a:off x="3602038" y="3060700"/>
          <a:ext cx="2082800" cy="1066800"/>
        </p:xfrm>
        <a:graphic>
          <a:graphicData uri="http://schemas.openxmlformats.org/presentationml/2006/ole">
            <mc:AlternateContent xmlns:mc="http://schemas.openxmlformats.org/markup-compatibility/2006">
              <mc:Choice xmlns:v="urn:schemas-microsoft-com:vml" Requires="v">
                <p:oleObj name="Equation" r:id="rId2" imgW="2082600" imgH="1066680" progId="Equation.DSMT4">
                  <p:embed/>
                </p:oleObj>
              </mc:Choice>
              <mc:Fallback>
                <p:oleObj name="Equation" r:id="rId2" imgW="2082600" imgH="1066680" progId="Equation.DSMT4">
                  <p:embed/>
                  <p:pic>
                    <p:nvPicPr>
                      <p:cNvPr id="5" name="对象 4">
                        <a:extLst>
                          <a:ext uri="{FF2B5EF4-FFF2-40B4-BE49-F238E27FC236}">
                            <a16:creationId xmlns:a16="http://schemas.microsoft.com/office/drawing/2014/main" id="{98FF28B6-ABEC-4C38-8E3C-21A6379D77FD}"/>
                          </a:ext>
                        </a:extLst>
                      </p:cNvPr>
                      <p:cNvPicPr/>
                      <p:nvPr/>
                    </p:nvPicPr>
                    <p:blipFill>
                      <a:blip r:embed="rId3"/>
                      <a:stretch>
                        <a:fillRect/>
                      </a:stretch>
                    </p:blipFill>
                    <p:spPr>
                      <a:xfrm>
                        <a:off x="3602038" y="3060700"/>
                        <a:ext cx="2082800" cy="10668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BF9010BE-4281-4222-9DF1-4BE2A50AC3F1}"/>
              </a:ext>
            </a:extLst>
          </p:cNvPr>
          <p:cNvGraphicFramePr>
            <a:graphicFrameLocks noChangeAspect="1"/>
          </p:cNvGraphicFramePr>
          <p:nvPr>
            <p:extLst>
              <p:ext uri="{D42A27DB-BD31-4B8C-83A1-F6EECF244321}">
                <p14:modId xmlns:p14="http://schemas.microsoft.com/office/powerpoint/2010/main" val="3102020225"/>
              </p:ext>
            </p:extLst>
          </p:nvPr>
        </p:nvGraphicFramePr>
        <p:xfrm>
          <a:off x="3203848" y="5445224"/>
          <a:ext cx="1676400" cy="609600"/>
        </p:xfrm>
        <a:graphic>
          <a:graphicData uri="http://schemas.openxmlformats.org/presentationml/2006/ole">
            <mc:AlternateContent xmlns:mc="http://schemas.openxmlformats.org/markup-compatibility/2006">
              <mc:Choice xmlns:v="urn:schemas-microsoft-com:vml" Requires="v">
                <p:oleObj name="Equation" r:id="rId4" imgW="1676160" imgH="609480" progId="Equation.DSMT4">
                  <p:embed/>
                </p:oleObj>
              </mc:Choice>
              <mc:Fallback>
                <p:oleObj name="Equation" r:id="rId4" imgW="1676160" imgH="609480" progId="Equation.DSMT4">
                  <p:embed/>
                  <p:pic>
                    <p:nvPicPr>
                      <p:cNvPr id="13" name="对象 12">
                        <a:extLst>
                          <a:ext uri="{FF2B5EF4-FFF2-40B4-BE49-F238E27FC236}">
                            <a16:creationId xmlns:a16="http://schemas.microsoft.com/office/drawing/2014/main" id="{E5AE3270-EBA5-468C-A0AF-0554B0F7A654}"/>
                          </a:ext>
                        </a:extLst>
                      </p:cNvPr>
                      <p:cNvPicPr/>
                      <p:nvPr/>
                    </p:nvPicPr>
                    <p:blipFill>
                      <a:blip r:embed="rId5"/>
                      <a:stretch>
                        <a:fillRect/>
                      </a:stretch>
                    </p:blipFill>
                    <p:spPr>
                      <a:xfrm>
                        <a:off x="3203848" y="5445224"/>
                        <a:ext cx="1676400" cy="609600"/>
                      </a:xfrm>
                      <a:prstGeom prst="rect">
                        <a:avLst/>
                      </a:prstGeom>
                    </p:spPr>
                  </p:pic>
                </p:oleObj>
              </mc:Fallback>
            </mc:AlternateContent>
          </a:graphicData>
        </a:graphic>
      </p:graphicFrame>
    </p:spTree>
    <p:extLst>
      <p:ext uri="{BB962C8B-B14F-4D97-AF65-F5344CB8AC3E}">
        <p14:creationId xmlns:p14="http://schemas.microsoft.com/office/powerpoint/2010/main" val="3754407814"/>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D905468-9704-4A0B-877A-19DA53C7BFBD}"/>
              </a:ext>
            </a:extLst>
          </p:cNvPr>
          <p:cNvSpPr txBox="1"/>
          <p:nvPr/>
        </p:nvSpPr>
        <p:spPr>
          <a:xfrm>
            <a:off x="844056" y="620688"/>
            <a:ext cx="7455887" cy="707886"/>
          </a:xfrm>
          <a:prstGeom prst="rect">
            <a:avLst/>
          </a:prstGeom>
          <a:noFill/>
        </p:spPr>
        <p:txBody>
          <a:bodyPr wrap="none" rtlCol="0">
            <a:spAutoFit/>
          </a:bodyPr>
          <a:lstStyle/>
          <a:p>
            <a:r>
              <a:rPr kumimoji="1" lang="en-US" altLang="zh-CN" sz="4000" b="1" cap="all" dirty="0">
                <a:solidFill>
                  <a:schemeClr val="tx2"/>
                </a:solidFill>
                <a:latin typeface="+mj-lt"/>
                <a:ea typeface="微软雅黑" panose="020B0503020204020204" pitchFamily="34" charset="-122"/>
                <a:cs typeface="+mj-cs"/>
              </a:rPr>
              <a:t>1.2  </a:t>
            </a:r>
            <a:r>
              <a:rPr kumimoji="1" lang="zh-CN" altLang="en-US" sz="4000" b="1" cap="all" dirty="0">
                <a:solidFill>
                  <a:schemeClr val="tx2"/>
                </a:solidFill>
                <a:latin typeface="+mj-lt"/>
                <a:ea typeface="微软雅黑" panose="020B0503020204020204" pitchFamily="34" charset="-122"/>
                <a:cs typeface="+mj-cs"/>
              </a:rPr>
              <a:t>线性规划与非线性规划问题</a:t>
            </a:r>
          </a:p>
        </p:txBody>
      </p:sp>
      <p:sp>
        <p:nvSpPr>
          <p:cNvPr id="4" name="文本框 3">
            <a:extLst>
              <a:ext uri="{FF2B5EF4-FFF2-40B4-BE49-F238E27FC236}">
                <a16:creationId xmlns:a16="http://schemas.microsoft.com/office/drawing/2014/main" id="{E658A023-17F9-4D5A-AE1A-C63C2C177565}"/>
              </a:ext>
            </a:extLst>
          </p:cNvPr>
          <p:cNvSpPr txBox="1"/>
          <p:nvPr/>
        </p:nvSpPr>
        <p:spPr>
          <a:xfrm>
            <a:off x="755576" y="2420888"/>
            <a:ext cx="7472360" cy="1123128"/>
          </a:xfrm>
          <a:prstGeom prst="rect">
            <a:avLst/>
          </a:prstGeom>
          <a:noFill/>
        </p:spPr>
        <p:txBody>
          <a:bodyPr wrap="square" rtlCol="0">
            <a:spAutoFit/>
          </a:bodyPr>
          <a:lstStyle/>
          <a:p>
            <a:pPr>
              <a:lnSpc>
                <a:spcPct val="150000"/>
              </a:lnSpc>
            </a:pPr>
            <a:r>
              <a:rPr lang="zh-CN" altLang="en-US" dirty="0"/>
              <a:t>线性与非线性规划有着广泛的实际背景，许多实际问题抽象成数学模型后，可归结为求解这类问题。</a:t>
            </a:r>
          </a:p>
        </p:txBody>
      </p:sp>
    </p:spTree>
    <p:extLst>
      <p:ext uri="{BB962C8B-B14F-4D97-AF65-F5344CB8AC3E}">
        <p14:creationId xmlns:p14="http://schemas.microsoft.com/office/powerpoint/2010/main" val="3621753515"/>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C8CE6DEE-2E82-4B99-B934-356E27ACECBA}"/>
              </a:ext>
            </a:extLst>
          </p:cNvPr>
          <p:cNvSpPr>
            <a:spLocks noGrp="1" noChangeArrowheads="1"/>
          </p:cNvSpPr>
          <p:nvPr>
            <p:ph type="body" idx="4294967295"/>
          </p:nvPr>
        </p:nvSpPr>
        <p:spPr bwMode="auto">
          <a:xfrm>
            <a:off x="17463" y="76200"/>
            <a:ext cx="8856662" cy="19367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spcBef>
                <a:spcPct val="0"/>
              </a:spcBef>
              <a:buFont typeface="Wingdings" panose="05000000000000000000" pitchFamily="2" charset="2"/>
              <a:buNone/>
            </a:pPr>
            <a:r>
              <a:rPr lang="zh-CN" altLang="en-US" sz="2400" b="1" dirty="0">
                <a:solidFill>
                  <a:srgbClr val="FF0000"/>
                </a:solidFill>
                <a:latin typeface="微软雅黑" panose="020B0503020204020204" pitchFamily="34" charset="-122"/>
                <a:ea typeface="微软雅黑" panose="020B0503020204020204" pitchFamily="34" charset="-122"/>
              </a:rPr>
              <a:t>例 </a:t>
            </a:r>
            <a:r>
              <a:rPr lang="en-US" altLang="zh-CN" sz="2400" b="1" dirty="0">
                <a:solidFill>
                  <a:srgbClr val="FF0000"/>
                </a:solidFill>
                <a:latin typeface="微软雅黑" panose="020B0503020204020204" pitchFamily="34" charset="-122"/>
                <a:ea typeface="微软雅黑" panose="020B0503020204020204" pitchFamily="34" charset="-122"/>
              </a:rPr>
              <a:t>1.2.1 </a:t>
            </a:r>
            <a:r>
              <a:rPr lang="zh-CN" altLang="en-US" sz="2400" b="1" dirty="0">
                <a:latin typeface="微软雅黑" panose="020B0503020204020204" pitchFamily="34" charset="-122"/>
                <a:ea typeface="微软雅黑" panose="020B0503020204020204" pitchFamily="34" charset="-122"/>
              </a:rPr>
              <a:t>某厂在计划期内要安排生产</a:t>
            </a:r>
            <a:r>
              <a:rPr lang="en-US" altLang="zh-CN" sz="2400" b="1" dirty="0">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II</a:t>
            </a:r>
            <a:r>
              <a:rPr lang="zh-CN" altLang="en-US" sz="2400" b="1" dirty="0">
                <a:latin typeface="微软雅黑" panose="020B0503020204020204" pitchFamily="34" charset="-122"/>
                <a:ea typeface="微软雅黑" panose="020B0503020204020204" pitchFamily="34" charset="-122"/>
              </a:rPr>
              <a:t>两种产品，需要用到劳动力、设备以及</a:t>
            </a:r>
            <a:r>
              <a:rPr lang="en-US" altLang="zh-CN" sz="2400" b="1" dirty="0">
                <a:latin typeface="微软雅黑" panose="020B0503020204020204" pitchFamily="34" charset="-122"/>
                <a:ea typeface="微软雅黑" panose="020B0503020204020204" pitchFamily="34" charset="-122"/>
              </a:rPr>
              <a:t>A</a:t>
            </a:r>
            <a:r>
              <a:rPr lang="zh-CN" altLang="en-US" sz="2400" b="1" dirty="0">
                <a:latin typeface="微软雅黑" panose="020B0503020204020204" pitchFamily="34" charset="-122"/>
                <a:ea typeface="微软雅黑" panose="020B0503020204020204" pitchFamily="34" charset="-122"/>
              </a:rPr>
              <a:t>和</a:t>
            </a:r>
            <a:r>
              <a:rPr lang="en-US" altLang="zh-CN" sz="2400" b="1" dirty="0">
                <a:latin typeface="微软雅黑" panose="020B0503020204020204" pitchFamily="34" charset="-122"/>
                <a:ea typeface="微软雅黑" panose="020B0503020204020204" pitchFamily="34" charset="-122"/>
              </a:rPr>
              <a:t>B</a:t>
            </a:r>
            <a:r>
              <a:rPr lang="zh-CN" altLang="en-US" sz="2400" b="1" dirty="0">
                <a:latin typeface="微软雅黑" panose="020B0503020204020204" pitchFamily="34" charset="-122"/>
                <a:ea typeface="微软雅黑" panose="020B0503020204020204" pitchFamily="34" charset="-122"/>
              </a:rPr>
              <a:t>两种原材料。已知生产单位产品的利润与所需各种资源的消耗量如下表所示。</a:t>
            </a:r>
            <a:endParaRPr lang="en-US" altLang="zh-CN" sz="2400" b="1" dirty="0">
              <a:latin typeface="微软雅黑" panose="020B0503020204020204" pitchFamily="34" charset="-122"/>
              <a:ea typeface="微软雅黑" panose="020B0503020204020204" pitchFamily="34" charset="-122"/>
            </a:endParaRPr>
          </a:p>
          <a:p>
            <a:pPr eaLnBrk="1" hangingPunct="1">
              <a:lnSpc>
                <a:spcPct val="150000"/>
              </a:lnSpc>
              <a:spcBef>
                <a:spcPct val="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请问：</a:t>
            </a:r>
            <a:r>
              <a:rPr lang="zh-CN" altLang="en-US" sz="2400" b="1" dirty="0">
                <a:solidFill>
                  <a:srgbClr val="0000FF"/>
                </a:solidFill>
                <a:latin typeface="微软雅黑" panose="020B0503020204020204" pitchFamily="34" charset="-122"/>
                <a:ea typeface="微软雅黑" panose="020B0503020204020204" pitchFamily="34" charset="-122"/>
              </a:rPr>
              <a:t>应如何安排生产能使该厂获利最大？</a:t>
            </a:r>
            <a:endParaRPr lang="en-US" altLang="zh-CN" sz="2400" b="1" dirty="0">
              <a:solidFill>
                <a:srgbClr val="0000FF"/>
              </a:solidFill>
              <a:latin typeface="微软雅黑" panose="020B0503020204020204" pitchFamily="34" charset="-122"/>
              <a:ea typeface="微软雅黑" panose="020B0503020204020204" pitchFamily="34" charset="-122"/>
            </a:endParaRPr>
          </a:p>
          <a:p>
            <a:pPr eaLnBrk="1" hangingPunct="1">
              <a:spcBef>
                <a:spcPct val="0"/>
              </a:spcBef>
              <a:buFont typeface="Arial" panose="020B0604020202020204" pitchFamily="34" charset="0"/>
              <a:buChar char="•"/>
            </a:pPr>
            <a:endParaRPr lang="zh-CN" altLang="en-US" sz="2400" dirty="0">
              <a:latin typeface="微软雅黑" panose="020B0503020204020204" pitchFamily="34" charset="-122"/>
            </a:endParaRPr>
          </a:p>
        </p:txBody>
      </p:sp>
      <p:graphicFrame>
        <p:nvGraphicFramePr>
          <p:cNvPr id="2" name="表格 1">
            <a:extLst>
              <a:ext uri="{FF2B5EF4-FFF2-40B4-BE49-F238E27FC236}">
                <a16:creationId xmlns:a16="http://schemas.microsoft.com/office/drawing/2014/main" id="{3B9796CE-9120-4AEE-8568-AC46D3F66CE9}"/>
              </a:ext>
            </a:extLst>
          </p:cNvPr>
          <p:cNvGraphicFramePr>
            <a:graphicFrameLocks noGrp="1"/>
          </p:cNvGraphicFramePr>
          <p:nvPr/>
        </p:nvGraphicFramePr>
        <p:xfrm>
          <a:off x="250825" y="2781300"/>
          <a:ext cx="8713788" cy="2663826"/>
        </p:xfrm>
        <a:graphic>
          <a:graphicData uri="http://schemas.openxmlformats.org/drawingml/2006/table">
            <a:tbl>
              <a:tblPr/>
              <a:tblGrid>
                <a:gridCol w="2178447">
                  <a:extLst>
                    <a:ext uri="{9D8B030D-6E8A-4147-A177-3AD203B41FA5}">
                      <a16:colId xmlns:a16="http://schemas.microsoft.com/office/drawing/2014/main" val="20000"/>
                    </a:ext>
                  </a:extLst>
                </a:gridCol>
                <a:gridCol w="2178447">
                  <a:extLst>
                    <a:ext uri="{9D8B030D-6E8A-4147-A177-3AD203B41FA5}">
                      <a16:colId xmlns:a16="http://schemas.microsoft.com/office/drawing/2014/main" val="20001"/>
                    </a:ext>
                  </a:extLst>
                </a:gridCol>
                <a:gridCol w="2178447">
                  <a:extLst>
                    <a:ext uri="{9D8B030D-6E8A-4147-A177-3AD203B41FA5}">
                      <a16:colId xmlns:a16="http://schemas.microsoft.com/office/drawing/2014/main" val="20002"/>
                    </a:ext>
                  </a:extLst>
                </a:gridCol>
                <a:gridCol w="2178447">
                  <a:extLst>
                    <a:ext uri="{9D8B030D-6E8A-4147-A177-3AD203B41FA5}">
                      <a16:colId xmlns:a16="http://schemas.microsoft.com/office/drawing/2014/main" val="20003"/>
                    </a:ext>
                  </a:extLst>
                </a:gridCol>
              </a:tblGrid>
              <a:tr h="443971">
                <a:tc>
                  <a:txBody>
                    <a:bodyPr/>
                    <a:lstStyle/>
                    <a:p>
                      <a:endParaRPr lang="zh-CN" sz="900" b="1"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产品</a:t>
                      </a:r>
                      <a:r>
                        <a:rPr lang="en-US" sz="2000" b="1" kern="100" dirty="0">
                          <a:effectLst/>
                          <a:latin typeface="Times New Roman" panose="02020603050405020304" pitchFamily="18" charset="0"/>
                          <a:ea typeface="微软雅黑" panose="020B0503020204020204" pitchFamily="34" charset="-122"/>
                        </a:rPr>
                        <a:t>I</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产品</a:t>
                      </a:r>
                      <a:r>
                        <a:rPr lang="en-US" sz="2000" b="1" kern="100" dirty="0">
                          <a:effectLst/>
                          <a:latin typeface="Times New Roman" panose="02020603050405020304" pitchFamily="18" charset="0"/>
                          <a:ea typeface="微软雅黑" panose="020B0503020204020204" pitchFamily="34" charset="-122"/>
                        </a:rPr>
                        <a:t>II</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资源限额</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劳动力</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8</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360</a:t>
                      </a:r>
                      <a:r>
                        <a:rPr lang="zh-CN" sz="2000" b="1" kern="100" dirty="0">
                          <a:effectLst/>
                          <a:latin typeface="Times New Roman" panose="02020603050405020304" pitchFamily="18" charset="0"/>
                          <a:ea typeface="微软雅黑" panose="020B0503020204020204" pitchFamily="34" charset="-122"/>
                        </a:rPr>
                        <a:t>工时</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设备</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5</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200</a:t>
                      </a:r>
                      <a:r>
                        <a:rPr lang="zh-CN" sz="2000" b="1" kern="100" dirty="0">
                          <a:effectLst/>
                          <a:latin typeface="Times New Roman" panose="02020603050405020304" pitchFamily="18" charset="0"/>
                          <a:ea typeface="微软雅黑" panose="020B0503020204020204" pitchFamily="34" charset="-122"/>
                        </a:rPr>
                        <a:t>台时</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原材料</a:t>
                      </a:r>
                      <a:r>
                        <a:rPr lang="en-US" sz="2000" b="1" kern="100" dirty="0">
                          <a:effectLst/>
                          <a:latin typeface="Times New Roman" panose="02020603050405020304" pitchFamily="18" charset="0"/>
                          <a:ea typeface="微软雅黑" panose="020B0503020204020204" pitchFamily="34" charset="-122"/>
                        </a:rPr>
                        <a:t>A</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3</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10</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250</a:t>
                      </a:r>
                      <a:r>
                        <a:rPr lang="zh-CN" sz="2000" b="1" kern="100" dirty="0">
                          <a:effectLst/>
                          <a:latin typeface="Times New Roman" panose="02020603050405020304" pitchFamily="18" charset="0"/>
                          <a:ea typeface="微软雅黑" panose="020B0503020204020204" pitchFamily="34" charset="-122"/>
                        </a:rPr>
                        <a:t>公斤</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原材料</a:t>
                      </a:r>
                      <a:r>
                        <a:rPr lang="en-US" sz="2000" b="1" kern="100" dirty="0">
                          <a:effectLst/>
                          <a:latin typeface="Times New Roman" panose="02020603050405020304" pitchFamily="18" charset="0"/>
                          <a:ea typeface="微软雅黑" panose="020B0503020204020204" pitchFamily="34" charset="-122"/>
                        </a:rPr>
                        <a:t>B</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6</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200</a:t>
                      </a:r>
                      <a:r>
                        <a:rPr lang="zh-CN" sz="2000" b="1" kern="100" dirty="0">
                          <a:effectLst/>
                          <a:latin typeface="Times New Roman" panose="02020603050405020304" pitchFamily="18" charset="0"/>
                          <a:ea typeface="微软雅黑" panose="020B0503020204020204" pitchFamily="34" charset="-122"/>
                        </a:rPr>
                        <a:t>公斤</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3971">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单位利润（元）</a:t>
                      </a: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80</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100</a:t>
                      </a:r>
                      <a:endParaRPr lang="zh-CN" sz="2000" b="1" kern="100"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sz="2000" b="1" dirty="0">
                        <a:effectLst/>
                        <a:latin typeface="Times New Roman" panose="02020603050405020304" pitchFamily="18" charset="0"/>
                        <a:ea typeface="微软雅黑" panose="020B0503020204020204" pitchFamily="34" charset="-122"/>
                      </a:endParaRPr>
                    </a:p>
                  </a:txBody>
                  <a:tcPr marL="77786" marR="77786" marT="38864" marB="3886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160" name="灯片编号占位符 5">
            <a:extLst>
              <a:ext uri="{FF2B5EF4-FFF2-40B4-BE49-F238E27FC236}">
                <a16:creationId xmlns:a16="http://schemas.microsoft.com/office/drawing/2014/main" id="{4279E84D-9AF5-46AB-A75B-CCC71B3ECFF9}"/>
              </a:ext>
            </a:extLst>
          </p:cNvPr>
          <p:cNvSpPr txBox="1">
            <a:spLocks/>
          </p:cNvSpPr>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A627FD9A-DBB0-49C0-AEED-E81F953D06AD}" type="slidenum">
              <a:rPr kumimoji="0" lang="en-US" altLang="zh-CN" sz="1000">
                <a:latin typeface="Arial" panose="020B0604020202020204" pitchFamily="34" charset="0"/>
                <a:ea typeface="微软雅黑" panose="020B0503020204020204" pitchFamily="34" charset="-122"/>
              </a:rPr>
              <a:pPr/>
              <a:t>13</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3" name="Object 9">
            <a:extLst>
              <a:ext uri="{FF2B5EF4-FFF2-40B4-BE49-F238E27FC236}">
                <a16:creationId xmlns:a16="http://schemas.microsoft.com/office/drawing/2014/main" id="{A3077720-1C09-463A-B65E-69C3DD996A52}"/>
              </a:ext>
            </a:extLst>
          </p:cNvPr>
          <p:cNvGraphicFramePr>
            <a:graphicFrameLocks noChangeAspect="1"/>
          </p:cNvGraphicFramePr>
          <p:nvPr/>
        </p:nvGraphicFramePr>
        <p:xfrm>
          <a:off x="3419475" y="3333750"/>
          <a:ext cx="2387600" cy="2039938"/>
        </p:xfrm>
        <a:graphic>
          <a:graphicData uri="http://schemas.openxmlformats.org/presentationml/2006/ole">
            <mc:AlternateContent xmlns:mc="http://schemas.openxmlformats.org/markup-compatibility/2006">
              <mc:Choice xmlns:v="urn:schemas-microsoft-com:vml" Requires="v">
                <p:oleObj name="Equation" r:id="rId2" imgW="1016000" imgH="914400" progId="Equation.DSMT4">
                  <p:embed/>
                </p:oleObj>
              </mc:Choice>
              <mc:Fallback>
                <p:oleObj name="Equation" r:id="rId2" imgW="1016000" imgH="914400" progId="Equation.DSMT4">
                  <p:embed/>
                  <p:pic>
                    <p:nvPicPr>
                      <p:cNvPr id="7173" name="Object 9">
                        <a:extLst>
                          <a:ext uri="{FF2B5EF4-FFF2-40B4-BE49-F238E27FC236}">
                            <a16:creationId xmlns:a16="http://schemas.microsoft.com/office/drawing/2014/main" id="{A3077720-1C09-463A-B65E-69C3DD99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3333750"/>
                        <a:ext cx="2387600" cy="203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10">
            <a:extLst>
              <a:ext uri="{FF2B5EF4-FFF2-40B4-BE49-F238E27FC236}">
                <a16:creationId xmlns:a16="http://schemas.microsoft.com/office/drawing/2014/main" id="{D72B9F35-5647-49D4-9810-6D9CDD73101B}"/>
              </a:ext>
            </a:extLst>
          </p:cNvPr>
          <p:cNvGraphicFramePr>
            <a:graphicFrameLocks noChangeAspect="1"/>
          </p:cNvGraphicFramePr>
          <p:nvPr/>
        </p:nvGraphicFramePr>
        <p:xfrm>
          <a:off x="3779838" y="5827713"/>
          <a:ext cx="1423987" cy="546100"/>
        </p:xfrm>
        <a:graphic>
          <a:graphicData uri="http://schemas.openxmlformats.org/presentationml/2006/ole">
            <mc:AlternateContent xmlns:mc="http://schemas.openxmlformats.org/markup-compatibility/2006">
              <mc:Choice xmlns:v="urn:schemas-microsoft-com:vml" Requires="v">
                <p:oleObj name="Equation" r:id="rId4" imgW="583947" imgH="228501" progId="Equation.DSMT4">
                  <p:embed/>
                </p:oleObj>
              </mc:Choice>
              <mc:Fallback>
                <p:oleObj name="Equation" r:id="rId4" imgW="583947" imgH="228501" progId="Equation.DSMT4">
                  <p:embed/>
                  <p:pic>
                    <p:nvPicPr>
                      <p:cNvPr id="7174" name="Object 10">
                        <a:extLst>
                          <a:ext uri="{FF2B5EF4-FFF2-40B4-BE49-F238E27FC236}">
                            <a16:creationId xmlns:a16="http://schemas.microsoft.com/office/drawing/2014/main" id="{D72B9F35-5647-49D4-9810-6D9CDD7310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838" y="5827713"/>
                        <a:ext cx="1423987"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148" name="组合 5">
            <a:extLst>
              <a:ext uri="{FF2B5EF4-FFF2-40B4-BE49-F238E27FC236}">
                <a16:creationId xmlns:a16="http://schemas.microsoft.com/office/drawing/2014/main" id="{8245E3C8-EAB5-4F19-B024-1C38418082CE}"/>
              </a:ext>
            </a:extLst>
          </p:cNvPr>
          <p:cNvGrpSpPr>
            <a:grpSpLocks/>
          </p:cNvGrpSpPr>
          <p:nvPr/>
        </p:nvGrpSpPr>
        <p:grpSpPr bwMode="auto">
          <a:xfrm>
            <a:off x="195263" y="2257425"/>
            <a:ext cx="9178925" cy="544513"/>
            <a:chOff x="-1006508" y="2206481"/>
            <a:chExt cx="9179698" cy="543859"/>
          </a:xfrm>
        </p:grpSpPr>
        <p:graphicFrame>
          <p:nvGraphicFramePr>
            <p:cNvPr id="6192" name="Object 8">
              <a:extLst>
                <a:ext uri="{FF2B5EF4-FFF2-40B4-BE49-F238E27FC236}">
                  <a16:creationId xmlns:a16="http://schemas.microsoft.com/office/drawing/2014/main" id="{F98705E9-3FDE-43CB-B992-32AF807708A0}"/>
                </a:ext>
              </a:extLst>
            </p:cNvPr>
            <p:cNvGraphicFramePr>
              <a:graphicFrameLocks noChangeAspect="1"/>
            </p:cNvGraphicFramePr>
            <p:nvPr/>
          </p:nvGraphicFramePr>
          <p:xfrm>
            <a:off x="-729053" y="2206481"/>
            <a:ext cx="980573" cy="543859"/>
          </p:xfrm>
          <a:graphic>
            <a:graphicData uri="http://schemas.openxmlformats.org/presentationml/2006/ole">
              <mc:AlternateContent xmlns:mc="http://schemas.openxmlformats.org/markup-compatibility/2006">
                <mc:Choice xmlns:v="urn:schemas-microsoft-com:vml" Requires="v">
                  <p:oleObj name="Equation" r:id="rId6" imgW="381000" imgH="228600" progId="Equation.DSMT4">
                    <p:embed/>
                  </p:oleObj>
                </mc:Choice>
                <mc:Fallback>
                  <p:oleObj name="Equation" r:id="rId6" imgW="381000" imgH="228600" progId="Equation.DSMT4">
                    <p:embed/>
                    <p:pic>
                      <p:nvPicPr>
                        <p:cNvPr id="6192" name="Object 8">
                          <a:extLst>
                            <a:ext uri="{FF2B5EF4-FFF2-40B4-BE49-F238E27FC236}">
                              <a16:creationId xmlns:a16="http://schemas.microsoft.com/office/drawing/2014/main" id="{F98705E9-3FDE-43CB-B992-32AF807708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9053" y="2206481"/>
                          <a:ext cx="980573" cy="54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93" name="Rectangle 12">
              <a:extLst>
                <a:ext uri="{FF2B5EF4-FFF2-40B4-BE49-F238E27FC236}">
                  <a16:creationId xmlns:a16="http://schemas.microsoft.com/office/drawing/2014/main" id="{C0066FDF-440B-49F7-91C8-DEAF31272D81}"/>
                </a:ext>
              </a:extLst>
            </p:cNvPr>
            <p:cNvSpPr>
              <a:spLocks noChangeArrowheads="1"/>
            </p:cNvSpPr>
            <p:nvPr/>
          </p:nvSpPr>
          <p:spPr bwMode="auto">
            <a:xfrm>
              <a:off x="-1006508" y="2266156"/>
              <a:ext cx="9179698" cy="46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dirty="0">
                  <a:solidFill>
                    <a:srgbClr val="0000FF"/>
                  </a:solidFill>
                  <a:latin typeface="微软雅黑" panose="020B0503020204020204" pitchFamily="34" charset="-122"/>
                  <a:ea typeface="微软雅黑" panose="020B0503020204020204" pitchFamily="34" charset="-122"/>
                </a:rPr>
                <a:t>设         分别表示计划生产</a:t>
              </a:r>
              <a:r>
                <a:rPr lang="en-US" altLang="zh-CN" b="1" dirty="0">
                  <a:solidFill>
                    <a:srgbClr val="0000FF"/>
                  </a:solidFill>
                  <a:latin typeface="微软雅黑" panose="020B0503020204020204" pitchFamily="34" charset="-122"/>
                  <a:ea typeface="微软雅黑" panose="020B0503020204020204" pitchFamily="34" charset="-122"/>
                </a:rPr>
                <a:t>I</a:t>
              </a:r>
              <a:r>
                <a:rPr lang="zh-CN" altLang="en-US" b="1" dirty="0">
                  <a:solidFill>
                    <a:srgbClr val="0000FF"/>
                  </a:solidFill>
                  <a:latin typeface="微软雅黑" panose="020B0503020204020204" pitchFamily="34" charset="-122"/>
                  <a:ea typeface="微软雅黑" panose="020B0503020204020204" pitchFamily="34" charset="-122"/>
                </a:rPr>
                <a:t>，</a:t>
              </a:r>
              <a:r>
                <a:rPr lang="en-US" altLang="zh-CN" b="1" dirty="0">
                  <a:solidFill>
                    <a:srgbClr val="0000FF"/>
                  </a:solidFill>
                  <a:latin typeface="微软雅黑" panose="020B0503020204020204" pitchFamily="34" charset="-122"/>
                  <a:ea typeface="微软雅黑" panose="020B0503020204020204" pitchFamily="34" charset="-122"/>
                </a:rPr>
                <a:t>II</a:t>
              </a:r>
              <a:r>
                <a:rPr lang="zh-CN" altLang="en-US" b="1" dirty="0">
                  <a:solidFill>
                    <a:srgbClr val="0000FF"/>
                  </a:solidFill>
                  <a:latin typeface="微软雅黑" panose="020B0503020204020204" pitchFamily="34" charset="-122"/>
                  <a:ea typeface="微软雅黑" panose="020B0503020204020204" pitchFamily="34" charset="-122"/>
                </a:rPr>
                <a:t>产品的数量，称它们为决策变量</a:t>
              </a:r>
            </a:p>
          </p:txBody>
        </p:sp>
      </p:grpSp>
      <p:sp>
        <p:nvSpPr>
          <p:cNvPr id="12" name="Rectangle 12">
            <a:extLst>
              <a:ext uri="{FF2B5EF4-FFF2-40B4-BE49-F238E27FC236}">
                <a16:creationId xmlns:a16="http://schemas.microsoft.com/office/drawing/2014/main" id="{61D5201B-121D-4DB4-B458-66910A8571B3}"/>
              </a:ext>
            </a:extLst>
          </p:cNvPr>
          <p:cNvSpPr>
            <a:spLocks noChangeArrowheads="1"/>
          </p:cNvSpPr>
          <p:nvPr/>
        </p:nvSpPr>
        <p:spPr bwMode="auto">
          <a:xfrm>
            <a:off x="228600" y="5362575"/>
            <a:ext cx="3876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生产的产品不能是负值，即</a:t>
            </a:r>
          </a:p>
        </p:txBody>
      </p:sp>
      <p:sp>
        <p:nvSpPr>
          <p:cNvPr id="13" name="Rectangle 12">
            <a:extLst>
              <a:ext uri="{FF2B5EF4-FFF2-40B4-BE49-F238E27FC236}">
                <a16:creationId xmlns:a16="http://schemas.microsoft.com/office/drawing/2014/main" id="{31E76FE5-0CD3-4E73-B394-A4C7B534F98A}"/>
              </a:ext>
            </a:extLst>
          </p:cNvPr>
          <p:cNvSpPr>
            <a:spLocks noChangeArrowheads="1"/>
          </p:cNvSpPr>
          <p:nvPr/>
        </p:nvSpPr>
        <p:spPr bwMode="auto">
          <a:xfrm>
            <a:off x="250825" y="6346825"/>
            <a:ext cx="541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如何安排生产，使利润最大，这是目标</a:t>
            </a:r>
          </a:p>
        </p:txBody>
      </p:sp>
      <p:grpSp>
        <p:nvGrpSpPr>
          <p:cNvPr id="5" name="组合 4">
            <a:extLst>
              <a:ext uri="{FF2B5EF4-FFF2-40B4-BE49-F238E27FC236}">
                <a16:creationId xmlns:a16="http://schemas.microsoft.com/office/drawing/2014/main" id="{57BE865F-5FBC-4CF0-BAF7-AB8401570A6A}"/>
              </a:ext>
            </a:extLst>
          </p:cNvPr>
          <p:cNvGrpSpPr>
            <a:grpSpLocks/>
          </p:cNvGrpSpPr>
          <p:nvPr/>
        </p:nvGrpSpPr>
        <p:grpSpPr bwMode="auto">
          <a:xfrm>
            <a:off x="195263" y="2792413"/>
            <a:ext cx="8267700" cy="547687"/>
            <a:chOff x="-36233" y="1525916"/>
            <a:chExt cx="8268691" cy="547098"/>
          </a:xfrm>
        </p:grpSpPr>
        <p:sp>
          <p:nvSpPr>
            <p:cNvPr id="6190" name="Rectangle 12">
              <a:extLst>
                <a:ext uri="{FF2B5EF4-FFF2-40B4-BE49-F238E27FC236}">
                  <a16:creationId xmlns:a16="http://schemas.microsoft.com/office/drawing/2014/main" id="{92671535-A791-468B-B1F5-1CE1D2D80A43}"/>
                </a:ext>
              </a:extLst>
            </p:cNvPr>
            <p:cNvSpPr>
              <a:spLocks noChangeArrowheads="1"/>
            </p:cNvSpPr>
            <p:nvPr/>
          </p:nvSpPr>
          <p:spPr bwMode="auto">
            <a:xfrm>
              <a:off x="-36233" y="1583839"/>
              <a:ext cx="8268691" cy="461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生产           的数量，受资源拥有量限制，这是约束条件，即</a:t>
              </a:r>
            </a:p>
          </p:txBody>
        </p:sp>
        <p:graphicFrame>
          <p:nvGraphicFramePr>
            <p:cNvPr id="6191" name="Object 10">
              <a:extLst>
                <a:ext uri="{FF2B5EF4-FFF2-40B4-BE49-F238E27FC236}">
                  <a16:creationId xmlns:a16="http://schemas.microsoft.com/office/drawing/2014/main" id="{DA0D5599-C221-4DF4-B60A-C02E017F9560}"/>
                </a:ext>
              </a:extLst>
            </p:cNvPr>
            <p:cNvGraphicFramePr>
              <a:graphicFrameLocks noChangeAspect="1"/>
            </p:cNvGraphicFramePr>
            <p:nvPr/>
          </p:nvGraphicFramePr>
          <p:xfrm>
            <a:off x="734079" y="1525916"/>
            <a:ext cx="936104" cy="547098"/>
          </p:xfrm>
          <a:graphic>
            <a:graphicData uri="http://schemas.openxmlformats.org/presentationml/2006/ole">
              <mc:AlternateContent xmlns:mc="http://schemas.openxmlformats.org/markup-compatibility/2006">
                <mc:Choice xmlns:v="urn:schemas-microsoft-com:vml" Requires="v">
                  <p:oleObj name="Equation" r:id="rId8" imgW="342751" imgH="228501" progId="Equation.DSMT4">
                    <p:embed/>
                  </p:oleObj>
                </mc:Choice>
                <mc:Fallback>
                  <p:oleObj name="Equation" r:id="rId8" imgW="342751" imgH="228501" progId="Equation.DSMT4">
                    <p:embed/>
                    <p:pic>
                      <p:nvPicPr>
                        <p:cNvPr id="6191" name="Object 10">
                          <a:extLst>
                            <a:ext uri="{FF2B5EF4-FFF2-40B4-BE49-F238E27FC236}">
                              <a16:creationId xmlns:a16="http://schemas.microsoft.com/office/drawing/2014/main" id="{DA0D5599-C221-4DF4-B60A-C02E017F956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4079" y="1525916"/>
                          <a:ext cx="936104" cy="5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 name="表格 16">
            <a:extLst>
              <a:ext uri="{FF2B5EF4-FFF2-40B4-BE49-F238E27FC236}">
                <a16:creationId xmlns:a16="http://schemas.microsoft.com/office/drawing/2014/main" id="{81B29A48-EFB9-4CF6-B59E-FF4988691570}"/>
              </a:ext>
            </a:extLst>
          </p:cNvPr>
          <p:cNvGraphicFramePr>
            <a:graphicFrameLocks noGrp="1"/>
          </p:cNvGraphicFramePr>
          <p:nvPr/>
        </p:nvGraphicFramePr>
        <p:xfrm>
          <a:off x="250825" y="44450"/>
          <a:ext cx="8713788" cy="2178051"/>
        </p:xfrm>
        <a:graphic>
          <a:graphicData uri="http://schemas.openxmlformats.org/drawingml/2006/table">
            <a:tbl>
              <a:tblPr/>
              <a:tblGrid>
                <a:gridCol w="2178447">
                  <a:extLst>
                    <a:ext uri="{9D8B030D-6E8A-4147-A177-3AD203B41FA5}">
                      <a16:colId xmlns:a16="http://schemas.microsoft.com/office/drawing/2014/main" val="20000"/>
                    </a:ext>
                  </a:extLst>
                </a:gridCol>
                <a:gridCol w="2178447">
                  <a:extLst>
                    <a:ext uri="{9D8B030D-6E8A-4147-A177-3AD203B41FA5}">
                      <a16:colId xmlns:a16="http://schemas.microsoft.com/office/drawing/2014/main" val="20001"/>
                    </a:ext>
                  </a:extLst>
                </a:gridCol>
                <a:gridCol w="2178447">
                  <a:extLst>
                    <a:ext uri="{9D8B030D-6E8A-4147-A177-3AD203B41FA5}">
                      <a16:colId xmlns:a16="http://schemas.microsoft.com/office/drawing/2014/main" val="20002"/>
                    </a:ext>
                  </a:extLst>
                </a:gridCol>
                <a:gridCol w="2178447">
                  <a:extLst>
                    <a:ext uri="{9D8B030D-6E8A-4147-A177-3AD203B41FA5}">
                      <a16:colId xmlns:a16="http://schemas.microsoft.com/office/drawing/2014/main" val="20003"/>
                    </a:ext>
                  </a:extLst>
                </a:gridCol>
              </a:tblGrid>
              <a:tr h="359103">
                <a:tc>
                  <a:txBody>
                    <a:bodyPr/>
                    <a:lstStyle/>
                    <a:p>
                      <a:endParaRPr lang="zh-CN" sz="900" b="1"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产品</a:t>
                      </a:r>
                      <a:r>
                        <a:rPr lang="en-US" sz="2000" b="1" kern="100" dirty="0">
                          <a:effectLst/>
                          <a:latin typeface="Times New Roman" panose="02020603050405020304" pitchFamily="18" charset="0"/>
                          <a:ea typeface="微软雅黑" panose="020B0503020204020204" pitchFamily="34" charset="-122"/>
                        </a:rPr>
                        <a:t>I</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产品</a:t>
                      </a:r>
                      <a:r>
                        <a:rPr lang="en-US" sz="2000" b="1" kern="100" dirty="0">
                          <a:effectLst/>
                          <a:latin typeface="Times New Roman" panose="02020603050405020304" pitchFamily="18" charset="0"/>
                          <a:ea typeface="微软雅黑" panose="020B0503020204020204" pitchFamily="34" charset="-122"/>
                        </a:rPr>
                        <a:t>II</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zh-CN" sz="2000" b="1" kern="100" dirty="0">
                          <a:effectLst/>
                          <a:latin typeface="Times New Roman" panose="02020603050405020304" pitchFamily="18" charset="0"/>
                          <a:ea typeface="微软雅黑" panose="020B0503020204020204" pitchFamily="34" charset="-122"/>
                        </a:rPr>
                        <a:t>资源限额</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9103">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劳动力</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8</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360</a:t>
                      </a:r>
                      <a:r>
                        <a:rPr lang="zh-CN" sz="2000" b="1" kern="100" dirty="0">
                          <a:effectLst/>
                          <a:latin typeface="Times New Roman" panose="02020603050405020304" pitchFamily="18" charset="0"/>
                          <a:ea typeface="微软雅黑" panose="020B0503020204020204" pitchFamily="34" charset="-122"/>
                        </a:rPr>
                        <a:t>工时</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59103">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设备</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5</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200</a:t>
                      </a:r>
                      <a:r>
                        <a:rPr lang="zh-CN" sz="2000" b="1" kern="100" dirty="0">
                          <a:effectLst/>
                          <a:latin typeface="Times New Roman" panose="02020603050405020304" pitchFamily="18" charset="0"/>
                          <a:ea typeface="微软雅黑" panose="020B0503020204020204" pitchFamily="34" charset="-122"/>
                        </a:rPr>
                        <a:t>台时</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9103">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原材料</a:t>
                      </a:r>
                      <a:r>
                        <a:rPr lang="en-US" sz="2000" b="1" kern="100" dirty="0">
                          <a:effectLst/>
                          <a:latin typeface="Times New Roman" panose="02020603050405020304" pitchFamily="18" charset="0"/>
                          <a:ea typeface="微软雅黑" panose="020B0503020204020204" pitchFamily="34" charset="-122"/>
                        </a:rPr>
                        <a:t>A</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3</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10</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250</a:t>
                      </a:r>
                      <a:r>
                        <a:rPr lang="zh-CN" sz="2000" b="1" kern="100" dirty="0">
                          <a:effectLst/>
                          <a:latin typeface="Times New Roman" panose="02020603050405020304" pitchFamily="18" charset="0"/>
                          <a:ea typeface="微软雅黑" panose="020B0503020204020204" pitchFamily="34" charset="-122"/>
                        </a:rPr>
                        <a:t>公斤</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9103">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原材料</a:t>
                      </a:r>
                      <a:r>
                        <a:rPr lang="en-US" sz="2000" b="1" kern="100" dirty="0">
                          <a:effectLst/>
                          <a:latin typeface="Times New Roman" panose="02020603050405020304" pitchFamily="18" charset="0"/>
                          <a:ea typeface="微软雅黑" panose="020B0503020204020204" pitchFamily="34" charset="-122"/>
                        </a:rPr>
                        <a:t>B</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4</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6</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200</a:t>
                      </a:r>
                      <a:r>
                        <a:rPr lang="zh-CN" sz="2000" b="1" kern="100" dirty="0">
                          <a:effectLst/>
                          <a:latin typeface="Times New Roman" panose="02020603050405020304" pitchFamily="18" charset="0"/>
                          <a:ea typeface="微软雅黑" panose="020B0503020204020204" pitchFamily="34" charset="-122"/>
                        </a:rPr>
                        <a:t>公斤</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2536">
                <a:tc>
                  <a:txBody>
                    <a:bodyPr/>
                    <a:lstStyle/>
                    <a:p>
                      <a:pPr indent="127000" algn="just">
                        <a:lnSpc>
                          <a:spcPts val="1600"/>
                        </a:lnSpc>
                      </a:pPr>
                      <a:r>
                        <a:rPr lang="zh-CN" sz="2000" b="1" kern="100" dirty="0">
                          <a:effectLst/>
                          <a:latin typeface="Times New Roman" panose="02020603050405020304" pitchFamily="18" charset="0"/>
                          <a:ea typeface="微软雅黑" panose="020B0503020204020204" pitchFamily="34" charset="-122"/>
                        </a:rPr>
                        <a:t>单位利润（元）</a:t>
                      </a: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80</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600"/>
                        </a:lnSpc>
                      </a:pPr>
                      <a:r>
                        <a:rPr lang="en-US" sz="2000" b="1" kern="100" dirty="0">
                          <a:effectLst/>
                          <a:latin typeface="Times New Roman" panose="02020603050405020304" pitchFamily="18" charset="0"/>
                          <a:ea typeface="微软雅黑" panose="020B0503020204020204" pitchFamily="34" charset="-122"/>
                        </a:rPr>
                        <a:t>100</a:t>
                      </a:r>
                      <a:endParaRPr lang="zh-CN" sz="2000" b="1" kern="100"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sz="2000" b="1" dirty="0">
                        <a:effectLst/>
                        <a:latin typeface="Times New Roman" panose="02020603050405020304" pitchFamily="18" charset="0"/>
                        <a:ea typeface="微软雅黑" panose="020B0503020204020204" pitchFamily="34" charset="-122"/>
                      </a:endParaRPr>
                    </a:p>
                  </a:txBody>
                  <a:tcPr marL="77786" marR="77786" marT="38868" marB="3886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189" name="灯片编号占位符 5">
            <a:extLst>
              <a:ext uri="{FF2B5EF4-FFF2-40B4-BE49-F238E27FC236}">
                <a16:creationId xmlns:a16="http://schemas.microsoft.com/office/drawing/2014/main" id="{5CB51282-8C8F-49ED-B1DB-D55275668C36}"/>
              </a:ext>
            </a:extLst>
          </p:cNvPr>
          <p:cNvSpPr txBox="1">
            <a:spLocks/>
          </p:cNvSpPr>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3922FC83-5302-4ED6-92BB-B65963DD6F5A}" type="slidenum">
              <a:rPr kumimoji="0" lang="en-US" altLang="zh-CN" sz="1000">
                <a:latin typeface="Arial" panose="020B0604020202020204" pitchFamily="34" charset="0"/>
                <a:ea typeface="微软雅黑" panose="020B0503020204020204" pitchFamily="34" charset="-122"/>
              </a:rPr>
              <a:pPr/>
              <a:t>14</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9">
            <a:extLst>
              <a:ext uri="{FF2B5EF4-FFF2-40B4-BE49-F238E27FC236}">
                <a16:creationId xmlns:a16="http://schemas.microsoft.com/office/drawing/2014/main" id="{E0DAB2AE-9F52-4892-9ED2-117BB21BAC16}"/>
              </a:ext>
            </a:extLst>
          </p:cNvPr>
          <p:cNvGraphicFramePr>
            <a:graphicFrameLocks noChangeAspect="1"/>
          </p:cNvGraphicFramePr>
          <p:nvPr/>
        </p:nvGraphicFramePr>
        <p:xfrm>
          <a:off x="3419475" y="530225"/>
          <a:ext cx="2387600" cy="2039938"/>
        </p:xfrm>
        <a:graphic>
          <a:graphicData uri="http://schemas.openxmlformats.org/presentationml/2006/ole">
            <mc:AlternateContent xmlns:mc="http://schemas.openxmlformats.org/markup-compatibility/2006">
              <mc:Choice xmlns:v="urn:schemas-microsoft-com:vml" Requires="v">
                <p:oleObj name="Equation" r:id="rId2" imgW="1016000" imgH="914400" progId="Equation.DSMT4">
                  <p:embed/>
                </p:oleObj>
              </mc:Choice>
              <mc:Fallback>
                <p:oleObj name="Equation" r:id="rId2" imgW="1016000" imgH="914400" progId="Equation.DSMT4">
                  <p:embed/>
                  <p:pic>
                    <p:nvPicPr>
                      <p:cNvPr id="7170" name="Object 9">
                        <a:extLst>
                          <a:ext uri="{FF2B5EF4-FFF2-40B4-BE49-F238E27FC236}">
                            <a16:creationId xmlns:a16="http://schemas.microsoft.com/office/drawing/2014/main" id="{E0DAB2AE-9F52-4892-9ED2-117BB21BA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475" y="530225"/>
                        <a:ext cx="2387600" cy="203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10">
            <a:extLst>
              <a:ext uri="{FF2B5EF4-FFF2-40B4-BE49-F238E27FC236}">
                <a16:creationId xmlns:a16="http://schemas.microsoft.com/office/drawing/2014/main" id="{83952A58-A6C3-4579-A6AF-FC7F4366986A}"/>
              </a:ext>
            </a:extLst>
          </p:cNvPr>
          <p:cNvGraphicFramePr>
            <a:graphicFrameLocks noChangeAspect="1"/>
          </p:cNvGraphicFramePr>
          <p:nvPr/>
        </p:nvGraphicFramePr>
        <p:xfrm>
          <a:off x="3708400" y="2970213"/>
          <a:ext cx="1423988" cy="546100"/>
        </p:xfrm>
        <a:graphic>
          <a:graphicData uri="http://schemas.openxmlformats.org/presentationml/2006/ole">
            <mc:AlternateContent xmlns:mc="http://schemas.openxmlformats.org/markup-compatibility/2006">
              <mc:Choice xmlns:v="urn:schemas-microsoft-com:vml" Requires="v">
                <p:oleObj name="Equation" r:id="rId4" imgW="583947" imgH="228501" progId="Equation.DSMT4">
                  <p:embed/>
                </p:oleObj>
              </mc:Choice>
              <mc:Fallback>
                <p:oleObj name="Equation" r:id="rId4" imgW="583947" imgH="228501" progId="Equation.DSMT4">
                  <p:embed/>
                  <p:pic>
                    <p:nvPicPr>
                      <p:cNvPr id="7171" name="Object 10">
                        <a:extLst>
                          <a:ext uri="{FF2B5EF4-FFF2-40B4-BE49-F238E27FC236}">
                            <a16:creationId xmlns:a16="http://schemas.microsoft.com/office/drawing/2014/main" id="{83952A58-A6C3-4579-A6AF-FC7F436698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2970213"/>
                        <a:ext cx="1423988"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2" name="Rectangle 12">
            <a:extLst>
              <a:ext uri="{FF2B5EF4-FFF2-40B4-BE49-F238E27FC236}">
                <a16:creationId xmlns:a16="http://schemas.microsoft.com/office/drawing/2014/main" id="{3C54BFD3-D60A-4825-B3D1-203032E9817E}"/>
              </a:ext>
            </a:extLst>
          </p:cNvPr>
          <p:cNvSpPr>
            <a:spLocks noChangeArrowheads="1"/>
          </p:cNvSpPr>
          <p:nvPr/>
        </p:nvSpPr>
        <p:spPr bwMode="auto">
          <a:xfrm>
            <a:off x="-1588" y="2492375"/>
            <a:ext cx="3878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生产的产品不能是负值，即</a:t>
            </a:r>
          </a:p>
        </p:txBody>
      </p:sp>
      <p:sp>
        <p:nvSpPr>
          <p:cNvPr id="7173" name="Rectangle 12">
            <a:extLst>
              <a:ext uri="{FF2B5EF4-FFF2-40B4-BE49-F238E27FC236}">
                <a16:creationId xmlns:a16="http://schemas.microsoft.com/office/drawing/2014/main" id="{70A64D86-2041-4F97-88BC-EAAA92D0EEEB}"/>
              </a:ext>
            </a:extLst>
          </p:cNvPr>
          <p:cNvSpPr>
            <a:spLocks noChangeArrowheads="1"/>
          </p:cNvSpPr>
          <p:nvPr/>
        </p:nvSpPr>
        <p:spPr bwMode="auto">
          <a:xfrm>
            <a:off x="4763" y="3532188"/>
            <a:ext cx="5416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如何安排生产，使利润最大，这是目标</a:t>
            </a:r>
          </a:p>
        </p:txBody>
      </p:sp>
      <p:grpSp>
        <p:nvGrpSpPr>
          <p:cNvPr id="7174" name="组合 4">
            <a:extLst>
              <a:ext uri="{FF2B5EF4-FFF2-40B4-BE49-F238E27FC236}">
                <a16:creationId xmlns:a16="http://schemas.microsoft.com/office/drawing/2014/main" id="{21E1C3B3-EE8E-4187-80BA-D3592CA04748}"/>
              </a:ext>
            </a:extLst>
          </p:cNvPr>
          <p:cNvGrpSpPr>
            <a:grpSpLocks/>
          </p:cNvGrpSpPr>
          <p:nvPr/>
        </p:nvGrpSpPr>
        <p:grpSpPr bwMode="auto">
          <a:xfrm>
            <a:off x="-1588" y="0"/>
            <a:ext cx="8177213" cy="547688"/>
            <a:chOff x="-36233" y="1525916"/>
            <a:chExt cx="8177319" cy="547098"/>
          </a:xfrm>
        </p:grpSpPr>
        <p:sp>
          <p:nvSpPr>
            <p:cNvPr id="7183" name="Rectangle 12">
              <a:extLst>
                <a:ext uri="{FF2B5EF4-FFF2-40B4-BE49-F238E27FC236}">
                  <a16:creationId xmlns:a16="http://schemas.microsoft.com/office/drawing/2014/main" id="{CD10F12D-BA36-4991-9807-9722651604D6}"/>
                </a:ext>
              </a:extLst>
            </p:cNvPr>
            <p:cNvSpPr>
              <a:spLocks noChangeArrowheads="1"/>
            </p:cNvSpPr>
            <p:nvPr/>
          </p:nvSpPr>
          <p:spPr bwMode="auto">
            <a:xfrm>
              <a:off x="-36233" y="1583839"/>
              <a:ext cx="8177319" cy="461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0000FF"/>
                  </a:solidFill>
                  <a:latin typeface="微软雅黑" panose="020B0503020204020204" pitchFamily="34" charset="-122"/>
                  <a:ea typeface="微软雅黑" panose="020B0503020204020204" pitchFamily="34" charset="-122"/>
                </a:rPr>
                <a:t>生产          的数量，受资源拥有量限制，这是约束条件，即</a:t>
              </a:r>
            </a:p>
          </p:txBody>
        </p:sp>
        <p:graphicFrame>
          <p:nvGraphicFramePr>
            <p:cNvPr id="7184" name="Object 10">
              <a:extLst>
                <a:ext uri="{FF2B5EF4-FFF2-40B4-BE49-F238E27FC236}">
                  <a16:creationId xmlns:a16="http://schemas.microsoft.com/office/drawing/2014/main" id="{E243DD22-2C06-4FD6-8FEA-4128DDB34D0E}"/>
                </a:ext>
              </a:extLst>
            </p:cNvPr>
            <p:cNvGraphicFramePr>
              <a:graphicFrameLocks noChangeAspect="1"/>
            </p:cNvGraphicFramePr>
            <p:nvPr/>
          </p:nvGraphicFramePr>
          <p:xfrm>
            <a:off x="673759" y="1525916"/>
            <a:ext cx="936104" cy="547098"/>
          </p:xfrm>
          <a:graphic>
            <a:graphicData uri="http://schemas.openxmlformats.org/presentationml/2006/ole">
              <mc:AlternateContent xmlns:mc="http://schemas.openxmlformats.org/markup-compatibility/2006">
                <mc:Choice xmlns:v="urn:schemas-microsoft-com:vml" Requires="v">
                  <p:oleObj name="Equation" r:id="rId6" imgW="342751" imgH="228501" progId="Equation.DSMT4">
                    <p:embed/>
                  </p:oleObj>
                </mc:Choice>
                <mc:Fallback>
                  <p:oleObj name="Equation" r:id="rId6" imgW="342751" imgH="228501" progId="Equation.DSMT4">
                    <p:embed/>
                    <p:pic>
                      <p:nvPicPr>
                        <p:cNvPr id="7184" name="Object 10">
                          <a:extLst>
                            <a:ext uri="{FF2B5EF4-FFF2-40B4-BE49-F238E27FC236}">
                              <a16:creationId xmlns:a16="http://schemas.microsoft.com/office/drawing/2014/main" id="{E243DD22-2C06-4FD6-8FEA-4128DDB34D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3759" y="1525916"/>
                          <a:ext cx="936104" cy="5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5" name="Rectangle 7">
            <a:extLst>
              <a:ext uri="{FF2B5EF4-FFF2-40B4-BE49-F238E27FC236}">
                <a16:creationId xmlns:a16="http://schemas.microsoft.com/office/drawing/2014/main" id="{B8936706-7A83-4248-BB68-51C80F909265}"/>
              </a:ext>
            </a:extLst>
          </p:cNvPr>
          <p:cNvSpPr>
            <a:spLocks noChangeArrowheads="1"/>
          </p:cNvSpPr>
          <p:nvPr/>
        </p:nvSpPr>
        <p:spPr bwMode="auto">
          <a:xfrm>
            <a:off x="-1588" y="4135438"/>
            <a:ext cx="3657601"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b="1">
                <a:solidFill>
                  <a:srgbClr val="FF0000"/>
                </a:solidFill>
                <a:latin typeface="微软雅黑" panose="020B0503020204020204" pitchFamily="34" charset="-122"/>
                <a:ea typeface="微软雅黑" panose="020B0503020204020204" pitchFamily="34" charset="-122"/>
              </a:rPr>
              <a:t>得到本问题的数学模型为</a:t>
            </a:r>
            <a:r>
              <a:rPr lang="en-US" altLang="zh-CN" b="1">
                <a:solidFill>
                  <a:srgbClr val="FF0000"/>
                </a:solidFill>
                <a:latin typeface="微软雅黑" panose="020B0503020204020204" pitchFamily="34" charset="-122"/>
                <a:ea typeface="微软雅黑" panose="020B0503020204020204" pitchFamily="34" charset="-122"/>
              </a:rPr>
              <a:t>:</a:t>
            </a:r>
          </a:p>
        </p:txBody>
      </p:sp>
      <p:graphicFrame>
        <p:nvGraphicFramePr>
          <p:cNvPr id="7176" name="对象 6">
            <a:extLst>
              <a:ext uri="{FF2B5EF4-FFF2-40B4-BE49-F238E27FC236}">
                <a16:creationId xmlns:a16="http://schemas.microsoft.com/office/drawing/2014/main" id="{D313A238-7672-4EC9-93DC-7FB00A15614E}"/>
              </a:ext>
            </a:extLst>
          </p:cNvPr>
          <p:cNvGraphicFramePr>
            <a:graphicFrameLocks noChangeAspect="1"/>
          </p:cNvGraphicFramePr>
          <p:nvPr/>
        </p:nvGraphicFramePr>
        <p:xfrm>
          <a:off x="3400425" y="4192588"/>
          <a:ext cx="3051175" cy="2979737"/>
        </p:xfrm>
        <a:graphic>
          <a:graphicData uri="http://schemas.openxmlformats.org/presentationml/2006/ole">
            <mc:AlternateContent xmlns:mc="http://schemas.openxmlformats.org/markup-compatibility/2006">
              <mc:Choice xmlns:v="urn:schemas-microsoft-com:vml" Requires="v">
                <p:oleObj name="Equation" r:id="rId8" imgW="1612900" imgH="1574800" progId="Equation.DSMT4">
                  <p:embed/>
                </p:oleObj>
              </mc:Choice>
              <mc:Fallback>
                <p:oleObj name="Equation" r:id="rId8" imgW="1612900" imgH="1574800" progId="Equation.DSMT4">
                  <p:embed/>
                  <p:pic>
                    <p:nvPicPr>
                      <p:cNvPr id="7176" name="对象 6">
                        <a:extLst>
                          <a:ext uri="{FF2B5EF4-FFF2-40B4-BE49-F238E27FC236}">
                            <a16:creationId xmlns:a16="http://schemas.microsoft.com/office/drawing/2014/main" id="{D313A238-7672-4EC9-93DC-7FB00A15614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00425" y="4192588"/>
                        <a:ext cx="3051175" cy="297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7">
            <a:extLst>
              <a:ext uri="{FF2B5EF4-FFF2-40B4-BE49-F238E27FC236}">
                <a16:creationId xmlns:a16="http://schemas.microsoft.com/office/drawing/2014/main" id="{E9D0AC9D-72E2-47AB-A098-BA424E034CBF}"/>
              </a:ext>
            </a:extLst>
          </p:cNvPr>
          <p:cNvSpPr>
            <a:spLocks noChangeArrowheads="1"/>
          </p:cNvSpPr>
          <p:nvPr/>
        </p:nvSpPr>
        <p:spPr bwMode="auto">
          <a:xfrm>
            <a:off x="6188075" y="45735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劳动力</a:t>
            </a:r>
            <a:endParaRPr lang="en-US" altLang="zh-CN" sz="2000" b="1">
              <a:latin typeface="微软雅黑" panose="020B0503020204020204" pitchFamily="34" charset="-122"/>
              <a:ea typeface="微软雅黑" panose="020B0503020204020204" pitchFamily="34" charset="-122"/>
            </a:endParaRPr>
          </a:p>
        </p:txBody>
      </p:sp>
      <p:sp>
        <p:nvSpPr>
          <p:cNvPr id="15" name="Rectangle 7">
            <a:extLst>
              <a:ext uri="{FF2B5EF4-FFF2-40B4-BE49-F238E27FC236}">
                <a16:creationId xmlns:a16="http://schemas.microsoft.com/office/drawing/2014/main" id="{BD0461A8-394E-4A38-AC8C-1950F5970CBE}"/>
              </a:ext>
            </a:extLst>
          </p:cNvPr>
          <p:cNvSpPr>
            <a:spLocks noChangeArrowheads="1"/>
          </p:cNvSpPr>
          <p:nvPr/>
        </p:nvSpPr>
        <p:spPr bwMode="auto">
          <a:xfrm>
            <a:off x="6226175" y="4976813"/>
            <a:ext cx="696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设备</a:t>
            </a:r>
            <a:endParaRPr lang="en-US" altLang="zh-CN" sz="2000" b="1">
              <a:latin typeface="微软雅黑" panose="020B0503020204020204" pitchFamily="34" charset="-122"/>
              <a:ea typeface="微软雅黑" panose="020B0503020204020204" pitchFamily="34" charset="-122"/>
            </a:endParaRPr>
          </a:p>
        </p:txBody>
      </p:sp>
      <p:sp>
        <p:nvSpPr>
          <p:cNvPr id="16" name="Rectangle 7">
            <a:extLst>
              <a:ext uri="{FF2B5EF4-FFF2-40B4-BE49-F238E27FC236}">
                <a16:creationId xmlns:a16="http://schemas.microsoft.com/office/drawing/2014/main" id="{CFA84B77-C82C-4AC3-97FB-47D8D9F8C649}"/>
              </a:ext>
            </a:extLst>
          </p:cNvPr>
          <p:cNvSpPr>
            <a:spLocks noChangeArrowheads="1"/>
          </p:cNvSpPr>
          <p:nvPr/>
        </p:nvSpPr>
        <p:spPr bwMode="auto">
          <a:xfrm>
            <a:off x="6226175" y="5857875"/>
            <a:ext cx="1125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原材料</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B</a:t>
            </a:r>
          </a:p>
        </p:txBody>
      </p:sp>
      <p:sp>
        <p:nvSpPr>
          <p:cNvPr id="17" name="Rectangle 7">
            <a:extLst>
              <a:ext uri="{FF2B5EF4-FFF2-40B4-BE49-F238E27FC236}">
                <a16:creationId xmlns:a16="http://schemas.microsoft.com/office/drawing/2014/main" id="{46DB3632-FBC9-4511-8EEC-996B3F6371EF}"/>
              </a:ext>
            </a:extLst>
          </p:cNvPr>
          <p:cNvSpPr>
            <a:spLocks noChangeArrowheads="1"/>
          </p:cNvSpPr>
          <p:nvPr/>
        </p:nvSpPr>
        <p:spPr bwMode="auto">
          <a:xfrm>
            <a:off x="6240463" y="638175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非负性</a:t>
            </a:r>
            <a:endParaRPr lang="en-US" altLang="zh-CN" sz="2000" b="1">
              <a:latin typeface="微软雅黑" panose="020B0503020204020204" pitchFamily="34" charset="-122"/>
              <a:ea typeface="微软雅黑" panose="020B0503020204020204" pitchFamily="34" charset="-122"/>
            </a:endParaRPr>
          </a:p>
        </p:txBody>
      </p:sp>
      <p:sp>
        <p:nvSpPr>
          <p:cNvPr id="18" name="Rectangle 7">
            <a:extLst>
              <a:ext uri="{FF2B5EF4-FFF2-40B4-BE49-F238E27FC236}">
                <a16:creationId xmlns:a16="http://schemas.microsoft.com/office/drawing/2014/main" id="{10E5D1D0-BCAC-4234-A370-94173FA22B75}"/>
              </a:ext>
            </a:extLst>
          </p:cNvPr>
          <p:cNvSpPr>
            <a:spLocks noChangeArrowheads="1"/>
          </p:cNvSpPr>
          <p:nvPr/>
        </p:nvSpPr>
        <p:spPr bwMode="auto">
          <a:xfrm>
            <a:off x="6210300" y="5378450"/>
            <a:ext cx="1139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000" b="1">
                <a:latin typeface="微软雅黑" panose="020B0503020204020204" pitchFamily="34" charset="-122"/>
                <a:ea typeface="微软雅黑" panose="020B0503020204020204" pitchFamily="34" charset="-122"/>
              </a:rPr>
              <a:t>原材料</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A</a:t>
            </a:r>
          </a:p>
        </p:txBody>
      </p:sp>
      <p:sp>
        <p:nvSpPr>
          <p:cNvPr id="7182" name="灯片编号占位符 5">
            <a:extLst>
              <a:ext uri="{FF2B5EF4-FFF2-40B4-BE49-F238E27FC236}">
                <a16:creationId xmlns:a16="http://schemas.microsoft.com/office/drawing/2014/main" id="{7F7639E2-7381-415F-9365-8843FEC904D7}"/>
              </a:ext>
            </a:extLst>
          </p:cNvPr>
          <p:cNvSpPr txBox="1">
            <a:spLocks/>
          </p:cNvSpPr>
          <p:nvPr/>
        </p:nvSpPr>
        <p:spPr bwMode="auto">
          <a:xfrm>
            <a:off x="8896350" y="6629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443BB377-9B9C-402A-B1B1-3CF27EB66281}" type="slidenum">
              <a:rPr kumimoji="0" lang="en-US" altLang="zh-CN" sz="1000">
                <a:latin typeface="Arial" panose="020B0604020202020204" pitchFamily="34" charset="0"/>
                <a:ea typeface="微软雅黑" panose="020B0503020204020204" pitchFamily="34" charset="-122"/>
              </a:rPr>
              <a:pPr/>
              <a:t>15</a:t>
            </a:fld>
            <a:endParaRPr kumimoji="0" lang="en-US" altLang="zh-CN" sz="1000">
              <a:latin typeface="Arial" panose="020B0604020202020204" pitchFamily="34" charset="0"/>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5"/>
                                        </p:tgtEl>
                                        <p:attrNameLst>
                                          <p:attrName>style.visibility</p:attrName>
                                        </p:attrNameLst>
                                      </p:cBhvr>
                                      <p:to>
                                        <p:strVal val="visible"/>
                                      </p:to>
                                    </p:set>
                                    <p:animEffect transition="in" filter="fade">
                                      <p:cBhvr>
                                        <p:cTn id="7" dur="500"/>
                                        <p:tgtEl>
                                          <p:spTgt spid="7175"/>
                                        </p:tgtEl>
                                      </p:cBhvr>
                                    </p:animEffect>
                                  </p:childTnLst>
                                </p:cTn>
                              </p:par>
                              <p:par>
                                <p:cTn id="8" presetID="10" presetClass="entr" presetSubtype="0" fill="hold" nodeType="withEffect">
                                  <p:stCondLst>
                                    <p:cond delay="0"/>
                                  </p:stCondLst>
                                  <p:childTnLst>
                                    <p:set>
                                      <p:cBhvr>
                                        <p:cTn id="9" dur="1" fill="hold">
                                          <p:stCondLst>
                                            <p:cond delay="0"/>
                                          </p:stCondLst>
                                        </p:cTn>
                                        <p:tgtEl>
                                          <p:spTgt spid="7176"/>
                                        </p:tgtEl>
                                        <p:attrNameLst>
                                          <p:attrName>style.visibility</p:attrName>
                                        </p:attrNameLst>
                                      </p:cBhvr>
                                      <p:to>
                                        <p:strVal val="visible"/>
                                      </p:to>
                                    </p:set>
                                    <p:animEffect transition="in" filter="fade">
                                      <p:cBhvr>
                                        <p:cTn id="10" dur="500"/>
                                        <p:tgtEl>
                                          <p:spTgt spid="717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P spid="11" grpId="0"/>
      <p:bldP spid="15" grpId="0"/>
      <p:bldP spid="16" grpId="0"/>
      <p:bldP spid="17"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a:extLst>
              <a:ext uri="{FF2B5EF4-FFF2-40B4-BE49-F238E27FC236}">
                <a16:creationId xmlns:a16="http://schemas.microsoft.com/office/drawing/2014/main" id="{6D08F8DE-52CF-417A-B20F-C6A2CCA9B0A5}"/>
              </a:ext>
            </a:extLst>
          </p:cNvPr>
          <p:cNvSpPr>
            <a:spLocks noGrp="1"/>
          </p:cNvSpPr>
          <p:nvPr>
            <p:ph type="sldNum" sz="quarter" idx="4294967295"/>
          </p:nvPr>
        </p:nvSpPr>
        <p:spPr bwMode="auto">
          <a:xfrm>
            <a:off x="8896350" y="6629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649AA5BD-9E53-457F-8E4B-65BBE54E6FEF}" type="slidenum">
              <a:rPr kumimoji="0" lang="en-US" altLang="zh-CN" sz="1000">
                <a:latin typeface="Arial" panose="020B0604020202020204" pitchFamily="34" charset="0"/>
                <a:ea typeface="微软雅黑" panose="020B0503020204020204" pitchFamily="34" charset="-122"/>
              </a:rPr>
              <a:pPr/>
              <a:t>16</a:t>
            </a:fld>
            <a:endParaRPr kumimoji="0" lang="en-US" altLang="zh-CN" sz="1000">
              <a:latin typeface="Arial" panose="020B0604020202020204" pitchFamily="34" charset="0"/>
              <a:ea typeface="微软雅黑" panose="020B0503020204020204" pitchFamily="34" charset="-122"/>
            </a:endParaRPr>
          </a:p>
        </p:txBody>
      </p:sp>
      <p:sp>
        <p:nvSpPr>
          <p:cNvPr id="8195" name="Rectangle 7">
            <a:extLst>
              <a:ext uri="{FF2B5EF4-FFF2-40B4-BE49-F238E27FC236}">
                <a16:creationId xmlns:a16="http://schemas.microsoft.com/office/drawing/2014/main" id="{5868949C-4899-4331-A019-A8C40126FD7B}"/>
              </a:ext>
            </a:extLst>
          </p:cNvPr>
          <p:cNvSpPr>
            <a:spLocks noChangeArrowheads="1"/>
          </p:cNvSpPr>
          <p:nvPr/>
        </p:nvSpPr>
        <p:spPr bwMode="auto">
          <a:xfrm>
            <a:off x="107950" y="115888"/>
            <a:ext cx="23391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800" b="1" dirty="0">
                <a:solidFill>
                  <a:srgbClr val="FF0000"/>
                </a:solidFill>
                <a:latin typeface="Arial" panose="020B0604020202020204" pitchFamily="34" charset="0"/>
                <a:ea typeface="微软雅黑" panose="020B0503020204020204" pitchFamily="34" charset="-122"/>
              </a:rPr>
              <a:t>资源配置问题</a:t>
            </a:r>
            <a:endParaRPr lang="en-US" altLang="zh-CN" sz="2800" b="1" dirty="0">
              <a:solidFill>
                <a:srgbClr val="FF0000"/>
              </a:solidFill>
              <a:latin typeface="Arial" panose="020B0604020202020204" pitchFamily="34" charset="0"/>
              <a:ea typeface="微软雅黑" panose="020B0503020204020204" pitchFamily="34" charset="-122"/>
            </a:endParaRPr>
          </a:p>
        </p:txBody>
      </p:sp>
      <p:sp>
        <p:nvSpPr>
          <p:cNvPr id="9" name="Rectangle 3">
            <a:extLst>
              <a:ext uri="{FF2B5EF4-FFF2-40B4-BE49-F238E27FC236}">
                <a16:creationId xmlns:a16="http://schemas.microsoft.com/office/drawing/2014/main" id="{715639F2-526F-4562-A663-127D16DC7856}"/>
              </a:ext>
            </a:extLst>
          </p:cNvPr>
          <p:cNvSpPr txBox="1">
            <a:spLocks noChangeArrowheads="1"/>
          </p:cNvSpPr>
          <p:nvPr/>
        </p:nvSpPr>
        <p:spPr bwMode="auto">
          <a:xfrm>
            <a:off x="0" y="660400"/>
            <a:ext cx="9144000" cy="1012825"/>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marL="0"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在例</a:t>
            </a:r>
            <a:r>
              <a:rPr lang="en-US" altLang="zh-CN" sz="2400" b="1" kern="0" dirty="0">
                <a:latin typeface="微软雅黑" panose="020B0503020204020204" pitchFamily="34" charset="-122"/>
                <a:ea typeface="微软雅黑" panose="020B0503020204020204" pitchFamily="34" charset="-122"/>
              </a:rPr>
              <a:t>1.2.1</a:t>
            </a:r>
            <a:r>
              <a:rPr lang="zh-CN" altLang="en-US" sz="2400" b="1" kern="0" dirty="0">
                <a:latin typeface="微软雅黑" panose="020B0503020204020204" pitchFamily="34" charset="-122"/>
                <a:ea typeface="微软雅黑" panose="020B0503020204020204" pitchFamily="34" charset="-122"/>
              </a:rPr>
              <a:t>中，确定产品</a:t>
            </a:r>
            <a:r>
              <a:rPr lang="en-US" altLang="zh-CN" sz="2400" b="1" kern="0" dirty="0">
                <a:latin typeface="微软雅黑" panose="020B0503020204020204" pitchFamily="34" charset="-122"/>
                <a:ea typeface="微软雅黑" panose="020B0503020204020204" pitchFamily="34" charset="-122"/>
              </a:rPr>
              <a:t>Ⅰ</a:t>
            </a:r>
            <a:r>
              <a:rPr lang="zh-CN" altLang="en-US" sz="2400" b="1" kern="0" dirty="0">
                <a:latin typeface="微软雅黑" panose="020B0503020204020204" pitchFamily="34" charset="-122"/>
                <a:ea typeface="微软雅黑" panose="020B0503020204020204" pitchFamily="34" charset="-122"/>
              </a:rPr>
              <a:t>和</a:t>
            </a:r>
            <a:r>
              <a:rPr lang="en-US" altLang="zh-CN" sz="2400" b="1" kern="0" dirty="0">
                <a:latin typeface="微软雅黑" panose="020B0503020204020204" pitchFamily="34" charset="-122"/>
                <a:ea typeface="微软雅黑" panose="020B0503020204020204" pitchFamily="34" charset="-122"/>
              </a:rPr>
              <a:t>Ⅱ</a:t>
            </a:r>
            <a:r>
              <a:rPr lang="zh-CN" altLang="en-US" sz="2400" b="1" kern="0" dirty="0">
                <a:latin typeface="微软雅黑" panose="020B0503020204020204" pitchFamily="34" charset="-122"/>
                <a:ea typeface="微软雅黑" panose="020B0503020204020204" pitchFamily="34" charset="-122"/>
              </a:rPr>
              <a:t>的产量等价于要确定把多少资源</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分配</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到不同的产品中，因此我们称之为</a:t>
            </a:r>
            <a:r>
              <a:rPr lang="zh-CN" altLang="en-US" sz="2400" b="1" kern="0" dirty="0">
                <a:latin typeface="+mn-ea"/>
              </a:rPr>
              <a:t>“</a:t>
            </a:r>
            <a:r>
              <a:rPr lang="zh-CN" altLang="en-US" sz="2400" b="1" kern="0" dirty="0">
                <a:solidFill>
                  <a:srgbClr val="0000FF"/>
                </a:solidFill>
                <a:latin typeface="微软雅黑" panose="020B0503020204020204" pitchFamily="34" charset="-122"/>
                <a:ea typeface="微软雅黑" panose="020B0503020204020204" pitchFamily="34" charset="-122"/>
              </a:rPr>
              <a:t>资源配置问题</a:t>
            </a:r>
            <a:r>
              <a:rPr lang="zh-CN" altLang="en-US" sz="2400" b="1" kern="0" dirty="0">
                <a:latin typeface="+mn-ea"/>
              </a:rPr>
              <a:t>”</a:t>
            </a:r>
            <a:r>
              <a:rPr lang="en-US" altLang="zh-CN" sz="2400" b="1" kern="0" dirty="0">
                <a:latin typeface="微软雅黑" panose="020B0503020204020204" pitchFamily="34" charset="-122"/>
                <a:ea typeface="微软雅黑" panose="020B0503020204020204" pitchFamily="34" charset="-122"/>
              </a:rPr>
              <a:t>(</a:t>
            </a:r>
            <a:r>
              <a:rPr lang="en-US" altLang="zh-CN" sz="2400" b="1" kern="0" dirty="0">
                <a:latin typeface="Times New Roman" panose="02020603050405020304" pitchFamily="18" charset="0"/>
                <a:ea typeface="微软雅黑" panose="020B0503020204020204" pitchFamily="34" charset="-122"/>
                <a:cs typeface="Times New Roman" panose="02020603050405020304" pitchFamily="18" charset="0"/>
              </a:rPr>
              <a:t>Resource Allocation Problem</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sp>
        <p:nvSpPr>
          <p:cNvPr id="10" name="Rectangle 3">
            <a:extLst>
              <a:ext uri="{FF2B5EF4-FFF2-40B4-BE49-F238E27FC236}">
                <a16:creationId xmlns:a16="http://schemas.microsoft.com/office/drawing/2014/main" id="{E43AD0E3-956C-4635-9C01-3445724B35FF}"/>
              </a:ext>
            </a:extLst>
          </p:cNvPr>
          <p:cNvSpPr txBox="1">
            <a:spLocks noChangeArrowheads="1"/>
          </p:cNvSpPr>
          <p:nvPr/>
        </p:nvSpPr>
        <p:spPr bwMode="auto">
          <a:xfrm>
            <a:off x="0" y="1720850"/>
            <a:ext cx="9144000" cy="446088"/>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marL="85725" indent="0" algn="just" eaLnBrk="1" hangingPunct="1">
              <a:spcBef>
                <a:spcPct val="0"/>
              </a:spcBef>
              <a:buFont typeface="Wingdings" panose="05000000000000000000" pitchFamily="2" charset="2"/>
              <a:buNone/>
              <a:defRPr/>
            </a:pPr>
            <a:r>
              <a:rPr lang="zh-CN" altLang="en-US" sz="2400" b="1" kern="0" dirty="0">
                <a:solidFill>
                  <a:srgbClr val="0000FF"/>
                </a:solidFill>
                <a:latin typeface="微软雅黑" panose="020B0503020204020204" pitchFamily="34" charset="-122"/>
                <a:ea typeface="微软雅黑" panose="020B0503020204020204" pitchFamily="34" charset="-122"/>
              </a:rPr>
              <a:t>一般的资源配置问题是为了通过资源分配来实现整体利益的最大化</a:t>
            </a:r>
            <a:endParaRPr lang="zh-CN" altLang="en-US" sz="2400" kern="0" dirty="0">
              <a:latin typeface="微软雅黑" panose="020B0503020204020204" pitchFamily="34" charset="-122"/>
            </a:endParaRPr>
          </a:p>
        </p:txBody>
      </p:sp>
      <p:grpSp>
        <p:nvGrpSpPr>
          <p:cNvPr id="5" name="组合 4">
            <a:extLst>
              <a:ext uri="{FF2B5EF4-FFF2-40B4-BE49-F238E27FC236}">
                <a16:creationId xmlns:a16="http://schemas.microsoft.com/office/drawing/2014/main" id="{C227486F-F061-4A21-B36F-A0D8CD3EB075}"/>
              </a:ext>
            </a:extLst>
          </p:cNvPr>
          <p:cNvGrpSpPr>
            <a:grpSpLocks/>
          </p:cNvGrpSpPr>
          <p:nvPr/>
        </p:nvGrpSpPr>
        <p:grpSpPr bwMode="auto">
          <a:xfrm>
            <a:off x="0" y="1751013"/>
            <a:ext cx="9144000" cy="2238375"/>
            <a:chOff x="0" y="2595970"/>
            <a:chExt cx="9144000" cy="2238474"/>
          </a:xfrm>
        </p:grpSpPr>
        <p:graphicFrame>
          <p:nvGraphicFramePr>
            <p:cNvPr id="8201" name="对象 6">
              <a:extLst>
                <a:ext uri="{FF2B5EF4-FFF2-40B4-BE49-F238E27FC236}">
                  <a16:creationId xmlns:a16="http://schemas.microsoft.com/office/drawing/2014/main" id="{7F076D64-0646-4CAC-8883-3B2FE220B353}"/>
                </a:ext>
              </a:extLst>
            </p:cNvPr>
            <p:cNvGraphicFramePr>
              <a:graphicFrameLocks noChangeAspect="1"/>
            </p:cNvGraphicFramePr>
            <p:nvPr/>
          </p:nvGraphicFramePr>
          <p:xfrm>
            <a:off x="6146800" y="2595970"/>
            <a:ext cx="914400" cy="198438"/>
          </p:xfrm>
          <a:graphic>
            <a:graphicData uri="http://schemas.openxmlformats.org/presentationml/2006/ole">
              <mc:AlternateContent xmlns:mc="http://schemas.openxmlformats.org/markup-compatibility/2006">
                <mc:Choice xmlns:v="urn:schemas-microsoft-com:vml" Requires="v">
                  <p:oleObj name="Equation" r:id="rId2" imgW="435285" imgH="677109" progId="Equation.DSMT4">
                    <p:embed/>
                  </p:oleObj>
                </mc:Choice>
                <mc:Fallback>
                  <p:oleObj name="Equation" r:id="rId2" imgW="435285" imgH="677109" progId="Equation.DSMT4">
                    <p:embed/>
                    <p:pic>
                      <p:nvPicPr>
                        <p:cNvPr id="8201" name="对象 6">
                          <a:extLst>
                            <a:ext uri="{FF2B5EF4-FFF2-40B4-BE49-F238E27FC236}">
                              <a16:creationId xmlns:a16="http://schemas.microsoft.com/office/drawing/2014/main" id="{7F076D64-0646-4CAC-8883-3B2FE220B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6800" y="259597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2" name="对象 1">
              <a:extLst>
                <a:ext uri="{FF2B5EF4-FFF2-40B4-BE49-F238E27FC236}">
                  <a16:creationId xmlns:a16="http://schemas.microsoft.com/office/drawing/2014/main" id="{ED718C2B-53F7-4C23-AFA6-370F1E817337}"/>
                </a:ext>
              </a:extLst>
            </p:cNvPr>
            <p:cNvGraphicFramePr>
              <a:graphicFrameLocks noChangeAspect="1"/>
            </p:cNvGraphicFramePr>
            <p:nvPr/>
          </p:nvGraphicFramePr>
          <p:xfrm>
            <a:off x="2555810" y="2956560"/>
            <a:ext cx="360006" cy="526212"/>
          </p:xfrm>
          <a:graphic>
            <a:graphicData uri="http://schemas.openxmlformats.org/presentationml/2006/ole">
              <mc:AlternateContent xmlns:mc="http://schemas.openxmlformats.org/markup-compatibility/2006">
                <mc:Choice xmlns:v="urn:schemas-microsoft-com:vml" Requires="v">
                  <p:oleObj name="Equation" r:id="rId4" imgW="164957" imgH="241091" progId="Equation.DSMT4">
                    <p:embed/>
                  </p:oleObj>
                </mc:Choice>
                <mc:Fallback>
                  <p:oleObj name="Equation" r:id="rId4" imgW="164957" imgH="241091" progId="Equation.DSMT4">
                    <p:embed/>
                    <p:pic>
                      <p:nvPicPr>
                        <p:cNvPr id="8202" name="对象 1">
                          <a:extLst>
                            <a:ext uri="{FF2B5EF4-FFF2-40B4-BE49-F238E27FC236}">
                              <a16:creationId xmlns:a16="http://schemas.microsoft.com/office/drawing/2014/main" id="{ED718C2B-53F7-4C23-AFA6-370F1E8173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810" y="2956560"/>
                          <a:ext cx="360006" cy="52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3" name="对象 2">
              <a:extLst>
                <a:ext uri="{FF2B5EF4-FFF2-40B4-BE49-F238E27FC236}">
                  <a16:creationId xmlns:a16="http://schemas.microsoft.com/office/drawing/2014/main" id="{94405C53-75B9-490A-87D3-BB5B3AA6542F}"/>
                </a:ext>
              </a:extLst>
            </p:cNvPr>
            <p:cNvGraphicFramePr>
              <a:graphicFrameLocks noChangeAspect="1"/>
            </p:cNvGraphicFramePr>
            <p:nvPr/>
          </p:nvGraphicFramePr>
          <p:xfrm>
            <a:off x="4223857" y="2985602"/>
            <a:ext cx="1788303" cy="452777"/>
          </p:xfrm>
          <a:graphic>
            <a:graphicData uri="http://schemas.openxmlformats.org/presentationml/2006/ole">
              <mc:AlternateContent xmlns:mc="http://schemas.openxmlformats.org/markup-compatibility/2006">
                <mc:Choice xmlns:v="urn:schemas-microsoft-com:vml" Requires="v">
                  <p:oleObj name="Equation" r:id="rId6" imgW="1002865" imgH="253890" progId="Equation.DSMT4">
                    <p:embed/>
                  </p:oleObj>
                </mc:Choice>
                <mc:Fallback>
                  <p:oleObj name="Equation" r:id="rId6" imgW="1002865" imgH="253890" progId="Equation.DSMT4">
                    <p:embed/>
                    <p:pic>
                      <p:nvPicPr>
                        <p:cNvPr id="8203" name="对象 2">
                          <a:extLst>
                            <a:ext uri="{FF2B5EF4-FFF2-40B4-BE49-F238E27FC236}">
                              <a16:creationId xmlns:a16="http://schemas.microsoft.com/office/drawing/2014/main" id="{94405C53-75B9-490A-87D3-BB5B3AA654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23857" y="2985602"/>
                          <a:ext cx="1788303" cy="452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4" name="对象 5">
              <a:extLst>
                <a:ext uri="{FF2B5EF4-FFF2-40B4-BE49-F238E27FC236}">
                  <a16:creationId xmlns:a16="http://schemas.microsoft.com/office/drawing/2014/main" id="{87F1D5C2-B848-4CCB-A0AE-E2292DE3C463}"/>
                </a:ext>
              </a:extLst>
            </p:cNvPr>
            <p:cNvGraphicFramePr>
              <a:graphicFrameLocks noChangeAspect="1"/>
            </p:cNvGraphicFramePr>
            <p:nvPr/>
          </p:nvGraphicFramePr>
          <p:xfrm>
            <a:off x="4183393" y="3868911"/>
            <a:ext cx="1828767" cy="479999"/>
          </p:xfrm>
          <a:graphic>
            <a:graphicData uri="http://schemas.openxmlformats.org/presentationml/2006/ole">
              <mc:AlternateContent xmlns:mc="http://schemas.openxmlformats.org/markup-compatibility/2006">
                <mc:Choice xmlns:v="urn:schemas-microsoft-com:vml" Requires="v">
                  <p:oleObj name="Equation" r:id="rId8" imgW="965200" imgH="254000" progId="Equation.DSMT4">
                    <p:embed/>
                  </p:oleObj>
                </mc:Choice>
                <mc:Fallback>
                  <p:oleObj name="Equation" r:id="rId8" imgW="965200" imgH="254000" progId="Equation.DSMT4">
                    <p:embed/>
                    <p:pic>
                      <p:nvPicPr>
                        <p:cNvPr id="8204" name="对象 5">
                          <a:extLst>
                            <a:ext uri="{FF2B5EF4-FFF2-40B4-BE49-F238E27FC236}">
                              <a16:creationId xmlns:a16="http://schemas.microsoft.com/office/drawing/2014/main" id="{87F1D5C2-B848-4CCB-A0AE-E2292DE3C46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83393" y="3868911"/>
                          <a:ext cx="1828767" cy="47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5" name="对象 6">
              <a:extLst>
                <a:ext uri="{FF2B5EF4-FFF2-40B4-BE49-F238E27FC236}">
                  <a16:creationId xmlns:a16="http://schemas.microsoft.com/office/drawing/2014/main" id="{CD86B41E-D7CC-4A26-88E4-914D44C8C08C}"/>
                </a:ext>
              </a:extLst>
            </p:cNvPr>
            <p:cNvGraphicFramePr>
              <a:graphicFrameLocks noChangeAspect="1"/>
            </p:cNvGraphicFramePr>
            <p:nvPr/>
          </p:nvGraphicFramePr>
          <p:xfrm>
            <a:off x="1601585" y="3370962"/>
            <a:ext cx="378127" cy="552698"/>
          </p:xfrm>
          <a:graphic>
            <a:graphicData uri="http://schemas.openxmlformats.org/presentationml/2006/ole">
              <mc:AlternateContent xmlns:mc="http://schemas.openxmlformats.org/markup-compatibility/2006">
                <mc:Choice xmlns:v="urn:schemas-microsoft-com:vml" Requires="v">
                  <p:oleObj name="Equation" r:id="rId10" imgW="164957" imgH="241091" progId="Equation.DSMT4">
                    <p:embed/>
                  </p:oleObj>
                </mc:Choice>
                <mc:Fallback>
                  <p:oleObj name="Equation" r:id="rId10" imgW="164957" imgH="241091" progId="Equation.DSMT4">
                    <p:embed/>
                    <p:pic>
                      <p:nvPicPr>
                        <p:cNvPr id="8205" name="对象 6">
                          <a:extLst>
                            <a:ext uri="{FF2B5EF4-FFF2-40B4-BE49-F238E27FC236}">
                              <a16:creationId xmlns:a16="http://schemas.microsoft.com/office/drawing/2014/main" id="{CD86B41E-D7CC-4A26-88E4-914D44C8C08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01585" y="3370962"/>
                          <a:ext cx="378127" cy="55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6" name="对象 7">
              <a:extLst>
                <a:ext uri="{FF2B5EF4-FFF2-40B4-BE49-F238E27FC236}">
                  <a16:creationId xmlns:a16="http://schemas.microsoft.com/office/drawing/2014/main" id="{A770FA41-7C78-483A-9A87-E794E66D02D6}"/>
                </a:ext>
              </a:extLst>
            </p:cNvPr>
            <p:cNvGraphicFramePr>
              <a:graphicFrameLocks noChangeAspect="1"/>
            </p:cNvGraphicFramePr>
            <p:nvPr/>
          </p:nvGraphicFramePr>
          <p:xfrm>
            <a:off x="7883475" y="3871579"/>
            <a:ext cx="288925" cy="474662"/>
          </p:xfrm>
          <a:graphic>
            <a:graphicData uri="http://schemas.openxmlformats.org/presentationml/2006/ole">
              <mc:AlternateContent xmlns:mc="http://schemas.openxmlformats.org/markup-compatibility/2006">
                <mc:Choice xmlns:v="urn:schemas-microsoft-com:vml" Requires="v">
                  <p:oleObj name="Equation" r:id="rId12" imgW="139700" imgH="228600" progId="Equation.DSMT4">
                    <p:embed/>
                  </p:oleObj>
                </mc:Choice>
                <mc:Fallback>
                  <p:oleObj name="Equation" r:id="rId12" imgW="139700" imgH="228600" progId="Equation.DSMT4">
                    <p:embed/>
                    <p:pic>
                      <p:nvPicPr>
                        <p:cNvPr id="8206" name="对象 7">
                          <a:extLst>
                            <a:ext uri="{FF2B5EF4-FFF2-40B4-BE49-F238E27FC236}">
                              <a16:creationId xmlns:a16="http://schemas.microsoft.com/office/drawing/2014/main" id="{A770FA41-7C78-483A-9A87-E794E66D02D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83475" y="3871579"/>
                          <a:ext cx="2889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7" name="对象 10">
              <a:extLst>
                <a:ext uri="{FF2B5EF4-FFF2-40B4-BE49-F238E27FC236}">
                  <a16:creationId xmlns:a16="http://schemas.microsoft.com/office/drawing/2014/main" id="{6139773C-22BA-4C62-9320-D5281AB2D483}"/>
                </a:ext>
              </a:extLst>
            </p:cNvPr>
            <p:cNvGraphicFramePr>
              <a:graphicFrameLocks noChangeAspect="1"/>
            </p:cNvGraphicFramePr>
            <p:nvPr/>
          </p:nvGraphicFramePr>
          <p:xfrm>
            <a:off x="996435" y="4281746"/>
            <a:ext cx="407213" cy="552698"/>
          </p:xfrm>
          <a:graphic>
            <a:graphicData uri="http://schemas.openxmlformats.org/presentationml/2006/ole">
              <mc:AlternateContent xmlns:mc="http://schemas.openxmlformats.org/markup-compatibility/2006">
                <mc:Choice xmlns:v="urn:schemas-microsoft-com:vml" Requires="v">
                  <p:oleObj name="Equation" r:id="rId14" imgW="177646" imgH="241091" progId="Equation.DSMT4">
                    <p:embed/>
                  </p:oleObj>
                </mc:Choice>
                <mc:Fallback>
                  <p:oleObj name="Equation" r:id="rId14" imgW="177646" imgH="241091" progId="Equation.DSMT4">
                    <p:embed/>
                    <p:pic>
                      <p:nvPicPr>
                        <p:cNvPr id="8207" name="对象 10">
                          <a:extLst>
                            <a:ext uri="{FF2B5EF4-FFF2-40B4-BE49-F238E27FC236}">
                              <a16:creationId xmlns:a16="http://schemas.microsoft.com/office/drawing/2014/main" id="{6139773C-22BA-4C62-9320-D5281AB2D48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96435" y="4281746"/>
                          <a:ext cx="407213" cy="552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8" name="对象 11">
              <a:extLst>
                <a:ext uri="{FF2B5EF4-FFF2-40B4-BE49-F238E27FC236}">
                  <a16:creationId xmlns:a16="http://schemas.microsoft.com/office/drawing/2014/main" id="{52B73E3C-3D01-4D6C-B770-E2B5629F08EC}"/>
                </a:ext>
              </a:extLst>
            </p:cNvPr>
            <p:cNvGraphicFramePr>
              <a:graphicFrameLocks noChangeAspect="1"/>
            </p:cNvGraphicFramePr>
            <p:nvPr/>
          </p:nvGraphicFramePr>
          <p:xfrm>
            <a:off x="3531561" y="4353754"/>
            <a:ext cx="248351" cy="372562"/>
          </p:xfrm>
          <a:graphic>
            <a:graphicData uri="http://schemas.openxmlformats.org/presentationml/2006/ole">
              <mc:AlternateContent xmlns:mc="http://schemas.openxmlformats.org/markup-compatibility/2006">
                <mc:Choice xmlns:v="urn:schemas-microsoft-com:vml" Requires="v">
                  <p:oleObj name="Equation" r:id="rId16" imgW="126890" imgH="190335" progId="Equation.DSMT4">
                    <p:embed/>
                  </p:oleObj>
                </mc:Choice>
                <mc:Fallback>
                  <p:oleObj name="Equation" r:id="rId16" imgW="126890" imgH="190335" progId="Equation.DSMT4">
                    <p:embed/>
                    <p:pic>
                      <p:nvPicPr>
                        <p:cNvPr id="8208" name="对象 11">
                          <a:extLst>
                            <a:ext uri="{FF2B5EF4-FFF2-40B4-BE49-F238E27FC236}">
                              <a16:creationId xmlns:a16="http://schemas.microsoft.com/office/drawing/2014/main" id="{52B73E3C-3D01-4D6C-B770-E2B5629F08E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31561" y="4353754"/>
                          <a:ext cx="248351" cy="37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09" name="对象 12">
              <a:extLst>
                <a:ext uri="{FF2B5EF4-FFF2-40B4-BE49-F238E27FC236}">
                  <a16:creationId xmlns:a16="http://schemas.microsoft.com/office/drawing/2014/main" id="{F103F926-3EF9-477C-A922-5F9C3E8F8E7F}"/>
                </a:ext>
              </a:extLst>
            </p:cNvPr>
            <p:cNvGraphicFramePr>
              <a:graphicFrameLocks noChangeAspect="1"/>
            </p:cNvGraphicFramePr>
            <p:nvPr/>
          </p:nvGraphicFramePr>
          <p:xfrm>
            <a:off x="5660160" y="4340025"/>
            <a:ext cx="207984" cy="386291"/>
          </p:xfrm>
          <a:graphic>
            <a:graphicData uri="http://schemas.openxmlformats.org/presentationml/2006/ole">
              <mc:AlternateContent xmlns:mc="http://schemas.openxmlformats.org/markup-compatibility/2006">
                <mc:Choice xmlns:v="urn:schemas-microsoft-com:vml" Requires="v">
                  <p:oleObj name="Equation" r:id="rId18" imgW="88707" imgH="164742" progId="Equation.DSMT4">
                    <p:embed/>
                  </p:oleObj>
                </mc:Choice>
                <mc:Fallback>
                  <p:oleObj name="Equation" r:id="rId18" imgW="88707" imgH="164742" progId="Equation.DSMT4">
                    <p:embed/>
                    <p:pic>
                      <p:nvPicPr>
                        <p:cNvPr id="8209" name="对象 12">
                          <a:extLst>
                            <a:ext uri="{FF2B5EF4-FFF2-40B4-BE49-F238E27FC236}">
                              <a16:creationId xmlns:a16="http://schemas.microsoft.com/office/drawing/2014/main" id="{F103F926-3EF9-477C-A922-5F9C3E8F8E7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60160" y="4340025"/>
                          <a:ext cx="207984" cy="386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0" name="对象 13">
              <a:extLst>
                <a:ext uri="{FF2B5EF4-FFF2-40B4-BE49-F238E27FC236}">
                  <a16:creationId xmlns:a16="http://schemas.microsoft.com/office/drawing/2014/main" id="{E035BA12-4A03-46C4-99E3-2B51E1D55363}"/>
                </a:ext>
              </a:extLst>
            </p:cNvPr>
            <p:cNvGraphicFramePr>
              <a:graphicFrameLocks noChangeAspect="1"/>
            </p:cNvGraphicFramePr>
            <p:nvPr/>
          </p:nvGraphicFramePr>
          <p:xfrm>
            <a:off x="1321133" y="3989035"/>
            <a:ext cx="370547" cy="313569"/>
          </p:xfrm>
          <a:graphic>
            <a:graphicData uri="http://schemas.openxmlformats.org/presentationml/2006/ole">
              <mc:AlternateContent xmlns:mc="http://schemas.openxmlformats.org/markup-compatibility/2006">
                <mc:Choice xmlns:v="urn:schemas-microsoft-com:vml" Requires="v">
                  <p:oleObj name="Equation" r:id="rId20" imgW="164957" imgH="139579" progId="Equation.DSMT4">
                    <p:embed/>
                  </p:oleObj>
                </mc:Choice>
                <mc:Fallback>
                  <p:oleObj name="Equation" r:id="rId20" imgW="164957" imgH="139579" progId="Equation.DSMT4">
                    <p:embed/>
                    <p:pic>
                      <p:nvPicPr>
                        <p:cNvPr id="8210" name="对象 13">
                          <a:extLst>
                            <a:ext uri="{FF2B5EF4-FFF2-40B4-BE49-F238E27FC236}">
                              <a16:creationId xmlns:a16="http://schemas.microsoft.com/office/drawing/2014/main" id="{E035BA12-4A03-46C4-99E3-2B51E1D5536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321133" y="3989035"/>
                          <a:ext cx="370547" cy="313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文本框 22">
              <a:extLst>
                <a:ext uri="{FF2B5EF4-FFF2-40B4-BE49-F238E27FC236}">
                  <a16:creationId xmlns:a16="http://schemas.microsoft.com/office/drawing/2014/main" id="{8667579A-A195-4CAC-BFDB-1D1E0E6BF93A}"/>
                </a:ext>
              </a:extLst>
            </p:cNvPr>
            <p:cNvSpPr txBox="1"/>
            <p:nvPr/>
          </p:nvSpPr>
          <p:spPr>
            <a:xfrm>
              <a:off x="0" y="2969048"/>
              <a:ext cx="9144000" cy="1828881"/>
            </a:xfrm>
            <a:prstGeom prst="rect">
              <a:avLst/>
            </a:prstGeom>
            <a:noFill/>
          </p:spPr>
          <p:txBody>
            <a:bodyPr>
              <a:spAutoFit/>
            </a:bodyPr>
            <a:lstStyle/>
            <a:p>
              <a:pPr marL="342900" indent="-342900" algn="just" eaLnBrk="1" hangingPunct="1">
                <a:lnSpc>
                  <a:spcPct val="120000"/>
                </a:lnSpc>
                <a:buFont typeface="Wingdings" panose="05000000000000000000" pitchFamily="2" charset="2"/>
                <a:buChar char="Ø"/>
                <a:defRPr/>
              </a:pPr>
              <a:r>
                <a:rPr lang="zh-CN" altLang="en-US" b="1" kern="0" dirty="0">
                  <a:solidFill>
                    <a:schemeClr val="bg2"/>
                  </a:solidFill>
                  <a:latin typeface="微软雅黑" panose="020B0503020204020204" pitchFamily="34" charset="-122"/>
                  <a:ea typeface="微软雅黑" panose="020B0503020204020204" pitchFamily="34" charset="-122"/>
                </a:rPr>
                <a:t>假设用决策变量    表示产品                   的产量，每种产品的单位贡献为   </a:t>
              </a:r>
              <a:endParaRPr lang="en-US" altLang="zh-CN" b="1" kern="0" dirty="0">
                <a:solidFill>
                  <a:schemeClr val="bg2"/>
                </a:solidFill>
                <a:latin typeface="微软雅黑" panose="020B0503020204020204" pitchFamily="34" charset="-122"/>
                <a:ea typeface="微软雅黑" panose="020B0503020204020204" pitchFamily="34" charset="-122"/>
              </a:endParaRPr>
            </a:p>
            <a:p>
              <a:pPr marL="342900" indent="-342900" algn="just" eaLnBrk="1" hangingPunct="1">
                <a:lnSpc>
                  <a:spcPct val="120000"/>
                </a:lnSpc>
                <a:buFont typeface="Wingdings" panose="05000000000000000000" pitchFamily="2" charset="2"/>
                <a:buChar char="Ø"/>
                <a:defRPr/>
              </a:pPr>
              <a:r>
                <a:rPr lang="zh-CN" altLang="en-US" b="1" kern="0" dirty="0">
                  <a:solidFill>
                    <a:schemeClr val="bg2"/>
                  </a:solidFill>
                  <a:latin typeface="微软雅黑" panose="020B0503020204020204" pitchFamily="34" charset="-122"/>
                  <a:ea typeface="微软雅黑" panose="020B0503020204020204" pitchFamily="34" charset="-122"/>
                </a:rPr>
                <a:t>设共有 </a:t>
              </a:r>
              <a:r>
                <a:rPr lang="en-US" altLang="zh-CN" b="1" kern="0" dirty="0">
                  <a:solidFill>
                    <a:schemeClr val="bg2"/>
                  </a:solidFill>
                  <a:latin typeface="微软雅黑" panose="020B0503020204020204" pitchFamily="34" charset="-122"/>
                  <a:ea typeface="微软雅黑" panose="020B0503020204020204" pitchFamily="34" charset="-122"/>
                </a:rPr>
                <a:t>   </a:t>
              </a:r>
              <a:r>
                <a:rPr lang="zh-CN" altLang="en-US" b="1" kern="0" dirty="0">
                  <a:solidFill>
                    <a:schemeClr val="bg2"/>
                  </a:solidFill>
                  <a:latin typeface="微软雅黑" panose="020B0503020204020204" pitchFamily="34" charset="-122"/>
                  <a:ea typeface="微软雅黑" panose="020B0503020204020204" pitchFamily="34" charset="-122"/>
                </a:rPr>
                <a:t>种资源，其中资源</a:t>
              </a:r>
              <a:r>
                <a:rPr lang="en-US" altLang="zh-CN" b="1" kern="0" dirty="0">
                  <a:solidFill>
                    <a:schemeClr val="bg2"/>
                  </a:solidFill>
                  <a:latin typeface="微软雅黑" panose="020B0503020204020204" pitchFamily="34" charset="-122"/>
                  <a:ea typeface="微软雅黑" panose="020B0503020204020204" pitchFamily="34" charset="-122"/>
                </a:rPr>
                <a:t>                     </a:t>
              </a:r>
              <a:r>
                <a:rPr lang="zh-CN" altLang="en-US" b="1" kern="0" dirty="0">
                  <a:solidFill>
                    <a:schemeClr val="bg2"/>
                  </a:solidFill>
                  <a:latin typeface="微软雅黑" panose="020B0503020204020204" pitchFamily="34" charset="-122"/>
                  <a:ea typeface="微软雅黑" panose="020B0503020204020204" pitchFamily="34" charset="-122"/>
                </a:rPr>
                <a:t>的可用数量为   </a:t>
              </a:r>
              <a:endParaRPr lang="en-US" altLang="zh-CN" b="1" kern="0" dirty="0">
                <a:solidFill>
                  <a:schemeClr val="bg2"/>
                </a:solidFill>
                <a:latin typeface="微软雅黑" panose="020B0503020204020204" pitchFamily="34" charset="-122"/>
                <a:ea typeface="微软雅黑" panose="020B0503020204020204" pitchFamily="34" charset="-122"/>
              </a:endParaRPr>
            </a:p>
            <a:p>
              <a:pPr marL="342900" indent="-342900" algn="just" eaLnBrk="1" hangingPunct="1">
                <a:lnSpc>
                  <a:spcPct val="120000"/>
                </a:lnSpc>
                <a:buFont typeface="Wingdings" panose="05000000000000000000" pitchFamily="2" charset="2"/>
                <a:buChar char="Ø"/>
                <a:defRPr/>
              </a:pPr>
              <a:r>
                <a:rPr lang="zh-CN" altLang="en-US" b="1" kern="0" dirty="0">
                  <a:solidFill>
                    <a:schemeClr val="bg2"/>
                  </a:solidFill>
                  <a:latin typeface="微软雅黑" panose="020B0503020204020204" pitchFamily="34" charset="-122"/>
                  <a:ea typeface="微软雅黑" panose="020B0503020204020204" pitchFamily="34" charset="-122"/>
                </a:rPr>
                <a:t>系数    表示每单位产品   所消耗的资源   的数量 </a:t>
              </a:r>
              <a:endParaRPr lang="zh-CN" altLang="en-US" kern="0" dirty="0">
                <a:solidFill>
                  <a:schemeClr val="bg2"/>
                </a:solidFill>
                <a:latin typeface="微软雅黑" panose="020B0503020204020204" pitchFamily="34" charset="-122"/>
              </a:endParaRPr>
            </a:p>
          </p:txBody>
        </p:sp>
      </p:grpSp>
      <p:graphicFrame>
        <p:nvGraphicFramePr>
          <p:cNvPr id="26" name="对象 12">
            <a:extLst>
              <a:ext uri="{FF2B5EF4-FFF2-40B4-BE49-F238E27FC236}">
                <a16:creationId xmlns:a16="http://schemas.microsoft.com/office/drawing/2014/main" id="{F607FDBB-30EC-4BD0-9A18-2AA80FD69B98}"/>
              </a:ext>
            </a:extLst>
          </p:cNvPr>
          <p:cNvGraphicFramePr>
            <a:graphicFrameLocks noChangeAspect="1"/>
          </p:cNvGraphicFramePr>
          <p:nvPr/>
        </p:nvGraphicFramePr>
        <p:xfrm>
          <a:off x="2725738" y="4292600"/>
          <a:ext cx="3730625" cy="2517775"/>
        </p:xfrm>
        <a:graphic>
          <a:graphicData uri="http://schemas.openxmlformats.org/presentationml/2006/ole">
            <mc:AlternateContent xmlns:mc="http://schemas.openxmlformats.org/markup-compatibility/2006">
              <mc:Choice xmlns:v="urn:schemas-microsoft-com:vml" Requires="v">
                <p:oleObj name="Equation" r:id="rId22" imgW="2070100" imgH="1397000" progId="Equation.DSMT4">
                  <p:embed/>
                </p:oleObj>
              </mc:Choice>
              <mc:Fallback>
                <p:oleObj name="Equation" r:id="rId22" imgW="2070100" imgH="1397000" progId="Equation.DSMT4">
                  <p:embed/>
                  <p:pic>
                    <p:nvPicPr>
                      <p:cNvPr id="26" name="对象 12">
                        <a:extLst>
                          <a:ext uri="{FF2B5EF4-FFF2-40B4-BE49-F238E27FC236}">
                            <a16:creationId xmlns:a16="http://schemas.microsoft.com/office/drawing/2014/main" id="{F607FDBB-30EC-4BD0-9A18-2AA80FD69B9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25738" y="4292600"/>
                        <a:ext cx="3730625"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a:extLst>
              <a:ext uri="{FF2B5EF4-FFF2-40B4-BE49-F238E27FC236}">
                <a16:creationId xmlns:a16="http://schemas.microsoft.com/office/drawing/2014/main" id="{86ADE01B-801A-4D5D-8088-910FFFBCEDA7}"/>
              </a:ext>
            </a:extLst>
          </p:cNvPr>
          <p:cNvSpPr/>
          <p:nvPr/>
        </p:nvSpPr>
        <p:spPr>
          <a:xfrm>
            <a:off x="0" y="3903663"/>
            <a:ext cx="9144000" cy="461962"/>
          </a:xfrm>
          <a:prstGeom prst="rect">
            <a:avLst/>
          </a:prstGeom>
        </p:spPr>
        <p:txBody>
          <a:bodyPr>
            <a:spAutoFit/>
          </a:bodyPr>
          <a:lstStyle/>
          <a:p>
            <a:pPr>
              <a:defRPr/>
            </a:pPr>
            <a:r>
              <a:rPr lang="zh-CN" altLang="en-US" b="1" kern="0" dirty="0">
                <a:solidFill>
                  <a:srgbClr val="006600"/>
                </a:solidFill>
                <a:latin typeface="微软雅黑" panose="020B0503020204020204" pitchFamily="34" charset="-122"/>
                <a:ea typeface="微软雅黑" panose="020B0503020204020204" pitchFamily="34" charset="-122"/>
              </a:rPr>
              <a:t>考虑到所有可用资源的限制，资源配置问题的一般模型为： </a:t>
            </a:r>
            <a:endParaRPr lang="zh-CN" altLang="en-US" dirty="0">
              <a:solidFill>
                <a:srgbClr val="0066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6">
            <a:extLst>
              <a:ext uri="{FF2B5EF4-FFF2-40B4-BE49-F238E27FC236}">
                <a16:creationId xmlns:a16="http://schemas.microsoft.com/office/drawing/2014/main" id="{5986E891-A95E-4B11-8612-5AE9826126B2}"/>
              </a:ext>
            </a:extLst>
          </p:cNvPr>
          <p:cNvSpPr>
            <a:spLocks noGrp="1"/>
          </p:cNvSpPr>
          <p:nvPr>
            <p:ph type="sldNum" sz="quarter" idx="4294967295"/>
          </p:nvPr>
        </p:nvSpPr>
        <p:spPr bwMode="auto">
          <a:xfrm>
            <a:off x="8885238" y="6640513"/>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56C3F5E1-B10B-4336-9DB0-C49BCF250650}" type="slidenum">
              <a:rPr kumimoji="0" lang="en-US" altLang="zh-CN" sz="1000">
                <a:latin typeface="Arial" panose="020B0604020202020204" pitchFamily="34" charset="0"/>
                <a:ea typeface="微软雅黑" panose="020B0503020204020204" pitchFamily="34" charset="-122"/>
              </a:rPr>
              <a:pPr/>
              <a:t>17</a:t>
            </a:fld>
            <a:endParaRPr kumimoji="0" lang="en-US" altLang="zh-CN" sz="1000">
              <a:latin typeface="Arial" panose="020B0604020202020204" pitchFamily="34" charset="0"/>
              <a:ea typeface="微软雅黑" panose="020B0503020204020204" pitchFamily="34" charset="-122"/>
            </a:endParaRPr>
          </a:p>
        </p:txBody>
      </p:sp>
      <p:sp>
        <p:nvSpPr>
          <p:cNvPr id="74755" name="Rectangle 3">
            <a:extLst>
              <a:ext uri="{FF2B5EF4-FFF2-40B4-BE49-F238E27FC236}">
                <a16:creationId xmlns:a16="http://schemas.microsoft.com/office/drawing/2014/main" id="{87437AF6-F285-48E5-BDA6-058D1CCFFF49}"/>
              </a:ext>
            </a:extLst>
          </p:cNvPr>
          <p:cNvSpPr>
            <a:spLocks noGrp="1" noChangeArrowheads="1"/>
          </p:cNvSpPr>
          <p:nvPr>
            <p:ph type="body" sz="half" idx="4294967295"/>
          </p:nvPr>
        </p:nvSpPr>
        <p:spPr>
          <a:xfrm>
            <a:off x="0" y="188913"/>
            <a:ext cx="9144000" cy="2676525"/>
          </a:xfrm>
        </p:spPr>
        <p:txBody>
          <a:bodyPr/>
          <a:lstStyle/>
          <a:p>
            <a:pPr marL="0" indent="0" algn="just" eaLnBrk="1" hangingPunct="1">
              <a:lnSpc>
                <a:spcPct val="120000"/>
              </a:lnSpc>
              <a:spcBef>
                <a:spcPct val="0"/>
              </a:spcBef>
              <a:buFont typeface="Wingdings" panose="05000000000000000000" pitchFamily="2" charset="2"/>
              <a:buNone/>
              <a:defRPr/>
            </a:pPr>
            <a:r>
              <a:rPr lang="zh-CN" altLang="en-US" sz="2400" b="1" dirty="0">
                <a:solidFill>
                  <a:srgbClr val="FF0000"/>
                </a:solidFill>
                <a:latin typeface="微软雅黑" panose="020B0503020204020204" pitchFamily="34" charset="-122"/>
                <a:ea typeface="微软雅黑" panose="020B0503020204020204" pitchFamily="34" charset="-122"/>
              </a:rPr>
              <a:t>例 </a:t>
            </a:r>
            <a:r>
              <a:rPr lang="en-US" altLang="zh-CN" sz="2400" b="1" dirty="0">
                <a:solidFill>
                  <a:srgbClr val="FF0000"/>
                </a:solidFill>
                <a:latin typeface="微软雅黑" panose="020B0503020204020204" pitchFamily="34" charset="-122"/>
                <a:ea typeface="微软雅黑" panose="020B0503020204020204" pitchFamily="34" charset="-122"/>
              </a:rPr>
              <a:t>1.</a:t>
            </a:r>
            <a:r>
              <a:rPr lang="en-US" altLang="zh-CN" sz="2400" b="1" kern="100" dirty="0">
                <a:solidFill>
                  <a:srgbClr val="FF0000"/>
                </a:solidFill>
                <a:latin typeface="微软雅黑" panose="020B0503020204020204" pitchFamily="34" charset="-122"/>
                <a:ea typeface="微软雅黑" panose="020B0503020204020204" pitchFamily="34" charset="-122"/>
              </a:rPr>
              <a:t>2.2</a:t>
            </a:r>
            <a:r>
              <a:rPr lang="en-US" altLang="zh-CN" sz="2400" b="1" dirty="0">
                <a:solidFill>
                  <a:srgbClr val="FF0000"/>
                </a:solidFill>
                <a:latin typeface="微软雅黑" panose="020B0503020204020204" pitchFamily="34" charset="-122"/>
                <a:ea typeface="微软雅黑" panose="020B0503020204020204" pitchFamily="34" charset="-122"/>
              </a:rPr>
              <a:t>  </a:t>
            </a:r>
            <a:r>
              <a:rPr lang="zh-CN" altLang="zh-CN" sz="2400" b="1" kern="100" dirty="0">
                <a:latin typeface="微软雅黑" panose="020B0503020204020204" pitchFamily="34" charset="-122"/>
                <a:ea typeface="微软雅黑" panose="020B0503020204020204" pitchFamily="34" charset="-122"/>
              </a:rPr>
              <a:t>小王决定回老家创业养猪</a:t>
            </a:r>
            <a:r>
              <a:rPr lang="zh-CN" altLang="en-US" sz="2400" b="1" kern="100" dirty="0">
                <a:latin typeface="微软雅黑" panose="020B0503020204020204" pitchFamily="34" charset="-122"/>
                <a:ea typeface="微软雅黑" panose="020B0503020204020204" pitchFamily="34" charset="-122"/>
              </a:rPr>
              <a:t>，他</a:t>
            </a:r>
            <a:r>
              <a:rPr lang="zh-CN" altLang="zh-CN" sz="2400" b="1" kern="100" dirty="0">
                <a:latin typeface="微软雅黑" panose="020B0503020204020204" pitchFamily="34" charset="-122"/>
                <a:ea typeface="微软雅黑" panose="020B0503020204020204" pitchFamily="34" charset="-122"/>
              </a:rPr>
              <a:t>面临的第一个问题是如何搭配一个成本低廉的</a:t>
            </a:r>
            <a:r>
              <a:rPr lang="zh-CN" altLang="en-US" sz="2400" b="1" kern="100" dirty="0">
                <a:latin typeface="微软雅黑" panose="020B0503020204020204" pitchFamily="34" charset="-122"/>
                <a:ea typeface="微软雅黑" panose="020B0503020204020204" pitchFamily="34" charset="-122"/>
              </a:rPr>
              <a:t>饲料</a:t>
            </a:r>
            <a:r>
              <a:rPr lang="zh-CN" altLang="zh-CN" sz="2400" b="1" kern="100" dirty="0">
                <a:latin typeface="微软雅黑" panose="020B0503020204020204" pitchFamily="34" charset="-122"/>
                <a:ea typeface="微软雅黑" panose="020B0503020204020204" pitchFamily="34" charset="-122"/>
              </a:rPr>
              <a:t>混合配方。已知可选的猪饲料包括</a:t>
            </a:r>
            <a:r>
              <a:rPr lang="zh-CN" altLang="zh-CN" sz="2400" b="1" kern="100" dirty="0">
                <a:solidFill>
                  <a:srgbClr val="0000FF"/>
                </a:solidFill>
                <a:latin typeface="微软雅黑" panose="020B0503020204020204" pitchFamily="34" charset="-122"/>
                <a:ea typeface="微软雅黑" panose="020B0503020204020204" pitchFamily="34" charset="-122"/>
              </a:rPr>
              <a:t>玉米、槽料和苜蓿</a:t>
            </a:r>
            <a:r>
              <a:rPr lang="zh-CN" altLang="en-US" sz="2400" b="1" kern="100" dirty="0">
                <a:latin typeface="微软雅黑" panose="020B0503020204020204" pitchFamily="34" charset="-122"/>
                <a:ea typeface="微软雅黑" panose="020B0503020204020204" pitchFamily="34" charset="-122"/>
              </a:rPr>
              <a:t>。</a:t>
            </a:r>
            <a:r>
              <a:rPr lang="zh-CN" altLang="zh-CN" sz="2400" b="1" kern="100" dirty="0">
                <a:latin typeface="微软雅黑" panose="020B0503020204020204" pitchFamily="34" charset="-122"/>
                <a:ea typeface="微软雅黑" panose="020B0503020204020204" pitchFamily="34" charset="-122"/>
              </a:rPr>
              <a:t>经咨询专家，</a:t>
            </a:r>
            <a:r>
              <a:rPr lang="zh-CN" altLang="zh-CN" sz="2400" b="1" kern="100" dirty="0">
                <a:solidFill>
                  <a:srgbClr val="191919"/>
                </a:solidFill>
                <a:latin typeface="微软雅黑" panose="020B0503020204020204" pitchFamily="34" charset="-122"/>
                <a:ea typeface="微软雅黑" panose="020B0503020204020204" pitchFamily="34" charset="-122"/>
              </a:rPr>
              <a:t>小王决定重点保证饲料在</a:t>
            </a:r>
            <a:r>
              <a:rPr lang="zh-CN" altLang="zh-CN" sz="2400" b="1" kern="100" dirty="0">
                <a:solidFill>
                  <a:srgbClr val="0000FF"/>
                </a:solidFill>
                <a:latin typeface="微软雅黑" panose="020B0503020204020204" pitchFamily="34" charset="-122"/>
                <a:ea typeface="微软雅黑" panose="020B0503020204020204" pitchFamily="34" charset="-122"/>
              </a:rPr>
              <a:t>碳水化合物</a:t>
            </a:r>
            <a:r>
              <a:rPr lang="zh-CN" altLang="zh-CN" sz="2400" b="1" kern="100" dirty="0">
                <a:solidFill>
                  <a:srgbClr val="191919"/>
                </a:solidFill>
                <a:latin typeface="微软雅黑" panose="020B0503020204020204" pitchFamily="34" charset="-122"/>
                <a:ea typeface="微软雅黑" panose="020B0503020204020204" pitchFamily="34" charset="-122"/>
              </a:rPr>
              <a:t>和</a:t>
            </a:r>
            <a:r>
              <a:rPr lang="zh-CN" altLang="zh-CN" sz="2400" b="1" kern="100" dirty="0">
                <a:solidFill>
                  <a:srgbClr val="0000FF"/>
                </a:solidFill>
                <a:latin typeface="微软雅黑" panose="020B0503020204020204" pitchFamily="34" charset="-122"/>
                <a:ea typeface="微软雅黑" panose="020B0503020204020204" pitchFamily="34" charset="-122"/>
              </a:rPr>
              <a:t>蛋白质</a:t>
            </a:r>
            <a:r>
              <a:rPr lang="zh-CN" altLang="zh-CN" sz="2400" b="1" kern="100" dirty="0">
                <a:solidFill>
                  <a:srgbClr val="191919"/>
                </a:solidFill>
                <a:latin typeface="微软雅黑" panose="020B0503020204020204" pitchFamily="34" charset="-122"/>
                <a:ea typeface="微软雅黑" panose="020B0503020204020204" pitchFamily="34" charset="-122"/>
              </a:rPr>
              <a:t>方面的要求。</a:t>
            </a:r>
            <a:r>
              <a:rPr lang="zh-CN" altLang="zh-CN" sz="2400" b="1" kern="100" dirty="0">
                <a:latin typeface="微软雅黑" panose="020B0503020204020204" pitchFamily="34" charset="-122"/>
                <a:ea typeface="微软雅黑" panose="020B0503020204020204" pitchFamily="34" charset="-122"/>
              </a:rPr>
              <a:t>各种饲料（每公斤）对应的碳水化合物和蛋白质含量、以及价格如下表示；表的最后一列也给出了科学养猪中对每公斤饲料所含最低营养成分的要求。</a:t>
            </a:r>
            <a:endParaRPr lang="en-US" altLang="zh-CN" sz="2400" b="1" kern="100" dirty="0">
              <a:latin typeface="微软雅黑" panose="020B0503020204020204" pitchFamily="34" charset="-122"/>
              <a:ea typeface="微软雅黑" panose="020B0503020204020204" pitchFamily="34" charset="-122"/>
            </a:endParaRPr>
          </a:p>
          <a:p>
            <a:pPr indent="0" algn="just" eaLnBrk="1" hangingPunct="1">
              <a:lnSpc>
                <a:spcPct val="150000"/>
              </a:lnSpc>
              <a:spcBef>
                <a:spcPct val="0"/>
              </a:spcBef>
              <a:buFont typeface="Wingdings" panose="05000000000000000000" pitchFamily="2" charset="2"/>
              <a:buNone/>
              <a:defRPr/>
            </a:pPr>
            <a:endParaRPr lang="zh-CN" altLang="en-US" sz="2800" dirty="0"/>
          </a:p>
        </p:txBody>
      </p:sp>
      <p:sp>
        <p:nvSpPr>
          <p:cNvPr id="9220" name="Rectangle 8">
            <a:extLst>
              <a:ext uri="{FF2B5EF4-FFF2-40B4-BE49-F238E27FC236}">
                <a16:creationId xmlns:a16="http://schemas.microsoft.com/office/drawing/2014/main" id="{D46E3A78-5834-499A-AA3D-CD592485E25A}"/>
              </a:ext>
            </a:extLst>
          </p:cNvPr>
          <p:cNvSpPr>
            <a:spLocks noChangeArrowheads="1"/>
          </p:cNvSpPr>
          <p:nvPr/>
        </p:nvSpPr>
        <p:spPr bwMode="auto">
          <a:xfrm>
            <a:off x="614363" y="6048375"/>
            <a:ext cx="8353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spcBef>
                <a:spcPct val="20000"/>
              </a:spcBef>
              <a:buClr>
                <a:schemeClr val="bg1"/>
              </a:buClr>
              <a:buSzPct val="100000"/>
              <a:buFont typeface="Wingdings" panose="05000000000000000000" pitchFamily="2" charset="2"/>
              <a:buNone/>
            </a:pPr>
            <a:r>
              <a:rPr lang="zh-CN" altLang="en-US" b="1" u="sng">
                <a:solidFill>
                  <a:srgbClr val="FF0000"/>
                </a:solidFill>
                <a:latin typeface="Arial" panose="020B0604020202020204" pitchFamily="34" charset="0"/>
                <a:ea typeface="楷体" panose="02010609060101010101" pitchFamily="49" charset="-122"/>
              </a:rPr>
              <a:t>小王应该如何调配混合饲料？</a:t>
            </a:r>
          </a:p>
        </p:txBody>
      </p:sp>
      <p:graphicFrame>
        <p:nvGraphicFramePr>
          <p:cNvPr id="3" name="表格 2">
            <a:extLst>
              <a:ext uri="{FF2B5EF4-FFF2-40B4-BE49-F238E27FC236}">
                <a16:creationId xmlns:a16="http://schemas.microsoft.com/office/drawing/2014/main" id="{A69049B2-F6AB-4573-9848-7E8BD0875284}"/>
              </a:ext>
            </a:extLst>
          </p:cNvPr>
          <p:cNvGraphicFramePr>
            <a:graphicFrameLocks noGrp="1"/>
          </p:cNvGraphicFramePr>
          <p:nvPr/>
        </p:nvGraphicFramePr>
        <p:xfrm>
          <a:off x="614363" y="3744913"/>
          <a:ext cx="7661276" cy="2173287"/>
        </p:xfrm>
        <a:graphic>
          <a:graphicData uri="http://schemas.openxmlformats.org/drawingml/2006/table">
            <a:tbl>
              <a:tblPr firstRow="1" firstCol="1" bandRow="1"/>
              <a:tblGrid>
                <a:gridCol w="1661296">
                  <a:extLst>
                    <a:ext uri="{9D8B030D-6E8A-4147-A177-3AD203B41FA5}">
                      <a16:colId xmlns:a16="http://schemas.microsoft.com/office/drawing/2014/main" val="20000"/>
                    </a:ext>
                  </a:extLst>
                </a:gridCol>
                <a:gridCol w="1340991">
                  <a:extLst>
                    <a:ext uri="{9D8B030D-6E8A-4147-A177-3AD203B41FA5}">
                      <a16:colId xmlns:a16="http://schemas.microsoft.com/office/drawing/2014/main" val="20001"/>
                    </a:ext>
                  </a:extLst>
                </a:gridCol>
                <a:gridCol w="1397697">
                  <a:extLst>
                    <a:ext uri="{9D8B030D-6E8A-4147-A177-3AD203B41FA5}">
                      <a16:colId xmlns:a16="http://schemas.microsoft.com/office/drawing/2014/main" val="20002"/>
                    </a:ext>
                  </a:extLst>
                </a:gridCol>
                <a:gridCol w="1397697">
                  <a:extLst>
                    <a:ext uri="{9D8B030D-6E8A-4147-A177-3AD203B41FA5}">
                      <a16:colId xmlns:a16="http://schemas.microsoft.com/office/drawing/2014/main" val="20003"/>
                    </a:ext>
                  </a:extLst>
                </a:gridCol>
                <a:gridCol w="1863595">
                  <a:extLst>
                    <a:ext uri="{9D8B030D-6E8A-4147-A177-3AD203B41FA5}">
                      <a16:colId xmlns:a16="http://schemas.microsoft.com/office/drawing/2014/main" val="20004"/>
                    </a:ext>
                  </a:extLst>
                </a:gridCol>
              </a:tblGrid>
              <a:tr h="914399">
                <a:tc>
                  <a:txBody>
                    <a:bodyPr/>
                    <a:lstStyle/>
                    <a:p>
                      <a:pPr indent="0" algn="ctr">
                        <a:lnSpc>
                          <a:spcPct val="100000"/>
                        </a:lnSpc>
                      </a:pPr>
                      <a:r>
                        <a:rPr lang="en-US" altLang="zh-CN" sz="2000" b="1" kern="100" dirty="0">
                          <a:effectLst/>
                          <a:latin typeface="Times New Roman" panose="02020603050405020304" pitchFamily="18" charset="0"/>
                          <a:ea typeface="微软雅黑" panose="020B0503020204020204" pitchFamily="34" charset="-122"/>
                        </a:rPr>
                        <a:t>        </a:t>
                      </a:r>
                      <a:r>
                        <a:rPr lang="zh-CN" sz="2000" b="1" kern="100" dirty="0">
                          <a:effectLst/>
                          <a:latin typeface="Times New Roman" panose="02020603050405020304" pitchFamily="18" charset="0"/>
                          <a:ea typeface="微软雅黑" panose="020B0503020204020204" pitchFamily="34" charset="-122"/>
                        </a:rPr>
                        <a:t>饲料</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营养</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成分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玉米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槽料</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苜蓿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最小需求量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9629">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碳水化合物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90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9629">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蛋白质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80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55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9629">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成本（元）</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 </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矩形 1">
            <a:extLst>
              <a:ext uri="{FF2B5EF4-FFF2-40B4-BE49-F238E27FC236}">
                <a16:creationId xmlns:a16="http://schemas.microsoft.com/office/drawing/2014/main" id="{574F92F8-3526-4253-A7CD-6374336EDF78}"/>
              </a:ext>
            </a:extLst>
          </p:cNvPr>
          <p:cNvSpPr/>
          <p:nvPr/>
        </p:nvSpPr>
        <p:spPr>
          <a:xfrm>
            <a:off x="614363" y="3181350"/>
            <a:ext cx="7708900" cy="495300"/>
          </a:xfrm>
          <a:prstGeom prst="rect">
            <a:avLst/>
          </a:prstGeom>
        </p:spPr>
        <p:txBody>
          <a:bodyPr wrap="none">
            <a:spAutoFit/>
          </a:bodyPr>
          <a:lstStyle/>
          <a:p>
            <a:pPr algn="ctr" eaLnBrk="1" hangingPunct="1">
              <a:lnSpc>
                <a:spcPct val="150000"/>
              </a:lnSpc>
              <a:defRPr/>
            </a:pPr>
            <a:r>
              <a:rPr lang="zh-CN" altLang="en-US" sz="2000" kern="100" dirty="0">
                <a:latin typeface="Times New Roman" panose="02020603050405020304" pitchFamily="18" charset="0"/>
              </a:rPr>
              <a:t>表</a:t>
            </a:r>
            <a:r>
              <a:rPr lang="en-US" altLang="zh-CN" sz="2000" kern="100" dirty="0">
                <a:latin typeface="Times New Roman" panose="02020603050405020304" pitchFamily="18" charset="0"/>
              </a:rPr>
              <a:t>2-1 </a:t>
            </a:r>
            <a:r>
              <a:rPr lang="zh-CN" altLang="zh-CN" sz="2000" kern="100" dirty="0">
                <a:latin typeface="Times New Roman" panose="02020603050405020304" pitchFamily="18" charset="0"/>
              </a:rPr>
              <a:t>玉米、槽料和苜蓿对应的碳水化合物和蛋白质含量、以及价格</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6">
            <a:extLst>
              <a:ext uri="{FF2B5EF4-FFF2-40B4-BE49-F238E27FC236}">
                <a16:creationId xmlns:a16="http://schemas.microsoft.com/office/drawing/2014/main" id="{01F0D580-C8B2-49A9-AB1B-116C4EBFD87A}"/>
              </a:ext>
            </a:extLst>
          </p:cNvPr>
          <p:cNvSpPr>
            <a:spLocks noGrp="1"/>
          </p:cNvSpPr>
          <p:nvPr>
            <p:ph type="sldNum" sz="quarter" idx="4294967295"/>
          </p:nvPr>
        </p:nvSpPr>
        <p:spPr bwMode="auto">
          <a:xfrm>
            <a:off x="8820150" y="6615113"/>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3DE05C61-2180-4AF5-A510-B201BC026787}" type="slidenum">
              <a:rPr kumimoji="0" lang="en-US" altLang="zh-CN" sz="1000">
                <a:latin typeface="Arial" panose="020B0604020202020204" pitchFamily="34" charset="0"/>
                <a:ea typeface="微软雅黑" panose="020B0503020204020204" pitchFamily="34" charset="-122"/>
              </a:rPr>
              <a:pPr/>
              <a:t>18</a:t>
            </a:fld>
            <a:endParaRPr kumimoji="0" lang="en-US" altLang="zh-CN" sz="1000">
              <a:latin typeface="Arial" panose="020B0604020202020204" pitchFamily="34" charset="0"/>
              <a:ea typeface="微软雅黑" panose="020B0503020204020204" pitchFamily="34" charset="-122"/>
            </a:endParaRPr>
          </a:p>
        </p:txBody>
      </p:sp>
      <p:sp>
        <p:nvSpPr>
          <p:cNvPr id="10243" name="文本框 4">
            <a:extLst>
              <a:ext uri="{FF2B5EF4-FFF2-40B4-BE49-F238E27FC236}">
                <a16:creationId xmlns:a16="http://schemas.microsoft.com/office/drawing/2014/main" id="{8A6A354A-4F44-49D4-8BB8-8CFE57FE10FB}"/>
              </a:ext>
            </a:extLst>
          </p:cNvPr>
          <p:cNvSpPr txBox="1">
            <a:spLocks noChangeArrowheads="1"/>
          </p:cNvSpPr>
          <p:nvPr/>
        </p:nvSpPr>
        <p:spPr bwMode="auto">
          <a:xfrm>
            <a:off x="1828800" y="4057650"/>
            <a:ext cx="75676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endParaRPr lang="zh-CN" altLang="en-US">
              <a:ea typeface="微软雅黑" panose="020B0503020204020204" pitchFamily="34" charset="-122"/>
            </a:endParaRPr>
          </a:p>
        </p:txBody>
      </p:sp>
      <p:grpSp>
        <p:nvGrpSpPr>
          <p:cNvPr id="14" name="组合 13">
            <a:extLst>
              <a:ext uri="{FF2B5EF4-FFF2-40B4-BE49-F238E27FC236}">
                <a16:creationId xmlns:a16="http://schemas.microsoft.com/office/drawing/2014/main" id="{1C9D542F-571F-4E16-B44E-A3AFFE6853E4}"/>
              </a:ext>
            </a:extLst>
          </p:cNvPr>
          <p:cNvGrpSpPr>
            <a:grpSpLocks/>
          </p:cNvGrpSpPr>
          <p:nvPr/>
        </p:nvGrpSpPr>
        <p:grpSpPr bwMode="auto">
          <a:xfrm>
            <a:off x="1450975" y="2924175"/>
            <a:ext cx="8886825" cy="531813"/>
            <a:chOff x="658168" y="1252267"/>
            <a:chExt cx="8888320" cy="531341"/>
          </a:xfrm>
        </p:grpSpPr>
        <p:sp>
          <p:nvSpPr>
            <p:cNvPr id="9" name="Rectangle 3">
              <a:extLst>
                <a:ext uri="{FF2B5EF4-FFF2-40B4-BE49-F238E27FC236}">
                  <a16:creationId xmlns:a16="http://schemas.microsoft.com/office/drawing/2014/main" id="{30B4551F-B443-4661-8F7E-2CC72787DB6A}"/>
                </a:ext>
              </a:extLst>
            </p:cNvPr>
            <p:cNvSpPr txBox="1">
              <a:spLocks noChangeArrowheads="1"/>
            </p:cNvSpPr>
            <p:nvPr/>
          </p:nvSpPr>
          <p:spPr bwMode="auto">
            <a:xfrm>
              <a:off x="832822" y="1252267"/>
              <a:ext cx="8713666"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每公斤混合饲料中</a:t>
              </a:r>
              <a:r>
                <a:rPr lang="zh-CN" altLang="en-US" sz="2400" b="1" kern="0" dirty="0">
                  <a:solidFill>
                    <a:schemeClr val="accent1">
                      <a:lumMod val="50000"/>
                    </a:schemeClr>
                  </a:solidFill>
                  <a:latin typeface="微软雅黑" panose="020B0503020204020204" pitchFamily="34" charset="-122"/>
                  <a:ea typeface="微软雅黑" panose="020B0503020204020204" pitchFamily="34" charset="-122"/>
                </a:rPr>
                <a:t>槽料</a:t>
              </a:r>
              <a:r>
                <a:rPr lang="zh-CN" altLang="en-US" sz="2400" b="1" kern="0" dirty="0">
                  <a:latin typeface="微软雅黑" panose="020B0503020204020204" pitchFamily="34" charset="-122"/>
                  <a:ea typeface="微软雅黑" panose="020B0503020204020204" pitchFamily="34" charset="-122"/>
                </a:rPr>
                <a:t>所占百分比</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0294" name="对象 4">
              <a:extLst>
                <a:ext uri="{FF2B5EF4-FFF2-40B4-BE49-F238E27FC236}">
                  <a16:creationId xmlns:a16="http://schemas.microsoft.com/office/drawing/2014/main" id="{6C2B1CF3-EC7C-4440-80E7-1713AD9E8F3D}"/>
                </a:ext>
              </a:extLst>
            </p:cNvPr>
            <p:cNvGraphicFramePr>
              <a:graphicFrameLocks noChangeAspect="1"/>
            </p:cNvGraphicFramePr>
            <p:nvPr/>
          </p:nvGraphicFramePr>
          <p:xfrm>
            <a:off x="658168" y="1296667"/>
            <a:ext cx="558800" cy="381000"/>
          </p:xfrm>
          <a:graphic>
            <a:graphicData uri="http://schemas.openxmlformats.org/presentationml/2006/ole">
              <mc:AlternateContent xmlns:mc="http://schemas.openxmlformats.org/markup-compatibility/2006">
                <mc:Choice xmlns:v="urn:schemas-microsoft-com:vml" Requires="v">
                  <p:oleObj name="Equation" r:id="rId2" imgW="558800" imgH="381000" progId="Equation.DSMT4">
                    <p:embed/>
                  </p:oleObj>
                </mc:Choice>
                <mc:Fallback>
                  <p:oleObj name="Equation" r:id="rId2" imgW="558800" imgH="381000" progId="Equation.DSMT4">
                    <p:embed/>
                    <p:pic>
                      <p:nvPicPr>
                        <p:cNvPr id="10294" name="对象 4">
                          <a:extLst>
                            <a:ext uri="{FF2B5EF4-FFF2-40B4-BE49-F238E27FC236}">
                              <a16:creationId xmlns:a16="http://schemas.microsoft.com/office/drawing/2014/main" id="{6C2B1CF3-EC7C-4440-80E7-1713AD9E8F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168" y="1296667"/>
                          <a:ext cx="558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5" name="组合 14">
            <a:extLst>
              <a:ext uri="{FF2B5EF4-FFF2-40B4-BE49-F238E27FC236}">
                <a16:creationId xmlns:a16="http://schemas.microsoft.com/office/drawing/2014/main" id="{0BE87D96-E793-4999-A1F8-955F828667E5}"/>
              </a:ext>
            </a:extLst>
          </p:cNvPr>
          <p:cNvGrpSpPr>
            <a:grpSpLocks/>
          </p:cNvGrpSpPr>
          <p:nvPr/>
        </p:nvGrpSpPr>
        <p:grpSpPr bwMode="auto">
          <a:xfrm>
            <a:off x="1476375" y="2349500"/>
            <a:ext cx="8861425" cy="530225"/>
            <a:chOff x="683568" y="768075"/>
            <a:chExt cx="8862920" cy="531341"/>
          </a:xfrm>
        </p:grpSpPr>
        <p:sp>
          <p:nvSpPr>
            <p:cNvPr id="8" name="Rectangle 3">
              <a:extLst>
                <a:ext uri="{FF2B5EF4-FFF2-40B4-BE49-F238E27FC236}">
                  <a16:creationId xmlns:a16="http://schemas.microsoft.com/office/drawing/2014/main" id="{F32A1531-C928-4801-86DD-C42B2B6F6F85}"/>
                </a:ext>
              </a:extLst>
            </p:cNvPr>
            <p:cNvSpPr txBox="1">
              <a:spLocks noChangeArrowheads="1"/>
            </p:cNvSpPr>
            <p:nvPr/>
          </p:nvSpPr>
          <p:spPr bwMode="auto">
            <a:xfrm>
              <a:off x="832818" y="768075"/>
              <a:ext cx="8713670"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每公斤混合饲料中</a:t>
              </a:r>
              <a:r>
                <a:rPr lang="zh-CN" altLang="en-US" sz="2400" b="1" kern="0" dirty="0">
                  <a:solidFill>
                    <a:schemeClr val="accent1">
                      <a:lumMod val="50000"/>
                    </a:schemeClr>
                  </a:solidFill>
                  <a:latin typeface="微软雅黑" panose="020B0503020204020204" pitchFamily="34" charset="-122"/>
                  <a:ea typeface="微软雅黑" panose="020B0503020204020204" pitchFamily="34" charset="-122"/>
                </a:rPr>
                <a:t>玉米</a:t>
              </a:r>
              <a:r>
                <a:rPr lang="zh-CN" altLang="en-US" sz="2400" b="1" kern="0" dirty="0">
                  <a:latin typeface="微软雅黑" panose="020B0503020204020204" pitchFamily="34" charset="-122"/>
                  <a:ea typeface="微软雅黑" panose="020B0503020204020204" pitchFamily="34" charset="-122"/>
                </a:rPr>
                <a:t>所占百分比</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0292" name="对象 6">
              <a:extLst>
                <a:ext uri="{FF2B5EF4-FFF2-40B4-BE49-F238E27FC236}">
                  <a16:creationId xmlns:a16="http://schemas.microsoft.com/office/drawing/2014/main" id="{578D7FE0-1806-4073-8048-E8AAF8D413B2}"/>
                </a:ext>
              </a:extLst>
            </p:cNvPr>
            <p:cNvGraphicFramePr>
              <a:graphicFrameLocks noChangeAspect="1"/>
            </p:cNvGraphicFramePr>
            <p:nvPr/>
          </p:nvGraphicFramePr>
          <p:xfrm>
            <a:off x="683568" y="786570"/>
            <a:ext cx="533400" cy="381000"/>
          </p:xfrm>
          <a:graphic>
            <a:graphicData uri="http://schemas.openxmlformats.org/presentationml/2006/ole">
              <mc:AlternateContent xmlns:mc="http://schemas.openxmlformats.org/markup-compatibility/2006">
                <mc:Choice xmlns:v="urn:schemas-microsoft-com:vml" Requires="v">
                  <p:oleObj name="Equation" r:id="rId4" imgW="533169" imgH="380835" progId="Equation.DSMT4">
                    <p:embed/>
                  </p:oleObj>
                </mc:Choice>
                <mc:Fallback>
                  <p:oleObj name="Equation" r:id="rId4" imgW="533169" imgH="380835" progId="Equation.DSMT4">
                    <p:embed/>
                    <p:pic>
                      <p:nvPicPr>
                        <p:cNvPr id="10292" name="对象 6">
                          <a:extLst>
                            <a:ext uri="{FF2B5EF4-FFF2-40B4-BE49-F238E27FC236}">
                              <a16:creationId xmlns:a16="http://schemas.microsoft.com/office/drawing/2014/main" id="{578D7FE0-1806-4073-8048-E8AAF8D413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78657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 name="组合 12">
            <a:extLst>
              <a:ext uri="{FF2B5EF4-FFF2-40B4-BE49-F238E27FC236}">
                <a16:creationId xmlns:a16="http://schemas.microsoft.com/office/drawing/2014/main" id="{83116401-C582-407C-955D-806356AA5783}"/>
              </a:ext>
            </a:extLst>
          </p:cNvPr>
          <p:cNvGrpSpPr>
            <a:grpSpLocks/>
          </p:cNvGrpSpPr>
          <p:nvPr/>
        </p:nvGrpSpPr>
        <p:grpSpPr bwMode="auto">
          <a:xfrm>
            <a:off x="1450975" y="3473450"/>
            <a:ext cx="8878888" cy="531813"/>
            <a:chOff x="658168" y="1753165"/>
            <a:chExt cx="8879122" cy="531341"/>
          </a:xfrm>
        </p:grpSpPr>
        <p:sp>
          <p:nvSpPr>
            <p:cNvPr id="10" name="Rectangle 3">
              <a:extLst>
                <a:ext uri="{FF2B5EF4-FFF2-40B4-BE49-F238E27FC236}">
                  <a16:creationId xmlns:a16="http://schemas.microsoft.com/office/drawing/2014/main" id="{50A67DF1-13E7-40E7-9F83-867C46653AD7}"/>
                </a:ext>
              </a:extLst>
            </p:cNvPr>
            <p:cNvSpPr txBox="1">
              <a:spLocks noChangeArrowheads="1"/>
            </p:cNvSpPr>
            <p:nvPr/>
          </p:nvSpPr>
          <p:spPr bwMode="auto">
            <a:xfrm>
              <a:off x="824860" y="1753165"/>
              <a:ext cx="8712430"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每公斤混合饲料中</a:t>
              </a:r>
              <a:r>
                <a:rPr lang="zh-CN" altLang="zh-CN" sz="2400" b="1" kern="100" dirty="0">
                  <a:solidFill>
                    <a:schemeClr val="accent1">
                      <a:lumMod val="50000"/>
                    </a:schemeClr>
                  </a:solidFill>
                  <a:latin typeface="Times New Roman" panose="02020603050405020304" pitchFamily="18" charset="0"/>
                  <a:ea typeface="微软雅黑" panose="020B0503020204020204" pitchFamily="34" charset="-122"/>
                </a:rPr>
                <a:t>苜蓿</a:t>
              </a:r>
              <a:r>
                <a:rPr lang="zh-CN" altLang="en-US" sz="2400" b="1" kern="0" dirty="0">
                  <a:latin typeface="微软雅黑" panose="020B0503020204020204" pitchFamily="34" charset="-122"/>
                  <a:ea typeface="微软雅黑" panose="020B0503020204020204" pitchFamily="34" charset="-122"/>
                </a:rPr>
                <a:t>所占百分比</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0290" name="对象 10">
              <a:extLst>
                <a:ext uri="{FF2B5EF4-FFF2-40B4-BE49-F238E27FC236}">
                  <a16:creationId xmlns:a16="http://schemas.microsoft.com/office/drawing/2014/main" id="{66AFD4E1-C289-4A88-8465-A11BEBE7FA5D}"/>
                </a:ext>
              </a:extLst>
            </p:cNvPr>
            <p:cNvGraphicFramePr>
              <a:graphicFrameLocks noChangeAspect="1"/>
            </p:cNvGraphicFramePr>
            <p:nvPr/>
          </p:nvGraphicFramePr>
          <p:xfrm>
            <a:off x="658168" y="1799002"/>
            <a:ext cx="558800" cy="381000"/>
          </p:xfrm>
          <a:graphic>
            <a:graphicData uri="http://schemas.openxmlformats.org/presentationml/2006/ole">
              <mc:AlternateContent xmlns:mc="http://schemas.openxmlformats.org/markup-compatibility/2006">
                <mc:Choice xmlns:v="urn:schemas-microsoft-com:vml" Requires="v">
                  <p:oleObj name="Equation" r:id="rId6" imgW="558800" imgH="381000" progId="Equation.DSMT4">
                    <p:embed/>
                  </p:oleObj>
                </mc:Choice>
                <mc:Fallback>
                  <p:oleObj name="Equation" r:id="rId6" imgW="558800" imgH="381000" progId="Equation.DSMT4">
                    <p:embed/>
                    <p:pic>
                      <p:nvPicPr>
                        <p:cNvPr id="10290" name="对象 10">
                          <a:extLst>
                            <a:ext uri="{FF2B5EF4-FFF2-40B4-BE49-F238E27FC236}">
                              <a16:creationId xmlns:a16="http://schemas.microsoft.com/office/drawing/2014/main" id="{66AFD4E1-C289-4A88-8465-A11BEBE7FA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168" y="1799002"/>
                          <a:ext cx="558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1" name="Rectangle 3">
            <a:extLst>
              <a:ext uri="{FF2B5EF4-FFF2-40B4-BE49-F238E27FC236}">
                <a16:creationId xmlns:a16="http://schemas.microsoft.com/office/drawing/2014/main" id="{1E566B21-4133-4A7A-AEF1-A2E53DB6B4B8}"/>
              </a:ext>
            </a:extLst>
          </p:cNvPr>
          <p:cNvSpPr txBox="1">
            <a:spLocks noChangeArrowheads="1"/>
          </p:cNvSpPr>
          <p:nvPr/>
        </p:nvSpPr>
        <p:spPr bwMode="auto">
          <a:xfrm>
            <a:off x="106363" y="2366963"/>
            <a:ext cx="963612" cy="514350"/>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设：</a:t>
            </a:r>
            <a:endParaRPr lang="zh-CN" altLang="en-US" sz="2400" b="1" kern="0" dirty="0">
              <a:latin typeface="微软雅黑" panose="020B0503020204020204" pitchFamily="34" charset="-122"/>
            </a:endParaRPr>
          </a:p>
        </p:txBody>
      </p:sp>
      <p:grpSp>
        <p:nvGrpSpPr>
          <p:cNvPr id="22" name="组合 21">
            <a:extLst>
              <a:ext uri="{FF2B5EF4-FFF2-40B4-BE49-F238E27FC236}">
                <a16:creationId xmlns:a16="http://schemas.microsoft.com/office/drawing/2014/main" id="{DA2D349D-5EF7-4DD9-AC75-B3B7A4281B60}"/>
              </a:ext>
            </a:extLst>
          </p:cNvPr>
          <p:cNvGrpSpPr>
            <a:grpSpLocks/>
          </p:cNvGrpSpPr>
          <p:nvPr/>
        </p:nvGrpSpPr>
        <p:grpSpPr bwMode="auto">
          <a:xfrm>
            <a:off x="307975" y="3971925"/>
            <a:ext cx="8712200" cy="531813"/>
            <a:chOff x="833520" y="768075"/>
            <a:chExt cx="8712968" cy="531341"/>
          </a:xfrm>
        </p:grpSpPr>
        <p:sp>
          <p:nvSpPr>
            <p:cNvPr id="23" name="Rectangle 3">
              <a:extLst>
                <a:ext uri="{FF2B5EF4-FFF2-40B4-BE49-F238E27FC236}">
                  <a16:creationId xmlns:a16="http://schemas.microsoft.com/office/drawing/2014/main" id="{42656D2A-CACC-4147-A47D-79BAA58EA07D}"/>
                </a:ext>
              </a:extLst>
            </p:cNvPr>
            <p:cNvSpPr txBox="1">
              <a:spLocks noChangeArrowheads="1"/>
            </p:cNvSpPr>
            <p:nvPr/>
          </p:nvSpPr>
          <p:spPr bwMode="auto">
            <a:xfrm>
              <a:off x="833520" y="768075"/>
              <a:ext cx="8712968"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如果用   表示每公斤</a:t>
              </a:r>
              <a:r>
                <a:rPr lang="zh-CN" altLang="en-US" sz="2400" b="1" kern="0" dirty="0">
                  <a:solidFill>
                    <a:srgbClr val="0000FF"/>
                  </a:solidFill>
                  <a:latin typeface="微软雅黑" panose="020B0503020204020204" pitchFamily="34" charset="-122"/>
                  <a:ea typeface="微软雅黑" panose="020B0503020204020204" pitchFamily="34" charset="-122"/>
                </a:rPr>
                <a:t>混合饲料的总成本</a:t>
              </a:r>
              <a:r>
                <a:rPr lang="zh-CN" altLang="en-US" sz="2400" b="1" kern="0" dirty="0">
                  <a:latin typeface="微软雅黑" panose="020B0503020204020204" pitchFamily="34" charset="-122"/>
                  <a:ea typeface="微软雅黑" panose="020B0503020204020204" pitchFamily="34" charset="-122"/>
                </a:rPr>
                <a:t>，则其表达式为：</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0288" name="对象 23">
              <a:extLst>
                <a:ext uri="{FF2B5EF4-FFF2-40B4-BE49-F238E27FC236}">
                  <a16:creationId xmlns:a16="http://schemas.microsoft.com/office/drawing/2014/main" id="{78E743BD-94FC-4A3E-897F-0B98EC07FF64}"/>
                </a:ext>
              </a:extLst>
            </p:cNvPr>
            <p:cNvGraphicFramePr>
              <a:graphicFrameLocks noChangeAspect="1"/>
            </p:cNvGraphicFramePr>
            <p:nvPr/>
          </p:nvGraphicFramePr>
          <p:xfrm>
            <a:off x="2241649" y="938495"/>
            <a:ext cx="190500" cy="190500"/>
          </p:xfrm>
          <a:graphic>
            <a:graphicData uri="http://schemas.openxmlformats.org/presentationml/2006/ole">
              <mc:AlternateContent xmlns:mc="http://schemas.openxmlformats.org/markup-compatibility/2006">
                <mc:Choice xmlns:v="urn:schemas-microsoft-com:vml" Requires="v">
                  <p:oleObj name="Equation" r:id="rId8" imgW="190417" imgH="190417" progId="Equation.DSMT4">
                    <p:embed/>
                  </p:oleObj>
                </mc:Choice>
                <mc:Fallback>
                  <p:oleObj name="Equation" r:id="rId8" imgW="190417" imgH="190417" progId="Equation.DSMT4">
                    <p:embed/>
                    <p:pic>
                      <p:nvPicPr>
                        <p:cNvPr id="10288" name="对象 23">
                          <a:extLst>
                            <a:ext uri="{FF2B5EF4-FFF2-40B4-BE49-F238E27FC236}">
                              <a16:creationId xmlns:a16="http://schemas.microsoft.com/office/drawing/2014/main" id="{78E743BD-94FC-4A3E-897F-0B98EC07FF6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41649" y="938495"/>
                          <a:ext cx="1905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6" name="对象 15">
            <a:extLst>
              <a:ext uri="{FF2B5EF4-FFF2-40B4-BE49-F238E27FC236}">
                <a16:creationId xmlns:a16="http://schemas.microsoft.com/office/drawing/2014/main" id="{1D5C9981-2821-4A13-9B2F-0DE24F097085}"/>
              </a:ext>
            </a:extLst>
          </p:cNvPr>
          <p:cNvGraphicFramePr>
            <a:graphicFrameLocks noChangeAspect="1"/>
          </p:cNvGraphicFramePr>
          <p:nvPr/>
        </p:nvGraphicFramePr>
        <p:xfrm>
          <a:off x="3495675" y="4452938"/>
          <a:ext cx="2717800" cy="381000"/>
        </p:xfrm>
        <a:graphic>
          <a:graphicData uri="http://schemas.openxmlformats.org/presentationml/2006/ole">
            <mc:AlternateContent xmlns:mc="http://schemas.openxmlformats.org/markup-compatibility/2006">
              <mc:Choice xmlns:v="urn:schemas-microsoft-com:vml" Requires="v">
                <p:oleObj name="Equation" r:id="rId10" imgW="2717800" imgH="381000" progId="Equation.DSMT4">
                  <p:embed/>
                </p:oleObj>
              </mc:Choice>
              <mc:Fallback>
                <p:oleObj name="Equation" r:id="rId10" imgW="2717800" imgH="381000" progId="Equation.DSMT4">
                  <p:embed/>
                  <p:pic>
                    <p:nvPicPr>
                      <p:cNvPr id="16" name="对象 15">
                        <a:extLst>
                          <a:ext uri="{FF2B5EF4-FFF2-40B4-BE49-F238E27FC236}">
                            <a16:creationId xmlns:a16="http://schemas.microsoft.com/office/drawing/2014/main" id="{1D5C9981-2821-4A13-9B2F-0DE24F09708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95675" y="4452938"/>
                        <a:ext cx="2717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Rectangle 3">
            <a:extLst>
              <a:ext uri="{FF2B5EF4-FFF2-40B4-BE49-F238E27FC236}">
                <a16:creationId xmlns:a16="http://schemas.microsoft.com/office/drawing/2014/main" id="{1CBFF5AA-0DF2-4D87-A6AF-C6AAEABCF50B}"/>
              </a:ext>
            </a:extLst>
          </p:cNvPr>
          <p:cNvSpPr txBox="1">
            <a:spLocks noChangeArrowheads="1"/>
          </p:cNvSpPr>
          <p:nvPr/>
        </p:nvSpPr>
        <p:spPr bwMode="auto">
          <a:xfrm>
            <a:off x="307975" y="4805363"/>
            <a:ext cx="8712200" cy="531812"/>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混合饲料中的</a:t>
            </a:r>
            <a:r>
              <a:rPr lang="zh-CN" altLang="en-US" sz="2400" b="1" kern="0" dirty="0">
                <a:solidFill>
                  <a:srgbClr val="0000FF"/>
                </a:solidFill>
                <a:latin typeface="微软雅黑" panose="020B0503020204020204" pitchFamily="34" charset="-122"/>
                <a:ea typeface="微软雅黑" panose="020B0503020204020204" pitchFamily="34" charset="-122"/>
              </a:rPr>
              <a:t>碳水化合物</a:t>
            </a:r>
            <a:r>
              <a:rPr lang="zh-CN" altLang="en-US" sz="2400" b="1" kern="0" dirty="0">
                <a:latin typeface="微软雅黑" panose="020B0503020204020204" pitchFamily="34" charset="-122"/>
                <a:ea typeface="微软雅黑" panose="020B0503020204020204" pitchFamily="34" charset="-122"/>
              </a:rPr>
              <a:t>总含量不低于</a:t>
            </a:r>
            <a:r>
              <a:rPr lang="en-US" altLang="zh-CN" sz="2400" b="1" kern="0" dirty="0">
                <a:solidFill>
                  <a:srgbClr val="0000FF"/>
                </a:solidFill>
                <a:latin typeface="微软雅黑" panose="020B0503020204020204" pitchFamily="34" charset="-122"/>
                <a:ea typeface="微软雅黑" panose="020B0503020204020204" pitchFamily="34" charset="-122"/>
              </a:rPr>
              <a:t>60</a:t>
            </a:r>
            <a:r>
              <a:rPr lang="zh-CN" altLang="en-US" sz="2400" b="1" kern="0" dirty="0">
                <a:latin typeface="微软雅黑" panose="020B0503020204020204" pitchFamily="34" charset="-122"/>
                <a:ea typeface="微软雅黑" panose="020B0503020204020204" pitchFamily="34" charset="-122"/>
              </a:rPr>
              <a:t>单位：</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31" name="对象 30">
            <a:extLst>
              <a:ext uri="{FF2B5EF4-FFF2-40B4-BE49-F238E27FC236}">
                <a16:creationId xmlns:a16="http://schemas.microsoft.com/office/drawing/2014/main" id="{B9FE745B-E846-4C64-BE2D-64FF6162F04A}"/>
              </a:ext>
            </a:extLst>
          </p:cNvPr>
          <p:cNvGraphicFramePr>
            <a:graphicFrameLocks noChangeAspect="1"/>
          </p:cNvGraphicFramePr>
          <p:nvPr/>
        </p:nvGraphicFramePr>
        <p:xfrm>
          <a:off x="3394075" y="5289550"/>
          <a:ext cx="2921000" cy="381000"/>
        </p:xfrm>
        <a:graphic>
          <a:graphicData uri="http://schemas.openxmlformats.org/presentationml/2006/ole">
            <mc:AlternateContent xmlns:mc="http://schemas.openxmlformats.org/markup-compatibility/2006">
              <mc:Choice xmlns:v="urn:schemas-microsoft-com:vml" Requires="v">
                <p:oleObj name="Equation" r:id="rId12" imgW="2921000" imgH="381000" progId="Equation.DSMT4">
                  <p:embed/>
                </p:oleObj>
              </mc:Choice>
              <mc:Fallback>
                <p:oleObj name="Equation" r:id="rId12" imgW="2921000" imgH="381000" progId="Equation.DSMT4">
                  <p:embed/>
                  <p:pic>
                    <p:nvPicPr>
                      <p:cNvPr id="31" name="对象 30">
                        <a:extLst>
                          <a:ext uri="{FF2B5EF4-FFF2-40B4-BE49-F238E27FC236}">
                            <a16:creationId xmlns:a16="http://schemas.microsoft.com/office/drawing/2014/main" id="{B9FE745B-E846-4C64-BE2D-64FF6162F04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94075" y="5289550"/>
                        <a:ext cx="292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Rectangle 3">
            <a:extLst>
              <a:ext uri="{FF2B5EF4-FFF2-40B4-BE49-F238E27FC236}">
                <a16:creationId xmlns:a16="http://schemas.microsoft.com/office/drawing/2014/main" id="{797AE9BF-DBE2-4E46-B3BD-BB87EDF36F21}"/>
              </a:ext>
            </a:extLst>
          </p:cNvPr>
          <p:cNvSpPr txBox="1">
            <a:spLocks noChangeArrowheads="1"/>
          </p:cNvSpPr>
          <p:nvPr/>
        </p:nvSpPr>
        <p:spPr bwMode="auto">
          <a:xfrm>
            <a:off x="307975" y="5716588"/>
            <a:ext cx="8712200" cy="531812"/>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混合饲料中的</a:t>
            </a:r>
            <a:r>
              <a:rPr lang="zh-CN" altLang="en-US" sz="2400" b="1" kern="0" dirty="0">
                <a:solidFill>
                  <a:srgbClr val="0000FF"/>
                </a:solidFill>
                <a:latin typeface="微软雅黑" panose="020B0503020204020204" pitchFamily="34" charset="-122"/>
                <a:ea typeface="微软雅黑" panose="020B0503020204020204" pitchFamily="34" charset="-122"/>
              </a:rPr>
              <a:t>蛋白质</a:t>
            </a:r>
            <a:r>
              <a:rPr lang="zh-CN" altLang="en-US" sz="2400" b="1" kern="0" dirty="0">
                <a:latin typeface="微软雅黑" panose="020B0503020204020204" pitchFamily="34" charset="-122"/>
                <a:ea typeface="微软雅黑" panose="020B0503020204020204" pitchFamily="34" charset="-122"/>
              </a:rPr>
              <a:t>总含量不低于</a:t>
            </a:r>
            <a:r>
              <a:rPr lang="en-US" altLang="zh-CN" sz="2400" b="1" kern="0" dirty="0">
                <a:solidFill>
                  <a:srgbClr val="0000FF"/>
                </a:solidFill>
                <a:latin typeface="微软雅黑" panose="020B0503020204020204" pitchFamily="34" charset="-122"/>
                <a:ea typeface="微软雅黑" panose="020B0503020204020204" pitchFamily="34" charset="-122"/>
              </a:rPr>
              <a:t>55</a:t>
            </a:r>
            <a:r>
              <a:rPr lang="zh-CN" altLang="en-US" sz="2400" b="1" kern="0" dirty="0">
                <a:latin typeface="微软雅黑" panose="020B0503020204020204" pitchFamily="34" charset="-122"/>
                <a:ea typeface="微软雅黑" panose="020B0503020204020204" pitchFamily="34" charset="-122"/>
              </a:rPr>
              <a:t>单位：</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39" name="对象 38">
            <a:extLst>
              <a:ext uri="{FF2B5EF4-FFF2-40B4-BE49-F238E27FC236}">
                <a16:creationId xmlns:a16="http://schemas.microsoft.com/office/drawing/2014/main" id="{AED78676-F234-4F01-8A72-81AEB33DCDE2}"/>
              </a:ext>
            </a:extLst>
          </p:cNvPr>
          <p:cNvGraphicFramePr>
            <a:graphicFrameLocks noChangeAspect="1"/>
          </p:cNvGraphicFramePr>
          <p:nvPr/>
        </p:nvGraphicFramePr>
        <p:xfrm>
          <a:off x="3373438" y="6216650"/>
          <a:ext cx="2908300" cy="381000"/>
        </p:xfrm>
        <a:graphic>
          <a:graphicData uri="http://schemas.openxmlformats.org/presentationml/2006/ole">
            <mc:AlternateContent xmlns:mc="http://schemas.openxmlformats.org/markup-compatibility/2006">
              <mc:Choice xmlns:v="urn:schemas-microsoft-com:vml" Requires="v">
                <p:oleObj name="Equation" r:id="rId14" imgW="2908300" imgH="381000" progId="Equation.DSMT4">
                  <p:embed/>
                </p:oleObj>
              </mc:Choice>
              <mc:Fallback>
                <p:oleObj name="Equation" r:id="rId14" imgW="2908300" imgH="381000" progId="Equation.DSMT4">
                  <p:embed/>
                  <p:pic>
                    <p:nvPicPr>
                      <p:cNvPr id="39" name="对象 38">
                        <a:extLst>
                          <a:ext uri="{FF2B5EF4-FFF2-40B4-BE49-F238E27FC236}">
                            <a16:creationId xmlns:a16="http://schemas.microsoft.com/office/drawing/2014/main" id="{AED78676-F234-4F01-8A72-81AEB33DCDE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73438" y="6216650"/>
                        <a:ext cx="29083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 name="表格 49">
            <a:extLst>
              <a:ext uri="{FF2B5EF4-FFF2-40B4-BE49-F238E27FC236}">
                <a16:creationId xmlns:a16="http://schemas.microsoft.com/office/drawing/2014/main" id="{C6CF7325-6351-4735-AA72-72F7C7D2245F}"/>
              </a:ext>
            </a:extLst>
          </p:cNvPr>
          <p:cNvGraphicFramePr>
            <a:graphicFrameLocks noGrp="1"/>
          </p:cNvGraphicFramePr>
          <p:nvPr/>
        </p:nvGraphicFramePr>
        <p:xfrm>
          <a:off x="539750" y="68263"/>
          <a:ext cx="7661276" cy="2174875"/>
        </p:xfrm>
        <a:graphic>
          <a:graphicData uri="http://schemas.openxmlformats.org/drawingml/2006/table">
            <a:tbl>
              <a:tblPr firstRow="1" firstCol="1" bandRow="1"/>
              <a:tblGrid>
                <a:gridCol w="1661296">
                  <a:extLst>
                    <a:ext uri="{9D8B030D-6E8A-4147-A177-3AD203B41FA5}">
                      <a16:colId xmlns:a16="http://schemas.microsoft.com/office/drawing/2014/main" val="20000"/>
                    </a:ext>
                  </a:extLst>
                </a:gridCol>
                <a:gridCol w="1340991">
                  <a:extLst>
                    <a:ext uri="{9D8B030D-6E8A-4147-A177-3AD203B41FA5}">
                      <a16:colId xmlns:a16="http://schemas.microsoft.com/office/drawing/2014/main" val="20001"/>
                    </a:ext>
                  </a:extLst>
                </a:gridCol>
                <a:gridCol w="1397697">
                  <a:extLst>
                    <a:ext uri="{9D8B030D-6E8A-4147-A177-3AD203B41FA5}">
                      <a16:colId xmlns:a16="http://schemas.microsoft.com/office/drawing/2014/main" val="20002"/>
                    </a:ext>
                  </a:extLst>
                </a:gridCol>
                <a:gridCol w="1397697">
                  <a:extLst>
                    <a:ext uri="{9D8B030D-6E8A-4147-A177-3AD203B41FA5}">
                      <a16:colId xmlns:a16="http://schemas.microsoft.com/office/drawing/2014/main" val="20003"/>
                    </a:ext>
                  </a:extLst>
                </a:gridCol>
                <a:gridCol w="1863595">
                  <a:extLst>
                    <a:ext uri="{9D8B030D-6E8A-4147-A177-3AD203B41FA5}">
                      <a16:colId xmlns:a16="http://schemas.microsoft.com/office/drawing/2014/main" val="20004"/>
                    </a:ext>
                  </a:extLst>
                </a:gridCol>
              </a:tblGrid>
              <a:tr h="914794">
                <a:tc>
                  <a:txBody>
                    <a:bodyPr/>
                    <a:lstStyle/>
                    <a:p>
                      <a:pPr indent="0" algn="ctr">
                        <a:lnSpc>
                          <a:spcPct val="100000"/>
                        </a:lnSpc>
                      </a:pPr>
                      <a:r>
                        <a:rPr lang="en-US" altLang="zh-CN" sz="2000" b="1" kern="100" dirty="0">
                          <a:effectLst/>
                          <a:latin typeface="Times New Roman" panose="02020603050405020304" pitchFamily="18" charset="0"/>
                          <a:ea typeface="微软雅黑" panose="020B0503020204020204" pitchFamily="34" charset="-122"/>
                        </a:rPr>
                        <a:t>        </a:t>
                      </a:r>
                      <a:r>
                        <a:rPr lang="zh-CN" sz="2000" b="1" kern="100" dirty="0">
                          <a:effectLst/>
                          <a:latin typeface="Times New Roman" panose="02020603050405020304" pitchFamily="18" charset="0"/>
                          <a:ea typeface="微软雅黑" panose="020B0503020204020204" pitchFamily="34" charset="-122"/>
                        </a:rPr>
                        <a:t>饲料</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营养</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成分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玉米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槽料</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苜蓿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最小需求量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碳水化合物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90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蛋白质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80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55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成本（元）</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 </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ransition spd="slow">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par>
                          <p:cTn id="11" fill="hold" nodeType="afterGroup">
                            <p:stCondLst>
                              <p:cond delay="500"/>
                            </p:stCondLst>
                            <p:childTnLst>
                              <p:par>
                                <p:cTn id="12" presetID="10" presetClass="entr" presetSubtype="0"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5" fill="hold" nodeType="afterGroup">
                            <p:stCondLst>
                              <p:cond delay="1000"/>
                            </p:stCondLst>
                            <p:childTnLst>
                              <p:par>
                                <p:cTn id="16" presetID="10" presetClass="entr" presetSubtype="0"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1"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barn(inVertical)">
                                      <p:cBhvr>
                                        <p:cTn id="23" dur="500"/>
                                        <p:tgtEl>
                                          <p:spTgt spid="16"/>
                                        </p:tgtEl>
                                      </p:cBhvr>
                                    </p:animEffect>
                                  </p:childTnLst>
                                </p:cTn>
                              </p:par>
                              <p:par>
                                <p:cTn id="24" presetID="16" presetClass="entr" presetSubtype="21"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barn(inVertical)">
                                      <p:cBhvr>
                                        <p:cTn id="26" dur="500"/>
                                        <p:tgtEl>
                                          <p:spTgt spid="2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wipe(up)">
                                      <p:cBhvr>
                                        <p:cTn id="39" dur="500"/>
                                        <p:tgtEl>
                                          <p:spTgt spid="38"/>
                                        </p:tgtEl>
                                      </p:cBhvr>
                                    </p:animEffect>
                                  </p:childTnLst>
                                </p:cTn>
                              </p:par>
                              <p:par>
                                <p:cTn id="40" presetID="22" presetClass="entr" presetSubtype="1" fill="hold" nodeType="with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wipe(up)">
                                      <p:cBhvr>
                                        <p:cTn id="4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9" grpId="0"/>
      <p:bldP spid="3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a:extLst>
              <a:ext uri="{FF2B5EF4-FFF2-40B4-BE49-F238E27FC236}">
                <a16:creationId xmlns:a16="http://schemas.microsoft.com/office/drawing/2014/main" id="{392EDC94-397C-4149-B28B-7DE586678073}"/>
              </a:ext>
            </a:extLst>
          </p:cNvPr>
          <p:cNvSpPr>
            <a:spLocks noGrp="1"/>
          </p:cNvSpPr>
          <p:nvPr>
            <p:ph type="sldNum" sz="quarter" idx="4294967295"/>
          </p:nvPr>
        </p:nvSpPr>
        <p:spPr bwMode="auto">
          <a:xfrm>
            <a:off x="8820150" y="6629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518E05F0-1A16-442B-A536-1EE2BED7B725}" type="slidenum">
              <a:rPr kumimoji="0" lang="en-US" altLang="zh-CN" sz="1000">
                <a:latin typeface="Arial" panose="020B0604020202020204" pitchFamily="34" charset="0"/>
                <a:ea typeface="微软雅黑" panose="020B0503020204020204" pitchFamily="34" charset="-122"/>
              </a:rPr>
              <a:pPr/>
              <a:t>19</a:t>
            </a:fld>
            <a:endParaRPr kumimoji="0" lang="en-US" altLang="zh-CN" sz="1000">
              <a:latin typeface="Arial" panose="020B0604020202020204" pitchFamily="34" charset="0"/>
              <a:ea typeface="微软雅黑" panose="020B0503020204020204" pitchFamily="34" charset="-122"/>
            </a:endParaRPr>
          </a:p>
        </p:txBody>
      </p:sp>
      <p:sp>
        <p:nvSpPr>
          <p:cNvPr id="12292" name="Rectangle 9">
            <a:extLst>
              <a:ext uri="{FF2B5EF4-FFF2-40B4-BE49-F238E27FC236}">
                <a16:creationId xmlns:a16="http://schemas.microsoft.com/office/drawing/2014/main" id="{E4A0F997-B576-4EB5-A4DF-6A04CBFF1DA5}"/>
              </a:ext>
            </a:extLst>
          </p:cNvPr>
          <p:cNvSpPr>
            <a:spLocks noChangeArrowheads="1"/>
          </p:cNvSpPr>
          <p:nvPr/>
        </p:nvSpPr>
        <p:spPr bwMode="auto">
          <a:xfrm>
            <a:off x="19050" y="3795713"/>
            <a:ext cx="4908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eaLnBrk="1" hangingPunct="1">
              <a:spcBef>
                <a:spcPct val="20000"/>
              </a:spcBef>
              <a:buClr>
                <a:schemeClr val="bg1"/>
              </a:buClr>
              <a:buSzPct val="100000"/>
              <a:buFont typeface="Wingdings" panose="05000000000000000000" pitchFamily="2" charset="2"/>
              <a:buNone/>
            </a:pPr>
            <a:r>
              <a:rPr lang="zh-CN" altLang="en-US" sz="2800" b="1">
                <a:solidFill>
                  <a:srgbClr val="FF0000"/>
                </a:solidFill>
                <a:latin typeface="Arial" panose="020B0604020202020204" pitchFamily="34" charset="0"/>
                <a:ea typeface="微软雅黑" panose="020B0503020204020204" pitchFamily="34" charset="-122"/>
              </a:rPr>
              <a:t>得到本问题的数学模型为：</a:t>
            </a:r>
          </a:p>
        </p:txBody>
      </p:sp>
      <p:graphicFrame>
        <p:nvGraphicFramePr>
          <p:cNvPr id="11268" name="对象 3">
            <a:extLst>
              <a:ext uri="{FF2B5EF4-FFF2-40B4-BE49-F238E27FC236}">
                <a16:creationId xmlns:a16="http://schemas.microsoft.com/office/drawing/2014/main" id="{D00C2D59-9C3F-4227-9575-3E88CA348658}"/>
              </a:ext>
            </a:extLst>
          </p:cNvPr>
          <p:cNvGraphicFramePr>
            <a:graphicFrameLocks noChangeAspect="1"/>
          </p:cNvGraphicFramePr>
          <p:nvPr/>
        </p:nvGraphicFramePr>
        <p:xfrm>
          <a:off x="7350125" y="4287838"/>
          <a:ext cx="914400" cy="198437"/>
        </p:xfrm>
        <a:graphic>
          <a:graphicData uri="http://schemas.openxmlformats.org/presentationml/2006/ole">
            <mc:AlternateContent xmlns:mc="http://schemas.openxmlformats.org/markup-compatibility/2006">
              <mc:Choice xmlns:v="urn:schemas-microsoft-com:vml" Requires="v">
                <p:oleObj name="Equation" r:id="rId2" imgW="435285" imgH="677109" progId="Equation.DSMT4">
                  <p:embed/>
                </p:oleObj>
              </mc:Choice>
              <mc:Fallback>
                <p:oleObj name="Equation" r:id="rId2" imgW="435285" imgH="677109" progId="Equation.DSMT4">
                  <p:embed/>
                  <p:pic>
                    <p:nvPicPr>
                      <p:cNvPr id="11268" name="对象 3">
                        <a:extLst>
                          <a:ext uri="{FF2B5EF4-FFF2-40B4-BE49-F238E27FC236}">
                            <a16:creationId xmlns:a16="http://schemas.microsoft.com/office/drawing/2014/main" id="{D00C2D59-9C3F-4227-9575-3E88CA3486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0125" y="4287838"/>
                        <a:ext cx="9144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9" name="对象 4">
            <a:extLst>
              <a:ext uri="{FF2B5EF4-FFF2-40B4-BE49-F238E27FC236}">
                <a16:creationId xmlns:a16="http://schemas.microsoft.com/office/drawing/2014/main" id="{F27FFE8B-8225-4546-9B4F-C141D304FB7C}"/>
              </a:ext>
            </a:extLst>
          </p:cNvPr>
          <p:cNvGraphicFramePr>
            <a:graphicFrameLocks noChangeAspect="1"/>
          </p:cNvGraphicFramePr>
          <p:nvPr/>
        </p:nvGraphicFramePr>
        <p:xfrm>
          <a:off x="7350125" y="4287838"/>
          <a:ext cx="914400" cy="198437"/>
        </p:xfrm>
        <a:graphic>
          <a:graphicData uri="http://schemas.openxmlformats.org/presentationml/2006/ole">
            <mc:AlternateContent xmlns:mc="http://schemas.openxmlformats.org/markup-compatibility/2006">
              <mc:Choice xmlns:v="urn:schemas-microsoft-com:vml" Requires="v">
                <p:oleObj name="Equation" r:id="rId4" imgW="435285" imgH="677109" progId="Equation.DSMT4">
                  <p:embed/>
                </p:oleObj>
              </mc:Choice>
              <mc:Fallback>
                <p:oleObj name="Equation" r:id="rId4" imgW="435285" imgH="677109" progId="Equation.DSMT4">
                  <p:embed/>
                  <p:pic>
                    <p:nvPicPr>
                      <p:cNvPr id="11269" name="对象 4">
                        <a:extLst>
                          <a:ext uri="{FF2B5EF4-FFF2-40B4-BE49-F238E27FC236}">
                            <a16:creationId xmlns:a16="http://schemas.microsoft.com/office/drawing/2014/main" id="{F27FFE8B-8225-4546-9B4F-C141D304F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0125" y="4287838"/>
                        <a:ext cx="9144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a:extLst>
              <a:ext uri="{FF2B5EF4-FFF2-40B4-BE49-F238E27FC236}">
                <a16:creationId xmlns:a16="http://schemas.microsoft.com/office/drawing/2014/main" id="{D6A452E3-66D9-4C01-8EB1-52628A6DCFC2}"/>
              </a:ext>
            </a:extLst>
          </p:cNvPr>
          <p:cNvSpPr txBox="1">
            <a:spLocks noChangeArrowheads="1"/>
          </p:cNvSpPr>
          <p:nvPr/>
        </p:nvSpPr>
        <p:spPr bwMode="auto">
          <a:xfrm>
            <a:off x="228600" y="4857750"/>
            <a:ext cx="2052638"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solidFill>
                  <a:srgbClr val="006600"/>
                </a:solidFill>
                <a:latin typeface="微软雅黑" panose="020B0503020204020204" pitchFamily="34" charset="-122"/>
                <a:ea typeface="微软雅黑" panose="020B0503020204020204" pitchFamily="34" charset="-122"/>
              </a:rPr>
              <a:t>约束条件：</a:t>
            </a:r>
            <a:endParaRPr lang="zh-CN" altLang="en-US" sz="2400" b="1" kern="0" dirty="0">
              <a:solidFill>
                <a:srgbClr val="006600"/>
              </a:solidFill>
              <a:latin typeface="微软雅黑" panose="020B0503020204020204" pitchFamily="34" charset="-122"/>
            </a:endParaRPr>
          </a:p>
        </p:txBody>
      </p:sp>
      <p:sp>
        <p:nvSpPr>
          <p:cNvPr id="11" name="Rectangle 3">
            <a:extLst>
              <a:ext uri="{FF2B5EF4-FFF2-40B4-BE49-F238E27FC236}">
                <a16:creationId xmlns:a16="http://schemas.microsoft.com/office/drawing/2014/main" id="{FD371C2A-C775-4D8B-9EE8-3203F505FC81}"/>
              </a:ext>
            </a:extLst>
          </p:cNvPr>
          <p:cNvSpPr txBox="1">
            <a:spLocks noChangeArrowheads="1"/>
          </p:cNvSpPr>
          <p:nvPr/>
        </p:nvSpPr>
        <p:spPr bwMode="auto">
          <a:xfrm>
            <a:off x="1892300" y="4876800"/>
            <a:ext cx="2211388" cy="530225"/>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碳水化合物：</a:t>
            </a:r>
            <a:endParaRPr lang="zh-CN" altLang="en-US" sz="2400" b="1" kern="0" dirty="0">
              <a:latin typeface="微软雅黑" panose="020B0503020204020204" pitchFamily="34" charset="-122"/>
            </a:endParaRPr>
          </a:p>
        </p:txBody>
      </p:sp>
      <p:sp>
        <p:nvSpPr>
          <p:cNvPr id="12" name="Rectangle 3">
            <a:extLst>
              <a:ext uri="{FF2B5EF4-FFF2-40B4-BE49-F238E27FC236}">
                <a16:creationId xmlns:a16="http://schemas.microsoft.com/office/drawing/2014/main" id="{9862C4F2-75B3-4925-BF02-7E7741349906}"/>
              </a:ext>
            </a:extLst>
          </p:cNvPr>
          <p:cNvSpPr txBox="1">
            <a:spLocks noChangeArrowheads="1"/>
          </p:cNvSpPr>
          <p:nvPr/>
        </p:nvSpPr>
        <p:spPr bwMode="auto">
          <a:xfrm>
            <a:off x="1897063" y="5343525"/>
            <a:ext cx="2211387"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蛋白质：</a:t>
            </a:r>
            <a:endParaRPr lang="zh-CN" altLang="en-US" sz="2400" b="1" kern="0" dirty="0">
              <a:latin typeface="微软雅黑" panose="020B0503020204020204" pitchFamily="34" charset="-122"/>
            </a:endParaRPr>
          </a:p>
        </p:txBody>
      </p:sp>
      <p:sp>
        <p:nvSpPr>
          <p:cNvPr id="13" name="Rectangle 3">
            <a:extLst>
              <a:ext uri="{FF2B5EF4-FFF2-40B4-BE49-F238E27FC236}">
                <a16:creationId xmlns:a16="http://schemas.microsoft.com/office/drawing/2014/main" id="{CC6CE442-8FC9-4213-BC3B-E9F51CD9E7E8}"/>
              </a:ext>
            </a:extLst>
          </p:cNvPr>
          <p:cNvSpPr txBox="1">
            <a:spLocks noChangeArrowheads="1"/>
          </p:cNvSpPr>
          <p:nvPr/>
        </p:nvSpPr>
        <p:spPr bwMode="auto">
          <a:xfrm>
            <a:off x="1892300" y="5875338"/>
            <a:ext cx="2211388" cy="531812"/>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百分比：</a:t>
            </a:r>
            <a:endParaRPr lang="zh-CN" altLang="en-US" sz="2400" b="1" kern="0" dirty="0">
              <a:latin typeface="微软雅黑" panose="020B0503020204020204" pitchFamily="34" charset="-122"/>
            </a:endParaRPr>
          </a:p>
        </p:txBody>
      </p:sp>
      <p:sp>
        <p:nvSpPr>
          <p:cNvPr id="14" name="Rectangle 3">
            <a:extLst>
              <a:ext uri="{FF2B5EF4-FFF2-40B4-BE49-F238E27FC236}">
                <a16:creationId xmlns:a16="http://schemas.microsoft.com/office/drawing/2014/main" id="{D5DC8CAE-C42F-43A0-B58E-88A29FD4F343}"/>
              </a:ext>
            </a:extLst>
          </p:cNvPr>
          <p:cNvSpPr txBox="1">
            <a:spLocks noChangeArrowheads="1"/>
          </p:cNvSpPr>
          <p:nvPr/>
        </p:nvSpPr>
        <p:spPr bwMode="auto">
          <a:xfrm>
            <a:off x="1900238" y="6332538"/>
            <a:ext cx="2211387" cy="531812"/>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非负性：</a:t>
            </a:r>
            <a:endParaRPr lang="zh-CN" altLang="en-US" sz="2400" b="1" kern="0" dirty="0">
              <a:latin typeface="微软雅黑" panose="020B0503020204020204" pitchFamily="34" charset="-122"/>
            </a:endParaRPr>
          </a:p>
        </p:txBody>
      </p:sp>
      <p:graphicFrame>
        <p:nvGraphicFramePr>
          <p:cNvPr id="5" name="对象 4">
            <a:extLst>
              <a:ext uri="{FF2B5EF4-FFF2-40B4-BE49-F238E27FC236}">
                <a16:creationId xmlns:a16="http://schemas.microsoft.com/office/drawing/2014/main" id="{1102A6AA-6E0F-4D4F-8E52-14F95D6C4904}"/>
              </a:ext>
            </a:extLst>
          </p:cNvPr>
          <p:cNvGraphicFramePr>
            <a:graphicFrameLocks noChangeAspect="1"/>
          </p:cNvGraphicFramePr>
          <p:nvPr/>
        </p:nvGraphicFramePr>
        <p:xfrm>
          <a:off x="2617788" y="4397375"/>
          <a:ext cx="3302000" cy="381000"/>
        </p:xfrm>
        <a:graphic>
          <a:graphicData uri="http://schemas.openxmlformats.org/presentationml/2006/ole">
            <mc:AlternateContent xmlns:mc="http://schemas.openxmlformats.org/markup-compatibility/2006">
              <mc:Choice xmlns:v="urn:schemas-microsoft-com:vml" Requires="v">
                <p:oleObj name="Equation" r:id="rId5" imgW="3302000" imgH="381000" progId="Equation.DSMT4">
                  <p:embed/>
                </p:oleObj>
              </mc:Choice>
              <mc:Fallback>
                <p:oleObj name="Equation" r:id="rId5" imgW="3302000" imgH="381000" progId="Equation.DSMT4">
                  <p:embed/>
                  <p:pic>
                    <p:nvPicPr>
                      <p:cNvPr id="5" name="对象 4">
                        <a:extLst>
                          <a:ext uri="{FF2B5EF4-FFF2-40B4-BE49-F238E27FC236}">
                            <a16:creationId xmlns:a16="http://schemas.microsoft.com/office/drawing/2014/main" id="{1102A6AA-6E0F-4D4F-8E52-14F95D6C49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7788" y="4397375"/>
                        <a:ext cx="330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a:extLst>
              <a:ext uri="{FF2B5EF4-FFF2-40B4-BE49-F238E27FC236}">
                <a16:creationId xmlns:a16="http://schemas.microsoft.com/office/drawing/2014/main" id="{CB383CF1-FD15-46F2-96F2-60FCF5732584}"/>
              </a:ext>
            </a:extLst>
          </p:cNvPr>
          <p:cNvGraphicFramePr>
            <a:graphicFrameLocks noChangeAspect="1"/>
          </p:cNvGraphicFramePr>
          <p:nvPr/>
        </p:nvGraphicFramePr>
        <p:xfrm>
          <a:off x="4268788" y="4894263"/>
          <a:ext cx="2921000" cy="381000"/>
        </p:xfrm>
        <a:graphic>
          <a:graphicData uri="http://schemas.openxmlformats.org/presentationml/2006/ole">
            <mc:AlternateContent xmlns:mc="http://schemas.openxmlformats.org/markup-compatibility/2006">
              <mc:Choice xmlns:v="urn:schemas-microsoft-com:vml" Requires="v">
                <p:oleObj name="Equation" r:id="rId7" imgW="2921000" imgH="381000" progId="Equation.DSMT4">
                  <p:embed/>
                </p:oleObj>
              </mc:Choice>
              <mc:Fallback>
                <p:oleObj name="Equation" r:id="rId7" imgW="2921000" imgH="381000" progId="Equation.DSMT4">
                  <p:embed/>
                  <p:pic>
                    <p:nvPicPr>
                      <p:cNvPr id="20" name="对象 19">
                        <a:extLst>
                          <a:ext uri="{FF2B5EF4-FFF2-40B4-BE49-F238E27FC236}">
                            <a16:creationId xmlns:a16="http://schemas.microsoft.com/office/drawing/2014/main" id="{CB383CF1-FD15-46F2-96F2-60FCF573258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8788" y="4894263"/>
                        <a:ext cx="292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a:extLst>
              <a:ext uri="{FF2B5EF4-FFF2-40B4-BE49-F238E27FC236}">
                <a16:creationId xmlns:a16="http://schemas.microsoft.com/office/drawing/2014/main" id="{C709AB17-C3D2-4B8E-9C60-B6D804C674A8}"/>
              </a:ext>
            </a:extLst>
          </p:cNvPr>
          <p:cNvGraphicFramePr>
            <a:graphicFrameLocks noChangeAspect="1"/>
          </p:cNvGraphicFramePr>
          <p:nvPr/>
        </p:nvGraphicFramePr>
        <p:xfrm>
          <a:off x="3556000" y="5405438"/>
          <a:ext cx="2908300" cy="381000"/>
        </p:xfrm>
        <a:graphic>
          <a:graphicData uri="http://schemas.openxmlformats.org/presentationml/2006/ole">
            <mc:AlternateContent xmlns:mc="http://schemas.openxmlformats.org/markup-compatibility/2006">
              <mc:Choice xmlns:v="urn:schemas-microsoft-com:vml" Requires="v">
                <p:oleObj name="Equation" r:id="rId9" imgW="2908300" imgH="381000" progId="Equation.DSMT4">
                  <p:embed/>
                </p:oleObj>
              </mc:Choice>
              <mc:Fallback>
                <p:oleObj name="Equation" r:id="rId9" imgW="2908300" imgH="381000" progId="Equation.DSMT4">
                  <p:embed/>
                  <p:pic>
                    <p:nvPicPr>
                      <p:cNvPr id="21" name="对象 20">
                        <a:extLst>
                          <a:ext uri="{FF2B5EF4-FFF2-40B4-BE49-F238E27FC236}">
                            <a16:creationId xmlns:a16="http://schemas.microsoft.com/office/drawing/2014/main" id="{C709AB17-C3D2-4B8E-9C60-B6D804C674A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56000" y="5405438"/>
                        <a:ext cx="29083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a:extLst>
              <a:ext uri="{FF2B5EF4-FFF2-40B4-BE49-F238E27FC236}">
                <a16:creationId xmlns:a16="http://schemas.microsoft.com/office/drawing/2014/main" id="{2EE4A3BE-4D55-4C04-AEED-21F10912AE3F}"/>
              </a:ext>
            </a:extLst>
          </p:cNvPr>
          <p:cNvGraphicFramePr>
            <a:graphicFrameLocks noChangeAspect="1"/>
          </p:cNvGraphicFramePr>
          <p:nvPr/>
        </p:nvGraphicFramePr>
        <p:xfrm>
          <a:off x="3559175" y="5897563"/>
          <a:ext cx="1803400" cy="381000"/>
        </p:xfrm>
        <a:graphic>
          <a:graphicData uri="http://schemas.openxmlformats.org/presentationml/2006/ole">
            <mc:AlternateContent xmlns:mc="http://schemas.openxmlformats.org/markup-compatibility/2006">
              <mc:Choice xmlns:v="urn:schemas-microsoft-com:vml" Requires="v">
                <p:oleObj name="Equation" r:id="rId11" imgW="1803400" imgH="381000" progId="Equation.DSMT4">
                  <p:embed/>
                </p:oleObj>
              </mc:Choice>
              <mc:Fallback>
                <p:oleObj name="Equation" r:id="rId11" imgW="1803400" imgH="381000" progId="Equation.DSMT4">
                  <p:embed/>
                  <p:pic>
                    <p:nvPicPr>
                      <p:cNvPr id="22" name="对象 21">
                        <a:extLst>
                          <a:ext uri="{FF2B5EF4-FFF2-40B4-BE49-F238E27FC236}">
                            <a16:creationId xmlns:a16="http://schemas.microsoft.com/office/drawing/2014/main" id="{2EE4A3BE-4D55-4C04-AEED-21F10912AE3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9175" y="5897563"/>
                        <a:ext cx="180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对象 27">
            <a:extLst>
              <a:ext uri="{FF2B5EF4-FFF2-40B4-BE49-F238E27FC236}">
                <a16:creationId xmlns:a16="http://schemas.microsoft.com/office/drawing/2014/main" id="{64CC6A53-C46D-4D2D-9D9C-802AA2B2149F}"/>
              </a:ext>
            </a:extLst>
          </p:cNvPr>
          <p:cNvGraphicFramePr>
            <a:graphicFrameLocks noChangeAspect="1"/>
          </p:cNvGraphicFramePr>
          <p:nvPr/>
        </p:nvGraphicFramePr>
        <p:xfrm>
          <a:off x="3556000" y="6369050"/>
          <a:ext cx="1524000" cy="381000"/>
        </p:xfrm>
        <a:graphic>
          <a:graphicData uri="http://schemas.openxmlformats.org/presentationml/2006/ole">
            <mc:AlternateContent xmlns:mc="http://schemas.openxmlformats.org/markup-compatibility/2006">
              <mc:Choice xmlns:v="urn:schemas-microsoft-com:vml" Requires="v">
                <p:oleObj name="Equation" r:id="rId13" imgW="1524000" imgH="381000" progId="Equation.DSMT4">
                  <p:embed/>
                </p:oleObj>
              </mc:Choice>
              <mc:Fallback>
                <p:oleObj name="Equation" r:id="rId13" imgW="1524000" imgH="381000" progId="Equation.DSMT4">
                  <p:embed/>
                  <p:pic>
                    <p:nvPicPr>
                      <p:cNvPr id="28" name="对象 27">
                        <a:extLst>
                          <a:ext uri="{FF2B5EF4-FFF2-40B4-BE49-F238E27FC236}">
                            <a16:creationId xmlns:a16="http://schemas.microsoft.com/office/drawing/2014/main" id="{64CC6A53-C46D-4D2D-9D9C-802AA2B2149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56000" y="6369050"/>
                        <a:ext cx="152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a:extLst>
              <a:ext uri="{FF2B5EF4-FFF2-40B4-BE49-F238E27FC236}">
                <a16:creationId xmlns:a16="http://schemas.microsoft.com/office/drawing/2014/main" id="{5CDACE62-BD09-4510-B338-9B4F3D801313}"/>
              </a:ext>
            </a:extLst>
          </p:cNvPr>
          <p:cNvSpPr>
            <a:spLocks noChangeArrowheads="1"/>
          </p:cNvSpPr>
          <p:nvPr/>
        </p:nvSpPr>
        <p:spPr bwMode="auto">
          <a:xfrm>
            <a:off x="2401888" y="4518025"/>
            <a:ext cx="144462" cy="152400"/>
          </a:xfrm>
          <a:prstGeom prst="rect">
            <a:avLst/>
          </a:prstGeom>
          <a:solidFill>
            <a:srgbClr val="0000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4" name="Rectangle 3">
            <a:extLst>
              <a:ext uri="{FF2B5EF4-FFF2-40B4-BE49-F238E27FC236}">
                <a16:creationId xmlns:a16="http://schemas.microsoft.com/office/drawing/2014/main" id="{EEEE488C-0A98-479B-8DED-85A659F174A0}"/>
              </a:ext>
            </a:extLst>
          </p:cNvPr>
          <p:cNvSpPr txBox="1">
            <a:spLocks noChangeArrowheads="1"/>
          </p:cNvSpPr>
          <p:nvPr/>
        </p:nvSpPr>
        <p:spPr bwMode="auto">
          <a:xfrm>
            <a:off x="128588" y="2266950"/>
            <a:ext cx="8712200"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混合饲料中三种饲料的</a:t>
            </a:r>
            <a:r>
              <a:rPr lang="zh-CN" altLang="en-US" sz="2400" b="1" kern="0" dirty="0">
                <a:solidFill>
                  <a:srgbClr val="0000FF"/>
                </a:solidFill>
                <a:latin typeface="微软雅黑" panose="020B0503020204020204" pitchFamily="34" charset="-122"/>
                <a:ea typeface="微软雅黑" panose="020B0503020204020204" pitchFamily="34" charset="-122"/>
              </a:rPr>
              <a:t>总含量之合</a:t>
            </a:r>
            <a:r>
              <a:rPr lang="zh-CN" altLang="en-US" sz="2400" b="1" kern="0" dirty="0">
                <a:latin typeface="微软雅黑" panose="020B0503020204020204" pitchFamily="34" charset="-122"/>
                <a:ea typeface="微软雅黑" panose="020B0503020204020204" pitchFamily="34" charset="-122"/>
              </a:rPr>
              <a:t>应该刚好</a:t>
            </a:r>
            <a:r>
              <a:rPr lang="zh-CN" altLang="en-US" sz="2400" b="1" kern="0" dirty="0">
                <a:solidFill>
                  <a:srgbClr val="0000FF"/>
                </a:solidFill>
                <a:latin typeface="微软雅黑" panose="020B0503020204020204" pitchFamily="34" charset="-122"/>
                <a:ea typeface="微软雅黑" panose="020B0503020204020204" pitchFamily="34" charset="-122"/>
              </a:rPr>
              <a:t>等于</a:t>
            </a:r>
            <a:r>
              <a:rPr lang="en-US" altLang="zh-CN" sz="2400" b="1" kern="0" dirty="0">
                <a:solidFill>
                  <a:srgbClr val="0000FF"/>
                </a:solidFill>
                <a:latin typeface="微软雅黑" panose="020B0503020204020204" pitchFamily="34" charset="-122"/>
                <a:ea typeface="微软雅黑" panose="020B0503020204020204" pitchFamily="34" charset="-122"/>
              </a:rPr>
              <a:t>1</a:t>
            </a:r>
            <a:r>
              <a:rPr lang="zh-CN" altLang="en-US" sz="2400" b="1" kern="0" dirty="0">
                <a:latin typeface="微软雅黑" panose="020B0503020204020204" pitchFamily="34" charset="-122"/>
                <a:ea typeface="微软雅黑" panose="020B0503020204020204" pitchFamily="34" charset="-122"/>
              </a:rPr>
              <a:t>：</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35" name="对象 34">
            <a:extLst>
              <a:ext uri="{FF2B5EF4-FFF2-40B4-BE49-F238E27FC236}">
                <a16:creationId xmlns:a16="http://schemas.microsoft.com/office/drawing/2014/main" id="{25C3909A-BC07-44E2-A265-1922F007E4C3}"/>
              </a:ext>
            </a:extLst>
          </p:cNvPr>
          <p:cNvGraphicFramePr>
            <a:graphicFrameLocks noChangeAspect="1"/>
          </p:cNvGraphicFramePr>
          <p:nvPr/>
        </p:nvGraphicFramePr>
        <p:xfrm>
          <a:off x="3670300" y="2681288"/>
          <a:ext cx="1803400" cy="381000"/>
        </p:xfrm>
        <a:graphic>
          <a:graphicData uri="http://schemas.openxmlformats.org/presentationml/2006/ole">
            <mc:AlternateContent xmlns:mc="http://schemas.openxmlformats.org/markup-compatibility/2006">
              <mc:Choice xmlns:v="urn:schemas-microsoft-com:vml" Requires="v">
                <p:oleObj name="Equation" r:id="rId15" imgW="1803400" imgH="381000" progId="Equation.DSMT4">
                  <p:embed/>
                </p:oleObj>
              </mc:Choice>
              <mc:Fallback>
                <p:oleObj name="Equation" r:id="rId15" imgW="1803400" imgH="381000" progId="Equation.DSMT4">
                  <p:embed/>
                  <p:pic>
                    <p:nvPicPr>
                      <p:cNvPr id="35" name="对象 34">
                        <a:extLst>
                          <a:ext uri="{FF2B5EF4-FFF2-40B4-BE49-F238E27FC236}">
                            <a16:creationId xmlns:a16="http://schemas.microsoft.com/office/drawing/2014/main" id="{25C3909A-BC07-44E2-A265-1922F007E4C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70300" y="2681288"/>
                        <a:ext cx="180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6" name="组合 35">
            <a:extLst>
              <a:ext uri="{FF2B5EF4-FFF2-40B4-BE49-F238E27FC236}">
                <a16:creationId xmlns:a16="http://schemas.microsoft.com/office/drawing/2014/main" id="{E9960615-0794-4B3E-BE96-BD9EB3EC892F}"/>
              </a:ext>
            </a:extLst>
          </p:cNvPr>
          <p:cNvGrpSpPr>
            <a:grpSpLocks/>
          </p:cNvGrpSpPr>
          <p:nvPr/>
        </p:nvGrpSpPr>
        <p:grpSpPr bwMode="auto">
          <a:xfrm>
            <a:off x="128588" y="3117850"/>
            <a:ext cx="8712200" cy="530225"/>
            <a:chOff x="-279316" y="5888508"/>
            <a:chExt cx="8712968" cy="531341"/>
          </a:xfrm>
        </p:grpSpPr>
        <p:grpSp>
          <p:nvGrpSpPr>
            <p:cNvPr id="11317" name="组合 36">
              <a:extLst>
                <a:ext uri="{FF2B5EF4-FFF2-40B4-BE49-F238E27FC236}">
                  <a16:creationId xmlns:a16="http://schemas.microsoft.com/office/drawing/2014/main" id="{A2857938-4496-4CC6-ADF6-C2814627753D}"/>
                </a:ext>
              </a:extLst>
            </p:cNvPr>
            <p:cNvGrpSpPr>
              <a:grpSpLocks/>
            </p:cNvGrpSpPr>
            <p:nvPr/>
          </p:nvGrpSpPr>
          <p:grpSpPr bwMode="auto">
            <a:xfrm>
              <a:off x="-279316" y="5888508"/>
              <a:ext cx="8712968" cy="531341"/>
              <a:chOff x="833520" y="768075"/>
              <a:chExt cx="8712968" cy="531341"/>
            </a:xfrm>
          </p:grpSpPr>
          <p:sp>
            <p:nvSpPr>
              <p:cNvPr id="40" name="Rectangle 3">
                <a:extLst>
                  <a:ext uri="{FF2B5EF4-FFF2-40B4-BE49-F238E27FC236}">
                    <a16:creationId xmlns:a16="http://schemas.microsoft.com/office/drawing/2014/main" id="{E583ACED-FB9C-47F2-B7A3-04112B2C5F9D}"/>
                  </a:ext>
                </a:extLst>
              </p:cNvPr>
              <p:cNvSpPr txBox="1">
                <a:spLocks noChangeArrowheads="1"/>
              </p:cNvSpPr>
              <p:nvPr/>
            </p:nvSpPr>
            <p:spPr bwMode="auto">
              <a:xfrm>
                <a:off x="833520" y="768075"/>
                <a:ext cx="8712968" cy="531341"/>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各种饲料的含量必须为</a:t>
                </a:r>
                <a:r>
                  <a:rPr lang="zh-CN" altLang="en-US" sz="2400" b="1" kern="0" dirty="0">
                    <a:solidFill>
                      <a:srgbClr val="0000FF"/>
                    </a:solidFill>
                    <a:latin typeface="微软雅黑" panose="020B0503020204020204" pitchFamily="34" charset="-122"/>
                    <a:ea typeface="微软雅黑" panose="020B0503020204020204" pitchFamily="34" charset="-122"/>
                  </a:rPr>
                  <a:t>非负</a:t>
                </a:r>
                <a:r>
                  <a:rPr lang="zh-CN" altLang="en-US" sz="2400" b="1" kern="0" dirty="0">
                    <a:latin typeface="微软雅黑" panose="020B0503020204020204" pitchFamily="34" charset="-122"/>
                    <a:ea typeface="微软雅黑" panose="020B0503020204020204" pitchFamily="34" charset="-122"/>
                  </a:rPr>
                  <a:t>：  ，  ， </a:t>
                </a:r>
                <a:endParaRPr lang="en-US" altLang="zh-CN" sz="2400" b="1" kern="0" dirty="0">
                  <a:latin typeface="微软雅黑" panose="020B0503020204020204" pitchFamily="34" charset="-122"/>
                  <a:ea typeface="微软雅黑" panose="020B0503020204020204" pitchFamily="34" charset="-122"/>
                </a:endParaRPr>
              </a:p>
              <a:p>
                <a:pPr indent="0" algn="just" eaLnBrk="1" hangingPunct="1">
                  <a:spcBef>
                    <a:spcPct val="0"/>
                  </a:spcBef>
                  <a:buFont typeface="Arial" panose="020B0604020202020204" pitchFamily="34" charset="0"/>
                  <a:buChar char="•"/>
                  <a:defRPr/>
                </a:pPr>
                <a:endParaRPr lang="zh-CN" altLang="en-US" sz="2400" b="1" kern="0" dirty="0">
                  <a:latin typeface="微软雅黑" panose="020B0503020204020204" pitchFamily="34" charset="-122"/>
                </a:endParaRPr>
              </a:p>
            </p:txBody>
          </p:sp>
          <p:graphicFrame>
            <p:nvGraphicFramePr>
              <p:cNvPr id="11321" name="对象 40">
                <a:extLst>
                  <a:ext uri="{FF2B5EF4-FFF2-40B4-BE49-F238E27FC236}">
                    <a16:creationId xmlns:a16="http://schemas.microsoft.com/office/drawing/2014/main" id="{74BD3909-30F7-44E3-9B61-77D63D6F44C3}"/>
                  </a:ext>
                </a:extLst>
              </p:cNvPr>
              <p:cNvGraphicFramePr>
                <a:graphicFrameLocks noChangeAspect="1"/>
              </p:cNvGraphicFramePr>
              <p:nvPr/>
            </p:nvGraphicFramePr>
            <p:xfrm>
              <a:off x="6002956" y="807887"/>
              <a:ext cx="762000" cy="381000"/>
            </p:xfrm>
            <a:graphic>
              <a:graphicData uri="http://schemas.openxmlformats.org/presentationml/2006/ole">
                <mc:AlternateContent xmlns:mc="http://schemas.openxmlformats.org/markup-compatibility/2006">
                  <mc:Choice xmlns:v="urn:schemas-microsoft-com:vml" Requires="v">
                    <p:oleObj name="Equation" r:id="rId16" imgW="761669" imgH="380835" progId="Equation.DSMT4">
                      <p:embed/>
                    </p:oleObj>
                  </mc:Choice>
                  <mc:Fallback>
                    <p:oleObj name="Equation" r:id="rId16" imgW="761669" imgH="380835" progId="Equation.DSMT4">
                      <p:embed/>
                      <p:pic>
                        <p:nvPicPr>
                          <p:cNvPr id="11321" name="对象 40">
                            <a:extLst>
                              <a:ext uri="{FF2B5EF4-FFF2-40B4-BE49-F238E27FC236}">
                                <a16:creationId xmlns:a16="http://schemas.microsoft.com/office/drawing/2014/main" id="{74BD3909-30F7-44E3-9B61-77D63D6F44C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02956" y="807887"/>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1318" name="对象 37">
              <a:extLst>
                <a:ext uri="{FF2B5EF4-FFF2-40B4-BE49-F238E27FC236}">
                  <a16:creationId xmlns:a16="http://schemas.microsoft.com/office/drawing/2014/main" id="{C35736FD-4B0F-465F-BE20-6B8933B9F22A}"/>
                </a:ext>
              </a:extLst>
            </p:cNvPr>
            <p:cNvGraphicFramePr>
              <a:graphicFrameLocks noChangeAspect="1"/>
            </p:cNvGraphicFramePr>
            <p:nvPr/>
          </p:nvGraphicFramePr>
          <p:xfrm>
            <a:off x="4034700" y="5914094"/>
            <a:ext cx="266700" cy="381000"/>
          </p:xfrm>
          <a:graphic>
            <a:graphicData uri="http://schemas.openxmlformats.org/presentationml/2006/ole">
              <mc:AlternateContent xmlns:mc="http://schemas.openxmlformats.org/markup-compatibility/2006">
                <mc:Choice xmlns:v="urn:schemas-microsoft-com:vml" Requires="v">
                  <p:oleObj name="Equation" r:id="rId18" imgW="266584" imgH="380835" progId="Equation.DSMT4">
                    <p:embed/>
                  </p:oleObj>
                </mc:Choice>
                <mc:Fallback>
                  <p:oleObj name="Equation" r:id="rId18" imgW="266584" imgH="380835" progId="Equation.DSMT4">
                    <p:embed/>
                    <p:pic>
                      <p:nvPicPr>
                        <p:cNvPr id="11318" name="对象 37">
                          <a:extLst>
                            <a:ext uri="{FF2B5EF4-FFF2-40B4-BE49-F238E27FC236}">
                              <a16:creationId xmlns:a16="http://schemas.microsoft.com/office/drawing/2014/main" id="{C35736FD-4B0F-465F-BE20-6B8933B9F22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34700" y="5914094"/>
                          <a:ext cx="266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319" name="对象 38">
              <a:extLst>
                <a:ext uri="{FF2B5EF4-FFF2-40B4-BE49-F238E27FC236}">
                  <a16:creationId xmlns:a16="http://schemas.microsoft.com/office/drawing/2014/main" id="{D1552657-5B6B-4C2D-BBEE-2048EEBEFE82}"/>
                </a:ext>
              </a:extLst>
            </p:cNvPr>
            <p:cNvGraphicFramePr>
              <a:graphicFrameLocks noChangeAspect="1"/>
            </p:cNvGraphicFramePr>
            <p:nvPr/>
          </p:nvGraphicFramePr>
          <p:xfrm>
            <a:off x="4469171" y="5928320"/>
            <a:ext cx="292100" cy="381000"/>
          </p:xfrm>
          <a:graphic>
            <a:graphicData uri="http://schemas.openxmlformats.org/presentationml/2006/ole">
              <mc:AlternateContent xmlns:mc="http://schemas.openxmlformats.org/markup-compatibility/2006">
                <mc:Choice xmlns:v="urn:schemas-microsoft-com:vml" Requires="v">
                  <p:oleObj name="Equation" r:id="rId20" imgW="291973" imgH="380835" progId="Equation.DSMT4">
                    <p:embed/>
                  </p:oleObj>
                </mc:Choice>
                <mc:Fallback>
                  <p:oleObj name="Equation" r:id="rId20" imgW="291973" imgH="380835" progId="Equation.DSMT4">
                    <p:embed/>
                    <p:pic>
                      <p:nvPicPr>
                        <p:cNvPr id="11319" name="对象 38">
                          <a:extLst>
                            <a:ext uri="{FF2B5EF4-FFF2-40B4-BE49-F238E27FC236}">
                              <a16:creationId xmlns:a16="http://schemas.microsoft.com/office/drawing/2014/main" id="{D1552657-5B6B-4C2D-BBEE-2048EEBEFE8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69171" y="5928320"/>
                          <a:ext cx="292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2" name="表格 41">
            <a:extLst>
              <a:ext uri="{FF2B5EF4-FFF2-40B4-BE49-F238E27FC236}">
                <a16:creationId xmlns:a16="http://schemas.microsoft.com/office/drawing/2014/main" id="{AD6693C7-7D82-455A-B67C-53539EE528D4}"/>
              </a:ext>
            </a:extLst>
          </p:cNvPr>
          <p:cNvGraphicFramePr>
            <a:graphicFrameLocks noGrp="1"/>
          </p:cNvGraphicFramePr>
          <p:nvPr/>
        </p:nvGraphicFramePr>
        <p:xfrm>
          <a:off x="539750" y="68263"/>
          <a:ext cx="7661276" cy="2174875"/>
        </p:xfrm>
        <a:graphic>
          <a:graphicData uri="http://schemas.openxmlformats.org/drawingml/2006/table">
            <a:tbl>
              <a:tblPr firstRow="1" firstCol="1" bandRow="1"/>
              <a:tblGrid>
                <a:gridCol w="1661296">
                  <a:extLst>
                    <a:ext uri="{9D8B030D-6E8A-4147-A177-3AD203B41FA5}">
                      <a16:colId xmlns:a16="http://schemas.microsoft.com/office/drawing/2014/main" val="20000"/>
                    </a:ext>
                  </a:extLst>
                </a:gridCol>
                <a:gridCol w="1340991">
                  <a:extLst>
                    <a:ext uri="{9D8B030D-6E8A-4147-A177-3AD203B41FA5}">
                      <a16:colId xmlns:a16="http://schemas.microsoft.com/office/drawing/2014/main" val="20001"/>
                    </a:ext>
                  </a:extLst>
                </a:gridCol>
                <a:gridCol w="1397697">
                  <a:extLst>
                    <a:ext uri="{9D8B030D-6E8A-4147-A177-3AD203B41FA5}">
                      <a16:colId xmlns:a16="http://schemas.microsoft.com/office/drawing/2014/main" val="20002"/>
                    </a:ext>
                  </a:extLst>
                </a:gridCol>
                <a:gridCol w="1397697">
                  <a:extLst>
                    <a:ext uri="{9D8B030D-6E8A-4147-A177-3AD203B41FA5}">
                      <a16:colId xmlns:a16="http://schemas.microsoft.com/office/drawing/2014/main" val="20003"/>
                    </a:ext>
                  </a:extLst>
                </a:gridCol>
                <a:gridCol w="1863595">
                  <a:extLst>
                    <a:ext uri="{9D8B030D-6E8A-4147-A177-3AD203B41FA5}">
                      <a16:colId xmlns:a16="http://schemas.microsoft.com/office/drawing/2014/main" val="20004"/>
                    </a:ext>
                  </a:extLst>
                </a:gridCol>
              </a:tblGrid>
              <a:tr h="914794">
                <a:tc>
                  <a:txBody>
                    <a:bodyPr/>
                    <a:lstStyle/>
                    <a:p>
                      <a:pPr indent="0" algn="ctr">
                        <a:lnSpc>
                          <a:spcPct val="100000"/>
                        </a:lnSpc>
                      </a:pPr>
                      <a:r>
                        <a:rPr lang="en-US" altLang="zh-CN" sz="2000" b="1" kern="100" dirty="0">
                          <a:effectLst/>
                          <a:latin typeface="Times New Roman" panose="02020603050405020304" pitchFamily="18" charset="0"/>
                          <a:ea typeface="微软雅黑" panose="020B0503020204020204" pitchFamily="34" charset="-122"/>
                        </a:rPr>
                        <a:t>        </a:t>
                      </a:r>
                      <a:r>
                        <a:rPr lang="zh-CN" sz="2000" b="1" kern="100" dirty="0">
                          <a:effectLst/>
                          <a:latin typeface="Times New Roman" panose="02020603050405020304" pitchFamily="18" charset="0"/>
                          <a:ea typeface="微软雅黑" panose="020B0503020204020204" pitchFamily="34" charset="-122"/>
                        </a:rPr>
                        <a:t>饲料</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营养</a:t>
                      </a:r>
                      <a:endParaRPr lang="en-US" altLang="zh-CN" sz="2000" b="1" kern="100" dirty="0">
                        <a:effectLst/>
                        <a:latin typeface="Times New Roman" panose="02020603050405020304" pitchFamily="18" charset="0"/>
                        <a:ea typeface="微软雅黑" panose="020B0503020204020204" pitchFamily="34" charset="-122"/>
                      </a:endParaRPr>
                    </a:p>
                    <a:p>
                      <a:pPr indent="127000" algn="l">
                        <a:lnSpc>
                          <a:spcPct val="100000"/>
                        </a:lnSpc>
                      </a:pPr>
                      <a:r>
                        <a:rPr lang="zh-CN" sz="2000" b="1" kern="100" dirty="0">
                          <a:effectLst/>
                          <a:latin typeface="Times New Roman" panose="02020603050405020304" pitchFamily="18" charset="0"/>
                          <a:ea typeface="微软雅黑" panose="020B0503020204020204" pitchFamily="34" charset="-122"/>
                        </a:rPr>
                        <a:t>成分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玉米</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槽料</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苜蓿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ct val="100000"/>
                        </a:lnSpc>
                      </a:pPr>
                      <a:r>
                        <a:rPr lang="zh-CN" sz="2000" b="1" kern="100" dirty="0">
                          <a:effectLst/>
                          <a:latin typeface="Times New Roman" panose="02020603050405020304" pitchFamily="18" charset="0"/>
                          <a:ea typeface="微软雅黑" panose="020B0503020204020204" pitchFamily="34" charset="-122"/>
                        </a:rPr>
                        <a:t>最小需求量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碳水化合物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90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蛋白质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40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80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60</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55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0027">
                <a:tc>
                  <a:txBody>
                    <a:bodyPr/>
                    <a:lstStyle/>
                    <a:p>
                      <a:pPr indent="127000" algn="just">
                        <a:lnSpc>
                          <a:spcPct val="100000"/>
                        </a:lnSpc>
                      </a:pPr>
                      <a:r>
                        <a:rPr lang="zh-CN" sz="2000" b="1" kern="100" dirty="0">
                          <a:effectLst/>
                          <a:latin typeface="Times New Roman" panose="02020603050405020304" pitchFamily="18" charset="0"/>
                          <a:ea typeface="微软雅黑" panose="020B0503020204020204" pitchFamily="34" charset="-122"/>
                        </a:rPr>
                        <a:t>成本（元）</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2.3</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2.5</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800"/>
                        </a:lnSpc>
                      </a:pPr>
                      <a:r>
                        <a:rPr lang="en-US" sz="2000" kern="100" dirty="0">
                          <a:effectLst/>
                          <a:latin typeface="Times New Roman" panose="02020603050405020304" pitchFamily="18" charset="0"/>
                          <a:ea typeface="微软雅黑" panose="020B0503020204020204" pitchFamily="34" charset="-122"/>
                        </a:rPr>
                        <a:t> </a:t>
                      </a:r>
                      <a:endParaRPr lang="zh-CN" sz="2000" kern="100" dirty="0">
                        <a:effectLst/>
                        <a:latin typeface="Times New Roman" panose="02020603050405020304" pitchFamily="18" charset="0"/>
                        <a:ea typeface="微软雅黑" panose="020B0503020204020204"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par>
                                <p:cTn id="8" presetID="22" presetClass="entr" presetSubtype="1"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up)">
                                      <p:cBhvr>
                                        <p:cTn id="10" dur="500"/>
                                        <p:tgtEl>
                                          <p:spTgt spid="3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ntr" presetSubtype="21"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barn(inVertical)">
                                      <p:cBhvr>
                                        <p:cTn id="15" dur="500"/>
                                        <p:tgtEl>
                                          <p:spTgt spid="3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292"/>
                                        </p:tgtEl>
                                        <p:attrNameLst>
                                          <p:attrName>style.visibility</p:attrName>
                                        </p:attrNameLst>
                                      </p:cBhvr>
                                      <p:to>
                                        <p:strVal val="visible"/>
                                      </p:to>
                                    </p:set>
                                    <p:animEffect transition="in" filter="fade">
                                      <p:cBhvr>
                                        <p:cTn id="20" dur="500"/>
                                        <p:tgtEl>
                                          <p:spTgt spid="12292"/>
                                        </p:tgtEl>
                                      </p:cBhvr>
                                    </p:animEffect>
                                  </p:childTnLst>
                                </p:cTn>
                              </p:par>
                              <p:par>
                                <p:cTn id="21" presetID="10"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par>
                          <p:cTn id="27" fill="hold" nodeType="afterGroup">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P spid="10" grpId="0"/>
      <p:bldP spid="11" grpId="0"/>
      <p:bldP spid="12" grpId="0"/>
      <p:bldP spid="13" grpId="0"/>
      <p:bldP spid="14" grpId="0"/>
      <p:bldP spid="16" grpId="0" animBg="1"/>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a:extLst>
              <a:ext uri="{FF2B5EF4-FFF2-40B4-BE49-F238E27FC236}">
                <a16:creationId xmlns:a16="http://schemas.microsoft.com/office/drawing/2014/main" id="{E5C8963B-5331-4751-B6CF-A4B4AA33C799}"/>
              </a:ext>
            </a:extLst>
          </p:cNvPr>
          <p:cNvSpPr>
            <a:spLocks noGrp="1"/>
          </p:cNvSpPr>
          <p:nvPr>
            <p:ph type="sldNum" sz="quarter" idx="4294967295"/>
          </p:nvPr>
        </p:nvSpPr>
        <p:spPr bwMode="auto">
          <a:xfrm>
            <a:off x="8820150" y="6629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FA6C167D-C10C-4587-92A9-F7D615CD9253}" type="slidenum">
              <a:rPr kumimoji="0" lang="en-US" altLang="zh-CN" sz="1000">
                <a:latin typeface="Arial" panose="020B0604020202020204" pitchFamily="34" charset="0"/>
                <a:ea typeface="微软雅黑" panose="020B0503020204020204" pitchFamily="34" charset="-122"/>
              </a:rPr>
              <a:pPr/>
              <a:t>20</a:t>
            </a:fld>
            <a:endParaRPr kumimoji="0" lang="en-US" altLang="zh-CN" sz="1000">
              <a:latin typeface="Arial" panose="020B0604020202020204" pitchFamily="34" charset="0"/>
              <a:ea typeface="微软雅黑" panose="020B0503020204020204" pitchFamily="34" charset="-122"/>
            </a:endParaRPr>
          </a:p>
        </p:txBody>
      </p:sp>
      <p:sp>
        <p:nvSpPr>
          <p:cNvPr id="12291" name="文本框 5">
            <a:extLst>
              <a:ext uri="{FF2B5EF4-FFF2-40B4-BE49-F238E27FC236}">
                <a16:creationId xmlns:a16="http://schemas.microsoft.com/office/drawing/2014/main" id="{F3AA946B-CE64-4766-A6CC-0541A38CCF9D}"/>
              </a:ext>
            </a:extLst>
          </p:cNvPr>
          <p:cNvSpPr txBox="1">
            <a:spLocks noChangeArrowheads="1"/>
          </p:cNvSpPr>
          <p:nvPr/>
        </p:nvSpPr>
        <p:spPr bwMode="auto">
          <a:xfrm>
            <a:off x="0" y="636588"/>
            <a:ext cx="8964613" cy="138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lnSpc>
                <a:spcPct val="120000"/>
              </a:lnSpc>
            </a:pPr>
            <a:r>
              <a:rPr lang="zh-CN" altLang="en-US" b="1" dirty="0">
                <a:solidFill>
                  <a:srgbClr val="FF0000"/>
                </a:solidFill>
                <a:ea typeface="微软雅黑" panose="020B0503020204020204" pitchFamily="34" charset="-122"/>
              </a:rPr>
              <a:t>例</a:t>
            </a:r>
            <a:r>
              <a:rPr lang="en-US" altLang="zh-CN" b="1" dirty="0">
                <a:solidFill>
                  <a:srgbClr val="FF0000"/>
                </a:solidFill>
                <a:ea typeface="微软雅黑" panose="020B0503020204020204" pitchFamily="34" charset="-122"/>
              </a:rPr>
              <a:t>1.2.</a:t>
            </a:r>
            <a:r>
              <a:rPr lang="zh-CN" altLang="en-US" b="1" dirty="0">
                <a:solidFill>
                  <a:srgbClr val="FF0000"/>
                </a:solidFill>
                <a:ea typeface="微软雅黑" panose="020B0503020204020204" pitchFamily="34" charset="-122"/>
              </a:rPr>
              <a:t>2</a:t>
            </a:r>
            <a:r>
              <a:rPr lang="zh-CN" altLang="en-US" b="1" dirty="0">
                <a:ea typeface="微软雅黑" panose="020B0503020204020204" pitchFamily="34" charset="-122"/>
              </a:rPr>
              <a:t>优化的目标是混合饲料成本的最小化。但是优化模型需要在成本和效果 (元素含量) 之间进行平衡。</a:t>
            </a:r>
            <a:endParaRPr lang="en-US" altLang="zh-CN" b="1" dirty="0">
              <a:ea typeface="微软雅黑" panose="020B0503020204020204" pitchFamily="34" charset="-122"/>
            </a:endParaRPr>
          </a:p>
          <a:p>
            <a:pPr algn="just">
              <a:lnSpc>
                <a:spcPct val="120000"/>
              </a:lnSpc>
            </a:pPr>
            <a:r>
              <a:rPr lang="zh-CN" altLang="en-US" b="1" dirty="0">
                <a:ea typeface="微软雅黑" panose="020B0503020204020204" pitchFamily="34" charset="-122"/>
              </a:rPr>
              <a:t>我们把该类线性规划问题称为“</a:t>
            </a:r>
            <a:r>
              <a:rPr lang="zh-CN" altLang="en-US" b="1" dirty="0">
                <a:solidFill>
                  <a:srgbClr val="0000FF"/>
                </a:solidFill>
                <a:ea typeface="微软雅黑" panose="020B0503020204020204" pitchFamily="34" charset="-122"/>
              </a:rPr>
              <a:t>成本一收益平衡问题</a:t>
            </a:r>
            <a:r>
              <a:rPr lang="zh-CN" altLang="en-US" b="1" dirty="0">
                <a:ea typeface="微软雅黑" panose="020B0503020204020204" pitchFamily="34" charset="-122"/>
              </a:rPr>
              <a:t>”。</a:t>
            </a:r>
          </a:p>
        </p:txBody>
      </p:sp>
      <p:graphicFrame>
        <p:nvGraphicFramePr>
          <p:cNvPr id="13318" name="对象 6">
            <a:extLst>
              <a:ext uri="{FF2B5EF4-FFF2-40B4-BE49-F238E27FC236}">
                <a16:creationId xmlns:a16="http://schemas.microsoft.com/office/drawing/2014/main" id="{A63C039F-4BB5-4B10-876F-9AEF124CE0B5}"/>
              </a:ext>
            </a:extLst>
          </p:cNvPr>
          <p:cNvGraphicFramePr>
            <a:graphicFrameLocks noChangeAspect="1"/>
          </p:cNvGraphicFramePr>
          <p:nvPr/>
        </p:nvGraphicFramePr>
        <p:xfrm>
          <a:off x="2411413" y="2178050"/>
          <a:ext cx="4543425" cy="2847975"/>
        </p:xfrm>
        <a:graphic>
          <a:graphicData uri="http://schemas.openxmlformats.org/presentationml/2006/ole">
            <mc:AlternateContent xmlns:mc="http://schemas.openxmlformats.org/markup-compatibility/2006">
              <mc:Choice xmlns:v="urn:schemas-microsoft-com:vml" Requires="v">
                <p:oleObj name="Equation" r:id="rId2" imgW="2082800" imgH="1397000" progId="Equation.DSMT4">
                  <p:embed/>
                </p:oleObj>
              </mc:Choice>
              <mc:Fallback>
                <p:oleObj name="Equation" r:id="rId2" imgW="2082800" imgH="1397000" progId="Equation.DSMT4">
                  <p:embed/>
                  <p:pic>
                    <p:nvPicPr>
                      <p:cNvPr id="13318" name="对象 6">
                        <a:extLst>
                          <a:ext uri="{FF2B5EF4-FFF2-40B4-BE49-F238E27FC236}">
                            <a16:creationId xmlns:a16="http://schemas.microsoft.com/office/drawing/2014/main" id="{A63C039F-4BB5-4B10-876F-9AEF124CE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2178050"/>
                        <a:ext cx="4543425"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3" name="Rectangle 9">
            <a:extLst>
              <a:ext uri="{FF2B5EF4-FFF2-40B4-BE49-F238E27FC236}">
                <a16:creationId xmlns:a16="http://schemas.microsoft.com/office/drawing/2014/main" id="{87364FE0-7B73-4593-87C3-54730247EF37}"/>
              </a:ext>
            </a:extLst>
          </p:cNvPr>
          <p:cNvSpPr>
            <a:spLocks noChangeArrowheads="1"/>
          </p:cNvSpPr>
          <p:nvPr/>
        </p:nvSpPr>
        <p:spPr bwMode="auto">
          <a:xfrm>
            <a:off x="-252413" y="114300"/>
            <a:ext cx="42370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defRPr kumimoji="1" sz="2400">
                <a:solidFill>
                  <a:schemeClr val="tx1"/>
                </a:solidFill>
                <a:latin typeface="Tahoma" panose="020B0604030504040204" pitchFamily="34" charset="0"/>
                <a:ea typeface="宋体" panose="02010600030101010101" pitchFamily="2" charset="-122"/>
              </a:defRPr>
            </a:lvl1pPr>
            <a:lvl2pPr>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lvl="1" eaLnBrk="1" hangingPunct="1">
              <a:spcBef>
                <a:spcPct val="20000"/>
              </a:spcBef>
              <a:buClr>
                <a:schemeClr val="bg1"/>
              </a:buClr>
              <a:buSzPct val="100000"/>
              <a:buFont typeface="Wingdings" panose="05000000000000000000" pitchFamily="2" charset="2"/>
              <a:buNone/>
            </a:pPr>
            <a:r>
              <a:rPr lang="zh-CN" altLang="en-US" sz="2800" b="1">
                <a:solidFill>
                  <a:srgbClr val="FF0000"/>
                </a:solidFill>
                <a:latin typeface="Arial" panose="020B0604020202020204" pitchFamily="34" charset="0"/>
                <a:ea typeface="微软雅黑" panose="020B0503020204020204" pitchFamily="34" charset="-122"/>
              </a:rPr>
              <a:t>成本</a:t>
            </a:r>
            <a:r>
              <a:rPr lang="en-US" altLang="zh-CN" sz="2800" b="1">
                <a:solidFill>
                  <a:srgbClr val="FF0000"/>
                </a:solidFill>
                <a:latin typeface="Arial" panose="020B0604020202020204" pitchFamily="34" charset="0"/>
                <a:ea typeface="微软雅黑" panose="020B0503020204020204" pitchFamily="34" charset="-122"/>
              </a:rPr>
              <a:t>——</a:t>
            </a:r>
            <a:r>
              <a:rPr lang="zh-CN" altLang="en-US" sz="2800" b="1">
                <a:solidFill>
                  <a:srgbClr val="FF0000"/>
                </a:solidFill>
                <a:latin typeface="Arial" panose="020B0604020202020204" pitchFamily="34" charset="0"/>
                <a:ea typeface="微软雅黑" panose="020B0503020204020204" pitchFamily="34" charset="-122"/>
              </a:rPr>
              <a:t>收益平衡问题</a:t>
            </a:r>
          </a:p>
        </p:txBody>
      </p:sp>
      <p:sp>
        <p:nvSpPr>
          <p:cNvPr id="4" name="矩形 3">
            <a:extLst>
              <a:ext uri="{FF2B5EF4-FFF2-40B4-BE49-F238E27FC236}">
                <a16:creationId xmlns:a16="http://schemas.microsoft.com/office/drawing/2014/main" id="{8041729B-CFAC-416F-91E2-249178BCDD71}"/>
              </a:ext>
            </a:extLst>
          </p:cNvPr>
          <p:cNvSpPr>
            <a:spLocks noChangeArrowheads="1"/>
          </p:cNvSpPr>
          <p:nvPr/>
        </p:nvSpPr>
        <p:spPr bwMode="auto">
          <a:xfrm>
            <a:off x="141288" y="2144713"/>
            <a:ext cx="2143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ea typeface="微软雅黑" panose="020B0503020204020204" pitchFamily="34" charset="-122"/>
              </a:rPr>
              <a:t>其一般形式为:</a:t>
            </a:r>
            <a:endParaRPr lang="zh-CN" altLang="en-US"/>
          </a:p>
        </p:txBody>
      </p:sp>
      <p:grpSp>
        <p:nvGrpSpPr>
          <p:cNvPr id="21" name="组合 20">
            <a:extLst>
              <a:ext uri="{FF2B5EF4-FFF2-40B4-BE49-F238E27FC236}">
                <a16:creationId xmlns:a16="http://schemas.microsoft.com/office/drawing/2014/main" id="{CFB2BA1E-8157-4AF1-B82C-FC9258D860D6}"/>
              </a:ext>
            </a:extLst>
          </p:cNvPr>
          <p:cNvGrpSpPr>
            <a:grpSpLocks/>
          </p:cNvGrpSpPr>
          <p:nvPr/>
        </p:nvGrpSpPr>
        <p:grpSpPr bwMode="auto">
          <a:xfrm>
            <a:off x="-36513" y="4941888"/>
            <a:ext cx="9109076" cy="1939925"/>
            <a:chOff x="141288" y="4832789"/>
            <a:chExt cx="9109075" cy="1940359"/>
          </a:xfrm>
        </p:grpSpPr>
        <p:sp>
          <p:nvSpPr>
            <p:cNvPr id="22" name="Rectangle 3">
              <a:extLst>
                <a:ext uri="{FF2B5EF4-FFF2-40B4-BE49-F238E27FC236}">
                  <a16:creationId xmlns:a16="http://schemas.microsoft.com/office/drawing/2014/main" id="{1EF4980F-12F3-4CF1-8F2F-8FA14C628CF9}"/>
                </a:ext>
              </a:extLst>
            </p:cNvPr>
            <p:cNvSpPr txBox="1">
              <a:spLocks noChangeArrowheads="1"/>
            </p:cNvSpPr>
            <p:nvPr/>
          </p:nvSpPr>
          <p:spPr bwMode="auto">
            <a:xfrm>
              <a:off x="141288" y="4835965"/>
              <a:ext cx="9109075" cy="193718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marL="0" indent="0" algn="just" eaLnBrk="1" hangingPunct="1">
                <a:lnSpc>
                  <a:spcPct val="120000"/>
                </a:lnSpc>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其中，决策变量    表示原料  的用量</a:t>
              </a:r>
              <a:endParaRPr lang="en-US" altLang="zh-CN" sz="2400" b="1" kern="0" dirty="0">
                <a:latin typeface="微软雅黑" panose="020B0503020204020204" pitchFamily="34" charset="-122"/>
                <a:ea typeface="微软雅黑" panose="020B0503020204020204" pitchFamily="34" charset="-122"/>
              </a:endParaRPr>
            </a:p>
            <a:p>
              <a:pPr marL="0" indent="0" algn="just" eaLnBrk="1" hangingPunct="1">
                <a:lnSpc>
                  <a:spcPct val="120000"/>
                </a:lnSpc>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          目标函数系数   表示原料  的单位成本</a:t>
              </a:r>
              <a:endParaRPr lang="en-US" altLang="zh-CN" sz="2400" b="1" kern="0" dirty="0">
                <a:latin typeface="微软雅黑" panose="020B0503020204020204" pitchFamily="34" charset="-122"/>
                <a:ea typeface="微软雅黑" panose="020B0503020204020204" pitchFamily="34" charset="-122"/>
              </a:endParaRPr>
            </a:p>
            <a:p>
              <a:pPr marL="0" indent="0" algn="just" eaLnBrk="1" hangingPunct="1">
                <a:lnSpc>
                  <a:spcPct val="120000"/>
                </a:lnSpc>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          约束条件右边项   表示效果指标   的最低要求</a:t>
              </a:r>
              <a:endParaRPr lang="en-US" altLang="zh-CN" sz="2400" b="1" kern="0" dirty="0">
                <a:latin typeface="微软雅黑" panose="020B0503020204020204" pitchFamily="34" charset="-122"/>
                <a:ea typeface="微软雅黑" panose="020B0503020204020204" pitchFamily="34" charset="-122"/>
              </a:endParaRPr>
            </a:p>
            <a:p>
              <a:pPr marL="0" indent="0" algn="just" eaLnBrk="1" hangingPunct="1">
                <a:lnSpc>
                  <a:spcPct val="120000"/>
                </a:lnSpc>
                <a:spcBef>
                  <a:spcPct val="0"/>
                </a:spcBef>
                <a:buFont typeface="Wingdings" panose="05000000000000000000" pitchFamily="2" charset="2"/>
                <a:buNone/>
                <a:defRPr/>
              </a:pPr>
              <a:r>
                <a:rPr lang="zh-CN" altLang="en-US" sz="2400" b="1" kern="0" dirty="0">
                  <a:latin typeface="微软雅黑" panose="020B0503020204020204" pitchFamily="34" charset="-122"/>
                  <a:ea typeface="微软雅黑" panose="020B0503020204020204" pitchFamily="34" charset="-122"/>
                </a:rPr>
                <a:t>          系数    表示每单位原料   所贡献的指标   的数量</a:t>
              </a:r>
              <a:endParaRPr lang="zh-CN" altLang="en-US" sz="2400" kern="0" dirty="0">
                <a:latin typeface="微软雅黑" panose="020B0503020204020204" pitchFamily="34" charset="-122"/>
              </a:endParaRPr>
            </a:p>
          </p:txBody>
        </p:sp>
        <p:graphicFrame>
          <p:nvGraphicFramePr>
            <p:cNvPr id="12297" name="对象 1">
              <a:extLst>
                <a:ext uri="{FF2B5EF4-FFF2-40B4-BE49-F238E27FC236}">
                  <a16:creationId xmlns:a16="http://schemas.microsoft.com/office/drawing/2014/main" id="{369A4393-7F23-4268-8DBD-93F6E38013DE}"/>
                </a:ext>
              </a:extLst>
            </p:cNvPr>
            <p:cNvGraphicFramePr>
              <a:graphicFrameLocks noChangeAspect="1"/>
            </p:cNvGraphicFramePr>
            <p:nvPr/>
          </p:nvGraphicFramePr>
          <p:xfrm>
            <a:off x="2345347" y="4832789"/>
            <a:ext cx="354445" cy="526412"/>
          </p:xfrm>
          <a:graphic>
            <a:graphicData uri="http://schemas.openxmlformats.org/presentationml/2006/ole">
              <mc:AlternateContent xmlns:mc="http://schemas.openxmlformats.org/markup-compatibility/2006">
                <mc:Choice xmlns:v="urn:schemas-microsoft-com:vml" Requires="v">
                  <p:oleObj name="Equation" r:id="rId4" imgW="164957" imgH="241091" progId="Equation.DSMT4">
                    <p:embed/>
                  </p:oleObj>
                </mc:Choice>
                <mc:Fallback>
                  <p:oleObj name="Equation" r:id="rId4" imgW="164957" imgH="241091" progId="Equation.DSMT4">
                    <p:embed/>
                    <p:pic>
                      <p:nvPicPr>
                        <p:cNvPr id="12297" name="对象 1">
                          <a:extLst>
                            <a:ext uri="{FF2B5EF4-FFF2-40B4-BE49-F238E27FC236}">
                              <a16:creationId xmlns:a16="http://schemas.microsoft.com/office/drawing/2014/main" id="{369A4393-7F23-4268-8DBD-93F6E38013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5347" y="4832789"/>
                          <a:ext cx="354445" cy="52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8" name="对象 2">
              <a:extLst>
                <a:ext uri="{FF2B5EF4-FFF2-40B4-BE49-F238E27FC236}">
                  <a16:creationId xmlns:a16="http://schemas.microsoft.com/office/drawing/2014/main" id="{3050A847-8A60-4932-90DD-D86094C36E8B}"/>
                </a:ext>
              </a:extLst>
            </p:cNvPr>
            <p:cNvGraphicFramePr>
              <a:graphicFrameLocks noChangeAspect="1"/>
            </p:cNvGraphicFramePr>
            <p:nvPr/>
          </p:nvGraphicFramePr>
          <p:xfrm>
            <a:off x="6377949" y="6237312"/>
            <a:ext cx="210275" cy="393046"/>
          </p:xfrm>
          <a:graphic>
            <a:graphicData uri="http://schemas.openxmlformats.org/presentationml/2006/ole">
              <mc:AlternateContent xmlns:mc="http://schemas.openxmlformats.org/markup-compatibility/2006">
                <mc:Choice xmlns:v="urn:schemas-microsoft-com:vml" Requires="v">
                  <p:oleObj name="Equation" r:id="rId6" imgW="88707" imgH="164742" progId="Equation.DSMT4">
                    <p:embed/>
                  </p:oleObj>
                </mc:Choice>
                <mc:Fallback>
                  <p:oleObj name="Equation" r:id="rId6" imgW="88707" imgH="164742" progId="Equation.DSMT4">
                    <p:embed/>
                    <p:pic>
                      <p:nvPicPr>
                        <p:cNvPr id="12298" name="对象 2">
                          <a:extLst>
                            <a:ext uri="{FF2B5EF4-FFF2-40B4-BE49-F238E27FC236}">
                              <a16:creationId xmlns:a16="http://schemas.microsoft.com/office/drawing/2014/main" id="{3050A847-8A60-4932-90DD-D86094C36E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7949" y="6237312"/>
                          <a:ext cx="210275" cy="393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9" name="对象 5">
              <a:extLst>
                <a:ext uri="{FF2B5EF4-FFF2-40B4-BE49-F238E27FC236}">
                  <a16:creationId xmlns:a16="http://schemas.microsoft.com/office/drawing/2014/main" id="{4A21503B-59DA-4C0D-8869-6E455EA2859A}"/>
                </a:ext>
              </a:extLst>
            </p:cNvPr>
            <p:cNvGraphicFramePr>
              <a:graphicFrameLocks noChangeAspect="1"/>
            </p:cNvGraphicFramePr>
            <p:nvPr/>
          </p:nvGraphicFramePr>
          <p:xfrm>
            <a:off x="5404555" y="5812428"/>
            <a:ext cx="210275" cy="392618"/>
          </p:xfrm>
          <a:graphic>
            <a:graphicData uri="http://schemas.openxmlformats.org/presentationml/2006/ole">
              <mc:AlternateContent xmlns:mc="http://schemas.openxmlformats.org/markup-compatibility/2006">
                <mc:Choice xmlns:v="urn:schemas-microsoft-com:vml" Requires="v">
                  <p:oleObj name="Equation" r:id="rId8" imgW="88707" imgH="164742" progId="Equation.DSMT4">
                    <p:embed/>
                  </p:oleObj>
                </mc:Choice>
                <mc:Fallback>
                  <p:oleObj name="Equation" r:id="rId8" imgW="88707" imgH="164742" progId="Equation.DSMT4">
                    <p:embed/>
                    <p:pic>
                      <p:nvPicPr>
                        <p:cNvPr id="12299" name="对象 5">
                          <a:extLst>
                            <a:ext uri="{FF2B5EF4-FFF2-40B4-BE49-F238E27FC236}">
                              <a16:creationId xmlns:a16="http://schemas.microsoft.com/office/drawing/2014/main" id="{4A21503B-59DA-4C0D-8869-6E455EA2859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04555" y="5812428"/>
                          <a:ext cx="210275" cy="392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0" name="对象 6">
              <a:extLst>
                <a:ext uri="{FF2B5EF4-FFF2-40B4-BE49-F238E27FC236}">
                  <a16:creationId xmlns:a16="http://schemas.microsoft.com/office/drawing/2014/main" id="{761E9AD3-1045-4A85-AB7F-8DD9051E532C}"/>
                </a:ext>
              </a:extLst>
            </p:cNvPr>
            <p:cNvGraphicFramePr>
              <a:graphicFrameLocks noChangeAspect="1"/>
            </p:cNvGraphicFramePr>
            <p:nvPr/>
          </p:nvGraphicFramePr>
          <p:xfrm>
            <a:off x="2915816" y="5280976"/>
            <a:ext cx="372286" cy="552908"/>
          </p:xfrm>
          <a:graphic>
            <a:graphicData uri="http://schemas.openxmlformats.org/presentationml/2006/ole">
              <mc:AlternateContent xmlns:mc="http://schemas.openxmlformats.org/markup-compatibility/2006">
                <mc:Choice xmlns:v="urn:schemas-microsoft-com:vml" Requires="v">
                  <p:oleObj name="Equation" r:id="rId10" imgW="164957" imgH="241091" progId="Equation.DSMT4">
                    <p:embed/>
                  </p:oleObj>
                </mc:Choice>
                <mc:Fallback>
                  <p:oleObj name="Equation" r:id="rId10" imgW="164957" imgH="241091" progId="Equation.DSMT4">
                    <p:embed/>
                    <p:pic>
                      <p:nvPicPr>
                        <p:cNvPr id="12300" name="对象 6">
                          <a:extLst>
                            <a:ext uri="{FF2B5EF4-FFF2-40B4-BE49-F238E27FC236}">
                              <a16:creationId xmlns:a16="http://schemas.microsoft.com/office/drawing/2014/main" id="{761E9AD3-1045-4A85-AB7F-8DD9051E532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5816" y="5280976"/>
                          <a:ext cx="372286" cy="55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1" name="对象 7">
              <a:extLst>
                <a:ext uri="{FF2B5EF4-FFF2-40B4-BE49-F238E27FC236}">
                  <a16:creationId xmlns:a16="http://schemas.microsoft.com/office/drawing/2014/main" id="{5E4191D3-7070-4205-B62F-E3C1107A3B7D}"/>
                </a:ext>
              </a:extLst>
            </p:cNvPr>
            <p:cNvGraphicFramePr>
              <a:graphicFrameLocks noChangeAspect="1"/>
            </p:cNvGraphicFramePr>
            <p:nvPr/>
          </p:nvGraphicFramePr>
          <p:xfrm>
            <a:off x="3276280" y="5805264"/>
            <a:ext cx="284462" cy="474842"/>
          </p:xfrm>
          <a:graphic>
            <a:graphicData uri="http://schemas.openxmlformats.org/presentationml/2006/ole">
              <mc:AlternateContent xmlns:mc="http://schemas.openxmlformats.org/markup-compatibility/2006">
                <mc:Choice xmlns:v="urn:schemas-microsoft-com:vml" Requires="v">
                  <p:oleObj name="Equation" r:id="rId12" imgW="139700" imgH="228600" progId="Equation.DSMT4">
                    <p:embed/>
                  </p:oleObj>
                </mc:Choice>
                <mc:Fallback>
                  <p:oleObj name="Equation" r:id="rId12" imgW="139700" imgH="228600" progId="Equation.DSMT4">
                    <p:embed/>
                    <p:pic>
                      <p:nvPicPr>
                        <p:cNvPr id="12301" name="对象 7">
                          <a:extLst>
                            <a:ext uri="{FF2B5EF4-FFF2-40B4-BE49-F238E27FC236}">
                              <a16:creationId xmlns:a16="http://schemas.microsoft.com/office/drawing/2014/main" id="{5E4191D3-7070-4205-B62F-E3C1107A3B7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76280" y="5805264"/>
                          <a:ext cx="284462" cy="474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2" name="对象 10">
              <a:extLst>
                <a:ext uri="{FF2B5EF4-FFF2-40B4-BE49-F238E27FC236}">
                  <a16:creationId xmlns:a16="http://schemas.microsoft.com/office/drawing/2014/main" id="{FC44CEDA-54E2-4891-8AB9-A150024B6F19}"/>
                </a:ext>
              </a:extLst>
            </p:cNvPr>
            <p:cNvGraphicFramePr>
              <a:graphicFrameLocks noChangeAspect="1"/>
            </p:cNvGraphicFramePr>
            <p:nvPr/>
          </p:nvGraphicFramePr>
          <p:xfrm>
            <a:off x="1722805" y="6165304"/>
            <a:ext cx="400923" cy="552908"/>
          </p:xfrm>
          <a:graphic>
            <a:graphicData uri="http://schemas.openxmlformats.org/presentationml/2006/ole">
              <mc:AlternateContent xmlns:mc="http://schemas.openxmlformats.org/markup-compatibility/2006">
                <mc:Choice xmlns:v="urn:schemas-microsoft-com:vml" Requires="v">
                  <p:oleObj name="Equation" r:id="rId14" imgW="177646" imgH="241091" progId="Equation.DSMT4">
                    <p:embed/>
                  </p:oleObj>
                </mc:Choice>
                <mc:Fallback>
                  <p:oleObj name="Equation" r:id="rId14" imgW="177646" imgH="241091" progId="Equation.DSMT4">
                    <p:embed/>
                    <p:pic>
                      <p:nvPicPr>
                        <p:cNvPr id="12302" name="对象 10">
                          <a:extLst>
                            <a:ext uri="{FF2B5EF4-FFF2-40B4-BE49-F238E27FC236}">
                              <a16:creationId xmlns:a16="http://schemas.microsoft.com/office/drawing/2014/main" id="{FC44CEDA-54E2-4891-8AB9-A150024B6F1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22805" y="6165304"/>
                          <a:ext cx="400923" cy="552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3" name="对象 11">
              <a:extLst>
                <a:ext uri="{FF2B5EF4-FFF2-40B4-BE49-F238E27FC236}">
                  <a16:creationId xmlns:a16="http://schemas.microsoft.com/office/drawing/2014/main" id="{787BB999-35E0-4639-AC29-465FD8470E57}"/>
                </a:ext>
              </a:extLst>
            </p:cNvPr>
            <p:cNvGraphicFramePr>
              <a:graphicFrameLocks noChangeAspect="1"/>
            </p:cNvGraphicFramePr>
            <p:nvPr/>
          </p:nvGraphicFramePr>
          <p:xfrm>
            <a:off x="3925209" y="4949242"/>
            <a:ext cx="286751" cy="372704"/>
          </p:xfrm>
          <a:graphic>
            <a:graphicData uri="http://schemas.openxmlformats.org/presentationml/2006/ole">
              <mc:AlternateContent xmlns:mc="http://schemas.openxmlformats.org/markup-compatibility/2006">
                <mc:Choice xmlns:v="urn:schemas-microsoft-com:vml" Requires="v">
                  <p:oleObj name="Equation" r:id="rId16" imgW="126890" imgH="190335" progId="Equation.DSMT4">
                    <p:embed/>
                  </p:oleObj>
                </mc:Choice>
                <mc:Fallback>
                  <p:oleObj name="Equation" r:id="rId16" imgW="126890" imgH="190335" progId="Equation.DSMT4">
                    <p:embed/>
                    <p:pic>
                      <p:nvPicPr>
                        <p:cNvPr id="12303" name="对象 11">
                          <a:extLst>
                            <a:ext uri="{FF2B5EF4-FFF2-40B4-BE49-F238E27FC236}">
                              <a16:creationId xmlns:a16="http://schemas.microsoft.com/office/drawing/2014/main" id="{787BB999-35E0-4639-AC29-465FD8470E5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25209" y="4949242"/>
                          <a:ext cx="286751" cy="37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4" name="对象 12">
              <a:extLst>
                <a:ext uri="{FF2B5EF4-FFF2-40B4-BE49-F238E27FC236}">
                  <a16:creationId xmlns:a16="http://schemas.microsoft.com/office/drawing/2014/main" id="{35CB91B4-C5B6-4515-9BD6-766A2818E705}"/>
                </a:ext>
              </a:extLst>
            </p:cNvPr>
            <p:cNvGraphicFramePr>
              <a:graphicFrameLocks noChangeAspect="1"/>
            </p:cNvGraphicFramePr>
            <p:nvPr/>
          </p:nvGraphicFramePr>
          <p:xfrm>
            <a:off x="4423884" y="5373216"/>
            <a:ext cx="292132" cy="446258"/>
          </p:xfrm>
          <a:graphic>
            <a:graphicData uri="http://schemas.openxmlformats.org/presentationml/2006/ole">
              <mc:AlternateContent xmlns:mc="http://schemas.openxmlformats.org/markup-compatibility/2006">
                <mc:Choice xmlns:v="urn:schemas-microsoft-com:vml" Requires="v">
                  <p:oleObj name="Equation" r:id="rId18" imgW="126890" imgH="190335" progId="Equation.DSMT4">
                    <p:embed/>
                  </p:oleObj>
                </mc:Choice>
                <mc:Fallback>
                  <p:oleObj name="Equation" r:id="rId18" imgW="126890" imgH="190335" progId="Equation.DSMT4">
                    <p:embed/>
                    <p:pic>
                      <p:nvPicPr>
                        <p:cNvPr id="12304" name="对象 12">
                          <a:extLst>
                            <a:ext uri="{FF2B5EF4-FFF2-40B4-BE49-F238E27FC236}">
                              <a16:creationId xmlns:a16="http://schemas.microsoft.com/office/drawing/2014/main" id="{35CB91B4-C5B6-4515-9BD6-766A2818E70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23884" y="5373216"/>
                          <a:ext cx="292132" cy="446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5" name="对象 13">
              <a:extLst>
                <a:ext uri="{FF2B5EF4-FFF2-40B4-BE49-F238E27FC236}">
                  <a16:creationId xmlns:a16="http://schemas.microsoft.com/office/drawing/2014/main" id="{3BBD96F2-D1A7-4682-886F-26A3FFAAA04C}"/>
                </a:ext>
              </a:extLst>
            </p:cNvPr>
            <p:cNvGraphicFramePr>
              <a:graphicFrameLocks noChangeAspect="1"/>
            </p:cNvGraphicFramePr>
            <p:nvPr/>
          </p:nvGraphicFramePr>
          <p:xfrm>
            <a:off x="4254483" y="6228952"/>
            <a:ext cx="281019" cy="425612"/>
          </p:xfrm>
          <a:graphic>
            <a:graphicData uri="http://schemas.openxmlformats.org/presentationml/2006/ole">
              <mc:AlternateContent xmlns:mc="http://schemas.openxmlformats.org/markup-compatibility/2006">
                <mc:Choice xmlns:v="urn:schemas-microsoft-com:vml" Requires="v">
                  <p:oleObj name="Equation" r:id="rId20" imgW="126890" imgH="190335" progId="Equation.DSMT4">
                    <p:embed/>
                  </p:oleObj>
                </mc:Choice>
                <mc:Fallback>
                  <p:oleObj name="Equation" r:id="rId20" imgW="126890" imgH="190335" progId="Equation.DSMT4">
                    <p:embed/>
                    <p:pic>
                      <p:nvPicPr>
                        <p:cNvPr id="12305" name="对象 13">
                          <a:extLst>
                            <a:ext uri="{FF2B5EF4-FFF2-40B4-BE49-F238E27FC236}">
                              <a16:creationId xmlns:a16="http://schemas.microsoft.com/office/drawing/2014/main" id="{3BBD96F2-D1A7-4682-886F-26A3FFAAA04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54483" y="6228952"/>
                          <a:ext cx="281019" cy="42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13318"/>
                                        </p:tgtEl>
                                        <p:attrNameLst>
                                          <p:attrName>style.visibility</p:attrName>
                                        </p:attrNameLst>
                                      </p:cBhvr>
                                      <p:to>
                                        <p:strVal val="visible"/>
                                      </p:to>
                                    </p:set>
                                    <p:animEffect transition="in" filter="wipe(up)">
                                      <p:cBhvr>
                                        <p:cTn id="11" dur="500"/>
                                        <p:tgtEl>
                                          <p:spTgt spid="1331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a:extLst>
              <a:ext uri="{FF2B5EF4-FFF2-40B4-BE49-F238E27FC236}">
                <a16:creationId xmlns:a16="http://schemas.microsoft.com/office/drawing/2014/main" id="{8BB8002D-A37C-4821-899E-BCCCC7FA70D1}"/>
              </a:ext>
            </a:extLst>
          </p:cNvPr>
          <p:cNvSpPr>
            <a:spLocks noGrp="1"/>
          </p:cNvSpPr>
          <p:nvPr>
            <p:ph type="sldNum" sz="quarter" idx="4294967295"/>
          </p:nvPr>
        </p:nvSpPr>
        <p:spPr bwMode="auto">
          <a:xfrm>
            <a:off x="8820150" y="6629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32554492-F384-4F42-B556-9717F46CC8DF}" type="slidenum">
              <a:rPr kumimoji="0" lang="en-US" altLang="zh-CN" sz="1000">
                <a:latin typeface="Arial" panose="020B0604020202020204" pitchFamily="34" charset="0"/>
                <a:ea typeface="微软雅黑" panose="020B0503020204020204" pitchFamily="34" charset="-122"/>
              </a:rPr>
              <a:pPr/>
              <a:t>21</a:t>
            </a:fld>
            <a:endParaRPr kumimoji="0" lang="en-US" altLang="zh-CN" sz="1000">
              <a:latin typeface="Arial" panose="020B0604020202020204" pitchFamily="34" charset="0"/>
              <a:ea typeface="微软雅黑" panose="020B0503020204020204" pitchFamily="34" charset="-122"/>
            </a:endParaRPr>
          </a:p>
        </p:txBody>
      </p:sp>
      <p:sp>
        <p:nvSpPr>
          <p:cNvPr id="195589" name="Rectangle 5">
            <a:extLst>
              <a:ext uri="{FF2B5EF4-FFF2-40B4-BE49-F238E27FC236}">
                <a16:creationId xmlns:a16="http://schemas.microsoft.com/office/drawing/2014/main" id="{9FA0E3F8-C4E3-403B-85D0-268D9EBFDF64}"/>
              </a:ext>
            </a:extLst>
          </p:cNvPr>
          <p:cNvSpPr>
            <a:spLocks noChangeArrowheads="1"/>
          </p:cNvSpPr>
          <p:nvPr/>
        </p:nvSpPr>
        <p:spPr bwMode="auto">
          <a:xfrm>
            <a:off x="287338" y="712788"/>
            <a:ext cx="8497887" cy="3744912"/>
          </a:xfrm>
          <a:prstGeom prst="rect">
            <a:avLst/>
          </a:prstGeom>
          <a:noFill/>
          <a:ln>
            <a:noFill/>
          </a:ln>
          <a:effectLst/>
        </p:spPr>
        <p:txBody>
          <a:bodyPr/>
          <a:lstStyle>
            <a:lvl1pPr marL="609600" indent="-609600">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990600" indent="-533400">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371600" indent="-457200">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752600" indent="-381000">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209800" indent="-38100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marL="274320" indent="-274320" algn="just" eaLnBrk="1" hangingPunct="1">
              <a:lnSpc>
                <a:spcPct val="120000"/>
              </a:lnSpc>
              <a:spcBef>
                <a:spcPct val="20000"/>
              </a:spcBef>
              <a:buFont typeface="Wingdings" panose="05000000000000000000" pitchFamily="2" charset="2"/>
              <a:buChar char="v"/>
              <a:defRPr/>
            </a:pPr>
            <a:r>
              <a:rPr lang="zh-CN" altLang="zh-CN"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决策变量</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Decision Variable</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），即规划问题中需要确定的能用数量表示的量</a:t>
            </a:r>
          </a:p>
          <a:p>
            <a:pPr marL="274320" indent="-274320" algn="just" eaLnBrk="1" hangingPunct="1">
              <a:lnSpc>
                <a:spcPct val="120000"/>
              </a:lnSpc>
              <a:spcBef>
                <a:spcPct val="20000"/>
              </a:spcBef>
              <a:buFont typeface="Wingdings" panose="05000000000000000000" pitchFamily="2" charset="2"/>
              <a:buChar char="v"/>
              <a:defRPr/>
            </a:pPr>
            <a:r>
              <a:rPr lang="zh-CN" altLang="zh-CN"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目标函数</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Objective Function</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），它是关于决策变量的函数，也是决策者优化的目标，一般追求最大（用</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max</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表示）或者最小（用</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min</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表示）</a:t>
            </a:r>
            <a:endPar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74320" indent="-274320" algn="just" eaLnBrk="1" hangingPunct="1">
              <a:lnSpc>
                <a:spcPct val="120000"/>
              </a:lnSpc>
              <a:spcBef>
                <a:spcPct val="20000"/>
              </a:spcBef>
              <a:buFont typeface="Wingdings" panose="05000000000000000000" pitchFamily="2" charset="2"/>
              <a:buChar char="v"/>
              <a:defRPr/>
            </a:pPr>
            <a:r>
              <a:rPr lang="zh-CN" altLang="zh-CN"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约束条件</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Constraint</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），即决策变量需要满足的限制条件（如可用资源的限制，需要满足的服务率的要求等），通常表达为关于决策变量的等式或者不等式</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16" name="Rectangle 8">
            <a:extLst>
              <a:ext uri="{FF2B5EF4-FFF2-40B4-BE49-F238E27FC236}">
                <a16:creationId xmlns:a16="http://schemas.microsoft.com/office/drawing/2014/main" id="{9DC92FC5-37B7-4A29-A92D-B69B1FCDA0C1}"/>
              </a:ext>
            </a:extLst>
          </p:cNvPr>
          <p:cNvSpPr>
            <a:spLocks noChangeArrowheads="1"/>
          </p:cNvSpPr>
          <p:nvPr/>
        </p:nvSpPr>
        <p:spPr bwMode="auto">
          <a:xfrm>
            <a:off x="3175" y="188913"/>
            <a:ext cx="5594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800" b="1">
                <a:latin typeface="Arial" panose="020B0604020202020204" pitchFamily="34" charset="0"/>
                <a:ea typeface="微软雅黑" panose="020B0503020204020204" pitchFamily="34" charset="-122"/>
              </a:rPr>
              <a:t>上述两个问题具有</a:t>
            </a:r>
            <a:r>
              <a:rPr lang="zh-CN" altLang="en-US" sz="2800" b="1">
                <a:solidFill>
                  <a:srgbClr val="FF0000"/>
                </a:solidFill>
                <a:latin typeface="Arial" panose="020B0604020202020204" pitchFamily="34" charset="0"/>
                <a:ea typeface="微软雅黑" panose="020B0503020204020204" pitchFamily="34" charset="-122"/>
              </a:rPr>
              <a:t>三个共同要素：</a:t>
            </a:r>
          </a:p>
        </p:txBody>
      </p:sp>
      <p:sp>
        <p:nvSpPr>
          <p:cNvPr id="13317" name="文本框 10">
            <a:extLst>
              <a:ext uri="{FF2B5EF4-FFF2-40B4-BE49-F238E27FC236}">
                <a16:creationId xmlns:a16="http://schemas.microsoft.com/office/drawing/2014/main" id="{762A6494-FD58-42C0-9AD5-4E69211A18E2}"/>
              </a:ext>
            </a:extLst>
          </p:cNvPr>
          <p:cNvSpPr txBox="1">
            <a:spLocks noChangeArrowheads="1"/>
          </p:cNvSpPr>
          <p:nvPr/>
        </p:nvSpPr>
        <p:spPr bwMode="auto">
          <a:xfrm>
            <a:off x="19050" y="6021388"/>
            <a:ext cx="9251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buClr>
                <a:schemeClr val="bg1"/>
              </a:buClr>
              <a:buSzPct val="100000"/>
              <a:buFont typeface="Wingdings" panose="05000000000000000000" pitchFamily="2" charset="2"/>
              <a:buNone/>
            </a:pPr>
            <a:r>
              <a:rPr lang="zh-CN" altLang="en-US" b="1">
                <a:solidFill>
                  <a:srgbClr val="008000"/>
                </a:solidFill>
                <a:latin typeface="微软雅黑" panose="020B0503020204020204" pitchFamily="34" charset="-122"/>
                <a:ea typeface="微软雅黑" panose="020B0503020204020204" pitchFamily="34" charset="-122"/>
              </a:rPr>
              <a:t>我们称这类规划模型称为“</a:t>
            </a:r>
            <a:r>
              <a:rPr lang="zh-CN" altLang="en-US" b="1">
                <a:solidFill>
                  <a:srgbClr val="0000FF"/>
                </a:solidFill>
                <a:latin typeface="微软雅黑" panose="020B0503020204020204" pitchFamily="34" charset="-122"/>
                <a:ea typeface="微软雅黑" panose="020B0503020204020204" pitchFamily="34" charset="-122"/>
              </a:rPr>
              <a:t>线性规划</a:t>
            </a:r>
            <a:r>
              <a:rPr lang="zh-CN" altLang="en-US" b="1">
                <a:solidFill>
                  <a:srgbClr val="008000"/>
                </a:solidFill>
                <a:latin typeface="微软雅黑" panose="020B0503020204020204" pitchFamily="34" charset="-122"/>
                <a:ea typeface="微软雅黑" panose="020B0503020204020204" pitchFamily="34" charset="-122"/>
              </a:rPr>
              <a:t>”（</a:t>
            </a:r>
            <a:r>
              <a:rPr lang="en-US" altLang="zh-CN" b="1">
                <a:solidFill>
                  <a:srgbClr val="008000"/>
                </a:solidFill>
                <a:latin typeface="微软雅黑" panose="020B0503020204020204" pitchFamily="34" charset="-122"/>
                <a:ea typeface="微软雅黑" panose="020B0503020204020204" pitchFamily="34" charset="-122"/>
              </a:rPr>
              <a:t>Linear Programming</a:t>
            </a:r>
            <a:r>
              <a:rPr lang="zh-CN" altLang="en-US" b="1">
                <a:solidFill>
                  <a:srgbClr val="008000"/>
                </a:solidFill>
                <a:latin typeface="微软雅黑" panose="020B0503020204020204" pitchFamily="34" charset="-122"/>
                <a:ea typeface="微软雅黑" panose="020B0503020204020204" pitchFamily="34" charset="-122"/>
              </a:rPr>
              <a:t>）</a:t>
            </a:r>
          </a:p>
        </p:txBody>
      </p:sp>
      <p:sp>
        <p:nvSpPr>
          <p:cNvPr id="13318" name="文本框 10">
            <a:extLst>
              <a:ext uri="{FF2B5EF4-FFF2-40B4-BE49-F238E27FC236}">
                <a16:creationId xmlns:a16="http://schemas.microsoft.com/office/drawing/2014/main" id="{E75F3BF0-5671-41AF-9284-421FC6ECDCA1}"/>
              </a:ext>
            </a:extLst>
          </p:cNvPr>
          <p:cNvSpPr txBox="1">
            <a:spLocks noChangeArrowheads="1"/>
          </p:cNvSpPr>
          <p:nvPr/>
        </p:nvSpPr>
        <p:spPr bwMode="auto">
          <a:xfrm>
            <a:off x="179388" y="4822825"/>
            <a:ext cx="87137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eaLnBrk="1" hangingPunct="1">
              <a:spcBef>
                <a:spcPct val="20000"/>
              </a:spcBef>
              <a:buClr>
                <a:schemeClr val="bg1"/>
              </a:buClr>
              <a:buSzPct val="100000"/>
              <a:buFont typeface="Wingdings" panose="05000000000000000000" pitchFamily="2" charset="2"/>
              <a:buNone/>
            </a:pPr>
            <a:r>
              <a:rPr lang="zh-CN" altLang="en-US" b="1" dirty="0">
                <a:solidFill>
                  <a:srgbClr val="008000"/>
                </a:solidFill>
                <a:latin typeface="微软雅黑" panose="020B0503020204020204" pitchFamily="34" charset="-122"/>
                <a:ea typeface="微软雅黑" panose="020B0503020204020204" pitchFamily="34" charset="-122"/>
              </a:rPr>
              <a:t>例</a:t>
            </a:r>
            <a:r>
              <a:rPr lang="en-US" altLang="zh-CN" b="1" dirty="0">
                <a:solidFill>
                  <a:srgbClr val="008000"/>
                </a:solidFill>
                <a:latin typeface="微软雅黑" panose="020B0503020204020204" pitchFamily="34" charset="-122"/>
                <a:ea typeface="微软雅黑" panose="020B0503020204020204" pitchFamily="34" charset="-122"/>
              </a:rPr>
              <a:t>1.2.1</a:t>
            </a:r>
            <a:r>
              <a:rPr lang="zh-CN" altLang="en-US" b="1" dirty="0">
                <a:solidFill>
                  <a:srgbClr val="008000"/>
                </a:solidFill>
                <a:latin typeface="微软雅黑" panose="020B0503020204020204" pitchFamily="34" charset="-122"/>
                <a:ea typeface="微软雅黑" panose="020B0503020204020204" pitchFamily="34" charset="-122"/>
              </a:rPr>
              <a:t>和例</a:t>
            </a:r>
            <a:r>
              <a:rPr lang="en-US" altLang="zh-CN" b="1" dirty="0">
                <a:solidFill>
                  <a:srgbClr val="008000"/>
                </a:solidFill>
                <a:latin typeface="微软雅黑" panose="020B0503020204020204" pitchFamily="34" charset="-122"/>
                <a:ea typeface="微软雅黑" panose="020B0503020204020204" pitchFamily="34" charset="-122"/>
              </a:rPr>
              <a:t>1.2.2</a:t>
            </a:r>
            <a:r>
              <a:rPr lang="zh-CN" altLang="en-US" b="1" dirty="0">
                <a:solidFill>
                  <a:srgbClr val="008000"/>
                </a:solidFill>
                <a:latin typeface="微软雅黑" panose="020B0503020204020204" pitchFamily="34" charset="-122"/>
                <a:ea typeface="微软雅黑" panose="020B0503020204020204" pitchFamily="34" charset="-122"/>
              </a:rPr>
              <a:t>中决策变量的取值都是</a:t>
            </a:r>
            <a:r>
              <a:rPr lang="zh-CN" altLang="en-US" b="1" dirty="0">
                <a:solidFill>
                  <a:srgbClr val="0000FF"/>
                </a:solidFill>
                <a:latin typeface="微软雅黑" panose="020B0503020204020204" pitchFamily="34" charset="-122"/>
                <a:ea typeface="微软雅黑" panose="020B0503020204020204" pitchFamily="34" charset="-122"/>
              </a:rPr>
              <a:t>连续</a:t>
            </a:r>
            <a:r>
              <a:rPr lang="zh-CN" altLang="en-US" b="1" dirty="0">
                <a:solidFill>
                  <a:srgbClr val="008000"/>
                </a:solidFill>
                <a:latin typeface="微软雅黑" panose="020B0503020204020204" pitchFamily="34" charset="-122"/>
                <a:ea typeface="微软雅黑" panose="020B0503020204020204" pitchFamily="34" charset="-122"/>
              </a:rPr>
              <a:t>的（而不是离散点）、目标函数和约束条件都是关于决策变量的</a:t>
            </a:r>
            <a:r>
              <a:rPr lang="zh-CN" altLang="en-US" b="1" dirty="0">
                <a:solidFill>
                  <a:srgbClr val="0000FF"/>
                </a:solidFill>
                <a:latin typeface="微软雅黑" panose="020B0503020204020204" pitchFamily="34" charset="-122"/>
                <a:ea typeface="微软雅黑" panose="020B0503020204020204" pitchFamily="34" charset="-122"/>
              </a:rPr>
              <a:t>线性表达式</a:t>
            </a:r>
            <a:endParaRPr lang="en-US" altLang="zh-CN" b="1" dirty="0">
              <a:solidFill>
                <a:srgbClr val="008000"/>
              </a:solidFill>
              <a:latin typeface="微软雅黑" panose="020B0503020204020204" pitchFamily="34" charset="-122"/>
              <a:ea typeface="微软雅黑" panose="020B0503020204020204" pitchFamily="34" charset="-122"/>
            </a:endParaRPr>
          </a:p>
        </p:txBody>
      </p:sp>
    </p:spTree>
  </p:cSld>
  <p:clrMapOvr>
    <a:masterClrMapping/>
  </p:clrMapOvr>
  <p:transition spd="slow">
    <p:comb/>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D2C577E5-7EC9-47B7-A713-957ABE5E6BB9}"/>
              </a:ext>
            </a:extLst>
          </p:cNvPr>
          <p:cNvSpPr>
            <a:spLocks noGrp="1"/>
          </p:cNvSpPr>
          <p:nvPr>
            <p:ph type="sldNum" sz="quarter" idx="4294967295"/>
          </p:nvPr>
        </p:nvSpPr>
        <p:spPr bwMode="auto">
          <a:xfrm>
            <a:off x="8820150" y="6629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BB88B5A8-E21E-4818-A4F0-8B13B651F1F0}" type="slidenum">
              <a:rPr kumimoji="0" lang="en-US" altLang="zh-CN" sz="1000">
                <a:latin typeface="Arial" panose="020B0604020202020204" pitchFamily="34" charset="0"/>
                <a:ea typeface="微软雅黑" panose="020B0503020204020204" pitchFamily="34" charset="-122"/>
              </a:rPr>
              <a:pPr/>
              <a:t>22</a:t>
            </a:fld>
            <a:endParaRPr kumimoji="0" lang="en-US" altLang="zh-CN" sz="1000">
              <a:latin typeface="Arial" panose="020B0604020202020204" pitchFamily="34" charset="0"/>
              <a:ea typeface="微软雅黑" panose="020B0503020204020204" pitchFamily="34" charset="-122"/>
            </a:endParaRPr>
          </a:p>
        </p:txBody>
      </p:sp>
      <p:sp>
        <p:nvSpPr>
          <p:cNvPr id="14339" name="Rectangle 8">
            <a:extLst>
              <a:ext uri="{FF2B5EF4-FFF2-40B4-BE49-F238E27FC236}">
                <a16:creationId xmlns:a16="http://schemas.microsoft.com/office/drawing/2014/main" id="{9C63DA27-0DB7-4B3B-816A-665321A26F40}"/>
              </a:ext>
            </a:extLst>
          </p:cNvPr>
          <p:cNvSpPr>
            <a:spLocks noChangeArrowheads="1"/>
          </p:cNvSpPr>
          <p:nvPr/>
        </p:nvSpPr>
        <p:spPr bwMode="auto">
          <a:xfrm>
            <a:off x="395288" y="476250"/>
            <a:ext cx="45132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800" b="1">
                <a:solidFill>
                  <a:srgbClr val="FF0000"/>
                </a:solidFill>
                <a:latin typeface="Arial" panose="020B0604020202020204" pitchFamily="34" charset="0"/>
                <a:ea typeface="微软雅黑" panose="020B0503020204020204" pitchFamily="34" charset="-122"/>
              </a:rPr>
              <a:t>线性规划模型的隐含假设：</a:t>
            </a:r>
          </a:p>
        </p:txBody>
      </p:sp>
      <p:sp>
        <p:nvSpPr>
          <p:cNvPr id="5" name="Rectangle 5">
            <a:extLst>
              <a:ext uri="{FF2B5EF4-FFF2-40B4-BE49-F238E27FC236}">
                <a16:creationId xmlns:a16="http://schemas.microsoft.com/office/drawing/2014/main" id="{9910FE88-B893-4114-A1F2-664BF3284580}"/>
              </a:ext>
            </a:extLst>
          </p:cNvPr>
          <p:cNvSpPr>
            <a:spLocks noChangeArrowheads="1"/>
          </p:cNvSpPr>
          <p:nvPr/>
        </p:nvSpPr>
        <p:spPr bwMode="auto">
          <a:xfrm>
            <a:off x="395288" y="1412875"/>
            <a:ext cx="7964487" cy="4508500"/>
          </a:xfrm>
          <a:prstGeom prst="rect">
            <a:avLst/>
          </a:prstGeom>
          <a:noFill/>
          <a:ln>
            <a:noFill/>
          </a:ln>
          <a:effectLst/>
        </p:spPr>
        <p:txBody>
          <a:bodyPr/>
          <a:lstStyle>
            <a:lvl1pPr marL="609600" indent="-609600">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990600" indent="-533400">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371600" indent="-457200">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752600" indent="-381000">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209800" indent="-38100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6670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31242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5814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4038600" indent="-38100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marL="274320" indent="-274320" algn="just" eaLnBrk="1" hangingPunct="1">
              <a:lnSpc>
                <a:spcPct val="120000"/>
              </a:lnSpc>
              <a:spcBef>
                <a:spcPct val="20000"/>
              </a:spcBef>
              <a:buFont typeface="Wingdings" panose="05000000000000000000" pitchFamily="2" charset="2"/>
              <a:buChar char="l"/>
              <a:defRPr/>
            </a:pPr>
            <a:r>
              <a:rPr lang="zh-CN" altLang="en-US"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比例性</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决策变量对目标函数或者约束条件的</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影响是成比例关系</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的，如价格每增加</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单位，会导致需求的减少量是一个常数</a:t>
            </a:r>
            <a:r>
              <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。用经济学的属于来讲，就是决策变量所对应的边际影响（收益、成本等）是一个常数。</a:t>
            </a:r>
            <a:endPar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74320" indent="-274320" algn="just" eaLnBrk="1" hangingPunct="1">
              <a:lnSpc>
                <a:spcPct val="120000"/>
              </a:lnSpc>
              <a:spcBef>
                <a:spcPct val="20000"/>
              </a:spcBef>
              <a:buFont typeface="Wingdings" panose="05000000000000000000" pitchFamily="2" charset="2"/>
              <a:buChar char="l"/>
              <a:defRPr/>
            </a:pPr>
            <a:r>
              <a:rPr lang="zh-CN" altLang="en-US"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可加性</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如生产多种产品时</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总利润是各种产品</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利润之和</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，总成本也是各种资源的</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成本之和</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74320" indent="-274320" algn="just" eaLnBrk="1" hangingPunct="1">
              <a:lnSpc>
                <a:spcPct val="120000"/>
              </a:lnSpc>
              <a:spcBef>
                <a:spcPct val="20000"/>
              </a:spcBef>
              <a:buFont typeface="Wingdings" panose="05000000000000000000" pitchFamily="2" charset="2"/>
              <a:buChar char="l"/>
              <a:defRPr/>
            </a:pPr>
            <a:r>
              <a:rPr lang="zh-CN" altLang="en-US"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连续性</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a:t>
            </a:r>
            <a:r>
              <a:rPr lang="zh-CN" altLang="zh-CN"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决策变量</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可以取某区间的</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连续值</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，其取值可以为小数、分数或者实数</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74320" indent="-274320" algn="just" eaLnBrk="1" hangingPunct="1">
              <a:lnSpc>
                <a:spcPct val="120000"/>
              </a:lnSpc>
              <a:spcBef>
                <a:spcPct val="20000"/>
              </a:spcBef>
              <a:buFont typeface="Wingdings" panose="05000000000000000000" pitchFamily="2" charset="2"/>
              <a:buChar char="l"/>
              <a:defRPr/>
            </a:pPr>
            <a:r>
              <a:rPr lang="zh-CN" altLang="en-US" sz="2400" b="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确定性</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，即</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线性函数中的</a:t>
            </a:r>
            <a:r>
              <a:rPr lang="zh-CN" altLang="en-US" sz="2400" b="1" kern="100" dirty="0">
                <a:solidFill>
                  <a:srgbClr val="006600"/>
                </a:solidFill>
                <a:latin typeface="Times New Roman" panose="02020603050405020304" pitchFamily="18" charset="0"/>
                <a:ea typeface="微软雅黑" panose="020B0503020204020204" pitchFamily="34" charset="-122"/>
                <a:cs typeface="Times New Roman" panose="02020603050405020304" pitchFamily="18" charset="0"/>
              </a:rPr>
              <a:t>参数都是确定</a:t>
            </a:r>
            <a:r>
              <a:rPr lang="zh-CN" altLang="en-US" sz="2400" b="1" kern="100" dirty="0">
                <a:latin typeface="Times New Roman" panose="02020603050405020304" pitchFamily="18" charset="0"/>
                <a:ea typeface="微软雅黑" panose="020B0503020204020204" pitchFamily="34" charset="-122"/>
                <a:cs typeface="Times New Roman" panose="02020603050405020304" pitchFamily="18" charset="0"/>
              </a:rPr>
              <a:t>的常数</a:t>
            </a:r>
            <a:r>
              <a:rPr lang="zh-CN" altLang="zh-CN" sz="2400"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FE0EBE68-2C44-4D64-A503-FBB95D8581CF}"/>
              </a:ext>
            </a:extLst>
          </p:cNvPr>
          <p:cNvSpPr>
            <a:spLocks noGrp="1"/>
          </p:cNvSpPr>
          <p:nvPr>
            <p:ph type="sldNum" sz="quarter" idx="4294967295"/>
          </p:nvPr>
        </p:nvSpPr>
        <p:spPr bwMode="auto">
          <a:xfrm>
            <a:off x="8826500" y="6629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48F25C0D-68A9-4AA3-95D0-99A40090561A}" type="slidenum">
              <a:rPr kumimoji="0" lang="en-US" altLang="zh-CN" sz="1000">
                <a:latin typeface="Arial" panose="020B0604020202020204" pitchFamily="34" charset="0"/>
                <a:ea typeface="微软雅黑" panose="020B0503020204020204" pitchFamily="34" charset="-122"/>
              </a:rPr>
              <a:pPr/>
              <a:t>23</a:t>
            </a:fld>
            <a:endParaRPr kumimoji="0" lang="en-US" altLang="zh-CN" sz="1000">
              <a:latin typeface="Arial" panose="020B0604020202020204" pitchFamily="34" charset="0"/>
              <a:ea typeface="微软雅黑" panose="020B0503020204020204" pitchFamily="34" charset="-122"/>
            </a:endParaRPr>
          </a:p>
        </p:txBody>
      </p:sp>
      <p:sp>
        <p:nvSpPr>
          <p:cNvPr id="15363" name="Rectangle 6">
            <a:extLst>
              <a:ext uri="{FF2B5EF4-FFF2-40B4-BE49-F238E27FC236}">
                <a16:creationId xmlns:a16="http://schemas.microsoft.com/office/drawing/2014/main" id="{99B840B0-D1BF-4E8A-9091-3F018F628CDF}"/>
              </a:ext>
            </a:extLst>
          </p:cNvPr>
          <p:cNvSpPr>
            <a:spLocks noChangeArrowheads="1"/>
          </p:cNvSpPr>
          <p:nvPr/>
        </p:nvSpPr>
        <p:spPr bwMode="auto">
          <a:xfrm>
            <a:off x="1444625" y="223838"/>
            <a:ext cx="409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buClr>
                <a:schemeClr val="bg1"/>
              </a:buClr>
              <a:buSzPct val="100000"/>
              <a:buFont typeface="Wingdings" panose="05000000000000000000" pitchFamily="2" charset="2"/>
              <a:buNone/>
            </a:pPr>
            <a:r>
              <a:rPr lang="zh-CN" altLang="en-US" sz="2800" b="1">
                <a:solidFill>
                  <a:srgbClr val="0000FF"/>
                </a:solidFill>
                <a:latin typeface="Arial" panose="020B0604020202020204" pitchFamily="34" charset="0"/>
                <a:ea typeface="微软雅黑" panose="020B0503020204020204" pitchFamily="34" charset="-122"/>
              </a:rPr>
              <a:t>线性规划模型的一般形式</a:t>
            </a:r>
          </a:p>
        </p:txBody>
      </p:sp>
      <p:graphicFrame>
        <p:nvGraphicFramePr>
          <p:cNvPr id="15364" name="对象 3">
            <a:extLst>
              <a:ext uri="{FF2B5EF4-FFF2-40B4-BE49-F238E27FC236}">
                <a16:creationId xmlns:a16="http://schemas.microsoft.com/office/drawing/2014/main" id="{E16B860C-0FB8-4536-8F7A-7BEF4F1247B2}"/>
              </a:ext>
            </a:extLst>
          </p:cNvPr>
          <p:cNvGraphicFramePr>
            <a:graphicFrameLocks noChangeAspect="1"/>
          </p:cNvGraphicFramePr>
          <p:nvPr/>
        </p:nvGraphicFramePr>
        <p:xfrm>
          <a:off x="2235200" y="830263"/>
          <a:ext cx="4673600" cy="2425700"/>
        </p:xfrm>
        <a:graphic>
          <a:graphicData uri="http://schemas.openxmlformats.org/presentationml/2006/ole">
            <mc:AlternateContent xmlns:mc="http://schemas.openxmlformats.org/markup-compatibility/2006">
              <mc:Choice xmlns:v="urn:schemas-microsoft-com:vml" Requires="v">
                <p:oleObj name="Equation" r:id="rId2" imgW="2692400" imgH="1397000" progId="Equation.DSMT4">
                  <p:embed/>
                </p:oleObj>
              </mc:Choice>
              <mc:Fallback>
                <p:oleObj name="Equation" r:id="rId2" imgW="2692400" imgH="1397000" progId="Equation.DSMT4">
                  <p:embed/>
                  <p:pic>
                    <p:nvPicPr>
                      <p:cNvPr id="15364" name="对象 3">
                        <a:extLst>
                          <a:ext uri="{FF2B5EF4-FFF2-40B4-BE49-F238E27FC236}">
                            <a16:creationId xmlns:a16="http://schemas.microsoft.com/office/drawing/2014/main" id="{E16B860C-0FB8-4536-8F7A-7BEF4F124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5200" y="830263"/>
                        <a:ext cx="46736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7">
            <a:extLst>
              <a:ext uri="{FF2B5EF4-FFF2-40B4-BE49-F238E27FC236}">
                <a16:creationId xmlns:a16="http://schemas.microsoft.com/office/drawing/2014/main" id="{4F311745-9FD8-45D8-BB5A-30239979E072}"/>
              </a:ext>
            </a:extLst>
          </p:cNvPr>
          <p:cNvSpPr>
            <a:spLocks noChangeArrowheads="1"/>
          </p:cNvSpPr>
          <p:nvPr/>
        </p:nvSpPr>
        <p:spPr bwMode="auto">
          <a:xfrm>
            <a:off x="15875" y="9525"/>
            <a:ext cx="901700" cy="523875"/>
          </a:xfrm>
          <a:prstGeom prst="rect">
            <a:avLst/>
          </a:prstGeom>
          <a:noFill/>
          <a:ln>
            <a:noFill/>
          </a:ln>
          <a:effectLst/>
        </p:spPr>
        <p:txBody>
          <a:bodyPr wrap="none">
            <a:spAutoFit/>
          </a:bodyPr>
          <a:lstStyle/>
          <a:p>
            <a:pPr eaLnBrk="1" hangingPunct="1">
              <a:spcBef>
                <a:spcPct val="20000"/>
              </a:spcBef>
              <a:buClr>
                <a:schemeClr val="bg1"/>
              </a:buClr>
              <a:buSzPct val="100000"/>
              <a:buFont typeface="Wingdings" panose="05000000000000000000" pitchFamily="2" charset="2"/>
              <a:buNone/>
              <a:defRPr/>
            </a:pPr>
            <a:r>
              <a:rPr lang="zh-CN" altLang="en-US" sz="2800"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总结</a:t>
            </a:r>
            <a:endParaRPr lang="en-US" altLang="zh-CN" sz="2800" b="1" dirty="0">
              <a:solidFill>
                <a:srgbClr val="FF0000"/>
              </a:solidFill>
              <a:ea typeface="微软雅黑" panose="020B0503020204020204" pitchFamily="34" charset="-122"/>
              <a:cs typeface="Times New Roman" panose="02020603050405020304" pitchFamily="18" charset="0"/>
            </a:endParaRPr>
          </a:p>
        </p:txBody>
      </p:sp>
      <p:graphicFrame>
        <p:nvGraphicFramePr>
          <p:cNvPr id="2" name="对象 1">
            <a:extLst>
              <a:ext uri="{FF2B5EF4-FFF2-40B4-BE49-F238E27FC236}">
                <a16:creationId xmlns:a16="http://schemas.microsoft.com/office/drawing/2014/main" id="{AD3B98F4-1917-4EF1-BE1F-CD3E19E6AAF1}"/>
              </a:ext>
            </a:extLst>
          </p:cNvPr>
          <p:cNvGraphicFramePr>
            <a:graphicFrameLocks noChangeAspect="1"/>
          </p:cNvGraphicFramePr>
          <p:nvPr/>
        </p:nvGraphicFramePr>
        <p:xfrm>
          <a:off x="2643188" y="3736975"/>
          <a:ext cx="2390775" cy="1828800"/>
        </p:xfrm>
        <a:graphic>
          <a:graphicData uri="http://schemas.openxmlformats.org/presentationml/2006/ole">
            <mc:AlternateContent xmlns:mc="http://schemas.openxmlformats.org/markup-compatibility/2006">
              <mc:Choice xmlns:v="urn:schemas-microsoft-com:vml" Requires="v">
                <p:oleObj name="Equation" r:id="rId4" imgW="2390627" imgH="1828723" progId="Equation.DSMT4">
                  <p:embed/>
                </p:oleObj>
              </mc:Choice>
              <mc:Fallback>
                <p:oleObj name="Equation" r:id="rId4" imgW="2390627" imgH="1828723" progId="Equation.DSMT4">
                  <p:embed/>
                  <p:pic>
                    <p:nvPicPr>
                      <p:cNvPr id="2" name="对象 1">
                        <a:extLst>
                          <a:ext uri="{FF2B5EF4-FFF2-40B4-BE49-F238E27FC236}">
                            <a16:creationId xmlns:a16="http://schemas.microsoft.com/office/drawing/2014/main" id="{AD3B98F4-1917-4EF1-BE1F-CD3E19E6AA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3188" y="3736975"/>
                        <a:ext cx="2390775" cy="1828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a:extLst>
              <a:ext uri="{FF2B5EF4-FFF2-40B4-BE49-F238E27FC236}">
                <a16:creationId xmlns:a16="http://schemas.microsoft.com/office/drawing/2014/main" id="{BC8DDCDC-5141-49BF-93C1-F558202780A1}"/>
              </a:ext>
            </a:extLst>
          </p:cNvPr>
          <p:cNvGraphicFramePr>
            <a:graphicFrameLocks noChangeAspect="1"/>
          </p:cNvGraphicFramePr>
          <p:nvPr/>
        </p:nvGraphicFramePr>
        <p:xfrm>
          <a:off x="1619250" y="5716588"/>
          <a:ext cx="6299200" cy="969962"/>
        </p:xfrm>
        <a:graphic>
          <a:graphicData uri="http://schemas.openxmlformats.org/presentationml/2006/ole">
            <mc:AlternateContent xmlns:mc="http://schemas.openxmlformats.org/markup-compatibility/2006">
              <mc:Choice xmlns:v="urn:schemas-microsoft-com:vml" Requires="v">
                <p:oleObj name="Equation" r:id="rId6" imgW="2794000" imgH="482600" progId="Equation.DSMT4">
                  <p:embed/>
                </p:oleObj>
              </mc:Choice>
              <mc:Fallback>
                <p:oleObj name="Equation" r:id="rId6" imgW="2794000" imgH="482600" progId="Equation.DSMT4">
                  <p:embed/>
                  <p:pic>
                    <p:nvPicPr>
                      <p:cNvPr id="4" name="对象 3">
                        <a:extLst>
                          <a:ext uri="{FF2B5EF4-FFF2-40B4-BE49-F238E27FC236}">
                            <a16:creationId xmlns:a16="http://schemas.microsoft.com/office/drawing/2014/main" id="{BC8DDCDC-5141-49BF-93C1-F558202780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250" y="5716588"/>
                        <a:ext cx="6299200" cy="9699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3E153880-18B9-41BE-A116-98E5CAF22976}"/>
              </a:ext>
            </a:extLst>
          </p:cNvPr>
          <p:cNvSpPr txBox="1">
            <a:spLocks noChangeArrowheads="1"/>
          </p:cNvSpPr>
          <p:nvPr/>
        </p:nvSpPr>
        <p:spPr bwMode="auto">
          <a:xfrm>
            <a:off x="357188" y="5373688"/>
            <a:ext cx="901700" cy="531812"/>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marL="0" indent="0" algn="just" eaLnBrk="1" hangingPunct="1">
              <a:spcBef>
                <a:spcPct val="0"/>
              </a:spcBef>
              <a:buFont typeface="Wingdings" panose="05000000000000000000" pitchFamily="2" charset="2"/>
              <a:buNone/>
              <a:defRPr/>
            </a:pPr>
            <a:r>
              <a:rPr lang="zh-CN" altLang="en-US" sz="2400" b="1" kern="0" dirty="0">
                <a:solidFill>
                  <a:srgbClr val="FF0000"/>
                </a:solidFill>
                <a:latin typeface="微软雅黑" panose="020B0503020204020204" pitchFamily="34" charset="-122"/>
                <a:ea typeface="微软雅黑" panose="020B0503020204020204" pitchFamily="34" charset="-122"/>
              </a:rPr>
              <a:t>或者</a:t>
            </a:r>
          </a:p>
        </p:txBody>
      </p:sp>
      <p:sp>
        <p:nvSpPr>
          <p:cNvPr id="10" name="Rectangle 3">
            <a:extLst>
              <a:ext uri="{FF2B5EF4-FFF2-40B4-BE49-F238E27FC236}">
                <a16:creationId xmlns:a16="http://schemas.microsoft.com/office/drawing/2014/main" id="{DAA9090A-C6CE-4C92-845A-32DD7C7EB23B}"/>
              </a:ext>
            </a:extLst>
          </p:cNvPr>
          <p:cNvSpPr txBox="1">
            <a:spLocks noChangeArrowheads="1"/>
          </p:cNvSpPr>
          <p:nvPr/>
        </p:nvSpPr>
        <p:spPr bwMode="auto">
          <a:xfrm>
            <a:off x="15875" y="3343275"/>
            <a:ext cx="2952750"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800" b="1" kern="0" dirty="0">
                <a:solidFill>
                  <a:srgbClr val="0000FF"/>
                </a:solidFill>
                <a:latin typeface="微软雅黑" panose="020B0503020204020204" pitchFamily="34" charset="-122"/>
                <a:ea typeface="微软雅黑" panose="020B0503020204020204" pitchFamily="34" charset="-122"/>
              </a:rPr>
              <a:t>矩阵形式</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B5D2E952-6E90-41B0-A962-FDB9D085A3D1}"/>
              </a:ext>
            </a:extLst>
          </p:cNvPr>
          <p:cNvSpPr>
            <a:spLocks noGrp="1"/>
          </p:cNvSpPr>
          <p:nvPr>
            <p:ph type="sldNum" sz="quarter" idx="4294967295"/>
          </p:nvPr>
        </p:nvSpPr>
        <p:spPr bwMode="auto">
          <a:xfrm>
            <a:off x="8821738" y="6629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fld id="{D55CD36E-2E0D-44E0-907F-80C42B275B15}" type="slidenum">
              <a:rPr kumimoji="0" lang="en-US" altLang="zh-CN" sz="1000">
                <a:latin typeface="Arial" panose="020B0604020202020204" pitchFamily="34" charset="0"/>
                <a:ea typeface="微软雅黑" panose="020B0503020204020204" pitchFamily="34" charset="-122"/>
              </a:rPr>
              <a:pPr/>
              <a:t>24</a:t>
            </a:fld>
            <a:endParaRPr kumimoji="0" lang="en-US" altLang="zh-CN" sz="1000">
              <a:latin typeface="Arial" panose="020B0604020202020204" pitchFamily="34" charset="0"/>
              <a:ea typeface="微软雅黑" panose="020B0503020204020204" pitchFamily="34" charset="-122"/>
            </a:endParaRPr>
          </a:p>
        </p:txBody>
      </p:sp>
      <p:sp>
        <p:nvSpPr>
          <p:cNvPr id="16387" name="文本框 1">
            <a:extLst>
              <a:ext uri="{FF2B5EF4-FFF2-40B4-BE49-F238E27FC236}">
                <a16:creationId xmlns:a16="http://schemas.microsoft.com/office/drawing/2014/main" id="{E08F112B-0985-41CE-9CC4-7B4FCB431464}"/>
              </a:ext>
            </a:extLst>
          </p:cNvPr>
          <p:cNvSpPr txBox="1">
            <a:spLocks noChangeArrowheads="1"/>
          </p:cNvSpPr>
          <p:nvPr/>
        </p:nvSpPr>
        <p:spPr bwMode="auto">
          <a:xfrm>
            <a:off x="171450" y="3038475"/>
            <a:ext cx="936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b="1">
                <a:ea typeface="微软雅黑" panose="020B0503020204020204" pitchFamily="34" charset="-122"/>
              </a:rPr>
              <a:t>其中</a:t>
            </a:r>
          </a:p>
        </p:txBody>
      </p:sp>
      <p:graphicFrame>
        <p:nvGraphicFramePr>
          <p:cNvPr id="16388" name="对象 3">
            <a:extLst>
              <a:ext uri="{FF2B5EF4-FFF2-40B4-BE49-F238E27FC236}">
                <a16:creationId xmlns:a16="http://schemas.microsoft.com/office/drawing/2014/main" id="{547283A6-74A5-4749-BA53-C34E11B4B651}"/>
              </a:ext>
            </a:extLst>
          </p:cNvPr>
          <p:cNvGraphicFramePr>
            <a:graphicFrameLocks noChangeAspect="1"/>
          </p:cNvGraphicFramePr>
          <p:nvPr/>
        </p:nvGraphicFramePr>
        <p:xfrm>
          <a:off x="1155700" y="2897188"/>
          <a:ext cx="2768600" cy="1971675"/>
        </p:xfrm>
        <a:graphic>
          <a:graphicData uri="http://schemas.openxmlformats.org/presentationml/2006/ole">
            <mc:AlternateContent xmlns:mc="http://schemas.openxmlformats.org/markup-compatibility/2006">
              <mc:Choice xmlns:v="urn:schemas-microsoft-com:vml" Requires="v">
                <p:oleObj name="Equation" r:id="rId2" imgW="1295400" imgH="1079500" progId="Equation.DSMT4">
                  <p:embed/>
                </p:oleObj>
              </mc:Choice>
              <mc:Fallback>
                <p:oleObj name="Equation" r:id="rId2" imgW="1295400" imgH="1079500" progId="Equation.DSMT4">
                  <p:embed/>
                  <p:pic>
                    <p:nvPicPr>
                      <p:cNvPr id="16388" name="对象 3">
                        <a:extLst>
                          <a:ext uri="{FF2B5EF4-FFF2-40B4-BE49-F238E27FC236}">
                            <a16:creationId xmlns:a16="http://schemas.microsoft.com/office/drawing/2014/main" id="{547283A6-74A5-4749-BA53-C34E11B4B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700" y="2897188"/>
                        <a:ext cx="276860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9" name="对象 4">
            <a:extLst>
              <a:ext uri="{FF2B5EF4-FFF2-40B4-BE49-F238E27FC236}">
                <a16:creationId xmlns:a16="http://schemas.microsoft.com/office/drawing/2014/main" id="{9E846666-BFAD-43DE-B075-3AA5C92FAA14}"/>
              </a:ext>
            </a:extLst>
          </p:cNvPr>
          <p:cNvGraphicFramePr>
            <a:graphicFrameLocks noChangeAspect="1"/>
          </p:cNvGraphicFramePr>
          <p:nvPr/>
        </p:nvGraphicFramePr>
        <p:xfrm>
          <a:off x="4224338" y="3038475"/>
          <a:ext cx="4759325" cy="1778000"/>
        </p:xfrm>
        <a:graphic>
          <a:graphicData uri="http://schemas.openxmlformats.org/presentationml/2006/ole">
            <mc:AlternateContent xmlns:mc="http://schemas.openxmlformats.org/markup-compatibility/2006">
              <mc:Choice xmlns:v="urn:schemas-microsoft-com:vml" Requires="v">
                <p:oleObj name="Equation" r:id="rId4" imgW="2514600" imgH="939800" progId="Equation.DSMT4">
                  <p:embed/>
                </p:oleObj>
              </mc:Choice>
              <mc:Fallback>
                <p:oleObj name="Equation" r:id="rId4" imgW="2514600" imgH="939800" progId="Equation.DSMT4">
                  <p:embed/>
                  <p:pic>
                    <p:nvPicPr>
                      <p:cNvPr id="16389" name="对象 4">
                        <a:extLst>
                          <a:ext uri="{FF2B5EF4-FFF2-40B4-BE49-F238E27FC236}">
                            <a16:creationId xmlns:a16="http://schemas.microsoft.com/office/drawing/2014/main" id="{9E846666-BFAD-43DE-B075-3AA5C92FAA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4338" y="3038475"/>
                        <a:ext cx="4759325"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0" name="对象 14">
            <a:extLst>
              <a:ext uri="{FF2B5EF4-FFF2-40B4-BE49-F238E27FC236}">
                <a16:creationId xmlns:a16="http://schemas.microsoft.com/office/drawing/2014/main" id="{866B2976-FC84-4CBD-83B7-96E611728540}"/>
              </a:ext>
            </a:extLst>
          </p:cNvPr>
          <p:cNvGraphicFramePr>
            <a:graphicFrameLocks noChangeAspect="1"/>
          </p:cNvGraphicFramePr>
          <p:nvPr/>
        </p:nvGraphicFramePr>
        <p:xfrm>
          <a:off x="3132138" y="131763"/>
          <a:ext cx="2390775" cy="1828800"/>
        </p:xfrm>
        <a:graphic>
          <a:graphicData uri="http://schemas.openxmlformats.org/presentationml/2006/ole">
            <mc:AlternateContent xmlns:mc="http://schemas.openxmlformats.org/markup-compatibility/2006">
              <mc:Choice xmlns:v="urn:schemas-microsoft-com:vml" Requires="v">
                <p:oleObj name="Equation" r:id="rId6" imgW="2390627" imgH="1828723" progId="Equation.DSMT4">
                  <p:embed/>
                </p:oleObj>
              </mc:Choice>
              <mc:Fallback>
                <p:oleObj name="Equation" r:id="rId6" imgW="2390627" imgH="1828723" progId="Equation.DSMT4">
                  <p:embed/>
                  <p:pic>
                    <p:nvPicPr>
                      <p:cNvPr id="16390" name="对象 14">
                        <a:extLst>
                          <a:ext uri="{FF2B5EF4-FFF2-40B4-BE49-F238E27FC236}">
                            <a16:creationId xmlns:a16="http://schemas.microsoft.com/office/drawing/2014/main" id="{866B2976-FC84-4CBD-83B7-96E6117285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2138" y="131763"/>
                        <a:ext cx="2390775" cy="1828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1" name="对象 15">
            <a:extLst>
              <a:ext uri="{FF2B5EF4-FFF2-40B4-BE49-F238E27FC236}">
                <a16:creationId xmlns:a16="http://schemas.microsoft.com/office/drawing/2014/main" id="{09F85595-6E9C-4BA2-ADE2-5BD1549392FF}"/>
              </a:ext>
            </a:extLst>
          </p:cNvPr>
          <p:cNvGraphicFramePr>
            <a:graphicFrameLocks noChangeAspect="1"/>
          </p:cNvGraphicFramePr>
          <p:nvPr/>
        </p:nvGraphicFramePr>
        <p:xfrm>
          <a:off x="1619250" y="1927225"/>
          <a:ext cx="6299200" cy="969963"/>
        </p:xfrm>
        <a:graphic>
          <a:graphicData uri="http://schemas.openxmlformats.org/presentationml/2006/ole">
            <mc:AlternateContent xmlns:mc="http://schemas.openxmlformats.org/markup-compatibility/2006">
              <mc:Choice xmlns:v="urn:schemas-microsoft-com:vml" Requires="v">
                <p:oleObj name="Equation" r:id="rId8" imgW="2794000" imgH="482600" progId="Equation.DSMT4">
                  <p:embed/>
                </p:oleObj>
              </mc:Choice>
              <mc:Fallback>
                <p:oleObj name="Equation" r:id="rId8" imgW="2794000" imgH="482600" progId="Equation.DSMT4">
                  <p:embed/>
                  <p:pic>
                    <p:nvPicPr>
                      <p:cNvPr id="16391" name="对象 15">
                        <a:extLst>
                          <a:ext uri="{FF2B5EF4-FFF2-40B4-BE49-F238E27FC236}">
                            <a16:creationId xmlns:a16="http://schemas.microsoft.com/office/drawing/2014/main" id="{09F85595-6E9C-4BA2-ADE2-5BD1549392F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1927225"/>
                        <a:ext cx="6299200" cy="9699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3">
            <a:extLst>
              <a:ext uri="{FF2B5EF4-FFF2-40B4-BE49-F238E27FC236}">
                <a16:creationId xmlns:a16="http://schemas.microsoft.com/office/drawing/2014/main" id="{75A269C7-0722-4242-8F54-9147A1B219D4}"/>
              </a:ext>
            </a:extLst>
          </p:cNvPr>
          <p:cNvSpPr txBox="1">
            <a:spLocks noChangeArrowheads="1"/>
          </p:cNvSpPr>
          <p:nvPr/>
        </p:nvSpPr>
        <p:spPr bwMode="auto">
          <a:xfrm>
            <a:off x="188913" y="1647825"/>
            <a:ext cx="901700" cy="52546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marL="0" indent="0" algn="just" eaLnBrk="1" hangingPunct="1">
              <a:spcBef>
                <a:spcPct val="0"/>
              </a:spcBef>
              <a:buFont typeface="Wingdings" panose="05000000000000000000" pitchFamily="2" charset="2"/>
              <a:buNone/>
              <a:defRPr/>
            </a:pPr>
            <a:r>
              <a:rPr lang="zh-CN" altLang="en-US" sz="2400" b="1" kern="0" dirty="0">
                <a:solidFill>
                  <a:srgbClr val="FF0000"/>
                </a:solidFill>
                <a:latin typeface="微软雅黑" panose="020B0503020204020204" pitchFamily="34" charset="-122"/>
                <a:ea typeface="微软雅黑" panose="020B0503020204020204" pitchFamily="34" charset="-122"/>
              </a:rPr>
              <a:t>或者</a:t>
            </a:r>
          </a:p>
        </p:txBody>
      </p:sp>
      <p:sp>
        <p:nvSpPr>
          <p:cNvPr id="18" name="Rectangle 3">
            <a:extLst>
              <a:ext uri="{FF2B5EF4-FFF2-40B4-BE49-F238E27FC236}">
                <a16:creationId xmlns:a16="http://schemas.microsoft.com/office/drawing/2014/main" id="{46F3B0D4-CDBF-4B6B-B9F1-D85F56B3673C}"/>
              </a:ext>
            </a:extLst>
          </p:cNvPr>
          <p:cNvSpPr txBox="1">
            <a:spLocks noChangeArrowheads="1"/>
          </p:cNvSpPr>
          <p:nvPr/>
        </p:nvSpPr>
        <p:spPr bwMode="auto">
          <a:xfrm>
            <a:off x="-180975" y="34925"/>
            <a:ext cx="2952750" cy="531813"/>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indent="0" algn="just" eaLnBrk="1" hangingPunct="1">
              <a:spcBef>
                <a:spcPct val="0"/>
              </a:spcBef>
              <a:buFont typeface="Wingdings" panose="05000000000000000000" pitchFamily="2" charset="2"/>
              <a:buNone/>
              <a:defRPr/>
            </a:pPr>
            <a:r>
              <a:rPr lang="zh-CN" altLang="en-US" sz="2800" b="1" kern="0" dirty="0">
                <a:solidFill>
                  <a:srgbClr val="0000FF"/>
                </a:solidFill>
                <a:latin typeface="微软雅黑" panose="020B0503020204020204" pitchFamily="34" charset="-122"/>
                <a:ea typeface="微软雅黑" panose="020B0503020204020204" pitchFamily="34" charset="-122"/>
              </a:rPr>
              <a:t>矩阵形式</a:t>
            </a:r>
          </a:p>
        </p:txBody>
      </p:sp>
      <p:grpSp>
        <p:nvGrpSpPr>
          <p:cNvPr id="19" name="组合 18">
            <a:extLst>
              <a:ext uri="{FF2B5EF4-FFF2-40B4-BE49-F238E27FC236}">
                <a16:creationId xmlns:a16="http://schemas.microsoft.com/office/drawing/2014/main" id="{5C5772A4-1CD5-444D-98AC-8FA96AF8F0D8}"/>
              </a:ext>
            </a:extLst>
          </p:cNvPr>
          <p:cNvGrpSpPr>
            <a:grpSpLocks/>
          </p:cNvGrpSpPr>
          <p:nvPr/>
        </p:nvGrpSpPr>
        <p:grpSpPr bwMode="auto">
          <a:xfrm>
            <a:off x="0" y="4876800"/>
            <a:ext cx="9144000" cy="1936750"/>
            <a:chOff x="1" y="2460625"/>
            <a:chExt cx="9144000" cy="1936750"/>
          </a:xfrm>
        </p:grpSpPr>
        <p:sp>
          <p:nvSpPr>
            <p:cNvPr id="20" name="Rectangle 3">
              <a:extLst>
                <a:ext uri="{FF2B5EF4-FFF2-40B4-BE49-F238E27FC236}">
                  <a16:creationId xmlns:a16="http://schemas.microsoft.com/office/drawing/2014/main" id="{E5C0DEB0-7957-476F-B712-86EB7895698E}"/>
                </a:ext>
              </a:extLst>
            </p:cNvPr>
            <p:cNvSpPr txBox="1">
              <a:spLocks noChangeArrowheads="1"/>
            </p:cNvSpPr>
            <p:nvPr/>
          </p:nvSpPr>
          <p:spPr bwMode="auto">
            <a:xfrm>
              <a:off x="1" y="2460625"/>
              <a:ext cx="9144000" cy="1936750"/>
            </a:xfrm>
            <a:prstGeom prst="rect">
              <a:avLst/>
            </a:prstGeom>
            <a:noFill/>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marL="685800" algn="just" eaLnBrk="1" hangingPunct="1">
                <a:lnSpc>
                  <a:spcPct val="120000"/>
                </a:lnSpc>
                <a:spcBef>
                  <a:spcPct val="0"/>
                </a:spcBef>
                <a:buFont typeface="Wingdings" panose="05000000000000000000" pitchFamily="2" charset="2"/>
                <a:buChar char="Ø"/>
                <a:defRPr/>
              </a:pPr>
              <a:r>
                <a:rPr lang="zh-CN" altLang="en-US" sz="2400" b="1" kern="0" dirty="0">
                  <a:latin typeface="微软雅黑" panose="020B0503020204020204" pitchFamily="34" charset="-122"/>
                  <a:ea typeface="微软雅黑" panose="020B0503020204020204" pitchFamily="34" charset="-122"/>
                </a:rPr>
                <a:t>称向量</a:t>
              </a:r>
              <a:r>
                <a:rPr lang="en-US" altLang="zh-CN" sz="2400" b="1" i="1" kern="0" dirty="0">
                  <a:latin typeface="Times New Roman" panose="02020603050405020304" pitchFamily="18" charset="0"/>
                  <a:ea typeface="微软雅黑" panose="020B0503020204020204" pitchFamily="34" charset="-122"/>
                  <a:cs typeface="Times New Roman" panose="02020603050405020304" pitchFamily="18" charset="0"/>
                </a:rPr>
                <a:t>C </a:t>
              </a:r>
              <a:r>
                <a:rPr lang="zh-CN" altLang="en-US" sz="2400" b="1" kern="0" dirty="0">
                  <a:latin typeface="微软雅黑" panose="020B0503020204020204" pitchFamily="34" charset="-122"/>
                  <a:ea typeface="微软雅黑" panose="020B0503020204020204" pitchFamily="34" charset="-122"/>
                </a:rPr>
                <a:t>为</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目标函数</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系数</a:t>
              </a:r>
              <a:endParaRPr lang="en-US" altLang="zh-CN" sz="2400" b="1" kern="0" dirty="0">
                <a:latin typeface="微软雅黑" panose="020B0503020204020204" pitchFamily="34" charset="-122"/>
                <a:ea typeface="微软雅黑" panose="020B0503020204020204" pitchFamily="34" charset="-122"/>
              </a:endParaRPr>
            </a:p>
            <a:p>
              <a:pPr marL="685800" algn="just" eaLnBrk="1" hangingPunct="1">
                <a:lnSpc>
                  <a:spcPct val="120000"/>
                </a:lnSpc>
                <a:spcBef>
                  <a:spcPct val="0"/>
                </a:spcBef>
                <a:buFont typeface="Wingdings" panose="05000000000000000000" pitchFamily="2" charset="2"/>
                <a:buChar char="Ø"/>
                <a:defRPr/>
              </a:pPr>
              <a:r>
                <a:rPr lang="zh-CN" altLang="en-US" sz="2400" b="1" kern="0" dirty="0">
                  <a:latin typeface="微软雅黑" panose="020B0503020204020204" pitchFamily="34" charset="-122"/>
                  <a:ea typeface="微软雅黑" panose="020B0503020204020204" pitchFamily="34" charset="-122"/>
                </a:rPr>
                <a:t>向量   为</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约束条件右边项</a:t>
              </a:r>
              <a:r>
                <a:rPr lang="zh-CN" altLang="en-US" sz="2400" b="1" kern="0" dirty="0">
                  <a:latin typeface="+mn-ea"/>
                </a:rPr>
                <a:t>”</a:t>
              </a:r>
              <a:endParaRPr lang="en-US" altLang="zh-CN" sz="2400" b="1" kern="0" dirty="0">
                <a:latin typeface="微软雅黑" panose="020B0503020204020204" pitchFamily="34" charset="-122"/>
                <a:ea typeface="微软雅黑" panose="020B0503020204020204" pitchFamily="34" charset="-122"/>
              </a:endParaRPr>
            </a:p>
            <a:p>
              <a:pPr marL="685800" algn="just" eaLnBrk="1" hangingPunct="1">
                <a:lnSpc>
                  <a:spcPct val="120000"/>
                </a:lnSpc>
                <a:spcBef>
                  <a:spcPct val="0"/>
                </a:spcBef>
                <a:buFont typeface="Wingdings" panose="05000000000000000000" pitchFamily="2" charset="2"/>
                <a:buChar char="Ø"/>
                <a:defRPr/>
              </a:pPr>
              <a:r>
                <a:rPr lang="zh-CN" altLang="en-US" sz="2400" b="1" kern="0" dirty="0">
                  <a:latin typeface="微软雅黑" panose="020B0503020204020204" pitchFamily="34" charset="-122"/>
                  <a:ea typeface="微软雅黑" panose="020B0503020204020204" pitchFamily="34" charset="-122"/>
                </a:rPr>
                <a:t>矩阵</a:t>
              </a:r>
              <a:r>
                <a:rPr lang="en-US" altLang="zh-CN" sz="2400" b="1" i="1" kern="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1" kern="0" dirty="0">
                  <a:latin typeface="微软雅黑" panose="020B0503020204020204" pitchFamily="34" charset="-122"/>
                  <a:ea typeface="微软雅黑" panose="020B0503020204020204" pitchFamily="34" charset="-122"/>
                </a:rPr>
                <a:t>为约束条件的</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系数矩阵</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或</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技术系数矩阵</a:t>
              </a:r>
              <a:r>
                <a:rPr lang="zh-CN" altLang="en-US" sz="2400" b="1" kern="0" dirty="0">
                  <a:latin typeface="+mn-ea"/>
                </a:rPr>
                <a:t>”</a:t>
              </a:r>
              <a:endParaRPr lang="en-US" altLang="zh-CN" sz="2400" b="1" kern="0" dirty="0">
                <a:latin typeface="+mn-ea"/>
              </a:endParaRPr>
            </a:p>
            <a:p>
              <a:pPr marL="685800" algn="just" eaLnBrk="1" hangingPunct="1">
                <a:lnSpc>
                  <a:spcPct val="120000"/>
                </a:lnSpc>
                <a:spcBef>
                  <a:spcPct val="0"/>
                </a:spcBef>
                <a:buFont typeface="Wingdings" panose="05000000000000000000" pitchFamily="2" charset="2"/>
                <a:buChar char="Ø"/>
                <a:defRPr/>
              </a:pPr>
              <a:r>
                <a:rPr lang="zh-CN" altLang="en-US" sz="2400" b="1" kern="0" dirty="0">
                  <a:latin typeface="微软雅黑" panose="020B0503020204020204" pitchFamily="34" charset="-122"/>
                  <a:ea typeface="微软雅黑" panose="020B0503020204020204" pitchFamily="34" charset="-122"/>
                </a:rPr>
                <a:t>向量    则对应于系数矩阵中决策变量    的</a:t>
              </a:r>
              <a:r>
                <a:rPr lang="zh-CN" altLang="en-US" sz="2400" b="1" kern="0" dirty="0">
                  <a:latin typeface="+mn-ea"/>
                </a:rPr>
                <a:t>“</a:t>
              </a:r>
              <a:r>
                <a:rPr lang="zh-CN" altLang="en-US" sz="2400" b="1" kern="0" dirty="0">
                  <a:latin typeface="微软雅黑" panose="020B0503020204020204" pitchFamily="34" charset="-122"/>
                  <a:ea typeface="微软雅黑" panose="020B0503020204020204" pitchFamily="34" charset="-122"/>
                </a:rPr>
                <a:t>列向量</a:t>
              </a:r>
              <a:r>
                <a:rPr lang="zh-CN" altLang="en-US" sz="2400" b="1" kern="0" dirty="0">
                  <a:latin typeface="+mn-ea"/>
                </a:rPr>
                <a:t>”</a:t>
              </a:r>
              <a:endParaRPr lang="en-US" altLang="zh-CN" sz="2400" b="1" kern="0" dirty="0">
                <a:latin typeface="微软雅黑" panose="020B0503020204020204" pitchFamily="34" charset="-122"/>
                <a:ea typeface="微软雅黑" panose="020B0503020204020204" pitchFamily="34" charset="-122"/>
              </a:endParaRPr>
            </a:p>
          </p:txBody>
        </p:sp>
        <p:graphicFrame>
          <p:nvGraphicFramePr>
            <p:cNvPr id="16396" name="对象 10">
              <a:extLst>
                <a:ext uri="{FF2B5EF4-FFF2-40B4-BE49-F238E27FC236}">
                  <a16:creationId xmlns:a16="http://schemas.microsoft.com/office/drawing/2014/main" id="{5A926716-23E4-4FFE-ADB2-D7E65A3E67AE}"/>
                </a:ext>
              </a:extLst>
            </p:cNvPr>
            <p:cNvGraphicFramePr>
              <a:graphicFrameLocks noChangeAspect="1"/>
            </p:cNvGraphicFramePr>
            <p:nvPr/>
          </p:nvGraphicFramePr>
          <p:xfrm>
            <a:off x="1403648" y="3828868"/>
            <a:ext cx="324496" cy="480541"/>
          </p:xfrm>
          <a:graphic>
            <a:graphicData uri="http://schemas.openxmlformats.org/presentationml/2006/ole">
              <mc:AlternateContent xmlns:mc="http://schemas.openxmlformats.org/markup-compatibility/2006">
                <mc:Choice xmlns:v="urn:schemas-microsoft-com:vml" Requires="v">
                  <p:oleObj name="Equation" r:id="rId10" imgW="164957" imgH="241091" progId="Equation.DSMT4">
                    <p:embed/>
                  </p:oleObj>
                </mc:Choice>
                <mc:Fallback>
                  <p:oleObj name="Equation" r:id="rId10" imgW="164957" imgH="241091" progId="Equation.DSMT4">
                    <p:embed/>
                    <p:pic>
                      <p:nvPicPr>
                        <p:cNvPr id="16396" name="对象 10">
                          <a:extLst>
                            <a:ext uri="{FF2B5EF4-FFF2-40B4-BE49-F238E27FC236}">
                              <a16:creationId xmlns:a16="http://schemas.microsoft.com/office/drawing/2014/main" id="{5A926716-23E4-4FFE-ADB2-D7E65A3E67A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03648" y="3828868"/>
                          <a:ext cx="324496" cy="480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7" name="对象 11">
              <a:extLst>
                <a:ext uri="{FF2B5EF4-FFF2-40B4-BE49-F238E27FC236}">
                  <a16:creationId xmlns:a16="http://schemas.microsoft.com/office/drawing/2014/main" id="{EB3A3BFE-80B2-4919-9DD1-91E1C95C8546}"/>
                </a:ext>
              </a:extLst>
            </p:cNvPr>
            <p:cNvGraphicFramePr>
              <a:graphicFrameLocks noChangeAspect="1"/>
            </p:cNvGraphicFramePr>
            <p:nvPr/>
          </p:nvGraphicFramePr>
          <p:xfrm>
            <a:off x="1403648" y="2996952"/>
            <a:ext cx="287331" cy="347663"/>
          </p:xfrm>
          <a:graphic>
            <a:graphicData uri="http://schemas.openxmlformats.org/presentationml/2006/ole">
              <mc:AlternateContent xmlns:mc="http://schemas.openxmlformats.org/markup-compatibility/2006">
                <mc:Choice xmlns:v="urn:schemas-microsoft-com:vml" Requires="v">
                  <p:oleObj name="Equation" r:id="rId12" imgW="126725" imgH="177415" progId="Equation.DSMT4">
                    <p:embed/>
                  </p:oleObj>
                </mc:Choice>
                <mc:Fallback>
                  <p:oleObj name="Equation" r:id="rId12" imgW="126725" imgH="177415" progId="Equation.DSMT4">
                    <p:embed/>
                    <p:pic>
                      <p:nvPicPr>
                        <p:cNvPr id="16397" name="对象 11">
                          <a:extLst>
                            <a:ext uri="{FF2B5EF4-FFF2-40B4-BE49-F238E27FC236}">
                              <a16:creationId xmlns:a16="http://schemas.microsoft.com/office/drawing/2014/main" id="{EB3A3BFE-80B2-4919-9DD1-91E1C95C854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03648" y="2996952"/>
                          <a:ext cx="287331"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8" name="对象 13">
              <a:extLst>
                <a:ext uri="{FF2B5EF4-FFF2-40B4-BE49-F238E27FC236}">
                  <a16:creationId xmlns:a16="http://schemas.microsoft.com/office/drawing/2014/main" id="{8B9D60FA-6AD9-44FB-985D-24FEC8483580}"/>
                </a:ext>
              </a:extLst>
            </p:cNvPr>
            <p:cNvGraphicFramePr>
              <a:graphicFrameLocks noChangeAspect="1"/>
            </p:cNvGraphicFramePr>
            <p:nvPr/>
          </p:nvGraphicFramePr>
          <p:xfrm>
            <a:off x="5724128" y="3753346"/>
            <a:ext cx="365116" cy="539750"/>
          </p:xfrm>
          <a:graphic>
            <a:graphicData uri="http://schemas.openxmlformats.org/presentationml/2006/ole">
              <mc:AlternateContent xmlns:mc="http://schemas.openxmlformats.org/markup-compatibility/2006">
                <mc:Choice xmlns:v="urn:schemas-microsoft-com:vml" Requires="v">
                  <p:oleObj name="Equation" r:id="rId14" imgW="164957" imgH="241091" progId="Equation.DSMT4">
                    <p:embed/>
                  </p:oleObj>
                </mc:Choice>
                <mc:Fallback>
                  <p:oleObj name="Equation" r:id="rId14" imgW="164957" imgH="241091" progId="Equation.DSMT4">
                    <p:embed/>
                    <p:pic>
                      <p:nvPicPr>
                        <p:cNvPr id="16398" name="对象 13">
                          <a:extLst>
                            <a:ext uri="{FF2B5EF4-FFF2-40B4-BE49-F238E27FC236}">
                              <a16:creationId xmlns:a16="http://schemas.microsoft.com/office/drawing/2014/main" id="{8B9D60FA-6AD9-44FB-985D-24FEC848358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24128" y="3753346"/>
                          <a:ext cx="36511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对象 10"/>
          <p:cNvGraphicFramePr>
            <a:graphicFrameLocks/>
          </p:cNvGraphicFramePr>
          <p:nvPr>
            <p:extLst>
              <p:ext uri="{D42A27DB-BD31-4B8C-83A1-F6EECF244321}">
                <p14:modId xmlns:p14="http://schemas.microsoft.com/office/powerpoint/2010/main" val="1725779016"/>
              </p:ext>
            </p:extLst>
          </p:nvPr>
        </p:nvGraphicFramePr>
        <p:xfrm>
          <a:off x="3618436" y="4419392"/>
          <a:ext cx="2205649" cy="257161"/>
        </p:xfrm>
        <a:graphic>
          <a:graphicData uri="http://schemas.openxmlformats.org/presentationml/2006/ole">
            <mc:AlternateContent xmlns:mc="http://schemas.openxmlformats.org/markup-compatibility/2006">
              <mc:Choice xmlns:v="urn:schemas-microsoft-com:vml" Requires="v">
                <p:oleObj name="Equation" r:id="rId3" imgW="2831465" imgH="330200" progId="Equation.DSMT4">
                  <p:embed/>
                </p:oleObj>
              </mc:Choice>
              <mc:Fallback>
                <p:oleObj name="Equation" r:id="rId3" imgW="2831465" imgH="330200" progId="Equation.DSMT4">
                  <p:embed/>
                  <p:pic>
                    <p:nvPicPr>
                      <p:cNvPr id="11" name="对象 10"/>
                      <p:cNvPicPr/>
                      <p:nvPr/>
                    </p:nvPicPr>
                    <p:blipFill>
                      <a:blip r:embed="rId4"/>
                      <a:stretch>
                        <a:fillRect/>
                      </a:stretch>
                    </p:blipFill>
                    <p:spPr>
                      <a:xfrm>
                        <a:off x="3618436" y="4419392"/>
                        <a:ext cx="2205649" cy="257161"/>
                      </a:xfrm>
                      <a:prstGeom prst="rect">
                        <a:avLst/>
                      </a:prstGeom>
                    </p:spPr>
                  </p:pic>
                </p:oleObj>
              </mc:Fallback>
            </mc:AlternateContent>
          </a:graphicData>
        </a:graphic>
      </p:graphicFrame>
      <p:graphicFrame>
        <p:nvGraphicFramePr>
          <p:cNvPr id="13" name="对象 12"/>
          <p:cNvGraphicFramePr>
            <a:graphicFrameLocks/>
          </p:cNvGraphicFramePr>
          <p:nvPr>
            <p:extLst>
              <p:ext uri="{D42A27DB-BD31-4B8C-83A1-F6EECF244321}">
                <p14:modId xmlns:p14="http://schemas.microsoft.com/office/powerpoint/2010/main" val="3750984864"/>
              </p:ext>
            </p:extLst>
          </p:nvPr>
        </p:nvGraphicFramePr>
        <p:xfrm>
          <a:off x="3618438" y="4944010"/>
          <a:ext cx="2205649" cy="257161"/>
        </p:xfrm>
        <a:graphic>
          <a:graphicData uri="http://schemas.openxmlformats.org/presentationml/2006/ole">
            <mc:AlternateContent xmlns:mc="http://schemas.openxmlformats.org/markup-compatibility/2006">
              <mc:Choice xmlns:v="urn:schemas-microsoft-com:vml" Requires="v">
                <p:oleObj name="Equation" r:id="rId5" imgW="36880800" imgH="7924800" progId="Equation.DSMT4">
                  <p:embed/>
                </p:oleObj>
              </mc:Choice>
              <mc:Fallback>
                <p:oleObj name="Equation" r:id="rId5" imgW="36880800" imgH="7924800" progId="Equation.DSMT4">
                  <p:embed/>
                  <p:pic>
                    <p:nvPicPr>
                      <p:cNvPr id="13" name="对象 12"/>
                      <p:cNvPicPr/>
                      <p:nvPr/>
                    </p:nvPicPr>
                    <p:blipFill>
                      <a:blip r:embed="rId6"/>
                      <a:stretch>
                        <a:fillRect/>
                      </a:stretch>
                    </p:blipFill>
                    <p:spPr>
                      <a:xfrm>
                        <a:off x="3618438" y="4944010"/>
                        <a:ext cx="2205649" cy="257161"/>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652383614"/>
              </p:ext>
            </p:extLst>
          </p:nvPr>
        </p:nvGraphicFramePr>
        <p:xfrm>
          <a:off x="3916399" y="3799869"/>
          <a:ext cx="1609725" cy="247650"/>
        </p:xfrm>
        <a:graphic>
          <a:graphicData uri="http://schemas.openxmlformats.org/presentationml/2006/ole">
            <mc:AlternateContent xmlns:mc="http://schemas.openxmlformats.org/markup-compatibility/2006">
              <mc:Choice xmlns:v="urn:schemas-microsoft-com:vml" Requires="v">
                <p:oleObj name="Equation" r:id="rId7" imgW="51511200" imgH="7924800" progId="Equation.DSMT4">
                  <p:embed/>
                </p:oleObj>
              </mc:Choice>
              <mc:Fallback>
                <p:oleObj name="Equation" r:id="rId7" imgW="51511200" imgH="7924800" progId="Equation.DSMT4">
                  <p:embed/>
                  <p:pic>
                    <p:nvPicPr>
                      <p:cNvPr id="15" name="对象 14"/>
                      <p:cNvPicPr/>
                      <p:nvPr/>
                    </p:nvPicPr>
                    <p:blipFill>
                      <a:blip r:embed="rId8"/>
                      <a:stretch>
                        <a:fillRect/>
                      </a:stretch>
                    </p:blipFill>
                    <p:spPr>
                      <a:xfrm>
                        <a:off x="3916399" y="3799869"/>
                        <a:ext cx="1609725" cy="247650"/>
                      </a:xfrm>
                      <a:prstGeom prst="rect">
                        <a:avLst/>
                      </a:prstGeom>
                    </p:spPr>
                  </p:pic>
                </p:oleObj>
              </mc:Fallback>
            </mc:AlternateContent>
          </a:graphicData>
        </a:graphic>
      </p:graphicFrame>
      <p:sp>
        <p:nvSpPr>
          <p:cNvPr id="7" name="Rectangle 3">
            <a:extLst>
              <a:ext uri="{FF2B5EF4-FFF2-40B4-BE49-F238E27FC236}">
                <a16:creationId xmlns:a16="http://schemas.microsoft.com/office/drawing/2014/main" id="{5C59D07B-86C5-4ECD-B77C-F046B519D390}"/>
              </a:ext>
            </a:extLst>
          </p:cNvPr>
          <p:cNvSpPr txBox="1">
            <a:spLocks noChangeArrowheads="1"/>
          </p:cNvSpPr>
          <p:nvPr/>
        </p:nvSpPr>
        <p:spPr bwMode="auto">
          <a:xfrm>
            <a:off x="143007" y="5210962"/>
            <a:ext cx="8847826" cy="460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257175" indent="-257175">
              <a:spcBef>
                <a:spcPts val="450"/>
              </a:spcBef>
              <a:buSzPct val="70000"/>
              <a:buFont typeface="Wingdings" panose="05000000000000000000" pitchFamily="2" charset="2"/>
              <a:buChar char="u"/>
            </a:pPr>
            <a:r>
              <a:rPr lang="zh-CN" altLang="en-US" sz="2000" b="1" dirty="0">
                <a:latin typeface="Times New Roman" panose="02020603050405020304" pitchFamily="18" charset="0"/>
                <a:ea typeface="微软雅黑" panose="020B0503020204020204" pitchFamily="34" charset="-122"/>
              </a:rPr>
              <a:t>如此，得到这个问题的数学模型如下</a:t>
            </a:r>
            <a:endParaRPr lang="en-US" altLang="zh-CN" sz="2000" b="1" dirty="0">
              <a:latin typeface="Times New Roman" panose="02020603050405020304" pitchFamily="18" charset="0"/>
              <a:ea typeface="微软雅黑" panose="020B0503020204020204" pitchFamily="34" charset="-122"/>
            </a:endParaRPr>
          </a:p>
        </p:txBody>
      </p:sp>
      <p:graphicFrame>
        <p:nvGraphicFramePr>
          <p:cNvPr id="8" name="对象 7">
            <a:extLst>
              <a:ext uri="{FF2B5EF4-FFF2-40B4-BE49-F238E27FC236}">
                <a16:creationId xmlns:a16="http://schemas.microsoft.com/office/drawing/2014/main" id="{73E5363C-9389-4614-A73E-990D74ECB128}"/>
              </a:ext>
            </a:extLst>
          </p:cNvPr>
          <p:cNvGraphicFramePr>
            <a:graphicFrameLocks noChangeAspect="1"/>
          </p:cNvGraphicFramePr>
          <p:nvPr>
            <p:extLst>
              <p:ext uri="{D42A27DB-BD31-4B8C-83A1-F6EECF244321}">
                <p14:modId xmlns:p14="http://schemas.microsoft.com/office/powerpoint/2010/main" val="1932820194"/>
              </p:ext>
            </p:extLst>
          </p:nvPr>
        </p:nvGraphicFramePr>
        <p:xfrm>
          <a:off x="3347864" y="5681239"/>
          <a:ext cx="2746796" cy="1004665"/>
        </p:xfrm>
        <a:graphic>
          <a:graphicData uri="http://schemas.openxmlformats.org/presentationml/2006/ole">
            <mc:AlternateContent xmlns:mc="http://schemas.openxmlformats.org/markup-compatibility/2006">
              <mc:Choice xmlns:v="urn:schemas-microsoft-com:vml" Requires="v">
                <p:oleObj name="Equation" r:id="rId9" imgW="78333600" imgH="28651200" progId="Equation.DSMT4">
                  <p:embed/>
                </p:oleObj>
              </mc:Choice>
              <mc:Fallback>
                <p:oleObj name="Equation" r:id="rId9" imgW="78333600" imgH="28651200" progId="Equation.DSMT4">
                  <p:embed/>
                  <p:pic>
                    <p:nvPicPr>
                      <p:cNvPr id="8" name="对象 7">
                        <a:extLst>
                          <a:ext uri="{FF2B5EF4-FFF2-40B4-BE49-F238E27FC236}">
                            <a16:creationId xmlns:a16="http://schemas.microsoft.com/office/drawing/2014/main" id="{73E5363C-9389-4614-A73E-990D74ECB128}"/>
                          </a:ext>
                        </a:extLst>
                      </p:cNvPr>
                      <p:cNvPicPr/>
                      <p:nvPr/>
                    </p:nvPicPr>
                    <p:blipFill>
                      <a:blip r:embed="rId10"/>
                      <a:stretch>
                        <a:fillRect/>
                      </a:stretch>
                    </p:blipFill>
                    <p:spPr>
                      <a:xfrm>
                        <a:off x="3347864" y="5681239"/>
                        <a:ext cx="2746796" cy="1004665"/>
                      </a:xfrm>
                      <a:prstGeom prst="rect">
                        <a:avLst/>
                      </a:prstGeom>
                    </p:spPr>
                  </p:pic>
                </p:oleObj>
              </mc:Fallback>
            </mc:AlternateContent>
          </a:graphicData>
        </a:graphic>
      </p:graphicFrame>
      <p:sp>
        <p:nvSpPr>
          <p:cNvPr id="2" name="矩形 1">
            <a:extLst>
              <a:ext uri="{FF2B5EF4-FFF2-40B4-BE49-F238E27FC236}">
                <a16:creationId xmlns:a16="http://schemas.microsoft.com/office/drawing/2014/main" id="{DE0DD434-7E06-4760-AC73-F12B2617E4C3}"/>
              </a:ext>
            </a:extLst>
          </p:cNvPr>
          <p:cNvSpPr/>
          <p:nvPr/>
        </p:nvSpPr>
        <p:spPr>
          <a:xfrm>
            <a:off x="6285803" y="4944010"/>
            <a:ext cx="2809926" cy="1631216"/>
          </a:xfrm>
          <a:prstGeom prst="rect">
            <a:avLst/>
          </a:prstGeom>
          <a:solidFill>
            <a:schemeClr val="accent2">
              <a:lumMod val="50000"/>
            </a:schemeClr>
          </a:solidFill>
          <a:ln>
            <a:solidFill>
              <a:schemeClr val="accent2"/>
            </a:solidFill>
          </a:ln>
        </p:spPr>
        <p:txBody>
          <a:bodyPr wrap="square">
            <a:spAutoFit/>
          </a:bodyPr>
          <a:lstStyle/>
          <a:p>
            <a:r>
              <a:rPr lang="zh-CN" altLang="en-US" sz="2000" b="1" dirty="0">
                <a:solidFill>
                  <a:schemeClr val="bg1"/>
                </a:solidFill>
                <a:latin typeface="Times New Roman" panose="02020603050405020304" pitchFamily="18" charset="0"/>
                <a:ea typeface="微软雅黑" panose="020B0503020204020204" pitchFamily="34" charset="-122"/>
              </a:rPr>
              <a:t>例</a:t>
            </a:r>
            <a:r>
              <a:rPr lang="en-US" altLang="zh-CN" sz="2000" b="1" dirty="0">
                <a:solidFill>
                  <a:schemeClr val="bg1"/>
                </a:solidFill>
                <a:latin typeface="Times New Roman" panose="02020603050405020304" pitchFamily="18" charset="0"/>
                <a:ea typeface="微软雅黑" panose="020B0503020204020204" pitchFamily="34" charset="-122"/>
              </a:rPr>
              <a:t>1.2.3 </a:t>
            </a:r>
            <a:r>
              <a:rPr lang="zh-CN" altLang="en-US" sz="2000" b="1" dirty="0">
                <a:solidFill>
                  <a:schemeClr val="bg1"/>
                </a:solidFill>
                <a:latin typeface="Times New Roman" panose="02020603050405020304" pitchFamily="18" charset="0"/>
                <a:ea typeface="微软雅黑" panose="020B0503020204020204" pitchFamily="34" charset="-122"/>
              </a:rPr>
              <a:t>的目标函数为自变量的线性函数，但其第一个约束条件却是自变量的二次函数，因而它是非线性规划问题。</a:t>
            </a:r>
            <a:endParaRPr lang="zh-CN" altLang="en-US" sz="2000" b="1" dirty="0">
              <a:solidFill>
                <a:schemeClr val="bg1"/>
              </a:solidFill>
            </a:endParaRPr>
          </a:p>
        </p:txBody>
      </p:sp>
      <p:cxnSp>
        <p:nvCxnSpPr>
          <p:cNvPr id="10" name="直接连接符 9">
            <a:extLst>
              <a:ext uri="{FF2B5EF4-FFF2-40B4-BE49-F238E27FC236}">
                <a16:creationId xmlns:a16="http://schemas.microsoft.com/office/drawing/2014/main" id="{F57DF3CE-6E12-4DC7-B335-B174C2A81515}"/>
              </a:ext>
            </a:extLst>
          </p:cNvPr>
          <p:cNvCxnSpPr>
            <a:cxnSpLocks/>
          </p:cNvCxnSpPr>
          <p:nvPr>
            <p:custDataLst>
              <p:tags r:id="rId1"/>
            </p:custDataLst>
          </p:nvPr>
        </p:nvCxnSpPr>
        <p:spPr>
          <a:xfrm>
            <a:off x="0" y="764704"/>
            <a:ext cx="9144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67F7111D-6B97-42D9-9EAF-591DAD85B7AF}"/>
              </a:ext>
            </a:extLst>
          </p:cNvPr>
          <p:cNvSpPr/>
          <p:nvPr/>
        </p:nvSpPr>
        <p:spPr>
          <a:xfrm>
            <a:off x="-60705" y="150125"/>
            <a:ext cx="4583306" cy="523220"/>
          </a:xfrm>
          <a:prstGeom prst="rect">
            <a:avLst/>
          </a:prstGeom>
        </p:spPr>
        <p:txBody>
          <a:bodyPr wrap="none">
            <a:spAutoFit/>
          </a:bodyPr>
          <a:lstStyle/>
          <a:p>
            <a:pPr>
              <a:spcBef>
                <a:spcPts val="450"/>
              </a:spcBef>
              <a:buClr>
                <a:schemeClr val="accent1"/>
              </a:buClr>
              <a:buSzPct val="70000"/>
            </a:pPr>
            <a:r>
              <a:rPr lang="zh-CN" altLang="en-US" sz="2800" b="1" dirty="0">
                <a:solidFill>
                  <a:srgbClr val="002060"/>
                </a:solidFill>
                <a:latin typeface="Times New Roman" panose="02020603050405020304" pitchFamily="18" charset="0"/>
                <a:ea typeface="微软雅黑" panose="020B0503020204020204" pitchFamily="34" charset="-122"/>
              </a:rPr>
              <a:t>非线性规划</a:t>
            </a:r>
            <a:r>
              <a:rPr lang="en-US" altLang="zh-CN" sz="2800" b="1" dirty="0">
                <a:solidFill>
                  <a:srgbClr val="002060"/>
                </a:solidFill>
                <a:latin typeface="Times New Roman" panose="02020603050405020304" pitchFamily="18" charset="0"/>
                <a:ea typeface="微软雅黑" panose="020B0503020204020204" pitchFamily="34" charset="-122"/>
              </a:rPr>
              <a:t> </a:t>
            </a:r>
            <a:r>
              <a:rPr lang="zh-CN" altLang="en-US" sz="2800" b="1" dirty="0">
                <a:solidFill>
                  <a:srgbClr val="002060"/>
                </a:solidFill>
                <a:latin typeface="Times New Roman" panose="02020603050405020304" pitchFamily="18" charset="0"/>
                <a:ea typeface="微软雅黑" panose="020B0503020204020204" pitchFamily="34" charset="-122"/>
              </a:rPr>
              <a:t>举例及基本模型</a:t>
            </a:r>
            <a:endParaRPr lang="en-US" altLang="zh-CN" sz="2800" b="1" dirty="0">
              <a:solidFill>
                <a:srgbClr val="002060"/>
              </a:solidFill>
              <a:latin typeface="Times New Roman" panose="02020603050405020304" pitchFamily="18" charset="0"/>
              <a:ea typeface="微软雅黑" panose="020B0503020204020204" pitchFamily="34" charset="-122"/>
            </a:endParaRPr>
          </a:p>
        </p:txBody>
      </p:sp>
      <p:sp>
        <p:nvSpPr>
          <p:cNvPr id="16" name="矩形 15">
            <a:extLst>
              <a:ext uri="{FF2B5EF4-FFF2-40B4-BE49-F238E27FC236}">
                <a16:creationId xmlns:a16="http://schemas.microsoft.com/office/drawing/2014/main" id="{64561B20-8B68-411C-B2EE-8D49BC7AA10E}"/>
              </a:ext>
            </a:extLst>
          </p:cNvPr>
          <p:cNvSpPr/>
          <p:nvPr/>
        </p:nvSpPr>
        <p:spPr>
          <a:xfrm>
            <a:off x="33881" y="851791"/>
            <a:ext cx="1723549" cy="400110"/>
          </a:xfrm>
          <a:prstGeom prst="rect">
            <a:avLst/>
          </a:prstGeom>
        </p:spPr>
        <p:txBody>
          <a:bodyPr wrap="none">
            <a:spAutoFit/>
          </a:bodyPr>
          <a:lstStyle/>
          <a:p>
            <a:pPr>
              <a:spcBef>
                <a:spcPts val="450"/>
              </a:spcBef>
              <a:buClr>
                <a:schemeClr val="accent1"/>
              </a:buClr>
              <a:buSzPct val="70000"/>
            </a:pPr>
            <a:r>
              <a:rPr lang="en-US" altLang="zh-CN" sz="2000" b="1" dirty="0">
                <a:solidFill>
                  <a:srgbClr val="C00000"/>
                </a:solidFill>
                <a:latin typeface="Times New Roman" panose="02020603050405020304" pitchFamily="18" charset="0"/>
                <a:ea typeface="微软雅黑" panose="020B0503020204020204" pitchFamily="34" charset="-122"/>
              </a:rPr>
              <a:t>1.</a:t>
            </a:r>
            <a:r>
              <a:rPr lang="zh-CN" altLang="en-US" sz="2000" b="1" dirty="0">
                <a:solidFill>
                  <a:srgbClr val="C00000"/>
                </a:solidFill>
                <a:latin typeface="Times New Roman" panose="02020603050405020304" pitchFamily="18" charset="0"/>
                <a:ea typeface="微软雅黑" panose="020B0503020204020204" pitchFamily="34" charset="-122"/>
              </a:rPr>
              <a:t> 问题的提出</a:t>
            </a:r>
            <a:endParaRPr lang="en-US" altLang="zh-CN" sz="2000" b="1" dirty="0">
              <a:solidFill>
                <a:srgbClr val="C00000"/>
              </a:solidFill>
              <a:latin typeface="Times New Roman" panose="02020603050405020304" pitchFamily="18" charset="0"/>
              <a:ea typeface="微软雅黑" panose="020B0503020204020204" pitchFamily="34" charset="-122"/>
            </a:endParaRPr>
          </a:p>
        </p:txBody>
      </p:sp>
      <p:sp>
        <p:nvSpPr>
          <p:cNvPr id="17" name="矩形 16">
            <a:extLst>
              <a:ext uri="{FF2B5EF4-FFF2-40B4-BE49-F238E27FC236}">
                <a16:creationId xmlns:a16="http://schemas.microsoft.com/office/drawing/2014/main" id="{CEA6EC48-AF92-4793-97DD-752949C7F61E}"/>
              </a:ext>
            </a:extLst>
          </p:cNvPr>
          <p:cNvSpPr/>
          <p:nvPr/>
        </p:nvSpPr>
        <p:spPr>
          <a:xfrm>
            <a:off x="-29621" y="1251901"/>
            <a:ext cx="9144000" cy="1884427"/>
          </a:xfrm>
          <a:prstGeom prst="rect">
            <a:avLst/>
          </a:prstGeom>
          <a:solidFill>
            <a:schemeClr val="accent1">
              <a:lumMod val="20000"/>
              <a:lumOff val="80000"/>
            </a:schemeClr>
          </a:solidFill>
        </p:spPr>
        <p:txBody>
          <a:bodyPr wrap="square">
            <a:spAutoFit/>
          </a:bodyPr>
          <a:lstStyle/>
          <a:p>
            <a:pPr>
              <a:lnSpc>
                <a:spcPct val="150000"/>
              </a:lnSpc>
              <a:spcBef>
                <a:spcPts val="450"/>
              </a:spcBef>
              <a:buClr>
                <a:schemeClr val="accent1"/>
              </a:buClr>
              <a:buSzPct val="70000"/>
            </a:pPr>
            <a:r>
              <a:rPr lang="zh-CN" altLang="en-US" sz="2000" b="1" dirty="0">
                <a:solidFill>
                  <a:srgbClr val="002060"/>
                </a:solidFill>
                <a:latin typeface="Times New Roman" panose="02020603050405020304" pitchFamily="18" charset="0"/>
                <a:ea typeface="微软雅黑" panose="020B0503020204020204" pitchFamily="34" charset="-122"/>
              </a:rPr>
              <a:t>例</a:t>
            </a:r>
            <a:r>
              <a:rPr lang="en-US" altLang="zh-CN" sz="2000" b="1" dirty="0">
                <a:solidFill>
                  <a:srgbClr val="002060"/>
                </a:solidFill>
                <a:latin typeface="Times New Roman" panose="02020603050405020304" pitchFamily="18" charset="0"/>
                <a:ea typeface="微软雅黑" panose="020B0503020204020204" pitchFamily="34" charset="-122"/>
              </a:rPr>
              <a:t>1.2.3   </a:t>
            </a:r>
            <a:r>
              <a:rPr lang="zh-CN" altLang="en-US" sz="2000" b="1" dirty="0">
                <a:solidFill>
                  <a:srgbClr val="002060"/>
                </a:solidFill>
                <a:latin typeface="Times New Roman" panose="02020603050405020304" pitchFamily="18" charset="0"/>
                <a:ea typeface="微软雅黑" panose="020B0503020204020204" pitchFamily="34" charset="-122"/>
              </a:rPr>
              <a:t>某公司经营两种产品，第一种产品每件售价</a:t>
            </a:r>
            <a:r>
              <a:rPr lang="en-US" altLang="zh-CN" sz="2000" b="1" dirty="0">
                <a:solidFill>
                  <a:srgbClr val="002060"/>
                </a:solidFill>
                <a:latin typeface="Times New Roman" panose="02020603050405020304" pitchFamily="18" charset="0"/>
                <a:ea typeface="微软雅黑" panose="020B0503020204020204" pitchFamily="34" charset="-122"/>
              </a:rPr>
              <a:t>30</a:t>
            </a:r>
            <a:r>
              <a:rPr lang="zh-CN" altLang="en-US" sz="2000" b="1" dirty="0">
                <a:solidFill>
                  <a:srgbClr val="002060"/>
                </a:solidFill>
                <a:latin typeface="Times New Roman" panose="02020603050405020304" pitchFamily="18" charset="0"/>
                <a:ea typeface="微软雅黑" panose="020B0503020204020204" pitchFamily="34" charset="-122"/>
              </a:rPr>
              <a:t>元，第二种产品每件售价</a:t>
            </a:r>
            <a:r>
              <a:rPr lang="en-US" altLang="zh-CN" sz="2000" b="1" dirty="0">
                <a:solidFill>
                  <a:srgbClr val="002060"/>
                </a:solidFill>
                <a:latin typeface="Times New Roman" panose="02020603050405020304" pitchFamily="18" charset="0"/>
                <a:ea typeface="微软雅黑" panose="020B0503020204020204" pitchFamily="34" charset="-122"/>
              </a:rPr>
              <a:t>450</a:t>
            </a:r>
            <a:r>
              <a:rPr lang="zh-CN" altLang="en-US" sz="2000" b="1" dirty="0">
                <a:solidFill>
                  <a:srgbClr val="002060"/>
                </a:solidFill>
                <a:latin typeface="Times New Roman" panose="02020603050405020304" pitchFamily="18" charset="0"/>
                <a:ea typeface="微软雅黑" panose="020B0503020204020204" pitchFamily="34" charset="-122"/>
              </a:rPr>
              <a:t>元。 根据统计，售出一件第一种产品所需要的服务时间平均是 </a:t>
            </a:r>
            <a:r>
              <a:rPr lang="en-US" altLang="zh-CN" sz="2000" b="1" dirty="0">
                <a:solidFill>
                  <a:srgbClr val="002060"/>
                </a:solidFill>
                <a:latin typeface="Times New Roman" panose="02020603050405020304" pitchFamily="18" charset="0"/>
                <a:ea typeface="微软雅黑" panose="020B0503020204020204" pitchFamily="34" charset="-122"/>
              </a:rPr>
              <a:t>0.5 </a:t>
            </a:r>
            <a:r>
              <a:rPr lang="zh-CN" altLang="en-US" sz="2000" b="1" dirty="0">
                <a:solidFill>
                  <a:srgbClr val="002060"/>
                </a:solidFill>
                <a:latin typeface="Times New Roman" panose="02020603050405020304" pitchFamily="18" charset="0"/>
                <a:ea typeface="微软雅黑" panose="020B0503020204020204" pitchFamily="34" charset="-122"/>
              </a:rPr>
              <a:t>小时，第二种产品是</a:t>
            </a:r>
            <a:r>
              <a:rPr lang="en-US" altLang="zh-CN" sz="2000" b="1" dirty="0">
                <a:solidFill>
                  <a:srgbClr val="002060"/>
                </a:solidFill>
                <a:latin typeface="Times New Roman" panose="02020603050405020304" pitchFamily="18" charset="0"/>
                <a:ea typeface="微软雅黑" panose="020B0503020204020204" pitchFamily="34" charset="-122"/>
              </a:rPr>
              <a:t>(2+0.25</a:t>
            </a:r>
            <a:r>
              <a:rPr lang="en-US" altLang="zh-CN" sz="2000" b="1" i="1" dirty="0">
                <a:solidFill>
                  <a:srgbClr val="002060"/>
                </a:solidFill>
                <a:latin typeface="Times New Roman" panose="02020603050405020304" pitchFamily="18" charset="0"/>
                <a:ea typeface="微软雅黑" panose="020B0503020204020204" pitchFamily="34" charset="-122"/>
              </a:rPr>
              <a:t>x</a:t>
            </a:r>
            <a:r>
              <a:rPr lang="en-US" altLang="zh-CN" sz="2000" b="1" baseline="-30000" dirty="0">
                <a:solidFill>
                  <a:srgbClr val="002060"/>
                </a:solidFill>
                <a:latin typeface="Times New Roman" panose="02020603050405020304" pitchFamily="18" charset="0"/>
                <a:ea typeface="微软雅黑" panose="020B0503020204020204" pitchFamily="34" charset="-122"/>
              </a:rPr>
              <a:t>2</a:t>
            </a:r>
            <a:r>
              <a:rPr lang="en-US" altLang="zh-CN" sz="2000" b="1" dirty="0">
                <a:solidFill>
                  <a:srgbClr val="002060"/>
                </a:solidFill>
                <a:latin typeface="Times New Roman" panose="02020603050405020304" pitchFamily="18" charset="0"/>
                <a:ea typeface="微软雅黑" panose="020B0503020204020204" pitchFamily="34" charset="-122"/>
              </a:rPr>
              <a:t>)</a:t>
            </a:r>
            <a:r>
              <a:rPr lang="zh-CN" altLang="en-US" sz="2000" b="1" dirty="0">
                <a:solidFill>
                  <a:srgbClr val="002060"/>
                </a:solidFill>
                <a:latin typeface="Times New Roman" panose="02020603050405020304" pitchFamily="18" charset="0"/>
                <a:ea typeface="微软雅黑" panose="020B0503020204020204" pitchFamily="34" charset="-122"/>
              </a:rPr>
              <a:t>小时，其中 </a:t>
            </a:r>
            <a:r>
              <a:rPr lang="en-US" altLang="zh-CN" sz="2000" b="1" i="1" dirty="0">
                <a:solidFill>
                  <a:srgbClr val="002060"/>
                </a:solidFill>
                <a:latin typeface="Times New Roman" panose="02020603050405020304" pitchFamily="18" charset="0"/>
                <a:ea typeface="微软雅黑" panose="020B0503020204020204" pitchFamily="34" charset="-122"/>
              </a:rPr>
              <a:t>x</a:t>
            </a:r>
            <a:r>
              <a:rPr lang="en-US" altLang="zh-CN" sz="2000" b="1" baseline="-30000" dirty="0">
                <a:solidFill>
                  <a:srgbClr val="002060"/>
                </a:solidFill>
                <a:latin typeface="Times New Roman" panose="02020603050405020304" pitchFamily="18" charset="0"/>
                <a:ea typeface="微软雅黑" panose="020B0503020204020204" pitchFamily="34" charset="-122"/>
              </a:rPr>
              <a:t>2</a:t>
            </a:r>
            <a:r>
              <a:rPr lang="zh-CN" altLang="en-US" sz="2000" b="1" dirty="0">
                <a:solidFill>
                  <a:srgbClr val="002060"/>
                </a:solidFill>
                <a:latin typeface="Times New Roman" panose="02020603050405020304" pitchFamily="18" charset="0"/>
                <a:ea typeface="微软雅黑" panose="020B0503020204020204" pitchFamily="34" charset="-122"/>
              </a:rPr>
              <a:t>是第二种产品的售出数量。 已知该公司在这段时间内的总服务时间为 </a:t>
            </a:r>
            <a:r>
              <a:rPr lang="en-US" altLang="zh-CN" sz="2000" b="1" dirty="0">
                <a:solidFill>
                  <a:srgbClr val="002060"/>
                </a:solidFill>
                <a:latin typeface="Times New Roman" panose="02020603050405020304" pitchFamily="18" charset="0"/>
                <a:ea typeface="微软雅黑" panose="020B0503020204020204" pitchFamily="34" charset="-122"/>
              </a:rPr>
              <a:t>800</a:t>
            </a:r>
            <a:r>
              <a:rPr lang="zh-CN" altLang="en-US" sz="2000" b="1" dirty="0">
                <a:solidFill>
                  <a:srgbClr val="002060"/>
                </a:solidFill>
                <a:latin typeface="Times New Roman" panose="02020603050405020304" pitchFamily="18" charset="0"/>
                <a:ea typeface="微软雅黑" panose="020B0503020204020204" pitchFamily="34" charset="-122"/>
              </a:rPr>
              <a:t>小时，试决定使其营业额最大的营业计划。</a:t>
            </a:r>
            <a:endParaRPr lang="en-US" altLang="zh-CN" sz="2000" b="1" dirty="0">
              <a:solidFill>
                <a:srgbClr val="002060"/>
              </a:solidFill>
              <a:latin typeface="Times New Roman" panose="02020603050405020304" pitchFamily="18" charset="0"/>
              <a:ea typeface="微软雅黑" panose="020B0503020204020204" pitchFamily="34" charset="-122"/>
            </a:endParaRPr>
          </a:p>
        </p:txBody>
      </p:sp>
      <p:sp>
        <p:nvSpPr>
          <p:cNvPr id="18" name="矩形 17">
            <a:extLst>
              <a:ext uri="{FF2B5EF4-FFF2-40B4-BE49-F238E27FC236}">
                <a16:creationId xmlns:a16="http://schemas.microsoft.com/office/drawing/2014/main" id="{09E70A6C-BD6D-46F3-9ACA-E2D5716E0B15}"/>
              </a:ext>
            </a:extLst>
          </p:cNvPr>
          <p:cNvSpPr/>
          <p:nvPr/>
        </p:nvSpPr>
        <p:spPr>
          <a:xfrm>
            <a:off x="158640" y="3195536"/>
            <a:ext cx="7515518" cy="707886"/>
          </a:xfrm>
          <a:prstGeom prst="rect">
            <a:avLst/>
          </a:prstGeom>
        </p:spPr>
        <p:txBody>
          <a:bodyPr wrap="square">
            <a:spAutoFit/>
          </a:bodyPr>
          <a:lstStyle/>
          <a:p>
            <a:pPr marL="257175" indent="-257175">
              <a:spcBef>
                <a:spcPts val="450"/>
              </a:spcBef>
              <a:buSzPct val="70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设该公司计划经营第一种产品 </a:t>
            </a:r>
            <a:r>
              <a:rPr lang="en-US" altLang="zh-CN" sz="2000"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1" baseline="-3000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000" b="1" dirty="0">
                <a:latin typeface="微软雅黑" panose="020B0503020204020204" pitchFamily="34" charset="-122"/>
                <a:ea typeface="微软雅黑" panose="020B0503020204020204" pitchFamily="34" charset="-122"/>
              </a:rPr>
              <a:t>件，第二种产品 </a:t>
            </a:r>
            <a:r>
              <a:rPr lang="en-US" altLang="zh-CN" sz="2000" b="1"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1"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1" baseline="-30000"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件。 根据题意，其营业额为</a:t>
            </a:r>
            <a:endParaRPr lang="en-US" altLang="zh-CN" sz="2000" b="1" dirty="0">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60A0BF98-D95B-49BF-AC31-0C6FB630D5EB}"/>
              </a:ext>
            </a:extLst>
          </p:cNvPr>
          <p:cNvSpPr/>
          <p:nvPr/>
        </p:nvSpPr>
        <p:spPr>
          <a:xfrm>
            <a:off x="143007" y="4057310"/>
            <a:ext cx="4868640" cy="400110"/>
          </a:xfrm>
          <a:prstGeom prst="rect">
            <a:avLst/>
          </a:prstGeom>
        </p:spPr>
        <p:txBody>
          <a:bodyPr wrap="none">
            <a:spAutoFit/>
          </a:bodyPr>
          <a:lstStyle/>
          <a:p>
            <a:pPr marL="257175" indent="-257175">
              <a:buFont typeface="Wingdings" panose="05000000000000000000" pitchFamily="2" charset="2"/>
              <a:buChar char="u"/>
            </a:pPr>
            <a:r>
              <a:rPr lang="zh-CN" altLang="en-US" sz="2000" b="1" dirty="0">
                <a:latin typeface="Times New Roman" panose="02020603050405020304" pitchFamily="18" charset="0"/>
                <a:ea typeface="微软雅黑" panose="020B0503020204020204" pitchFamily="34" charset="-122"/>
              </a:rPr>
              <a:t>由于服务时间的限制，该计划必须满足</a:t>
            </a:r>
            <a:r>
              <a:rPr lang="en-US" altLang="zh-CN" sz="2000" b="1" dirty="0">
                <a:latin typeface="Times New Roman" panose="02020603050405020304" pitchFamily="18" charset="0"/>
                <a:ea typeface="微软雅黑" panose="020B0503020204020204" pitchFamily="34" charset="-122"/>
              </a:rPr>
              <a:t> </a:t>
            </a:r>
            <a:endParaRPr lang="zh-CN" altLang="en-US" sz="2000" b="1" dirty="0"/>
          </a:p>
        </p:txBody>
      </p:sp>
      <p:sp>
        <p:nvSpPr>
          <p:cNvPr id="20" name="矩形 19">
            <a:extLst>
              <a:ext uri="{FF2B5EF4-FFF2-40B4-BE49-F238E27FC236}">
                <a16:creationId xmlns:a16="http://schemas.microsoft.com/office/drawing/2014/main" id="{4C0CBC89-0834-4420-9A42-D3AACCF2B7E3}"/>
              </a:ext>
            </a:extLst>
          </p:cNvPr>
          <p:cNvSpPr/>
          <p:nvPr/>
        </p:nvSpPr>
        <p:spPr>
          <a:xfrm>
            <a:off x="143007" y="4634136"/>
            <a:ext cx="3265638" cy="400110"/>
          </a:xfrm>
          <a:prstGeom prst="rect">
            <a:avLst/>
          </a:prstGeom>
        </p:spPr>
        <p:txBody>
          <a:bodyPr wrap="none">
            <a:spAutoFit/>
          </a:bodyPr>
          <a:lstStyle/>
          <a:p>
            <a:pPr marL="257175" indent="-257175">
              <a:buFont typeface="Wingdings" panose="05000000000000000000" pitchFamily="2" charset="2"/>
              <a:buChar char="u"/>
            </a:pPr>
            <a:r>
              <a:rPr lang="zh-CN" altLang="en-US" sz="2000" b="1" dirty="0">
                <a:latin typeface="Times New Roman" panose="02020603050405020304" pitchFamily="18" charset="0"/>
                <a:ea typeface="微软雅黑" panose="020B0503020204020204" pitchFamily="34" charset="-122"/>
                <a:sym typeface="+mn-ea"/>
              </a:rPr>
              <a:t>此外，这个问题还应满足</a:t>
            </a:r>
            <a:endParaRPr lang="zh-CN" altLang="en-US" sz="2000" b="1" dirty="0"/>
          </a:p>
        </p:txBody>
      </p:sp>
    </p:spTree>
    <p:extLst>
      <p:ext uri="{BB962C8B-B14F-4D97-AF65-F5344CB8AC3E}">
        <p14:creationId xmlns:p14="http://schemas.microsoft.com/office/powerpoint/2010/main" val="29693278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randombar(horizontal)">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18" grpId="0"/>
      <p:bldP spid="19" grpId="0"/>
      <p:bldP spid="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对象 10"/>
          <p:cNvGraphicFramePr>
            <a:graphicFrameLocks noChangeAspect="1"/>
          </p:cNvGraphicFramePr>
          <p:nvPr>
            <p:extLst>
              <p:ext uri="{D42A27DB-BD31-4B8C-83A1-F6EECF244321}">
                <p14:modId xmlns:p14="http://schemas.microsoft.com/office/powerpoint/2010/main" val="1995300728"/>
              </p:ext>
            </p:extLst>
          </p:nvPr>
        </p:nvGraphicFramePr>
        <p:xfrm>
          <a:off x="3563888" y="2129493"/>
          <a:ext cx="1843892" cy="1033519"/>
        </p:xfrm>
        <a:graphic>
          <a:graphicData uri="http://schemas.openxmlformats.org/presentationml/2006/ole">
            <mc:AlternateContent xmlns:mc="http://schemas.openxmlformats.org/markup-compatibility/2006">
              <mc:Choice xmlns:v="urn:schemas-microsoft-com:vml" Requires="v">
                <p:oleObj name="Equation" r:id="rId3" imgW="47853600" imgH="26822400" progId="Equation.DSMT4">
                  <p:embed/>
                </p:oleObj>
              </mc:Choice>
              <mc:Fallback>
                <p:oleObj name="Equation" r:id="rId3" imgW="47853600" imgH="26822400" progId="Equation.DSMT4">
                  <p:embed/>
                  <p:pic>
                    <p:nvPicPr>
                      <p:cNvPr id="11" name="对象 10"/>
                      <p:cNvPicPr/>
                      <p:nvPr/>
                    </p:nvPicPr>
                    <p:blipFill>
                      <a:blip r:embed="rId4"/>
                      <a:stretch>
                        <a:fillRect/>
                      </a:stretch>
                    </p:blipFill>
                    <p:spPr>
                      <a:xfrm>
                        <a:off x="3563888" y="2129493"/>
                        <a:ext cx="1843892" cy="1033519"/>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384971898"/>
              </p:ext>
            </p:extLst>
          </p:nvPr>
        </p:nvGraphicFramePr>
        <p:xfrm>
          <a:off x="3629731" y="3967931"/>
          <a:ext cx="2005142" cy="340267"/>
        </p:xfrm>
        <a:graphic>
          <a:graphicData uri="http://schemas.openxmlformats.org/presentationml/2006/ole">
            <mc:AlternateContent xmlns:mc="http://schemas.openxmlformats.org/markup-compatibility/2006">
              <mc:Choice xmlns:v="urn:schemas-microsoft-com:vml" Requires="v">
                <p:oleObj name="Equation" r:id="rId5" imgW="50292000" imgH="8534400" progId="Equation.DSMT4">
                  <p:embed/>
                </p:oleObj>
              </mc:Choice>
              <mc:Fallback>
                <p:oleObj name="Equation" r:id="rId5" imgW="50292000" imgH="8534400" progId="Equation.DSMT4">
                  <p:embed/>
                  <p:pic>
                    <p:nvPicPr>
                      <p:cNvPr id="14" name="对象 13"/>
                      <p:cNvPicPr/>
                      <p:nvPr/>
                    </p:nvPicPr>
                    <p:blipFill>
                      <a:blip r:embed="rId6"/>
                      <a:stretch>
                        <a:fillRect/>
                      </a:stretch>
                    </p:blipFill>
                    <p:spPr>
                      <a:xfrm>
                        <a:off x="3629731" y="3967931"/>
                        <a:ext cx="2005142" cy="34026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5B13240F-2F9F-4E80-998E-4807C3CD1C66}"/>
              </a:ext>
            </a:extLst>
          </p:cNvPr>
          <p:cNvGraphicFramePr>
            <a:graphicFrameLocks noChangeAspect="1"/>
          </p:cNvGraphicFramePr>
          <p:nvPr>
            <p:extLst>
              <p:ext uri="{D42A27DB-BD31-4B8C-83A1-F6EECF244321}">
                <p14:modId xmlns:p14="http://schemas.microsoft.com/office/powerpoint/2010/main" val="3866181454"/>
              </p:ext>
            </p:extLst>
          </p:nvPr>
        </p:nvGraphicFramePr>
        <p:xfrm>
          <a:off x="3643871" y="4742326"/>
          <a:ext cx="2080037" cy="1188422"/>
        </p:xfrm>
        <a:graphic>
          <a:graphicData uri="http://schemas.openxmlformats.org/presentationml/2006/ole">
            <mc:AlternateContent xmlns:mc="http://schemas.openxmlformats.org/markup-compatibility/2006">
              <mc:Choice xmlns:v="urn:schemas-microsoft-com:vml" Requires="v">
                <p:oleObj name="Equation" r:id="rId7" imgW="58521600" imgH="35966400" progId="Equation.DSMT4">
                  <p:embed/>
                </p:oleObj>
              </mc:Choice>
              <mc:Fallback>
                <p:oleObj name="Equation" r:id="rId7" imgW="58521600" imgH="35966400" progId="Equation.DSMT4">
                  <p:embed/>
                  <p:pic>
                    <p:nvPicPr>
                      <p:cNvPr id="7" name="对象 6">
                        <a:extLst>
                          <a:ext uri="{FF2B5EF4-FFF2-40B4-BE49-F238E27FC236}">
                            <a16:creationId xmlns:a16="http://schemas.microsoft.com/office/drawing/2014/main" id="{5B13240F-2F9F-4E80-998E-4807C3CD1C66}"/>
                          </a:ext>
                        </a:extLst>
                      </p:cNvPr>
                      <p:cNvPicPr/>
                      <p:nvPr/>
                    </p:nvPicPr>
                    <p:blipFill>
                      <a:blip r:embed="rId8"/>
                      <a:stretch>
                        <a:fillRect/>
                      </a:stretch>
                    </p:blipFill>
                    <p:spPr>
                      <a:xfrm>
                        <a:off x="3643871" y="4742326"/>
                        <a:ext cx="2080037" cy="1188422"/>
                      </a:xfrm>
                      <a:prstGeom prst="rect">
                        <a:avLst/>
                      </a:prstGeom>
                    </p:spPr>
                  </p:pic>
                </p:oleObj>
              </mc:Fallback>
            </mc:AlternateContent>
          </a:graphicData>
        </a:graphic>
      </p:graphicFrame>
      <p:sp>
        <p:nvSpPr>
          <p:cNvPr id="2" name="矩形 1">
            <a:extLst>
              <a:ext uri="{FF2B5EF4-FFF2-40B4-BE49-F238E27FC236}">
                <a16:creationId xmlns:a16="http://schemas.microsoft.com/office/drawing/2014/main" id="{154F4D2B-98DE-4644-A7ED-C68DCEEAB086}"/>
              </a:ext>
            </a:extLst>
          </p:cNvPr>
          <p:cNvSpPr/>
          <p:nvPr/>
        </p:nvSpPr>
        <p:spPr>
          <a:xfrm>
            <a:off x="6102215" y="4884325"/>
            <a:ext cx="3041785" cy="1938992"/>
          </a:xfrm>
          <a:prstGeom prst="rect">
            <a:avLst/>
          </a:prstGeom>
          <a:solidFill>
            <a:schemeClr val="accent2">
              <a:lumMod val="50000"/>
            </a:schemeClr>
          </a:solidFill>
        </p:spPr>
        <p:txBody>
          <a:bodyPr wrap="square">
            <a:spAutoFit/>
          </a:bodyPr>
          <a:lstStyle/>
          <a:p>
            <a:r>
              <a:rPr lang="zh-CN" altLang="en-US" sz="2000" b="1" dirty="0">
                <a:solidFill>
                  <a:schemeClr val="bg1"/>
                </a:solidFill>
                <a:latin typeface="Times New Roman" panose="02020603050405020304" pitchFamily="18" charset="0"/>
                <a:ea typeface="微软雅黑" panose="020B0503020204020204" pitchFamily="34" charset="-122"/>
              </a:rPr>
              <a:t>例</a:t>
            </a:r>
            <a:r>
              <a:rPr lang="en-US" altLang="zh-CN" sz="2000" b="1" dirty="0">
                <a:solidFill>
                  <a:schemeClr val="bg1"/>
                </a:solidFill>
                <a:latin typeface="Times New Roman" panose="02020603050405020304" pitchFamily="18" charset="0"/>
                <a:ea typeface="微软雅黑" panose="020B0503020204020204" pitchFamily="34" charset="-122"/>
              </a:rPr>
              <a:t>1.2.4</a:t>
            </a:r>
            <a:r>
              <a:rPr lang="zh-CN" altLang="en-US" sz="2000" b="1" dirty="0">
                <a:solidFill>
                  <a:schemeClr val="bg1"/>
                </a:solidFill>
                <a:latin typeface="Times New Roman" panose="02020603050405020304" pitchFamily="18" charset="0"/>
                <a:ea typeface="微软雅黑" panose="020B0503020204020204" pitchFamily="34" charset="-122"/>
              </a:rPr>
              <a:t>的目标函数是自变量的非线性函数，所以它也是非线性规划问题。</a:t>
            </a:r>
            <a:endParaRPr lang="en-US" altLang="zh-CN" sz="2000" b="1" dirty="0">
              <a:solidFill>
                <a:schemeClr val="bg1"/>
              </a:solidFill>
              <a:latin typeface="Times New Roman" panose="02020603050405020304" pitchFamily="18" charset="0"/>
              <a:ea typeface="微软雅黑" panose="020B0503020204020204" pitchFamily="34" charset="-122"/>
            </a:endParaRPr>
          </a:p>
          <a:p>
            <a:r>
              <a:rPr lang="zh-CN" altLang="en-US" sz="2000" b="1" dirty="0">
                <a:solidFill>
                  <a:schemeClr val="bg1"/>
                </a:solidFill>
                <a:latin typeface="Times New Roman" panose="02020603050405020304" pitchFamily="18" charset="0"/>
                <a:ea typeface="微软雅黑" panose="020B0503020204020204" pitchFamily="34" charset="-122"/>
              </a:rPr>
              <a:t>事实上，非线性规划问题广泛存在于管理和决策问题之中。</a:t>
            </a:r>
            <a:endParaRPr lang="zh-CN" altLang="en-US" sz="2000" b="1" dirty="0">
              <a:solidFill>
                <a:schemeClr val="bg1"/>
              </a:solidFill>
            </a:endParaRPr>
          </a:p>
        </p:txBody>
      </p:sp>
      <p:cxnSp>
        <p:nvCxnSpPr>
          <p:cNvPr id="8" name="直接连接符 7">
            <a:extLst>
              <a:ext uri="{FF2B5EF4-FFF2-40B4-BE49-F238E27FC236}">
                <a16:creationId xmlns:a16="http://schemas.microsoft.com/office/drawing/2014/main" id="{78FA9614-02EC-4C1B-93C9-4F66589A34A8}"/>
              </a:ext>
            </a:extLst>
          </p:cNvPr>
          <p:cNvCxnSpPr>
            <a:cxnSpLocks/>
          </p:cNvCxnSpPr>
          <p:nvPr>
            <p:custDataLst>
              <p:tags r:id="rId1"/>
            </p:custDataLst>
          </p:nvPr>
        </p:nvCxnSpPr>
        <p:spPr>
          <a:xfrm>
            <a:off x="0" y="764704"/>
            <a:ext cx="9144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D9FC1A69-18A2-4395-BED9-1E1BA775F3F6}"/>
              </a:ext>
            </a:extLst>
          </p:cNvPr>
          <p:cNvSpPr/>
          <p:nvPr/>
        </p:nvSpPr>
        <p:spPr>
          <a:xfrm>
            <a:off x="90054" y="780014"/>
            <a:ext cx="8963891" cy="1422762"/>
          </a:xfrm>
          <a:prstGeom prst="rect">
            <a:avLst/>
          </a:prstGeom>
        </p:spPr>
        <p:txBody>
          <a:bodyPr wrap="square">
            <a:spAutoFit/>
          </a:bodyPr>
          <a:lstStyle/>
          <a:p>
            <a:pPr>
              <a:lnSpc>
                <a:spcPct val="150000"/>
              </a:lnSpc>
              <a:spcBef>
                <a:spcPts val="450"/>
              </a:spcBef>
              <a:buClr>
                <a:schemeClr val="accent1"/>
              </a:buClr>
              <a:buSzPct val="70000"/>
            </a:pP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例</a:t>
            </a:r>
            <a:r>
              <a:rPr lang="en-US" altLang="zh-CN" sz="2000" b="1" dirty="0">
                <a:solidFill>
                  <a:schemeClr val="accent1">
                    <a:lumMod val="75000"/>
                  </a:schemeClr>
                </a:solidFill>
                <a:latin typeface="Times New Roman" panose="02020603050405020304" pitchFamily="18" charset="0"/>
                <a:ea typeface="微软雅黑" panose="020B0503020204020204" pitchFamily="34" charset="-122"/>
              </a:rPr>
              <a:t>1.2.4   </a:t>
            </a: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为了进行多属性问题（假设有 </a:t>
            </a:r>
            <a:r>
              <a:rPr lang="en-US" altLang="zh-CN" sz="2000" b="1" i="1" dirty="0">
                <a:solidFill>
                  <a:schemeClr val="accent1">
                    <a:lumMod val="75000"/>
                  </a:schemeClr>
                </a:solidFill>
                <a:latin typeface="Times New Roman" panose="02020603050405020304" pitchFamily="18" charset="0"/>
                <a:ea typeface="微软雅黑" panose="020B0503020204020204" pitchFamily="34" charset="-122"/>
              </a:rPr>
              <a:t>n </a:t>
            </a: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个属性）的综合评价，就需要知道每个属性的相对重要性，即确定它们的权重。为此将各属性的重要性（对评价者或决策者而言）进行两两比较，从而得出如下判断矩阵</a:t>
            </a:r>
            <a:endParaRPr lang="en-US" altLang="zh-CN" sz="2000" b="1" dirty="0">
              <a:solidFill>
                <a:schemeClr val="accent1">
                  <a:lumMod val="75000"/>
                </a:schemeClr>
              </a:solidFill>
              <a:latin typeface="Times New Roman" panose="02020603050405020304" pitchFamily="18" charset="0"/>
              <a:ea typeface="微软雅黑" panose="020B0503020204020204" pitchFamily="34" charset="-122"/>
            </a:endParaRPr>
          </a:p>
        </p:txBody>
      </p:sp>
      <p:sp>
        <p:nvSpPr>
          <p:cNvPr id="4" name="矩形 3">
            <a:extLst>
              <a:ext uri="{FF2B5EF4-FFF2-40B4-BE49-F238E27FC236}">
                <a16:creationId xmlns:a16="http://schemas.microsoft.com/office/drawing/2014/main" id="{18565D0E-463A-4393-AA44-E6B807BBCD12}"/>
              </a:ext>
            </a:extLst>
          </p:cNvPr>
          <p:cNvSpPr/>
          <p:nvPr/>
        </p:nvSpPr>
        <p:spPr>
          <a:xfrm>
            <a:off x="117763" y="3207408"/>
            <a:ext cx="8409709" cy="400110"/>
          </a:xfrm>
          <a:prstGeom prst="rect">
            <a:avLst/>
          </a:prstGeom>
        </p:spPr>
        <p:txBody>
          <a:bodyPr wrap="square">
            <a:spAutoFit/>
          </a:bodyPr>
          <a:lstStyle/>
          <a:p>
            <a:pPr>
              <a:spcBef>
                <a:spcPts val="450"/>
              </a:spcBef>
              <a:buClr>
                <a:schemeClr val="accent1"/>
              </a:buClr>
              <a:buSzPct val="70000"/>
            </a:pP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其中元素</a:t>
            </a:r>
            <a:r>
              <a:rPr lang="en-US" altLang="zh-CN" sz="2000" b="1" i="1" dirty="0" err="1">
                <a:solidFill>
                  <a:schemeClr val="accent1">
                    <a:lumMod val="75000"/>
                  </a:schemeClr>
                </a:solidFill>
                <a:latin typeface="Times New Roman" panose="02020603050405020304" pitchFamily="18" charset="0"/>
                <a:ea typeface="微软雅黑" panose="020B0503020204020204" pitchFamily="34" charset="-122"/>
              </a:rPr>
              <a:t>a</a:t>
            </a:r>
            <a:r>
              <a:rPr lang="en-US" altLang="zh-CN" sz="2000" b="1" i="1" baseline="-30000" dirty="0" err="1">
                <a:solidFill>
                  <a:schemeClr val="accent1">
                    <a:lumMod val="75000"/>
                  </a:schemeClr>
                </a:solidFill>
                <a:latin typeface="Times New Roman" panose="02020603050405020304" pitchFamily="18" charset="0"/>
                <a:ea typeface="微软雅黑" panose="020B0503020204020204" pitchFamily="34" charset="-122"/>
              </a:rPr>
              <a:t>ij</a:t>
            </a:r>
            <a:r>
              <a:rPr lang="en-US" altLang="zh-CN" sz="2000" b="1" baseline="-30000" dirty="0">
                <a:solidFill>
                  <a:schemeClr val="accent1">
                    <a:lumMod val="75000"/>
                  </a:schemeClr>
                </a:solidFill>
                <a:latin typeface="Times New Roman" panose="02020603050405020304" pitchFamily="18" charset="0"/>
                <a:ea typeface="微软雅黑" panose="020B0503020204020204" pitchFamily="34" charset="-122"/>
              </a:rPr>
              <a:t> </a:t>
            </a: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是第 </a:t>
            </a:r>
            <a:r>
              <a:rPr lang="en-US" altLang="zh-CN" sz="2000" b="1" i="1" dirty="0" err="1">
                <a:solidFill>
                  <a:schemeClr val="accent1">
                    <a:lumMod val="75000"/>
                  </a:schemeClr>
                </a:solidFill>
                <a:latin typeface="Times New Roman" panose="02020603050405020304" pitchFamily="18" charset="0"/>
                <a:ea typeface="微软雅黑" panose="020B0503020204020204" pitchFamily="34" charset="-122"/>
              </a:rPr>
              <a:t>i</a:t>
            </a:r>
            <a:r>
              <a:rPr lang="en-US" altLang="zh-CN" sz="2000" b="1" i="1" dirty="0">
                <a:solidFill>
                  <a:schemeClr val="accent1">
                    <a:lumMod val="75000"/>
                  </a:schemeClr>
                </a:solidFill>
                <a:latin typeface="Times New Roman" panose="02020603050405020304" pitchFamily="18" charset="0"/>
                <a:ea typeface="微软雅黑" panose="020B0503020204020204" pitchFamily="34" charset="-122"/>
              </a:rPr>
              <a:t> </a:t>
            </a: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个属性的重要性与第 </a:t>
            </a:r>
            <a:r>
              <a:rPr lang="en-US" altLang="zh-CN" sz="2000" b="1" i="1" dirty="0">
                <a:solidFill>
                  <a:schemeClr val="accent1">
                    <a:lumMod val="75000"/>
                  </a:schemeClr>
                </a:solidFill>
                <a:latin typeface="Times New Roman" panose="02020603050405020304" pitchFamily="18" charset="0"/>
                <a:ea typeface="微软雅黑" panose="020B0503020204020204" pitchFamily="34" charset="-122"/>
              </a:rPr>
              <a:t>j </a:t>
            </a: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个属性的重要性之比。</a:t>
            </a:r>
            <a:endParaRPr lang="en-US" altLang="zh-CN" sz="2000" b="1" dirty="0">
              <a:solidFill>
                <a:schemeClr val="accent1">
                  <a:lumMod val="75000"/>
                </a:schemeClr>
              </a:solidFill>
              <a:latin typeface="Times New Roman" panose="02020603050405020304" pitchFamily="18"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D3B1AD8-B270-4B01-966F-A42F8B68838B}"/>
                  </a:ext>
                </a:extLst>
              </p:cNvPr>
              <p:cNvSpPr/>
              <p:nvPr/>
            </p:nvSpPr>
            <p:spPr>
              <a:xfrm>
                <a:off x="115478" y="3533061"/>
                <a:ext cx="7484883" cy="707886"/>
              </a:xfrm>
              <a:prstGeom prst="rect">
                <a:avLst/>
              </a:prstGeom>
            </p:spPr>
            <p:txBody>
              <a:bodyPr wrap="square">
                <a:spAutoFit/>
              </a:bodyPr>
              <a:lstStyle/>
              <a:p>
                <a:pPr marL="257175" indent="-257175">
                  <a:buFont typeface="Wingdings" panose="05000000000000000000" pitchFamily="2" charset="2"/>
                  <a:buChar char="u"/>
                </a:pPr>
                <a:r>
                  <a:rPr lang="zh-CN" altLang="en-US" sz="2000" b="1" dirty="0">
                    <a:latin typeface="Times New Roman" panose="02020603050405020304" pitchFamily="18" charset="0"/>
                    <a:ea typeface="微软雅黑" panose="020B0503020204020204" pitchFamily="34" charset="-122"/>
                  </a:rPr>
                  <a:t>现需从判断矩阵求出各属性的权重</a:t>
                </a:r>
                <a14:m>
                  <m:oMath xmlns:m="http://schemas.openxmlformats.org/officeDocument/2006/math">
                    <m:sSub>
                      <m:sSubPr>
                        <m:ctrlPr>
                          <a:rPr lang="en-US" altLang="zh-CN" sz="2000" b="1" i="1" dirty="0">
                            <a:latin typeface="Cambria Math" panose="02040503050406030204" pitchFamily="18" charset="0"/>
                          </a:rPr>
                        </m:ctrlPr>
                      </m:sSubPr>
                      <m:e>
                        <m:r>
                          <a:rPr lang="en-US" altLang="zh-CN" sz="2000" b="1" i="1" dirty="0">
                            <a:latin typeface="Cambria Math" panose="02040503050406030204" pitchFamily="18" charset="0"/>
                          </a:rPr>
                          <m:t>𝒘</m:t>
                        </m:r>
                      </m:e>
                      <m:sub>
                        <m:r>
                          <a:rPr lang="en-US" altLang="zh-CN" sz="2000" b="1" i="1" dirty="0">
                            <a:latin typeface="Cambria Math" panose="02040503050406030204" pitchFamily="18" charset="0"/>
                          </a:rPr>
                          <m:t>𝒊</m:t>
                        </m:r>
                      </m:sub>
                    </m:sSub>
                  </m:oMath>
                </a14:m>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1"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l, 2, …, </a:t>
                </a:r>
                <a:r>
                  <a:rPr lang="en-US" altLang="zh-CN" sz="2000" b="1"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latin typeface="Times New Roman" panose="02020603050405020304" pitchFamily="18" charset="0"/>
                    <a:ea typeface="微软雅黑" panose="020B0503020204020204" pitchFamily="34" charset="-122"/>
                  </a:rPr>
                  <a:t>。为了使求出的权向量</a:t>
                </a:r>
                <a:endParaRPr lang="zh-CN" altLang="en-US" sz="2000" dirty="0"/>
              </a:p>
            </p:txBody>
          </p:sp>
        </mc:Choice>
        <mc:Fallback xmlns="">
          <p:sp>
            <p:nvSpPr>
              <p:cNvPr id="5" name="矩形 4">
                <a:extLst>
                  <a:ext uri="{FF2B5EF4-FFF2-40B4-BE49-F238E27FC236}">
                    <a16:creationId xmlns:a16="http://schemas.microsoft.com/office/drawing/2014/main" id="{AD3B1AD8-B270-4B01-966F-A42F8B68838B}"/>
                  </a:ext>
                </a:extLst>
              </p:cNvPr>
              <p:cNvSpPr>
                <a:spLocks noRot="1" noChangeAspect="1" noMove="1" noResize="1" noEditPoints="1" noAdjustHandles="1" noChangeArrowheads="1" noChangeShapeType="1" noTextEdit="1"/>
              </p:cNvSpPr>
              <p:nvPr/>
            </p:nvSpPr>
            <p:spPr>
              <a:xfrm>
                <a:off x="115478" y="3533061"/>
                <a:ext cx="7484883" cy="707886"/>
              </a:xfrm>
              <a:prstGeom prst="rect">
                <a:avLst/>
              </a:prstGeom>
              <a:blipFill>
                <a:blip r:embed="rId10"/>
                <a:stretch>
                  <a:fillRect l="-733" t="-5172" b="-146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3618D192-813E-4992-BDE1-D6C127184D6B}"/>
                  </a:ext>
                </a:extLst>
              </p:cNvPr>
              <p:cNvSpPr/>
              <p:nvPr/>
            </p:nvSpPr>
            <p:spPr>
              <a:xfrm>
                <a:off x="150829" y="4347616"/>
                <a:ext cx="7534373" cy="766107"/>
              </a:xfrm>
              <a:prstGeom prst="rect">
                <a:avLst/>
              </a:prstGeom>
            </p:spPr>
            <p:txBody>
              <a:bodyPr wrap="square">
                <a:spAutoFit/>
              </a:bodyPr>
              <a:lstStyle/>
              <a:p>
                <a:pPr marL="257175" indent="-257175">
                  <a:buFont typeface="Wingdings" panose="05000000000000000000" pitchFamily="2" charset="2"/>
                  <a:buChar char="u"/>
                </a:pPr>
                <a:r>
                  <a:rPr lang="zh-CN" altLang="en-US" sz="2000" b="1" dirty="0">
                    <a:latin typeface="Times New Roman" panose="02020603050405020304" pitchFamily="18" charset="0"/>
                    <a:ea typeface="微软雅黑" panose="020B0503020204020204" pitchFamily="34" charset="-122"/>
                  </a:rPr>
                  <a:t>在最小二乘意义上能最好地反映判断矩阵的估计，由</a:t>
                </a:r>
                <a14:m>
                  <m:oMath xmlns:m="http://schemas.openxmlformats.org/officeDocument/2006/math">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𝒂</m:t>
                        </m:r>
                      </m:e>
                      <m:sub>
                        <m:r>
                          <a:rPr lang="zh-CN" altLang="en-US" sz="2000" b="1" i="1">
                            <a:latin typeface="Cambria Math" panose="02040503050406030204" pitchFamily="18" charset="0"/>
                          </a:rPr>
                          <m:t>𝒊𝒋</m:t>
                        </m:r>
                      </m:sub>
                    </m:sSub>
                    <m:r>
                      <a:rPr lang="zh-CN" altLang="en-US" sz="2000" b="1">
                        <a:latin typeface="Cambria Math" panose="02040503050406030204" pitchFamily="18" charset="0"/>
                      </a:rPr>
                      <m:t>≈</m:t>
                    </m:r>
                    <m:f>
                      <m:fPr>
                        <m:type m:val="lin"/>
                        <m:ctrlPr>
                          <a:rPr lang="zh-CN" altLang="en-US" sz="2000" b="1" i="1">
                            <a:latin typeface="Cambria Math" panose="02040503050406030204" pitchFamily="18" charset="0"/>
                          </a:rPr>
                        </m:ctrlPr>
                      </m:fPr>
                      <m:num>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𝒘</m:t>
                            </m:r>
                          </m:e>
                          <m:sub>
                            <m:r>
                              <a:rPr lang="zh-CN" altLang="en-US" sz="2000" b="1" i="1">
                                <a:latin typeface="Cambria Math" panose="02040503050406030204" pitchFamily="18" charset="0"/>
                              </a:rPr>
                              <m:t>𝒊</m:t>
                            </m:r>
                          </m:sub>
                        </m:sSub>
                      </m:num>
                      <m:den>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𝒘</m:t>
                            </m:r>
                          </m:e>
                          <m:sub>
                            <m:r>
                              <a:rPr lang="zh-CN" altLang="en-US" sz="2000" b="1" i="1">
                                <a:latin typeface="Cambria Math" panose="02040503050406030204" pitchFamily="18" charset="0"/>
                              </a:rPr>
                              <m:t>𝒋</m:t>
                            </m:r>
                          </m:sub>
                        </m:sSub>
                      </m:den>
                    </m:f>
                  </m:oMath>
                </a14:m>
                <a:r>
                  <a:rPr lang="zh-CN" altLang="en-US" sz="2000" b="1" dirty="0">
                    <a:latin typeface="Times New Roman" panose="02020603050405020304" pitchFamily="18" charset="0"/>
                    <a:ea typeface="微软雅黑" panose="020B0503020204020204" pitchFamily="34" charset="-122"/>
                  </a:rPr>
                  <a:t>，可得</a:t>
                </a:r>
                <a:endParaRPr lang="zh-CN" altLang="en-US" sz="2000" dirty="0"/>
              </a:p>
            </p:txBody>
          </p:sp>
        </mc:Choice>
        <mc:Fallback xmlns="">
          <p:sp>
            <p:nvSpPr>
              <p:cNvPr id="10" name="矩形 9">
                <a:extLst>
                  <a:ext uri="{FF2B5EF4-FFF2-40B4-BE49-F238E27FC236}">
                    <a16:creationId xmlns:a16="http://schemas.microsoft.com/office/drawing/2014/main" id="{3618D192-813E-4992-BDE1-D6C127184D6B}"/>
                  </a:ext>
                </a:extLst>
              </p:cNvPr>
              <p:cNvSpPr>
                <a:spLocks noRot="1" noChangeAspect="1" noMove="1" noResize="1" noEditPoints="1" noAdjustHandles="1" noChangeArrowheads="1" noChangeShapeType="1" noTextEdit="1"/>
              </p:cNvSpPr>
              <p:nvPr/>
            </p:nvSpPr>
            <p:spPr>
              <a:xfrm>
                <a:off x="150829" y="4347616"/>
                <a:ext cx="7534373" cy="766107"/>
              </a:xfrm>
              <a:prstGeom prst="rect">
                <a:avLst/>
              </a:prstGeom>
              <a:blipFill>
                <a:blip r:embed="rId11"/>
                <a:stretch>
                  <a:fillRect l="-728" t="-16667" b="-89683"/>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C7C1DCBB-3E20-4C30-8CB5-76CAF4A40473}"/>
              </a:ext>
            </a:extLst>
          </p:cNvPr>
          <p:cNvSpPr/>
          <p:nvPr/>
        </p:nvSpPr>
        <p:spPr>
          <a:xfrm>
            <a:off x="-60705" y="150125"/>
            <a:ext cx="4583306" cy="523220"/>
          </a:xfrm>
          <a:prstGeom prst="rect">
            <a:avLst/>
          </a:prstGeom>
        </p:spPr>
        <p:txBody>
          <a:bodyPr wrap="none">
            <a:spAutoFit/>
          </a:bodyPr>
          <a:lstStyle/>
          <a:p>
            <a:pPr>
              <a:spcBef>
                <a:spcPts val="450"/>
              </a:spcBef>
              <a:buClr>
                <a:schemeClr val="accent1"/>
              </a:buClr>
              <a:buSzPct val="70000"/>
            </a:pPr>
            <a:r>
              <a:rPr lang="zh-CN" altLang="en-US" sz="2800" b="1" dirty="0">
                <a:solidFill>
                  <a:srgbClr val="002060"/>
                </a:solidFill>
                <a:latin typeface="Times New Roman" panose="02020603050405020304" pitchFamily="18" charset="0"/>
                <a:ea typeface="微软雅黑" panose="020B0503020204020204" pitchFamily="34" charset="-122"/>
              </a:rPr>
              <a:t>非线性规划</a:t>
            </a:r>
            <a:r>
              <a:rPr lang="en-US" altLang="zh-CN" sz="2800" b="1" dirty="0">
                <a:solidFill>
                  <a:srgbClr val="002060"/>
                </a:solidFill>
                <a:latin typeface="Times New Roman" panose="02020603050405020304" pitchFamily="18" charset="0"/>
                <a:ea typeface="微软雅黑" panose="020B0503020204020204" pitchFamily="34" charset="-122"/>
              </a:rPr>
              <a:t> </a:t>
            </a:r>
            <a:r>
              <a:rPr lang="zh-CN" altLang="en-US" sz="2800" b="1" dirty="0">
                <a:solidFill>
                  <a:srgbClr val="002060"/>
                </a:solidFill>
                <a:latin typeface="Times New Roman" panose="02020603050405020304" pitchFamily="18" charset="0"/>
                <a:ea typeface="微软雅黑" panose="020B0503020204020204" pitchFamily="34" charset="-122"/>
              </a:rPr>
              <a:t>举例及基本模型</a:t>
            </a:r>
            <a:endParaRPr lang="en-US" altLang="zh-CN" sz="2800" b="1" dirty="0">
              <a:solidFill>
                <a:srgbClr val="002060"/>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9498938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randombar(horizont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F57DF3CE-6E12-4DC7-B335-B174C2A81515}"/>
              </a:ext>
            </a:extLst>
          </p:cNvPr>
          <p:cNvCxnSpPr>
            <a:cxnSpLocks/>
          </p:cNvCxnSpPr>
          <p:nvPr>
            <p:custDataLst>
              <p:tags r:id="rId1"/>
            </p:custDataLst>
          </p:nvPr>
        </p:nvCxnSpPr>
        <p:spPr>
          <a:xfrm>
            <a:off x="0" y="764704"/>
            <a:ext cx="9144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67F7111D-6B97-42D9-9EAF-591DAD85B7AF}"/>
              </a:ext>
            </a:extLst>
          </p:cNvPr>
          <p:cNvSpPr/>
          <p:nvPr/>
        </p:nvSpPr>
        <p:spPr>
          <a:xfrm>
            <a:off x="-60705" y="150125"/>
            <a:ext cx="4583306" cy="523220"/>
          </a:xfrm>
          <a:prstGeom prst="rect">
            <a:avLst/>
          </a:prstGeom>
        </p:spPr>
        <p:txBody>
          <a:bodyPr wrap="none">
            <a:spAutoFit/>
          </a:bodyPr>
          <a:lstStyle/>
          <a:p>
            <a:pPr>
              <a:spcBef>
                <a:spcPts val="450"/>
              </a:spcBef>
              <a:buClr>
                <a:schemeClr val="accent1"/>
              </a:buClr>
              <a:buSzPct val="70000"/>
            </a:pPr>
            <a:r>
              <a:rPr lang="zh-CN" altLang="en-US" sz="2800" b="1" dirty="0">
                <a:solidFill>
                  <a:srgbClr val="002060"/>
                </a:solidFill>
                <a:latin typeface="Times New Roman" panose="02020603050405020304" pitchFamily="18" charset="0"/>
                <a:ea typeface="微软雅黑" panose="020B0503020204020204" pitchFamily="34" charset="-122"/>
              </a:rPr>
              <a:t>非线性规划</a:t>
            </a:r>
            <a:r>
              <a:rPr lang="en-US" altLang="zh-CN" sz="2800" b="1" dirty="0">
                <a:solidFill>
                  <a:srgbClr val="002060"/>
                </a:solidFill>
                <a:latin typeface="Times New Roman" panose="02020603050405020304" pitchFamily="18" charset="0"/>
                <a:ea typeface="微软雅黑" panose="020B0503020204020204" pitchFamily="34" charset="-122"/>
              </a:rPr>
              <a:t> </a:t>
            </a:r>
            <a:r>
              <a:rPr lang="zh-CN" altLang="en-US" sz="2800" b="1" dirty="0">
                <a:solidFill>
                  <a:srgbClr val="002060"/>
                </a:solidFill>
                <a:latin typeface="Times New Roman" panose="02020603050405020304" pitchFamily="18" charset="0"/>
                <a:ea typeface="微软雅黑" panose="020B0503020204020204" pitchFamily="34" charset="-122"/>
              </a:rPr>
              <a:t>举例及基本模型</a:t>
            </a:r>
            <a:endParaRPr lang="en-US" altLang="zh-CN" sz="2800" b="1" dirty="0">
              <a:solidFill>
                <a:srgbClr val="002060"/>
              </a:solidFill>
              <a:latin typeface="Times New Roman" panose="02020603050405020304" pitchFamily="18" charset="0"/>
              <a:ea typeface="微软雅黑" panose="020B0503020204020204" pitchFamily="34" charset="-122"/>
            </a:endParaRPr>
          </a:p>
        </p:txBody>
      </p:sp>
      <p:graphicFrame>
        <p:nvGraphicFramePr>
          <p:cNvPr id="21" name="对象 20">
            <a:extLst>
              <a:ext uri="{FF2B5EF4-FFF2-40B4-BE49-F238E27FC236}">
                <a16:creationId xmlns:a16="http://schemas.microsoft.com/office/drawing/2014/main" id="{34C5EFA6-DAAF-447F-BD2D-87210405D0F0}"/>
              </a:ext>
            </a:extLst>
          </p:cNvPr>
          <p:cNvGraphicFramePr>
            <a:graphicFrameLocks noChangeAspect="1"/>
          </p:cNvGraphicFramePr>
          <p:nvPr>
            <p:extLst>
              <p:ext uri="{D42A27DB-BD31-4B8C-83A1-F6EECF244321}">
                <p14:modId xmlns:p14="http://schemas.microsoft.com/office/powerpoint/2010/main" val="1842785033"/>
              </p:ext>
            </p:extLst>
          </p:nvPr>
        </p:nvGraphicFramePr>
        <p:xfrm>
          <a:off x="4150386" y="4798314"/>
          <a:ext cx="114300" cy="190500"/>
        </p:xfrm>
        <a:graphic>
          <a:graphicData uri="http://schemas.openxmlformats.org/presentationml/2006/ole">
            <mc:AlternateContent xmlns:mc="http://schemas.openxmlformats.org/markup-compatibility/2006">
              <mc:Choice xmlns:v="urn:schemas-microsoft-com:vml" Requires="v">
                <p:oleObj name="Equation" r:id="rId3" imgW="3657600" imgH="6096000" progId="Equation.DSMT4">
                  <p:embed/>
                </p:oleObj>
              </mc:Choice>
              <mc:Fallback>
                <p:oleObj name="Equation" r:id="rId3" imgW="3657600" imgH="6096000" progId="Equation.DSMT4">
                  <p:embed/>
                  <p:pic>
                    <p:nvPicPr>
                      <p:cNvPr id="6" name="对象 5"/>
                      <p:cNvPicPr/>
                      <p:nvPr/>
                    </p:nvPicPr>
                    <p:blipFill>
                      <a:blip r:embed="rId4"/>
                      <a:stretch>
                        <a:fillRect/>
                      </a:stretch>
                    </p:blipFill>
                    <p:spPr>
                      <a:xfrm>
                        <a:off x="4150386" y="4798314"/>
                        <a:ext cx="114300" cy="1905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3C0A83F3-ABFA-4C94-B388-25C6968B7FF8}"/>
                  </a:ext>
                </a:extLst>
              </p:cNvPr>
              <p:cNvSpPr/>
              <p:nvPr/>
            </p:nvSpPr>
            <p:spPr>
              <a:xfrm>
                <a:off x="201010" y="3761946"/>
                <a:ext cx="8741980" cy="1759456"/>
              </a:xfrm>
              <a:prstGeom prst="rect">
                <a:avLst/>
              </a:prstGeom>
            </p:spPr>
            <p:txBody>
              <a:bodyPr wrap="square">
                <a:spAutoFit/>
              </a:bodyPr>
              <a:lstStyle/>
              <a:p>
                <a:pPr>
                  <a:spcBef>
                    <a:spcPts val="450"/>
                  </a:spcBef>
                  <a:buClr>
                    <a:schemeClr val="accent1"/>
                  </a:buClr>
                  <a:buSzPct val="70000"/>
                </a:pP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由于</a:t>
                </a:r>
                <a14:m>
                  <m:oMath xmlns:m="http://schemas.openxmlformats.org/officeDocument/2006/math">
                    <m:r>
                      <m:rPr>
                        <m:nor/>
                      </m:rPr>
                      <a:rPr lang="en-US" altLang="zh-CN" sz="2000" b="1" dirty="0">
                        <a:solidFill>
                          <a:schemeClr val="accent1">
                            <a:lumMod val="75000"/>
                          </a:schemeClr>
                        </a:solidFill>
                        <a:latin typeface="Times New Roman" panose="02020603050405020304" pitchFamily="18" charset="0"/>
                        <a:ea typeface="微软雅黑" panose="020B0503020204020204" pitchFamily="34" charset="-122"/>
                      </a:rPr>
                      <m:t>max</m:t>
                    </m:r>
                    <m:r>
                      <m:rPr>
                        <m:nor/>
                      </m:rPr>
                      <a:rPr lang="en-US" altLang="zh-CN" sz="2000" b="1" i="1" dirty="0">
                        <a:solidFill>
                          <a:schemeClr val="accent1">
                            <a:lumMod val="75000"/>
                          </a:schemeClr>
                        </a:solidFill>
                        <a:latin typeface="Times New Roman" panose="02020603050405020304" pitchFamily="18" charset="0"/>
                        <a:ea typeface="微软雅黑" panose="020B0503020204020204" pitchFamily="34" charset="-122"/>
                      </a:rPr>
                      <m:t> </m:t>
                    </m:r>
                    <m:r>
                      <m:rPr>
                        <m:nor/>
                      </m:rPr>
                      <a:rPr lang="en-US" altLang="zh-CN" sz="2000" b="1" i="1" dirty="0">
                        <a:solidFill>
                          <a:schemeClr val="accent1">
                            <a:lumMod val="75000"/>
                          </a:schemeClr>
                        </a:solidFill>
                        <a:latin typeface="Times New Roman" panose="02020603050405020304" pitchFamily="18" charset="0"/>
                        <a:ea typeface="微软雅黑" panose="020B0503020204020204" pitchFamily="34" charset="-122"/>
                      </a:rPr>
                      <m:t>f</m:t>
                    </m:r>
                    <m:r>
                      <m:rPr>
                        <m:nor/>
                      </m:rPr>
                      <a:rPr lang="en-US" altLang="zh-CN" sz="2000" b="1" dirty="0">
                        <a:solidFill>
                          <a:schemeClr val="accent1">
                            <a:lumMod val="75000"/>
                          </a:schemeClr>
                        </a:solidFill>
                        <a:latin typeface="Times New Roman" panose="02020603050405020304" pitchFamily="18" charset="0"/>
                        <a:ea typeface="微软雅黑" panose="020B0503020204020204" pitchFamily="34" charset="-122"/>
                      </a:rPr>
                      <m:t> (</m:t>
                    </m:r>
                    <m:r>
                      <m:rPr>
                        <m:nor/>
                      </m:rPr>
                      <a:rPr lang="en-US" altLang="zh-CN" sz="2000" b="1" i="1" dirty="0">
                        <a:solidFill>
                          <a:schemeClr val="accent1">
                            <a:lumMod val="75000"/>
                          </a:schemeClr>
                        </a:solidFill>
                        <a:latin typeface="Times New Roman" panose="02020603050405020304" pitchFamily="18" charset="0"/>
                        <a:ea typeface="微软雅黑" panose="020B0503020204020204" pitchFamily="34" charset="-122"/>
                      </a:rPr>
                      <m:t>X</m:t>
                    </m:r>
                    <m:r>
                      <m:rPr>
                        <m:nor/>
                      </m:rPr>
                      <a:rPr lang="en-US" altLang="zh-CN" sz="2000" b="1" dirty="0">
                        <a:solidFill>
                          <a:schemeClr val="accent1">
                            <a:lumMod val="75000"/>
                          </a:schemeClr>
                        </a:solidFill>
                        <a:latin typeface="Times New Roman" panose="02020603050405020304" pitchFamily="18" charset="0"/>
                        <a:ea typeface="微软雅黑" panose="020B0503020204020204" pitchFamily="34" charset="-122"/>
                      </a:rPr>
                      <m:t>)</m:t>
                    </m:r>
                    <m:r>
                      <a:rPr lang="zh-CN" altLang="en-US" sz="2000" b="1">
                        <a:solidFill>
                          <a:schemeClr val="accent1">
                            <a:lumMod val="75000"/>
                          </a:schemeClr>
                        </a:solidFill>
                        <a:latin typeface="Cambria Math" panose="02040503050406030204" pitchFamily="18" charset="0"/>
                      </a:rPr>
                      <m:t>=</m:t>
                    </m:r>
                    <m:r>
                      <a:rPr lang="en-US" altLang="zh-CN" sz="2000" b="1">
                        <a:solidFill>
                          <a:schemeClr val="accent1">
                            <a:lumMod val="75000"/>
                          </a:schemeClr>
                        </a:solidFill>
                        <a:latin typeface="Cambria Math" panose="02040503050406030204" pitchFamily="18" charset="0"/>
                      </a:rPr>
                      <m:t>−</m:t>
                    </m:r>
                    <m:r>
                      <a:rPr lang="en-US" altLang="zh-CN" sz="2000" b="1" i="1">
                        <a:solidFill>
                          <a:schemeClr val="accent1">
                            <a:lumMod val="75000"/>
                          </a:schemeClr>
                        </a:solidFill>
                        <a:latin typeface="Cambria Math" panose="02040503050406030204" pitchFamily="18" charset="0"/>
                      </a:rPr>
                      <m:t>𝒎𝒊𝒏</m:t>
                    </m:r>
                    <m:r>
                      <a:rPr lang="en-US" altLang="zh-CN" sz="2000" b="1">
                        <a:solidFill>
                          <a:schemeClr val="accent1">
                            <a:lumMod val="75000"/>
                          </a:schemeClr>
                        </a:solidFill>
                        <a:latin typeface="Cambria Math" panose="02040503050406030204" pitchFamily="18" charset="0"/>
                      </a:rPr>
                      <m:t>[−</m:t>
                    </m:r>
                    <m:r>
                      <m:rPr>
                        <m:nor/>
                      </m:rPr>
                      <a:rPr lang="en-US" altLang="zh-CN" sz="2000" b="1" i="1" dirty="0">
                        <a:solidFill>
                          <a:schemeClr val="accent1">
                            <a:lumMod val="75000"/>
                          </a:schemeClr>
                        </a:solidFill>
                        <a:latin typeface="Times New Roman" panose="02020603050405020304" pitchFamily="18" charset="0"/>
                        <a:ea typeface="微软雅黑" panose="020B0503020204020204" pitchFamily="34" charset="-122"/>
                      </a:rPr>
                      <m:t>f</m:t>
                    </m:r>
                    <m:r>
                      <m:rPr>
                        <m:nor/>
                      </m:rPr>
                      <a:rPr lang="en-US" altLang="zh-CN" sz="2000" b="1" i="1" dirty="0">
                        <a:solidFill>
                          <a:schemeClr val="accent1">
                            <a:lumMod val="75000"/>
                          </a:schemeClr>
                        </a:solidFill>
                        <a:latin typeface="Times New Roman" panose="02020603050405020304" pitchFamily="18" charset="0"/>
                        <a:ea typeface="微软雅黑" panose="020B0503020204020204" pitchFamily="34" charset="-122"/>
                      </a:rPr>
                      <m:t> </m:t>
                    </m:r>
                    <m:r>
                      <m:rPr>
                        <m:nor/>
                      </m:rPr>
                      <a:rPr lang="en-US" altLang="zh-CN" sz="2000" b="1" dirty="0">
                        <a:solidFill>
                          <a:schemeClr val="accent1">
                            <a:lumMod val="75000"/>
                          </a:schemeClr>
                        </a:solidFill>
                        <a:latin typeface="Times New Roman" panose="02020603050405020304" pitchFamily="18" charset="0"/>
                        <a:ea typeface="微软雅黑" panose="020B0503020204020204" pitchFamily="34" charset="-122"/>
                      </a:rPr>
                      <m:t>(</m:t>
                    </m:r>
                    <m:r>
                      <m:rPr>
                        <m:nor/>
                      </m:rPr>
                      <a:rPr lang="en-US" altLang="zh-CN" sz="2000" b="1" i="1" dirty="0">
                        <a:solidFill>
                          <a:schemeClr val="accent1">
                            <a:lumMod val="75000"/>
                          </a:schemeClr>
                        </a:solidFill>
                        <a:latin typeface="Times New Roman" panose="02020603050405020304" pitchFamily="18" charset="0"/>
                        <a:ea typeface="微软雅黑" panose="020B0503020204020204" pitchFamily="34" charset="-122"/>
                      </a:rPr>
                      <m:t>X</m:t>
                    </m:r>
                    <m:r>
                      <m:rPr>
                        <m:nor/>
                      </m:rPr>
                      <a:rPr lang="en-US" altLang="zh-CN" sz="2000" b="1" dirty="0">
                        <a:solidFill>
                          <a:schemeClr val="accent1">
                            <a:lumMod val="75000"/>
                          </a:schemeClr>
                        </a:solidFill>
                        <a:latin typeface="Times New Roman" panose="02020603050405020304" pitchFamily="18" charset="0"/>
                        <a:ea typeface="微软雅黑" panose="020B0503020204020204" pitchFamily="34" charset="-122"/>
                      </a:rPr>
                      <m:t>)</m:t>
                    </m:r>
                    <m:r>
                      <a:rPr lang="en-US" altLang="zh-CN" sz="2000" b="1">
                        <a:solidFill>
                          <a:schemeClr val="accent1">
                            <a:lumMod val="75000"/>
                          </a:schemeClr>
                        </a:solidFill>
                        <a:latin typeface="Cambria Math" panose="02040503050406030204" pitchFamily="18" charset="0"/>
                      </a:rPr>
                      <m:t>]</m:t>
                    </m:r>
                  </m:oMath>
                </a14:m>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，当需使目标函数极大化时，只需使其负值极小化即可。因而仅考虑目标函数极小化，这无损于一般性。</a:t>
                </a:r>
              </a:p>
              <a:p>
                <a:pPr>
                  <a:spcBef>
                    <a:spcPts val="450"/>
                  </a:spcBef>
                  <a:buClr>
                    <a:schemeClr val="accent1"/>
                  </a:buClr>
                  <a:buSzPct val="70000"/>
                </a:pP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若某约束条件是</a:t>
                </a:r>
                <a14:m>
                  <m:oMath xmlns:m="http://schemas.openxmlformats.org/officeDocument/2006/math">
                    <m:r>
                      <a:rPr lang="zh-CN" altLang="en-US" sz="2000" b="1" i="1" dirty="0">
                        <a:solidFill>
                          <a:schemeClr val="accent1">
                            <a:lumMod val="75000"/>
                          </a:schemeClr>
                        </a:solidFill>
                        <a:latin typeface="Cambria Math" panose="02040503050406030204" pitchFamily="18" charset="0"/>
                      </a:rPr>
                      <m:t>“</m:t>
                    </m:r>
                    <m:r>
                      <a:rPr lang="zh-CN" altLang="en-US" sz="2000" b="1">
                        <a:solidFill>
                          <a:schemeClr val="accent1">
                            <a:lumMod val="75000"/>
                          </a:schemeClr>
                        </a:solidFill>
                        <a:latin typeface="Cambria Math" panose="02040503050406030204" pitchFamily="18" charset="0"/>
                      </a:rPr>
                      <m:t>≤</m:t>
                    </m:r>
                    <m:r>
                      <a:rPr lang="zh-CN" altLang="en-US" sz="2000" b="1" i="1">
                        <a:solidFill>
                          <a:schemeClr val="accent1">
                            <a:lumMod val="75000"/>
                          </a:schemeClr>
                        </a:solidFill>
                        <a:latin typeface="Cambria Math" panose="02040503050406030204" pitchFamily="18" charset="0"/>
                      </a:rPr>
                      <m:t>”</m:t>
                    </m:r>
                  </m:oMath>
                </a14:m>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时，仅需用</a:t>
                </a:r>
                <a14:m>
                  <m:oMath xmlns:m="http://schemas.openxmlformats.org/officeDocument/2006/math">
                    <m:r>
                      <a:rPr lang="zh-CN" altLang="en-US" sz="2000" b="1" i="1" dirty="0">
                        <a:solidFill>
                          <a:schemeClr val="accent1">
                            <a:lumMod val="75000"/>
                          </a:schemeClr>
                        </a:solidFill>
                        <a:latin typeface="Cambria Math" panose="02040503050406030204" pitchFamily="18" charset="0"/>
                      </a:rPr>
                      <m:t>“</m:t>
                    </m:r>
                    <m:r>
                      <a:rPr lang="en-US" altLang="zh-CN" sz="2000" b="1" dirty="0">
                        <a:solidFill>
                          <a:schemeClr val="accent1">
                            <a:lumMod val="75000"/>
                          </a:schemeClr>
                        </a:solidFill>
                        <a:latin typeface="Cambria Math" panose="02040503050406030204" pitchFamily="18" charset="0"/>
                      </a:rPr>
                      <m:t>−</m:t>
                    </m:r>
                    <m:r>
                      <a:rPr lang="en-US" altLang="zh-CN" sz="2000" b="1" i="1" dirty="0">
                        <a:solidFill>
                          <a:schemeClr val="accent1">
                            <a:lumMod val="75000"/>
                          </a:schemeClr>
                        </a:solidFill>
                        <a:latin typeface="Cambria Math" panose="02040503050406030204" pitchFamily="18" charset="0"/>
                      </a:rPr>
                      <m:t>𝟏</m:t>
                    </m:r>
                    <m:r>
                      <a:rPr lang="zh-CN" altLang="en-US" sz="2000" b="1" i="1">
                        <a:solidFill>
                          <a:schemeClr val="accent1">
                            <a:lumMod val="75000"/>
                          </a:schemeClr>
                        </a:solidFill>
                        <a:latin typeface="Cambria Math" panose="02040503050406030204" pitchFamily="18" charset="0"/>
                      </a:rPr>
                      <m:t>”</m:t>
                    </m:r>
                  </m:oMath>
                </a14:m>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乘该约束的两端，即可将这个约束变为</a:t>
                </a:r>
                <a14:m>
                  <m:oMath xmlns:m="http://schemas.openxmlformats.org/officeDocument/2006/math">
                    <m:r>
                      <a:rPr lang="zh-CN" altLang="en-US" sz="2000" b="1" i="1" dirty="0">
                        <a:solidFill>
                          <a:schemeClr val="accent1">
                            <a:lumMod val="75000"/>
                          </a:schemeClr>
                        </a:solidFill>
                        <a:latin typeface="Cambria Math" panose="02040503050406030204" pitchFamily="18" charset="0"/>
                      </a:rPr>
                      <m:t>“</m:t>
                    </m:r>
                    <m:r>
                      <a:rPr lang="zh-CN" altLang="en-US" sz="2000" b="1">
                        <a:solidFill>
                          <a:schemeClr val="accent1">
                            <a:lumMod val="75000"/>
                          </a:schemeClr>
                        </a:solidFill>
                        <a:latin typeface="Cambria Math" panose="02040503050406030204" pitchFamily="18" charset="0"/>
                      </a:rPr>
                      <m:t>≥</m:t>
                    </m:r>
                    <m:r>
                      <a:rPr lang="zh-CN" altLang="en-US" sz="2000" b="1" i="1">
                        <a:solidFill>
                          <a:schemeClr val="accent1">
                            <a:lumMod val="75000"/>
                          </a:schemeClr>
                        </a:solidFill>
                        <a:latin typeface="Cambria Math" panose="02040503050406030204" pitchFamily="18" charset="0"/>
                      </a:rPr>
                      <m:t>”</m:t>
                    </m:r>
                  </m:oMath>
                </a14:m>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的形式。</a:t>
                </a:r>
                <a:endParaRPr lang="en-US" altLang="zh-CN" sz="2000" b="1" dirty="0">
                  <a:solidFill>
                    <a:schemeClr val="accent1">
                      <a:lumMod val="75000"/>
                    </a:schemeClr>
                  </a:solidFill>
                  <a:latin typeface="Times New Roman" panose="02020603050405020304" pitchFamily="18" charset="0"/>
                  <a:ea typeface="微软雅黑" panose="020B0503020204020204" pitchFamily="34" charset="-122"/>
                </a:endParaRPr>
              </a:p>
              <a:p>
                <a:pPr>
                  <a:spcBef>
                    <a:spcPts val="450"/>
                  </a:spcBef>
                  <a:buClr>
                    <a:schemeClr val="accent1"/>
                  </a:buClr>
                  <a:buSzPct val="70000"/>
                </a:pP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由于等式约束 </a:t>
                </a:r>
                <a:r>
                  <a:rPr lang="en-US" altLang="zh-CN" sz="2000" b="1" dirty="0">
                    <a:solidFill>
                      <a:schemeClr val="accent1">
                        <a:lumMod val="75000"/>
                      </a:schemeClr>
                    </a:solidFill>
                    <a:latin typeface="Times New Roman" panose="02020603050405020304" pitchFamily="18" charset="0"/>
                    <a:ea typeface="微软雅黑" panose="020B0503020204020204" pitchFamily="34" charset="-122"/>
                  </a:rPr>
                  <a:t>                </a:t>
                </a: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等价于两个不等式约束</a:t>
                </a:r>
                <a:endParaRPr lang="en-US" altLang="zh-CN" sz="2000" b="1" dirty="0">
                  <a:solidFill>
                    <a:schemeClr val="accent1">
                      <a:lumMod val="75000"/>
                    </a:schemeClr>
                  </a:solidFill>
                  <a:latin typeface="Times New Roman" panose="02020603050405020304" pitchFamily="18" charset="0"/>
                  <a:ea typeface="微软雅黑" panose="020B0503020204020204" pitchFamily="34" charset="-122"/>
                </a:endParaRPr>
              </a:p>
            </p:txBody>
          </p:sp>
        </mc:Choice>
        <mc:Fallback xmlns="">
          <p:sp>
            <p:nvSpPr>
              <p:cNvPr id="22" name="矩形 21">
                <a:extLst>
                  <a:ext uri="{FF2B5EF4-FFF2-40B4-BE49-F238E27FC236}">
                    <a16:creationId xmlns:a16="http://schemas.microsoft.com/office/drawing/2014/main" id="{3C0A83F3-ABFA-4C94-B388-25C6968B7FF8}"/>
                  </a:ext>
                </a:extLst>
              </p:cNvPr>
              <p:cNvSpPr>
                <a:spLocks noRot="1" noChangeAspect="1" noMove="1" noResize="1" noEditPoints="1" noAdjustHandles="1" noChangeArrowheads="1" noChangeShapeType="1" noTextEdit="1"/>
              </p:cNvSpPr>
              <p:nvPr/>
            </p:nvSpPr>
            <p:spPr>
              <a:xfrm>
                <a:off x="201010" y="3761946"/>
                <a:ext cx="8741980" cy="1759456"/>
              </a:xfrm>
              <a:prstGeom prst="rect">
                <a:avLst/>
              </a:prstGeom>
              <a:blipFill>
                <a:blip r:embed="rId6"/>
                <a:stretch>
                  <a:fillRect l="-767" t="-1730" r="-628" b="-5190"/>
                </a:stretch>
              </a:blipFill>
            </p:spPr>
            <p:txBody>
              <a:bodyPr/>
              <a:lstStyle/>
              <a:p>
                <a:r>
                  <a:rPr lang="zh-CN" altLang="en-US">
                    <a:noFill/>
                  </a:rPr>
                  <a:t> </a:t>
                </a:r>
              </a:p>
            </p:txBody>
          </p:sp>
        </mc:Fallback>
      </mc:AlternateContent>
      <p:graphicFrame>
        <p:nvGraphicFramePr>
          <p:cNvPr id="23" name="对象 22">
            <a:extLst>
              <a:ext uri="{FF2B5EF4-FFF2-40B4-BE49-F238E27FC236}">
                <a16:creationId xmlns:a16="http://schemas.microsoft.com/office/drawing/2014/main" id="{CE127431-7ECF-4C83-A273-E1F5EB39AF05}"/>
              </a:ext>
            </a:extLst>
          </p:cNvPr>
          <p:cNvGraphicFramePr>
            <a:graphicFrameLocks noChangeAspect="1"/>
          </p:cNvGraphicFramePr>
          <p:nvPr>
            <p:extLst>
              <p:ext uri="{D42A27DB-BD31-4B8C-83A1-F6EECF244321}">
                <p14:modId xmlns:p14="http://schemas.microsoft.com/office/powerpoint/2010/main" val="3725128817"/>
              </p:ext>
            </p:extLst>
          </p:nvPr>
        </p:nvGraphicFramePr>
        <p:xfrm>
          <a:off x="1835696" y="5162270"/>
          <a:ext cx="1005755" cy="331008"/>
        </p:xfrm>
        <a:graphic>
          <a:graphicData uri="http://schemas.openxmlformats.org/presentationml/2006/ole">
            <mc:AlternateContent xmlns:mc="http://schemas.openxmlformats.org/markup-compatibility/2006">
              <mc:Choice xmlns:v="urn:schemas-microsoft-com:vml" Requires="v">
                <p:oleObj name="Equation" r:id="rId7" imgW="24079200" imgH="7924800" progId="Equation.DSMT4">
                  <p:embed/>
                </p:oleObj>
              </mc:Choice>
              <mc:Fallback>
                <p:oleObj name="Equation" r:id="rId7" imgW="24079200" imgH="7924800" progId="Equation.DSMT4">
                  <p:embed/>
                  <p:pic>
                    <p:nvPicPr>
                      <p:cNvPr id="8" name="对象 7">
                        <a:extLst>
                          <a:ext uri="{FF2B5EF4-FFF2-40B4-BE49-F238E27FC236}">
                            <a16:creationId xmlns:a16="http://schemas.microsoft.com/office/drawing/2014/main" id="{81BC0252-3455-434D-838F-428B14A664E0}"/>
                          </a:ext>
                        </a:extLst>
                      </p:cNvPr>
                      <p:cNvPicPr/>
                      <p:nvPr/>
                    </p:nvPicPr>
                    <p:blipFill>
                      <a:blip r:embed="rId8"/>
                      <a:stretch>
                        <a:fillRect/>
                      </a:stretch>
                    </p:blipFill>
                    <p:spPr>
                      <a:xfrm>
                        <a:off x="1835696" y="5162270"/>
                        <a:ext cx="1005755" cy="331008"/>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D1761EB4-C241-4F84-9CAB-9F4D263ADF1A}"/>
              </a:ext>
            </a:extLst>
          </p:cNvPr>
          <p:cNvGraphicFramePr>
            <a:graphicFrameLocks noChangeAspect="1"/>
          </p:cNvGraphicFramePr>
          <p:nvPr>
            <p:extLst>
              <p:ext uri="{D42A27DB-BD31-4B8C-83A1-F6EECF244321}">
                <p14:modId xmlns:p14="http://schemas.microsoft.com/office/powerpoint/2010/main" val="1347380784"/>
              </p:ext>
            </p:extLst>
          </p:nvPr>
        </p:nvGraphicFramePr>
        <p:xfrm>
          <a:off x="5592031" y="4981921"/>
          <a:ext cx="1421039" cy="641070"/>
        </p:xfrm>
        <a:graphic>
          <a:graphicData uri="http://schemas.openxmlformats.org/presentationml/2006/ole">
            <mc:AlternateContent xmlns:mc="http://schemas.openxmlformats.org/markup-compatibility/2006">
              <mc:Choice xmlns:v="urn:schemas-microsoft-com:vml" Requires="v">
                <p:oleObj name="Equation" r:id="rId9" imgW="40538400" imgH="18288000" progId="Equation.DSMT4">
                  <p:embed/>
                </p:oleObj>
              </mc:Choice>
              <mc:Fallback>
                <p:oleObj name="Equation" r:id="rId9" imgW="40538400" imgH="18288000" progId="Equation.DSMT4">
                  <p:embed/>
                  <p:pic>
                    <p:nvPicPr>
                      <p:cNvPr id="9" name="对象 8">
                        <a:extLst>
                          <a:ext uri="{FF2B5EF4-FFF2-40B4-BE49-F238E27FC236}">
                            <a16:creationId xmlns:a16="http://schemas.microsoft.com/office/drawing/2014/main" id="{EBFD7FB9-2FD8-49CE-8E6E-25C081397A3E}"/>
                          </a:ext>
                        </a:extLst>
                      </p:cNvPr>
                      <p:cNvPicPr/>
                      <p:nvPr/>
                    </p:nvPicPr>
                    <p:blipFill>
                      <a:blip r:embed="rId10"/>
                      <a:stretch>
                        <a:fillRect/>
                      </a:stretch>
                    </p:blipFill>
                    <p:spPr>
                      <a:xfrm>
                        <a:off x="5592031" y="4981921"/>
                        <a:ext cx="1421039" cy="641070"/>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B239B7EE-9E51-49A9-A9AB-4A80A27017EF}"/>
              </a:ext>
            </a:extLst>
          </p:cNvPr>
          <p:cNvGraphicFramePr>
            <a:graphicFrameLocks noChangeAspect="1"/>
          </p:cNvGraphicFramePr>
          <p:nvPr>
            <p:extLst>
              <p:ext uri="{D42A27DB-BD31-4B8C-83A1-F6EECF244321}">
                <p14:modId xmlns:p14="http://schemas.microsoft.com/office/powerpoint/2010/main" val="1515950390"/>
              </p:ext>
            </p:extLst>
          </p:nvPr>
        </p:nvGraphicFramePr>
        <p:xfrm>
          <a:off x="3275856" y="6012028"/>
          <a:ext cx="2868727" cy="753641"/>
        </p:xfrm>
        <a:graphic>
          <a:graphicData uri="http://schemas.openxmlformats.org/presentationml/2006/ole">
            <mc:AlternateContent xmlns:mc="http://schemas.openxmlformats.org/markup-compatibility/2006">
              <mc:Choice xmlns:v="urn:schemas-microsoft-com:vml" Requires="v">
                <p:oleObj name="Equation" r:id="rId11" imgW="2984400" imgH="787320" progId="Equation.DSMT4">
                  <p:embed/>
                </p:oleObj>
              </mc:Choice>
              <mc:Fallback>
                <p:oleObj name="Equation" r:id="rId11" imgW="2984400" imgH="787320" progId="Equation.DSMT4">
                  <p:embed/>
                  <p:pic>
                    <p:nvPicPr>
                      <p:cNvPr id="10" name="对象 9">
                        <a:extLst>
                          <a:ext uri="{FF2B5EF4-FFF2-40B4-BE49-F238E27FC236}">
                            <a16:creationId xmlns:a16="http://schemas.microsoft.com/office/drawing/2014/main" id="{6BCFDB9C-0146-4ACB-9521-DEE22B400B22}"/>
                          </a:ext>
                        </a:extLst>
                      </p:cNvPr>
                      <p:cNvPicPr/>
                      <p:nvPr/>
                    </p:nvPicPr>
                    <p:blipFill>
                      <a:blip r:embed="rId12"/>
                      <a:stretch>
                        <a:fillRect/>
                      </a:stretch>
                    </p:blipFill>
                    <p:spPr>
                      <a:xfrm>
                        <a:off x="3275856" y="6012028"/>
                        <a:ext cx="2868727" cy="753641"/>
                      </a:xfrm>
                      <a:prstGeom prst="rect">
                        <a:avLst/>
                      </a:prstGeom>
                    </p:spPr>
                  </p:pic>
                </p:oleObj>
              </mc:Fallback>
            </mc:AlternateContent>
          </a:graphicData>
        </a:graphic>
      </p:graphicFrame>
      <p:sp>
        <p:nvSpPr>
          <p:cNvPr id="26" name="矩形 25">
            <a:extLst>
              <a:ext uri="{FF2B5EF4-FFF2-40B4-BE49-F238E27FC236}">
                <a16:creationId xmlns:a16="http://schemas.microsoft.com/office/drawing/2014/main" id="{3E4154CA-4729-422C-BFF4-1EFBB9571360}"/>
              </a:ext>
            </a:extLst>
          </p:cNvPr>
          <p:cNvSpPr/>
          <p:nvPr/>
        </p:nvSpPr>
        <p:spPr>
          <a:xfrm>
            <a:off x="0" y="902105"/>
            <a:ext cx="3454792" cy="400110"/>
          </a:xfrm>
          <a:prstGeom prst="rect">
            <a:avLst/>
          </a:prstGeom>
        </p:spPr>
        <p:txBody>
          <a:bodyPr wrap="none">
            <a:spAutoFit/>
          </a:bodyPr>
          <a:lstStyle/>
          <a:p>
            <a:pPr>
              <a:spcBef>
                <a:spcPts val="450"/>
              </a:spcBef>
              <a:buClr>
                <a:schemeClr val="accent1"/>
              </a:buClr>
              <a:buSzPct val="70000"/>
            </a:pPr>
            <a:r>
              <a:rPr lang="en-US" altLang="zh-CN" sz="2000" b="1" dirty="0">
                <a:solidFill>
                  <a:srgbClr val="C00000"/>
                </a:solidFill>
                <a:latin typeface="Times New Roman" panose="02020603050405020304" pitchFamily="18" charset="0"/>
                <a:ea typeface="微软雅黑" panose="020B0503020204020204" pitchFamily="34" charset="-122"/>
              </a:rPr>
              <a:t>2.</a:t>
            </a:r>
            <a:r>
              <a:rPr lang="zh-CN" altLang="en-US" sz="2000" b="1" dirty="0">
                <a:solidFill>
                  <a:srgbClr val="C00000"/>
                </a:solidFill>
                <a:latin typeface="Times New Roman" panose="02020603050405020304" pitchFamily="18" charset="0"/>
                <a:ea typeface="微软雅黑" panose="020B0503020204020204" pitchFamily="34" charset="-122"/>
              </a:rPr>
              <a:t>非线性规划问题的数学模型</a:t>
            </a:r>
            <a:endParaRPr lang="en-US" altLang="zh-CN" sz="2000" b="1" dirty="0">
              <a:solidFill>
                <a:srgbClr val="C00000"/>
              </a:solidFill>
              <a:latin typeface="Times New Roman" panose="02020603050405020304" pitchFamily="18" charset="0"/>
              <a:ea typeface="微软雅黑" panose="020B0503020204020204" pitchFamily="34" charset="-122"/>
            </a:endParaRPr>
          </a:p>
        </p:txBody>
      </p:sp>
      <p:sp>
        <p:nvSpPr>
          <p:cNvPr id="27" name="矩形 26">
            <a:extLst>
              <a:ext uri="{FF2B5EF4-FFF2-40B4-BE49-F238E27FC236}">
                <a16:creationId xmlns:a16="http://schemas.microsoft.com/office/drawing/2014/main" id="{FCC7DD5B-B46C-4732-8167-3F3ABF0EF556}"/>
              </a:ext>
            </a:extLst>
          </p:cNvPr>
          <p:cNvSpPr/>
          <p:nvPr/>
        </p:nvSpPr>
        <p:spPr>
          <a:xfrm>
            <a:off x="149773" y="1316992"/>
            <a:ext cx="5061001" cy="400110"/>
          </a:xfrm>
          <a:prstGeom prst="rect">
            <a:avLst/>
          </a:prstGeom>
        </p:spPr>
        <p:txBody>
          <a:bodyPr wrap="none">
            <a:spAutoFit/>
          </a:bodyPr>
          <a:lstStyle/>
          <a:p>
            <a:pPr marL="257175" indent="-257175">
              <a:buFont typeface="Wingdings" panose="05000000000000000000" pitchFamily="2" charset="2"/>
              <a:buChar char="u"/>
            </a:pPr>
            <a:r>
              <a:rPr lang="zh-CN" altLang="en-US" sz="2000" b="1" dirty="0">
                <a:latin typeface="Times New Roman" panose="02020603050405020304" pitchFamily="18" charset="0"/>
                <a:ea typeface="微软雅黑" panose="020B0503020204020204" pitchFamily="34" charset="-122"/>
              </a:rPr>
              <a:t>非线性规划的数学模型常表示成以下形式</a:t>
            </a:r>
            <a:endParaRPr lang="zh-CN" altLang="en-US" sz="2000" b="1" dirty="0"/>
          </a:p>
        </p:txBody>
      </p:sp>
      <p:sp>
        <p:nvSpPr>
          <p:cNvPr id="28" name="矩形 27">
            <a:extLst>
              <a:ext uri="{FF2B5EF4-FFF2-40B4-BE49-F238E27FC236}">
                <a16:creationId xmlns:a16="http://schemas.microsoft.com/office/drawing/2014/main" id="{E9FC4995-8893-483B-8704-A69C95EECBC9}"/>
              </a:ext>
            </a:extLst>
          </p:cNvPr>
          <p:cNvSpPr/>
          <p:nvPr/>
        </p:nvSpPr>
        <p:spPr>
          <a:xfrm>
            <a:off x="206790" y="5566660"/>
            <a:ext cx="5827236" cy="400110"/>
          </a:xfrm>
          <a:prstGeom prst="rect">
            <a:avLst/>
          </a:prstGeom>
        </p:spPr>
        <p:txBody>
          <a:bodyPr wrap="none">
            <a:spAutoFit/>
          </a:bodyPr>
          <a:lstStyle/>
          <a:p>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因而，也可将非线性规划的数学模型写成以下形式</a:t>
            </a:r>
            <a:endParaRPr lang="zh-CN" altLang="en-US" sz="2000" dirty="0">
              <a:solidFill>
                <a:schemeClr val="accent1">
                  <a:lumMod val="75000"/>
                </a:schemeClr>
              </a:solidFill>
            </a:endParaRPr>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DA3271C6-C77E-4A71-A5B6-135BDDE79A2B}"/>
                  </a:ext>
                </a:extLst>
              </p:cNvPr>
              <p:cNvSpPr/>
              <p:nvPr/>
            </p:nvSpPr>
            <p:spPr>
              <a:xfrm>
                <a:off x="149773" y="2946196"/>
                <a:ext cx="8505497" cy="806631"/>
              </a:xfrm>
              <a:prstGeom prst="rect">
                <a:avLst/>
              </a:prstGeom>
            </p:spPr>
            <p:txBody>
              <a:bodyPr wrap="square">
                <a:spAutoFit/>
              </a:bodyPr>
              <a:lstStyle/>
              <a:p>
                <a:pPr algn="ctr">
                  <a:spcBef>
                    <a:spcPts val="450"/>
                  </a:spcBef>
                  <a:buClr>
                    <a:schemeClr val="accent1"/>
                  </a:buClr>
                  <a:buSzPct val="70000"/>
                </a:pPr>
                <a:r>
                  <a:rPr lang="zh-CN" altLang="en-US" sz="2000" b="1" dirty="0">
                    <a:latin typeface="Times New Roman" panose="02020603050405020304" pitchFamily="18" charset="0"/>
                    <a:ea typeface="微软雅黑" panose="020B0503020204020204" pitchFamily="34" charset="-122"/>
                  </a:rPr>
                  <a:t>其中自变量</a:t>
                </a:r>
                <a14:m>
                  <m:oMath xmlns:m="http://schemas.openxmlformats.org/officeDocument/2006/math">
                    <m:r>
                      <a:rPr lang="en-US" altLang="zh-CN" sz="2000" b="1" i="1" dirty="0">
                        <a:latin typeface="Cambria Math" panose="02040503050406030204" pitchFamily="18" charset="0"/>
                      </a:rPr>
                      <m:t>𝑿</m:t>
                    </m:r>
                    <m:r>
                      <a:rPr lang="zh-CN" altLang="en-US" sz="2000" b="1">
                        <a:latin typeface="Cambria Math" panose="02040503050406030204" pitchFamily="18" charset="0"/>
                      </a:rPr>
                      <m:t>=</m:t>
                    </m:r>
                    <m:sSup>
                      <m:sSupPr>
                        <m:ctrlPr>
                          <a:rPr lang="zh-CN" altLang="en-US" sz="2000" b="1" i="1">
                            <a:latin typeface="Cambria Math" panose="02040503050406030204" pitchFamily="18" charset="0"/>
                          </a:rPr>
                        </m:ctrlPr>
                      </m:sSupPr>
                      <m:e>
                        <m:d>
                          <m:dPr>
                            <m:ctrlPr>
                              <a:rPr lang="zh-CN" altLang="en-US" sz="2000" b="1" i="1">
                                <a:latin typeface="Cambria Math" panose="02040503050406030204" pitchFamily="18" charset="0"/>
                              </a:rPr>
                            </m:ctrlPr>
                          </m:dPr>
                          <m:e>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𝒙</m:t>
                                </m:r>
                              </m:e>
                              <m:sub>
                                <m:r>
                                  <a:rPr lang="zh-CN" altLang="en-US" sz="2000" b="1">
                                    <a:latin typeface="Cambria Math" panose="02040503050406030204" pitchFamily="18" charset="0"/>
                                  </a:rPr>
                                  <m:t>𝟏</m:t>
                                </m:r>
                              </m:sub>
                            </m:sSub>
                            <m:r>
                              <a:rPr lang="zh-CN" altLang="en-US" sz="2000" b="1">
                                <a:latin typeface="Cambria Math" panose="02040503050406030204" pitchFamily="18" charset="0"/>
                              </a:rPr>
                              <m:t>,</m:t>
                            </m:r>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𝒙</m:t>
                                </m:r>
                              </m:e>
                              <m:sub>
                                <m:r>
                                  <a:rPr lang="zh-CN" altLang="en-US" sz="2000" b="1">
                                    <a:latin typeface="Cambria Math" panose="02040503050406030204" pitchFamily="18" charset="0"/>
                                  </a:rPr>
                                  <m:t>𝟐</m:t>
                                </m:r>
                              </m:sub>
                            </m:sSub>
                            <m:r>
                              <a:rPr lang="zh-CN" altLang="en-US" sz="2000" b="1">
                                <a:latin typeface="Cambria Math" panose="02040503050406030204" pitchFamily="18" charset="0"/>
                              </a:rPr>
                              <m:t>,⋯</m:t>
                            </m:r>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𝒙</m:t>
                                </m:r>
                              </m:e>
                              <m:sub>
                                <m:r>
                                  <a:rPr lang="zh-CN" altLang="en-US" sz="2000" b="1" i="1">
                                    <a:latin typeface="Cambria Math" panose="02040503050406030204" pitchFamily="18" charset="0"/>
                                  </a:rPr>
                                  <m:t>𝒏</m:t>
                                </m:r>
                              </m:sub>
                            </m:sSub>
                          </m:e>
                        </m:d>
                      </m:e>
                      <m:sup>
                        <m:r>
                          <a:rPr lang="zh-CN" altLang="en-US" sz="2000" b="1" i="1">
                            <a:latin typeface="Cambria Math" panose="02040503050406030204" pitchFamily="18" charset="0"/>
                          </a:rPr>
                          <m:t>𝑻</m:t>
                        </m:r>
                      </m:sup>
                    </m:sSup>
                  </m:oMath>
                </a14:m>
                <a:r>
                  <a:rPr lang="zh-CN" altLang="en-US" sz="2000" b="1" dirty="0">
                    <a:latin typeface="Times New Roman" panose="02020603050405020304" pitchFamily="18" charset="0"/>
                    <a:ea typeface="微软雅黑" panose="020B0503020204020204" pitchFamily="34" charset="-122"/>
                  </a:rPr>
                  <a:t>是 </a:t>
                </a:r>
                <a:r>
                  <a:rPr lang="en-US" altLang="zh-CN" sz="2000" b="1" i="1" dirty="0">
                    <a:latin typeface="Times New Roman" panose="02020603050405020304" pitchFamily="18" charset="0"/>
                    <a:ea typeface="微软雅黑" panose="020B0503020204020204" pitchFamily="34" charset="-122"/>
                  </a:rPr>
                  <a:t>n </a:t>
                </a:r>
                <a:r>
                  <a:rPr lang="zh-CN" altLang="en-US" sz="2000" b="1" dirty="0">
                    <a:latin typeface="Times New Roman" panose="02020603050405020304" pitchFamily="18" charset="0"/>
                    <a:ea typeface="微软雅黑" panose="020B0503020204020204" pitchFamily="34" charset="-122"/>
                  </a:rPr>
                  <a:t>维欧氏空间</a:t>
                </a:r>
                <a14:m>
                  <m:oMath xmlns:m="http://schemas.openxmlformats.org/officeDocument/2006/math">
                    <m:sSup>
                      <m:sSupPr>
                        <m:ctrlPr>
                          <a:rPr lang="zh-CN" altLang="en-US" sz="2000" b="1" i="1">
                            <a:latin typeface="Cambria Math" panose="02040503050406030204" pitchFamily="18" charset="0"/>
                          </a:rPr>
                        </m:ctrlPr>
                      </m:sSupPr>
                      <m:e>
                        <m:r>
                          <a:rPr lang="zh-CN" altLang="en-US" sz="2000" b="1" i="1">
                            <a:latin typeface="Cambria Math" panose="02040503050406030204" pitchFamily="18" charset="0"/>
                          </a:rPr>
                          <m:t>𝑬</m:t>
                        </m:r>
                      </m:e>
                      <m:sup>
                        <m:r>
                          <a:rPr lang="zh-CN" altLang="en-US" sz="2000" b="1" i="1">
                            <a:latin typeface="Cambria Math" panose="02040503050406030204" pitchFamily="18" charset="0"/>
                          </a:rPr>
                          <m:t>𝒏</m:t>
                        </m:r>
                      </m:sup>
                    </m:sSup>
                  </m:oMath>
                </a14:m>
                <a:r>
                  <a:rPr lang="zh-CN" altLang="en-US" sz="2000" b="1" dirty="0">
                    <a:latin typeface="Times New Roman" panose="02020603050405020304" pitchFamily="18" charset="0"/>
                    <a:ea typeface="微软雅黑" panose="020B0503020204020204" pitchFamily="34" charset="-122"/>
                  </a:rPr>
                  <a:t>中的向量</a:t>
                </a:r>
                <a:r>
                  <a:rPr lang="en-US" altLang="zh-CN" sz="2000" b="1" dirty="0">
                    <a:latin typeface="Times New Roman" panose="02020603050405020304" pitchFamily="18" charset="0"/>
                    <a:ea typeface="微软雅黑" panose="020B0503020204020204" pitchFamily="34" charset="-122"/>
                  </a:rPr>
                  <a:t>(</a:t>
                </a:r>
                <a:r>
                  <a:rPr lang="zh-CN" altLang="en-US" sz="2000" b="1" dirty="0">
                    <a:latin typeface="Times New Roman" panose="02020603050405020304" pitchFamily="18" charset="0"/>
                    <a:ea typeface="微软雅黑" panose="020B0503020204020204" pitchFamily="34" charset="-122"/>
                  </a:rPr>
                  <a:t>点</a:t>
                </a:r>
                <a:r>
                  <a:rPr lang="en-US" altLang="zh-CN" sz="2000" b="1" dirty="0">
                    <a:latin typeface="Times New Roman" panose="02020603050405020304" pitchFamily="18" charset="0"/>
                    <a:ea typeface="微软雅黑" panose="020B0503020204020204" pitchFamily="34" charset="-122"/>
                  </a:rPr>
                  <a:t>)</a:t>
                </a:r>
                <a:r>
                  <a:rPr lang="zh-CN" altLang="en-US" sz="2000" b="1" dirty="0">
                    <a:latin typeface="Times New Roman" panose="02020603050405020304" pitchFamily="18" charset="0"/>
                    <a:ea typeface="微软雅黑" panose="020B0503020204020204" pitchFamily="34" charset="-122"/>
                  </a:rPr>
                  <a:t>；</a:t>
                </a:r>
                <a:endParaRPr lang="en-US" altLang="zh-CN" sz="2000" b="1" dirty="0">
                  <a:latin typeface="Times New Roman" panose="02020603050405020304" pitchFamily="18" charset="0"/>
                  <a:ea typeface="微软雅黑" panose="020B0503020204020204" pitchFamily="34" charset="-122"/>
                </a:endParaRPr>
              </a:p>
              <a:p>
                <a:pPr algn="ctr">
                  <a:spcBef>
                    <a:spcPts val="450"/>
                  </a:spcBef>
                  <a:buClr>
                    <a:schemeClr val="accent1"/>
                  </a:buClr>
                  <a:buSzPct val="70000"/>
                </a:pPr>
                <a:r>
                  <a:rPr lang="en-US" altLang="zh-CN" sz="2000" b="1" i="1" dirty="0">
                    <a:latin typeface="Times New Roman" panose="02020603050405020304" pitchFamily="18" charset="0"/>
                    <a:ea typeface="微软雅黑" panose="020B0503020204020204" pitchFamily="34" charset="-122"/>
                  </a:rPr>
                  <a:t>f </a:t>
                </a:r>
                <a:r>
                  <a:rPr lang="en-US" altLang="zh-CN" sz="2000" b="1" dirty="0">
                    <a:latin typeface="Times New Roman" panose="02020603050405020304" pitchFamily="18" charset="0"/>
                    <a:ea typeface="微软雅黑" panose="020B0503020204020204" pitchFamily="34" charset="-122"/>
                  </a:rPr>
                  <a:t>(</a:t>
                </a:r>
                <a:r>
                  <a:rPr lang="en-US" altLang="zh-CN" sz="2000" b="1" i="1" dirty="0">
                    <a:latin typeface="Times New Roman" panose="02020603050405020304" pitchFamily="18" charset="0"/>
                    <a:ea typeface="微软雅黑" panose="020B0503020204020204" pitchFamily="34" charset="-122"/>
                  </a:rPr>
                  <a:t>X</a:t>
                </a:r>
                <a:r>
                  <a:rPr lang="en-US" altLang="zh-CN" sz="2000" b="1" dirty="0">
                    <a:latin typeface="Times New Roman" panose="02020603050405020304" pitchFamily="18" charset="0"/>
                    <a:ea typeface="微软雅黑" panose="020B0503020204020204" pitchFamily="34" charset="-122"/>
                  </a:rPr>
                  <a:t>)</a:t>
                </a:r>
                <a:r>
                  <a:rPr lang="zh-CN" altLang="en-US" sz="2000" b="1" dirty="0">
                    <a:latin typeface="Times New Roman" panose="02020603050405020304" pitchFamily="18" charset="0"/>
                    <a:ea typeface="微软雅黑" panose="020B0503020204020204" pitchFamily="34" charset="-122"/>
                  </a:rPr>
                  <a:t>为目标函数， </a:t>
                </a:r>
                <a14:m>
                  <m:oMath xmlns:m="http://schemas.openxmlformats.org/officeDocument/2006/math">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𝒉</m:t>
                        </m:r>
                      </m:e>
                      <m:sub>
                        <m:r>
                          <a:rPr lang="zh-CN" altLang="en-US" sz="2000" b="1" i="1">
                            <a:latin typeface="Cambria Math" panose="02040503050406030204" pitchFamily="18" charset="0"/>
                          </a:rPr>
                          <m:t>𝒊</m:t>
                        </m:r>
                      </m:sub>
                    </m:sSub>
                    <m:d>
                      <m:dPr>
                        <m:ctrlPr>
                          <a:rPr lang="zh-CN" altLang="en-US" sz="2000" b="1" i="1">
                            <a:latin typeface="Cambria Math" panose="02040503050406030204" pitchFamily="18" charset="0"/>
                          </a:rPr>
                        </m:ctrlPr>
                      </m:dPr>
                      <m:e>
                        <m:r>
                          <a:rPr lang="en-US" altLang="zh-CN" sz="2000" b="1" i="1">
                            <a:latin typeface="Cambria Math" panose="02040503050406030204" pitchFamily="18" charset="0"/>
                          </a:rPr>
                          <m:t>𝑿</m:t>
                        </m:r>
                      </m:e>
                    </m:d>
                    <m:r>
                      <a:rPr lang="zh-CN" altLang="en-US" sz="2000" b="1">
                        <a:latin typeface="Cambria Math" panose="02040503050406030204" pitchFamily="18" charset="0"/>
                      </a:rPr>
                      <m:t>=</m:t>
                    </m:r>
                    <m:r>
                      <a:rPr lang="zh-CN" altLang="en-US" sz="2000" b="1">
                        <a:latin typeface="Cambria Math" panose="02040503050406030204" pitchFamily="18" charset="0"/>
                      </a:rPr>
                      <m:t>𝟎</m:t>
                    </m:r>
                  </m:oMath>
                </a14:m>
                <a:r>
                  <a:rPr lang="zh-CN" altLang="en-US" sz="2000" b="1" dirty="0">
                    <a:latin typeface="Times New Roman" panose="02020603050405020304" pitchFamily="18" charset="0"/>
                    <a:ea typeface="微软雅黑" panose="020B0503020204020204" pitchFamily="34" charset="-122"/>
                  </a:rPr>
                  <a:t> 和</a:t>
                </a:r>
                <a14:m>
                  <m:oMath xmlns:m="http://schemas.openxmlformats.org/officeDocument/2006/math">
                    <m:sSub>
                      <m:sSubPr>
                        <m:ctrlPr>
                          <a:rPr lang="zh-CN" altLang="en-US" sz="2000" b="1" i="1" dirty="0">
                            <a:latin typeface="Cambria Math" panose="02040503050406030204" pitchFamily="18" charset="0"/>
                          </a:rPr>
                        </m:ctrlPr>
                      </m:sSubPr>
                      <m:e>
                        <m:r>
                          <a:rPr lang="zh-CN" altLang="en-US" sz="2000" b="1" i="1" dirty="0">
                            <a:latin typeface="Cambria Math" panose="02040503050406030204" pitchFamily="18" charset="0"/>
                          </a:rPr>
                          <m:t>𝒈</m:t>
                        </m:r>
                      </m:e>
                      <m:sub>
                        <m:r>
                          <a:rPr lang="zh-CN" altLang="en-US" sz="2000" b="1" i="1" dirty="0">
                            <a:latin typeface="Cambria Math" panose="02040503050406030204" pitchFamily="18" charset="0"/>
                          </a:rPr>
                          <m:t>𝒋</m:t>
                        </m:r>
                      </m:sub>
                    </m:sSub>
                    <m:d>
                      <m:dPr>
                        <m:ctrlPr>
                          <a:rPr lang="zh-CN" altLang="en-US" sz="2000" b="1" i="1" dirty="0">
                            <a:latin typeface="Cambria Math" panose="02040503050406030204" pitchFamily="18" charset="0"/>
                          </a:rPr>
                        </m:ctrlPr>
                      </m:dPr>
                      <m:e>
                        <m:r>
                          <a:rPr lang="en-US" altLang="zh-CN" sz="2000" b="1" i="1" dirty="0">
                            <a:latin typeface="Cambria Math" panose="02040503050406030204" pitchFamily="18" charset="0"/>
                          </a:rPr>
                          <m:t>𝑿</m:t>
                        </m:r>
                      </m:e>
                    </m:d>
                    <m:r>
                      <a:rPr lang="zh-CN" altLang="en-US" sz="2000" b="1" dirty="0">
                        <a:latin typeface="Cambria Math" panose="02040503050406030204" pitchFamily="18" charset="0"/>
                      </a:rPr>
                      <m:t>≥</m:t>
                    </m:r>
                    <m:r>
                      <a:rPr lang="zh-CN" altLang="en-US" sz="2000" b="1" dirty="0">
                        <a:latin typeface="Cambria Math" panose="02040503050406030204" pitchFamily="18" charset="0"/>
                      </a:rPr>
                      <m:t>𝟎</m:t>
                    </m:r>
                  </m:oMath>
                </a14:m>
                <a:r>
                  <a:rPr lang="zh-CN" altLang="en-US" sz="2000" b="1" dirty="0">
                    <a:latin typeface="Times New Roman" panose="02020603050405020304" pitchFamily="18" charset="0"/>
                    <a:ea typeface="微软雅黑" panose="020B0503020204020204" pitchFamily="34" charset="-122"/>
                  </a:rPr>
                  <a:t>为约束条件。</a:t>
                </a:r>
              </a:p>
            </p:txBody>
          </p:sp>
        </mc:Choice>
        <mc:Fallback xmlns="">
          <p:sp>
            <p:nvSpPr>
              <p:cNvPr id="29" name="矩形 28">
                <a:extLst>
                  <a:ext uri="{FF2B5EF4-FFF2-40B4-BE49-F238E27FC236}">
                    <a16:creationId xmlns:a16="http://schemas.microsoft.com/office/drawing/2014/main" id="{DA3271C6-C77E-4A71-A5B6-135BDDE79A2B}"/>
                  </a:ext>
                </a:extLst>
              </p:cNvPr>
              <p:cNvSpPr>
                <a:spLocks noRot="1" noChangeAspect="1" noMove="1" noResize="1" noEditPoints="1" noAdjustHandles="1" noChangeArrowheads="1" noChangeShapeType="1" noTextEdit="1"/>
              </p:cNvSpPr>
              <p:nvPr/>
            </p:nvSpPr>
            <p:spPr>
              <a:xfrm>
                <a:off x="149773" y="2946196"/>
                <a:ext cx="8505497" cy="806631"/>
              </a:xfrm>
              <a:prstGeom prst="rect">
                <a:avLst/>
              </a:prstGeom>
              <a:blipFill>
                <a:blip r:embed="rId13"/>
                <a:stretch>
                  <a:fillRect t="-3008" b="-8271"/>
                </a:stretch>
              </a:blipFill>
            </p:spPr>
            <p:txBody>
              <a:bodyPr/>
              <a:lstStyle/>
              <a:p>
                <a:r>
                  <a:rPr lang="zh-CN" altLang="en-US">
                    <a:noFill/>
                  </a:rPr>
                  <a:t> </a:t>
                </a:r>
              </a:p>
            </p:txBody>
          </p:sp>
        </mc:Fallback>
      </mc:AlternateContent>
      <p:graphicFrame>
        <p:nvGraphicFramePr>
          <p:cNvPr id="30" name="对象 29">
            <a:extLst>
              <a:ext uri="{FF2B5EF4-FFF2-40B4-BE49-F238E27FC236}">
                <a16:creationId xmlns:a16="http://schemas.microsoft.com/office/drawing/2014/main" id="{0713FB16-9E5A-4FC2-997D-44AEEC034243}"/>
              </a:ext>
            </a:extLst>
          </p:cNvPr>
          <p:cNvGraphicFramePr>
            <a:graphicFrameLocks noChangeAspect="1"/>
          </p:cNvGraphicFramePr>
          <p:nvPr>
            <p:extLst>
              <p:ext uri="{D42A27DB-BD31-4B8C-83A1-F6EECF244321}">
                <p14:modId xmlns:p14="http://schemas.microsoft.com/office/powerpoint/2010/main" val="3558388932"/>
              </p:ext>
            </p:extLst>
          </p:nvPr>
        </p:nvGraphicFramePr>
        <p:xfrm>
          <a:off x="3087688" y="1795463"/>
          <a:ext cx="2628900" cy="1050925"/>
        </p:xfrm>
        <a:graphic>
          <a:graphicData uri="http://schemas.openxmlformats.org/presentationml/2006/ole">
            <mc:AlternateContent xmlns:mc="http://schemas.openxmlformats.org/markup-compatibility/2006">
              <mc:Choice xmlns:v="urn:schemas-microsoft-com:vml" Requires="v">
                <p:oleObj name="Equation" r:id="rId14" imgW="2984400" imgH="1193760" progId="Equation.DSMT4">
                  <p:embed/>
                </p:oleObj>
              </mc:Choice>
              <mc:Fallback>
                <p:oleObj name="Equation" r:id="rId14" imgW="2984400" imgH="1193760" progId="Equation.DSMT4">
                  <p:embed/>
                  <p:pic>
                    <p:nvPicPr>
                      <p:cNvPr id="15" name="对象 14"/>
                      <p:cNvPicPr/>
                      <p:nvPr/>
                    </p:nvPicPr>
                    <p:blipFill>
                      <a:blip r:embed="rId15"/>
                      <a:stretch>
                        <a:fillRect/>
                      </a:stretch>
                    </p:blipFill>
                    <p:spPr>
                      <a:xfrm>
                        <a:off x="3087688" y="1795463"/>
                        <a:ext cx="2628900" cy="1050925"/>
                      </a:xfrm>
                      <a:prstGeom prst="rect">
                        <a:avLst/>
                      </a:prstGeom>
                    </p:spPr>
                  </p:pic>
                </p:oleObj>
              </mc:Fallback>
            </mc:AlternateContent>
          </a:graphicData>
        </a:graphic>
      </p:graphicFrame>
    </p:spTree>
    <p:extLst>
      <p:ext uri="{BB962C8B-B14F-4D97-AF65-F5344CB8AC3E}">
        <p14:creationId xmlns:p14="http://schemas.microsoft.com/office/powerpoint/2010/main" val="133757232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F57DF3CE-6E12-4DC7-B335-B174C2A81515}"/>
              </a:ext>
            </a:extLst>
          </p:cNvPr>
          <p:cNvCxnSpPr>
            <a:cxnSpLocks/>
          </p:cNvCxnSpPr>
          <p:nvPr>
            <p:custDataLst>
              <p:tags r:id="rId1"/>
            </p:custDataLst>
          </p:nvPr>
        </p:nvCxnSpPr>
        <p:spPr>
          <a:xfrm>
            <a:off x="0" y="764704"/>
            <a:ext cx="9144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67F7111D-6B97-42D9-9EAF-591DAD85B7AF}"/>
              </a:ext>
            </a:extLst>
          </p:cNvPr>
          <p:cNvSpPr/>
          <p:nvPr/>
        </p:nvSpPr>
        <p:spPr>
          <a:xfrm>
            <a:off x="0" y="188640"/>
            <a:ext cx="4852610" cy="523220"/>
          </a:xfrm>
          <a:prstGeom prst="rect">
            <a:avLst/>
          </a:prstGeom>
        </p:spPr>
        <p:txBody>
          <a:bodyPr wrap="none">
            <a:spAutoFit/>
          </a:bodyPr>
          <a:lstStyle/>
          <a:p>
            <a:pPr>
              <a:spcBef>
                <a:spcPts val="450"/>
              </a:spcBef>
              <a:buClr>
                <a:schemeClr val="accent1"/>
              </a:buClr>
              <a:buSzPct val="70000"/>
            </a:pPr>
            <a:r>
              <a:rPr lang="zh-CN" altLang="en-US" sz="2800" b="1" dirty="0">
                <a:solidFill>
                  <a:srgbClr val="002060"/>
                </a:solidFill>
                <a:latin typeface="Times New Roman" panose="02020603050405020304" pitchFamily="18" charset="0"/>
                <a:ea typeface="微软雅黑" panose="020B0503020204020204" pitchFamily="34" charset="-122"/>
              </a:rPr>
              <a:t>非线性规划几何意义及图解法</a:t>
            </a:r>
            <a:endParaRPr lang="en-US" altLang="zh-CN" sz="2800" b="1" dirty="0">
              <a:solidFill>
                <a:srgbClr val="002060"/>
              </a:solidFill>
              <a:latin typeface="Times New Roman" panose="02020603050405020304" pitchFamily="18" charset="0"/>
              <a:ea typeface="微软雅黑" panose="020B0503020204020204" pitchFamily="34" charset="-122"/>
            </a:endParaRPr>
          </a:p>
        </p:txBody>
      </p:sp>
      <p:sp>
        <p:nvSpPr>
          <p:cNvPr id="4" name="矩形 3">
            <a:extLst>
              <a:ext uri="{FF2B5EF4-FFF2-40B4-BE49-F238E27FC236}">
                <a16:creationId xmlns:a16="http://schemas.microsoft.com/office/drawing/2014/main" id="{18DE92A8-44B3-4B77-A6EB-E32FBBC72661}"/>
              </a:ext>
            </a:extLst>
          </p:cNvPr>
          <p:cNvSpPr/>
          <p:nvPr/>
        </p:nvSpPr>
        <p:spPr>
          <a:xfrm>
            <a:off x="252806" y="1743420"/>
            <a:ext cx="8899635" cy="223025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002060"/>
              </a:solidFill>
            </a:endParaRPr>
          </a:p>
        </p:txBody>
      </p:sp>
      <p:graphicFrame>
        <p:nvGraphicFramePr>
          <p:cNvPr id="5" name="对象 4">
            <a:extLst>
              <a:ext uri="{FF2B5EF4-FFF2-40B4-BE49-F238E27FC236}">
                <a16:creationId xmlns:a16="http://schemas.microsoft.com/office/drawing/2014/main" id="{FBB3F337-3314-49A0-8D36-2E41052B71D1}"/>
              </a:ext>
            </a:extLst>
          </p:cNvPr>
          <p:cNvGraphicFramePr>
            <a:graphicFrameLocks noChangeAspect="1"/>
          </p:cNvGraphicFramePr>
          <p:nvPr>
            <p:extLst>
              <p:ext uri="{D42A27DB-BD31-4B8C-83A1-F6EECF244321}">
                <p14:modId xmlns:p14="http://schemas.microsoft.com/office/powerpoint/2010/main" val="3770558812"/>
              </p:ext>
            </p:extLst>
          </p:nvPr>
        </p:nvGraphicFramePr>
        <p:xfrm>
          <a:off x="2846146" y="1805078"/>
          <a:ext cx="4076251" cy="569212"/>
        </p:xfrm>
        <a:graphic>
          <a:graphicData uri="http://schemas.openxmlformats.org/presentationml/2006/ole">
            <mc:AlternateContent xmlns:mc="http://schemas.openxmlformats.org/markup-compatibility/2006">
              <mc:Choice xmlns:v="urn:schemas-microsoft-com:vml" Requires="v">
                <p:oleObj name="Equation" r:id="rId3" imgW="5638680" imgH="787320" progId="Equation.DSMT4">
                  <p:embed/>
                </p:oleObj>
              </mc:Choice>
              <mc:Fallback>
                <p:oleObj name="Equation" r:id="rId3" imgW="5638680" imgH="787320" progId="Equation.DSMT4">
                  <p:embed/>
                  <p:pic>
                    <p:nvPicPr>
                      <p:cNvPr id="8" name="对象 7">
                        <a:extLst>
                          <a:ext uri="{FF2B5EF4-FFF2-40B4-BE49-F238E27FC236}">
                            <a16:creationId xmlns:a16="http://schemas.microsoft.com/office/drawing/2014/main" id="{0D776F3C-41C9-4460-B782-0934E45302A4}"/>
                          </a:ext>
                        </a:extLst>
                      </p:cNvPr>
                      <p:cNvPicPr/>
                      <p:nvPr/>
                    </p:nvPicPr>
                    <p:blipFill>
                      <a:blip r:embed="rId4"/>
                      <a:stretch>
                        <a:fillRect/>
                      </a:stretch>
                    </p:blipFill>
                    <p:spPr>
                      <a:xfrm>
                        <a:off x="2846146" y="1805078"/>
                        <a:ext cx="4076251" cy="569212"/>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773D07F3-563A-4BCA-881F-99629A5DD4FB}"/>
              </a:ext>
            </a:extLst>
          </p:cNvPr>
          <p:cNvGraphicFramePr>
            <a:graphicFrameLocks noChangeAspect="1"/>
          </p:cNvGraphicFramePr>
          <p:nvPr>
            <p:extLst>
              <p:ext uri="{D42A27DB-BD31-4B8C-83A1-F6EECF244321}">
                <p14:modId xmlns:p14="http://schemas.microsoft.com/office/powerpoint/2010/main" val="2701979345"/>
              </p:ext>
            </p:extLst>
          </p:nvPr>
        </p:nvGraphicFramePr>
        <p:xfrm>
          <a:off x="2846146" y="2523063"/>
          <a:ext cx="3805237" cy="289005"/>
        </p:xfrm>
        <a:graphic>
          <a:graphicData uri="http://schemas.openxmlformats.org/presentationml/2006/ole">
            <mc:AlternateContent xmlns:mc="http://schemas.openxmlformats.org/markup-compatibility/2006">
              <mc:Choice xmlns:v="urn:schemas-microsoft-com:vml" Requires="v">
                <p:oleObj name="Equation" r:id="rId5" imgW="4025880" imgH="304560" progId="Equation.DSMT4">
                  <p:embed/>
                </p:oleObj>
              </mc:Choice>
              <mc:Fallback>
                <p:oleObj name="Equation" r:id="rId5" imgW="4025880" imgH="304560" progId="Equation.DSMT4">
                  <p:embed/>
                  <p:pic>
                    <p:nvPicPr>
                      <p:cNvPr id="9" name="对象 8">
                        <a:extLst>
                          <a:ext uri="{FF2B5EF4-FFF2-40B4-BE49-F238E27FC236}">
                            <a16:creationId xmlns:a16="http://schemas.microsoft.com/office/drawing/2014/main" id="{FD1D8EE5-82B5-4368-93C3-A2E4DEE76ABC}"/>
                          </a:ext>
                        </a:extLst>
                      </p:cNvPr>
                      <p:cNvPicPr/>
                      <p:nvPr/>
                    </p:nvPicPr>
                    <p:blipFill>
                      <a:blip r:embed="rId6"/>
                      <a:stretch>
                        <a:fillRect/>
                      </a:stretch>
                    </p:blipFill>
                    <p:spPr>
                      <a:xfrm>
                        <a:off x="2846146" y="2523063"/>
                        <a:ext cx="3805237" cy="289005"/>
                      </a:xfrm>
                      <a:prstGeom prst="rect">
                        <a:avLst/>
                      </a:prstGeom>
                    </p:spPr>
                  </p:pic>
                </p:oleObj>
              </mc:Fallback>
            </mc:AlternateContent>
          </a:graphicData>
        </a:graphic>
      </p:graphicFrame>
      <p:grpSp>
        <p:nvGrpSpPr>
          <p:cNvPr id="2" name="组合 1">
            <a:extLst>
              <a:ext uri="{FF2B5EF4-FFF2-40B4-BE49-F238E27FC236}">
                <a16:creationId xmlns:a16="http://schemas.microsoft.com/office/drawing/2014/main" id="{E8D92DF4-40A1-44DB-956A-13BE31649670}"/>
              </a:ext>
            </a:extLst>
          </p:cNvPr>
          <p:cNvGrpSpPr/>
          <p:nvPr/>
        </p:nvGrpSpPr>
        <p:grpSpPr>
          <a:xfrm>
            <a:off x="6450342" y="3978264"/>
            <a:ext cx="2694710" cy="2835112"/>
            <a:chOff x="6450342" y="3856764"/>
            <a:chExt cx="2694710" cy="2835112"/>
          </a:xfrm>
        </p:grpSpPr>
        <p:pic>
          <p:nvPicPr>
            <p:cNvPr id="7" name="图片 6">
              <a:extLst>
                <a:ext uri="{FF2B5EF4-FFF2-40B4-BE49-F238E27FC236}">
                  <a16:creationId xmlns:a16="http://schemas.microsoft.com/office/drawing/2014/main" id="{D8E85CCD-8DE8-4CA1-A3DB-8CDBD0CD6200}"/>
                </a:ext>
              </a:extLst>
            </p:cNvPr>
            <p:cNvPicPr>
              <a:picLocks noChangeAspect="1"/>
            </p:cNvPicPr>
            <p:nvPr/>
          </p:nvPicPr>
          <p:blipFill>
            <a:blip r:embed="rId7"/>
            <a:stretch>
              <a:fillRect/>
            </a:stretch>
          </p:blipFill>
          <p:spPr>
            <a:xfrm>
              <a:off x="6450342" y="3856764"/>
              <a:ext cx="2694710" cy="2835112"/>
            </a:xfrm>
            <a:prstGeom prst="rect">
              <a:avLst/>
            </a:prstGeom>
          </p:spPr>
        </p:pic>
        <p:sp>
          <p:nvSpPr>
            <p:cNvPr id="8" name="矩形 7">
              <a:extLst>
                <a:ext uri="{FF2B5EF4-FFF2-40B4-BE49-F238E27FC236}">
                  <a16:creationId xmlns:a16="http://schemas.microsoft.com/office/drawing/2014/main" id="{AF0214BF-699A-4348-BA94-45E1E1FE2BF0}"/>
                </a:ext>
              </a:extLst>
            </p:cNvPr>
            <p:cNvSpPr/>
            <p:nvPr/>
          </p:nvSpPr>
          <p:spPr>
            <a:xfrm>
              <a:off x="7447867" y="4879833"/>
              <a:ext cx="282770" cy="400110"/>
            </a:xfrm>
            <a:prstGeom prst="rect">
              <a:avLst/>
            </a:prstGeom>
          </p:spPr>
          <p:txBody>
            <a:bodyPr wrap="square">
              <a:spAutoFit/>
            </a:bodyPr>
            <a:lstStyle/>
            <a:p>
              <a:r>
                <a:rPr lang="en-US" altLang="zh-CN" sz="2000" b="1" dirty="0">
                  <a:solidFill>
                    <a:srgbClr val="FF0000"/>
                  </a:solidFill>
                  <a:latin typeface="Times New Roman" panose="02020603050405020304" pitchFamily="18" charset="0"/>
                  <a:ea typeface="微软雅黑" panose="020B0503020204020204" pitchFamily="34" charset="-122"/>
                </a:rPr>
                <a:t>.</a:t>
              </a:r>
              <a:endParaRPr lang="zh-CN" altLang="en-US" sz="2000" dirty="0">
                <a:solidFill>
                  <a:srgbClr val="FF0000"/>
                </a:solidFill>
              </a:endParaRPr>
            </a:p>
          </p:txBody>
        </p:sp>
      </p:grpSp>
      <p:sp>
        <p:nvSpPr>
          <p:cNvPr id="11" name="矩形 10">
            <a:extLst>
              <a:ext uri="{FF2B5EF4-FFF2-40B4-BE49-F238E27FC236}">
                <a16:creationId xmlns:a16="http://schemas.microsoft.com/office/drawing/2014/main" id="{7F1C3C1A-105C-47C3-8BDE-C16C22F0822F}"/>
              </a:ext>
            </a:extLst>
          </p:cNvPr>
          <p:cNvSpPr/>
          <p:nvPr/>
        </p:nvSpPr>
        <p:spPr>
          <a:xfrm>
            <a:off x="94593" y="809691"/>
            <a:ext cx="8789277" cy="961097"/>
          </a:xfrm>
          <a:prstGeom prst="rect">
            <a:avLst/>
          </a:prstGeom>
        </p:spPr>
        <p:txBody>
          <a:bodyPr wrap="square">
            <a:spAutoFit/>
          </a:bodyPr>
          <a:lstStyle/>
          <a:p>
            <a:pPr marL="257175" indent="-257175">
              <a:lnSpc>
                <a:spcPct val="150000"/>
              </a:lnSpc>
              <a:spcBef>
                <a:spcPts val="450"/>
              </a:spcBef>
              <a:buSzPct val="100000"/>
              <a:buFont typeface="Wingdings" panose="05000000000000000000" pitchFamily="2" charset="2"/>
              <a:buChar char="u"/>
            </a:pPr>
            <a:r>
              <a:rPr lang="zh-CN" altLang="en-US" sz="2000" b="1" dirty="0">
                <a:latin typeface="Times New Roman" panose="02020603050405020304" pitchFamily="18" charset="0"/>
                <a:ea typeface="微软雅黑" panose="020B0503020204020204" pitchFamily="34" charset="-122"/>
              </a:rPr>
              <a:t>图解法可以给人以直观概念，当只有两个自变量时，非线性规划问题也可像线性规划那样用图示解法来表示。</a:t>
            </a:r>
            <a:endParaRPr lang="en-US" altLang="zh-CN" sz="2000" b="1" dirty="0">
              <a:latin typeface="Times New Roman" panose="02020603050405020304" pitchFamily="18" charset="0"/>
              <a:ea typeface="微软雅黑" panose="020B0503020204020204" pitchFamily="34" charset="-122"/>
            </a:endParaRPr>
          </a:p>
        </p:txBody>
      </p:sp>
      <p:sp>
        <p:nvSpPr>
          <p:cNvPr id="13" name="矩形 12">
            <a:extLst>
              <a:ext uri="{FF2B5EF4-FFF2-40B4-BE49-F238E27FC236}">
                <a16:creationId xmlns:a16="http://schemas.microsoft.com/office/drawing/2014/main" id="{41C1BDCA-5C31-4F68-BD52-A7129C4BEEF0}"/>
              </a:ext>
            </a:extLst>
          </p:cNvPr>
          <p:cNvSpPr/>
          <p:nvPr/>
        </p:nvSpPr>
        <p:spPr>
          <a:xfrm>
            <a:off x="192216" y="1753466"/>
            <a:ext cx="2492990" cy="400110"/>
          </a:xfrm>
          <a:prstGeom prst="rect">
            <a:avLst/>
          </a:prstGeom>
        </p:spPr>
        <p:txBody>
          <a:bodyPr wrap="non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rPr>
              <a:t>考虑非线性规划问题</a:t>
            </a:r>
            <a:endParaRPr lang="zh-CN" altLang="en-US" sz="2000" dirty="0">
              <a:solidFill>
                <a:srgbClr val="002060"/>
              </a:solidFill>
            </a:endParaRPr>
          </a:p>
        </p:txBody>
      </p:sp>
      <p:sp>
        <p:nvSpPr>
          <p:cNvPr id="14" name="矩形 13">
            <a:extLst>
              <a:ext uri="{FF2B5EF4-FFF2-40B4-BE49-F238E27FC236}">
                <a16:creationId xmlns:a16="http://schemas.microsoft.com/office/drawing/2014/main" id="{08914EFA-6FDA-4386-ACBE-AC36913A68B0}"/>
              </a:ext>
            </a:extLst>
          </p:cNvPr>
          <p:cNvSpPr/>
          <p:nvPr/>
        </p:nvSpPr>
        <p:spPr>
          <a:xfrm>
            <a:off x="154116" y="2411958"/>
            <a:ext cx="2108269" cy="400110"/>
          </a:xfrm>
          <a:prstGeom prst="rect">
            <a:avLst/>
          </a:prstGeom>
        </p:spPr>
        <p:txBody>
          <a:bodyPr wrap="none">
            <a:spAutoFit/>
          </a:bodyPr>
          <a:lstStyle/>
          <a:p>
            <a:r>
              <a:rPr lang="en-US" altLang="zh-CN" sz="2000" dirty="0">
                <a:solidFill>
                  <a:srgbClr val="002060"/>
                </a:solidFill>
                <a:latin typeface="Times New Roman" panose="02020603050405020304" pitchFamily="18" charset="0"/>
                <a:ea typeface="微软雅黑" panose="020B0503020204020204" pitchFamily="34" charset="-122"/>
              </a:rPr>
              <a:t> </a:t>
            </a:r>
            <a:r>
              <a:rPr lang="zh-CN" altLang="en-US" sz="2000" b="1" dirty="0">
                <a:solidFill>
                  <a:srgbClr val="002060"/>
                </a:solidFill>
                <a:latin typeface="Times New Roman" panose="02020603050405020304" pitchFamily="18" charset="0"/>
                <a:ea typeface="微软雅黑" panose="020B0503020204020204" pitchFamily="34" charset="-122"/>
              </a:rPr>
              <a:t>若令其目标函数 </a:t>
            </a:r>
            <a:endParaRPr lang="zh-CN" altLang="en-US" sz="2000" dirty="0">
              <a:solidFill>
                <a:srgbClr val="002060"/>
              </a:solidFill>
            </a:endParaRPr>
          </a:p>
        </p:txBody>
      </p:sp>
      <p:sp>
        <p:nvSpPr>
          <p:cNvPr id="15" name="矩形 14">
            <a:extLst>
              <a:ext uri="{FF2B5EF4-FFF2-40B4-BE49-F238E27FC236}">
                <a16:creationId xmlns:a16="http://schemas.microsoft.com/office/drawing/2014/main" id="{43BA7945-89CA-49AD-968F-5C8720BB4E4F}"/>
              </a:ext>
            </a:extLst>
          </p:cNvPr>
          <p:cNvSpPr/>
          <p:nvPr/>
        </p:nvSpPr>
        <p:spPr>
          <a:xfrm>
            <a:off x="212834" y="2958009"/>
            <a:ext cx="6203732" cy="1015663"/>
          </a:xfrm>
          <a:prstGeom prst="rect">
            <a:avLst/>
          </a:prstGeom>
        </p:spPr>
        <p:txBody>
          <a:bodyPr wrap="square">
            <a:spAutoFit/>
          </a:bodyPr>
          <a:lstStyle/>
          <a:p>
            <a:pPr>
              <a:spcBef>
                <a:spcPts val="450"/>
              </a:spcBef>
              <a:buClr>
                <a:schemeClr val="accent1"/>
              </a:buClr>
              <a:buSzPct val="70000"/>
            </a:pPr>
            <a:r>
              <a:rPr lang="zh-CN" altLang="en-US" sz="2000" b="1" dirty="0">
                <a:solidFill>
                  <a:srgbClr val="002060"/>
                </a:solidFill>
                <a:latin typeface="Times New Roman" panose="02020603050405020304" pitchFamily="18" charset="0"/>
                <a:ea typeface="微软雅黑" panose="020B0503020204020204" pitchFamily="34" charset="-122"/>
              </a:rPr>
              <a:t>其中</a:t>
            </a:r>
            <a:r>
              <a:rPr lang="en-US" altLang="zh-CN" sz="2000" b="1" i="1" dirty="0">
                <a:solidFill>
                  <a:srgbClr val="002060"/>
                </a:solidFill>
                <a:latin typeface="Times New Roman" panose="02020603050405020304" pitchFamily="18" charset="0"/>
                <a:ea typeface="微软雅黑" panose="020B0503020204020204" pitchFamily="34" charset="-122"/>
              </a:rPr>
              <a:t>c</a:t>
            </a:r>
            <a:r>
              <a:rPr lang="zh-CN" altLang="en-US" sz="2000" b="1" dirty="0">
                <a:solidFill>
                  <a:srgbClr val="002060"/>
                </a:solidFill>
                <a:latin typeface="Times New Roman" panose="02020603050405020304" pitchFamily="18" charset="0"/>
                <a:ea typeface="微软雅黑" panose="020B0503020204020204" pitchFamily="34" charset="-122"/>
              </a:rPr>
              <a:t>为某一常数，则式</a:t>
            </a:r>
            <a:r>
              <a:rPr lang="en-US" altLang="zh-CN" sz="2000" b="1" dirty="0">
                <a:solidFill>
                  <a:srgbClr val="002060"/>
                </a:solidFill>
                <a:latin typeface="Times New Roman" panose="02020603050405020304" pitchFamily="18" charset="0"/>
                <a:ea typeface="微软雅黑" panose="020B0503020204020204" pitchFamily="34" charset="-122"/>
              </a:rPr>
              <a:t>(1-3)</a:t>
            </a:r>
            <a:r>
              <a:rPr lang="zh-CN" altLang="en-US" sz="2000" b="1" dirty="0">
                <a:solidFill>
                  <a:srgbClr val="002060"/>
                </a:solidFill>
                <a:latin typeface="Times New Roman" panose="02020603050405020304" pitchFamily="18" charset="0"/>
                <a:ea typeface="微软雅黑" panose="020B0503020204020204" pitchFamily="34" charset="-122"/>
              </a:rPr>
              <a:t>代表目标函数值等于</a:t>
            </a:r>
            <a:r>
              <a:rPr lang="en-US" altLang="zh-CN" sz="2000" b="1" i="1" dirty="0">
                <a:solidFill>
                  <a:srgbClr val="002060"/>
                </a:solidFill>
                <a:latin typeface="Times New Roman" panose="02020603050405020304" pitchFamily="18" charset="0"/>
                <a:ea typeface="微软雅黑" panose="020B0503020204020204" pitchFamily="34" charset="-122"/>
              </a:rPr>
              <a:t>c</a:t>
            </a:r>
            <a:r>
              <a:rPr lang="zh-CN" altLang="en-US" sz="2000" b="1" dirty="0">
                <a:solidFill>
                  <a:srgbClr val="002060"/>
                </a:solidFill>
                <a:latin typeface="Times New Roman" panose="02020603050405020304" pitchFamily="18" charset="0"/>
                <a:ea typeface="微软雅黑" panose="020B0503020204020204" pitchFamily="34" charset="-122"/>
              </a:rPr>
              <a:t>的点的集合，它一般为一条曲线或一张曲面，通常称其为等值线或等值面。</a:t>
            </a:r>
            <a:endParaRPr lang="en-US" altLang="zh-CN" sz="2000" b="1" dirty="0">
              <a:solidFill>
                <a:srgbClr val="002060"/>
              </a:solidFill>
              <a:latin typeface="Times New Roman" panose="02020603050405020304" pitchFamily="18"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E006A4E4-8F9C-4066-8639-1D6EBDF11EDA}"/>
                  </a:ext>
                </a:extLst>
              </p:cNvPr>
              <p:cNvSpPr/>
              <p:nvPr/>
            </p:nvSpPr>
            <p:spPr>
              <a:xfrm>
                <a:off x="94593" y="3936724"/>
                <a:ext cx="6361386" cy="2934586"/>
              </a:xfrm>
              <a:prstGeom prst="rect">
                <a:avLst/>
              </a:prstGeom>
            </p:spPr>
            <p:txBody>
              <a:bodyPr wrap="square">
                <a:spAutoFit/>
              </a:bodyPr>
              <a:lstStyle/>
              <a:p>
                <a:pPr>
                  <a:lnSpc>
                    <a:spcPct val="150000"/>
                  </a:lnSpc>
                  <a:spcBef>
                    <a:spcPts val="450"/>
                  </a:spcBef>
                  <a:buClr>
                    <a:schemeClr val="accent1"/>
                  </a:buClr>
                  <a:buSzPct val="70000"/>
                </a:pPr>
                <a:r>
                  <a:rPr lang="zh-CN" altLang="en-US" sz="2000" b="1" dirty="0">
                    <a:latin typeface="Times New Roman" panose="02020603050405020304" pitchFamily="18" charset="0"/>
                    <a:ea typeface="微软雅黑" panose="020B0503020204020204" pitchFamily="34" charset="-122"/>
                  </a:rPr>
                  <a:t>对于这个例子来说，若令目标函数式</a:t>
                </a:r>
                <a:r>
                  <a:rPr lang="en-US" altLang="zh-CN" sz="2000" b="1" dirty="0">
                    <a:latin typeface="Times New Roman" panose="02020603050405020304" pitchFamily="18" charset="0"/>
                    <a:ea typeface="微软雅黑" panose="020B0503020204020204" pitchFamily="34" charset="-122"/>
                  </a:rPr>
                  <a:t>(1-1)</a:t>
                </a:r>
                <a:r>
                  <a:rPr lang="zh-CN" altLang="en-US" sz="2000" b="1" dirty="0">
                    <a:latin typeface="Times New Roman" panose="02020603050405020304" pitchFamily="18" charset="0"/>
                    <a:ea typeface="微软雅黑" panose="020B0503020204020204" pitchFamily="34" charset="-122"/>
                  </a:rPr>
                  <a:t>分别等于</a:t>
                </a:r>
                <a:r>
                  <a:rPr lang="en-US" altLang="zh-CN" sz="2000" b="1" dirty="0">
                    <a:latin typeface="Times New Roman" panose="02020603050405020304" pitchFamily="18" charset="0"/>
                    <a:ea typeface="微软雅黑" panose="020B0503020204020204" pitchFamily="34" charset="-122"/>
                  </a:rPr>
                  <a:t>2</a:t>
                </a:r>
                <a:r>
                  <a:rPr lang="zh-CN" altLang="en-US" sz="2000" b="1" dirty="0">
                    <a:latin typeface="Times New Roman" panose="02020603050405020304" pitchFamily="18" charset="0"/>
                    <a:ea typeface="微软雅黑" panose="020B0503020204020204" pitchFamily="34" charset="-122"/>
                  </a:rPr>
                  <a:t>和</a:t>
                </a:r>
                <a:r>
                  <a:rPr lang="en-US" altLang="zh-CN" sz="2000" b="1" dirty="0">
                    <a:latin typeface="Times New Roman" panose="02020603050405020304" pitchFamily="18" charset="0"/>
                    <a:ea typeface="微软雅黑" panose="020B0503020204020204" pitchFamily="34" charset="-122"/>
                  </a:rPr>
                  <a:t>4</a:t>
                </a:r>
                <a:r>
                  <a:rPr lang="zh-CN" altLang="en-US" sz="2000" b="1" dirty="0">
                    <a:latin typeface="Times New Roman" panose="02020603050405020304" pitchFamily="18" charset="0"/>
                    <a:ea typeface="微软雅黑" panose="020B0503020204020204" pitchFamily="34" charset="-122"/>
                  </a:rPr>
                  <a:t>，就得到相应的两条圆形等值线（见图</a:t>
                </a:r>
                <a:r>
                  <a:rPr lang="en-US" altLang="zh-CN" sz="2000" b="1" dirty="0">
                    <a:latin typeface="Times New Roman" panose="02020603050405020304" pitchFamily="18" charset="0"/>
                    <a:ea typeface="微软雅黑" panose="020B0503020204020204" pitchFamily="34" charset="-122"/>
                  </a:rPr>
                  <a:t>7-1)</a:t>
                </a:r>
                <a:r>
                  <a:rPr lang="zh-CN" altLang="en-US" sz="2000" b="1" dirty="0">
                    <a:latin typeface="Times New Roman" panose="02020603050405020304" pitchFamily="18" charset="0"/>
                    <a:ea typeface="微软雅黑" panose="020B0503020204020204" pitchFamily="34" charset="-122"/>
                  </a:rPr>
                  <a:t>。</a:t>
                </a:r>
                <a:endParaRPr lang="en-US" altLang="zh-CN" sz="2000" b="1" dirty="0">
                  <a:latin typeface="Times New Roman" panose="02020603050405020304" pitchFamily="18" charset="0"/>
                  <a:ea typeface="微软雅黑" panose="020B0503020204020204" pitchFamily="34" charset="-122"/>
                </a:endParaRPr>
              </a:p>
              <a:p>
                <a:pPr>
                  <a:lnSpc>
                    <a:spcPct val="150000"/>
                  </a:lnSpc>
                  <a:spcBef>
                    <a:spcPts val="450"/>
                  </a:spcBef>
                  <a:buClr>
                    <a:schemeClr val="accent1"/>
                  </a:buClr>
                  <a:buSzPct val="70000"/>
                </a:pPr>
                <a:r>
                  <a:rPr lang="zh-CN" altLang="en-US" sz="2000" b="1" dirty="0">
                    <a:latin typeface="Times New Roman" panose="02020603050405020304" pitchFamily="18" charset="0"/>
                    <a:ea typeface="微软雅黑" panose="020B0503020204020204" pitchFamily="34" charset="-122"/>
                  </a:rPr>
                  <a:t>由图可见，等值线 </a:t>
                </a:r>
                <a14:m>
                  <m:oMath xmlns:m="http://schemas.openxmlformats.org/officeDocument/2006/math">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dirty="0">
                        <a:latin typeface="Times New Roman" panose="02020603050405020304" pitchFamily="18" charset="0"/>
                        <a:ea typeface="微软雅黑" panose="020B0503020204020204" pitchFamily="34" charset="-122"/>
                      </a:rPr>
                      <m:t> (</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r>
                      <a:rPr lang="zh-CN" altLang="en-US" sz="2000" b="1">
                        <a:latin typeface="Cambria Math" panose="02040503050406030204" pitchFamily="18" charset="0"/>
                      </a:rPr>
                      <m:t>=</m:t>
                    </m:r>
                    <m:r>
                      <a:rPr lang="zh-CN" altLang="en-US" sz="2000" b="1">
                        <a:latin typeface="Cambria Math" panose="02040503050406030204" pitchFamily="18" charset="0"/>
                      </a:rPr>
                      <m:t>𝟐</m:t>
                    </m:r>
                  </m:oMath>
                </a14:m>
                <a:r>
                  <a:rPr lang="zh-CN" altLang="en-US" sz="2000" b="1" dirty="0">
                    <a:latin typeface="Times New Roman" panose="02020603050405020304" pitchFamily="18" charset="0"/>
                    <a:ea typeface="微软雅黑" panose="020B0503020204020204" pitchFamily="34" charset="-122"/>
                  </a:rPr>
                  <a:t>和约束条件直线</a:t>
                </a:r>
                <a:r>
                  <a:rPr lang="en-US" altLang="zh-CN" sz="2000" b="1" dirty="0">
                    <a:latin typeface="Times New Roman" panose="02020603050405020304" pitchFamily="18" charset="0"/>
                    <a:ea typeface="微软雅黑" panose="020B0503020204020204" pitchFamily="34" charset="-122"/>
                  </a:rPr>
                  <a:t>AB</a:t>
                </a:r>
                <a:r>
                  <a:rPr lang="zh-CN" altLang="en-US" sz="2000" b="1" dirty="0">
                    <a:latin typeface="Times New Roman" panose="02020603050405020304" pitchFamily="18" charset="0"/>
                    <a:ea typeface="微软雅黑" panose="020B0503020204020204" pitchFamily="34" charset="-122"/>
                  </a:rPr>
                  <a:t>相切，切点</a:t>
                </a:r>
                <a:r>
                  <a:rPr lang="en-US" altLang="zh-CN" sz="2000" b="1" dirty="0">
                    <a:latin typeface="Times New Roman" panose="02020603050405020304" pitchFamily="18" charset="0"/>
                    <a:ea typeface="微软雅黑" panose="020B0503020204020204" pitchFamily="34" charset="-122"/>
                  </a:rPr>
                  <a:t>D</a:t>
                </a:r>
                <a:r>
                  <a:rPr lang="zh-CN" altLang="en-US" sz="2000" b="1" dirty="0">
                    <a:latin typeface="Times New Roman" panose="02020603050405020304" pitchFamily="18" charset="0"/>
                    <a:ea typeface="微软雅黑" panose="020B0503020204020204" pitchFamily="34" charset="-122"/>
                  </a:rPr>
                  <a:t>，即为问题的最优解：</a:t>
                </a:r>
                <a14:m>
                  <m:oMath xmlns:m="http://schemas.openxmlformats.org/officeDocument/2006/math">
                    <m:sSubSup>
                      <m:sSubSupPr>
                        <m:ctrlPr>
                          <a:rPr lang="en-US" altLang="zh-CN" sz="2000" b="1" i="1" dirty="0">
                            <a:latin typeface="Cambria Math" panose="02040503050406030204" pitchFamily="18" charset="0"/>
                          </a:rPr>
                        </m:ctrlPr>
                      </m:sSubSupPr>
                      <m:e>
                        <m:r>
                          <a:rPr lang="en-US" altLang="zh-CN" sz="2000" b="1" i="1" dirty="0">
                            <a:latin typeface="Cambria Math" panose="02040503050406030204" pitchFamily="18" charset="0"/>
                          </a:rPr>
                          <m:t>𝒙</m:t>
                        </m:r>
                      </m:e>
                      <m:sub>
                        <m:r>
                          <a:rPr lang="en-US" altLang="zh-CN" sz="2000" b="1" dirty="0">
                            <a:latin typeface="Cambria Math" panose="02040503050406030204" pitchFamily="18" charset="0"/>
                          </a:rPr>
                          <m:t>𝟏</m:t>
                        </m:r>
                      </m:sub>
                      <m:sup>
                        <m:r>
                          <a:rPr lang="en-US" altLang="zh-CN" sz="2000" b="1" dirty="0">
                            <a:latin typeface="Cambria Math" panose="02040503050406030204" pitchFamily="18" charset="0"/>
                          </a:rPr>
                          <m:t>∗</m:t>
                        </m:r>
                      </m:sup>
                    </m:sSubSup>
                    <m:r>
                      <a:rPr lang="en-US" altLang="zh-CN" sz="2000" b="1" dirty="0">
                        <a:latin typeface="Cambria Math" panose="02040503050406030204" pitchFamily="18" charset="0"/>
                      </a:rPr>
                      <m:t>=</m:t>
                    </m:r>
                    <m:sSubSup>
                      <m:sSubSupPr>
                        <m:ctrlPr>
                          <a:rPr lang="en-US" altLang="zh-CN" sz="2000" b="1" i="1" dirty="0">
                            <a:latin typeface="Cambria Math" panose="02040503050406030204" pitchFamily="18" charset="0"/>
                          </a:rPr>
                        </m:ctrlPr>
                      </m:sSubSupPr>
                      <m:e>
                        <m:r>
                          <a:rPr lang="en-US" altLang="zh-CN" sz="2000" b="1" i="1" dirty="0">
                            <a:latin typeface="Cambria Math" panose="02040503050406030204" pitchFamily="18" charset="0"/>
                          </a:rPr>
                          <m:t>𝒙</m:t>
                        </m:r>
                      </m:e>
                      <m:sub>
                        <m:r>
                          <a:rPr lang="en-US" altLang="zh-CN" sz="2000" b="1" dirty="0">
                            <a:latin typeface="Cambria Math" panose="02040503050406030204" pitchFamily="18" charset="0"/>
                          </a:rPr>
                          <m:t>𝟐</m:t>
                        </m:r>
                      </m:sub>
                      <m:sup>
                        <m:r>
                          <a:rPr lang="en-US" altLang="zh-CN" sz="2000" b="1" dirty="0">
                            <a:latin typeface="Cambria Math" panose="02040503050406030204" pitchFamily="18" charset="0"/>
                          </a:rPr>
                          <m:t>∗</m:t>
                        </m:r>
                      </m:sup>
                    </m:sSubSup>
                    <m:r>
                      <a:rPr lang="en-US" altLang="zh-CN" sz="2000" b="1" dirty="0">
                        <a:latin typeface="Cambria Math" panose="02040503050406030204" pitchFamily="18" charset="0"/>
                      </a:rPr>
                      <m:t>=</m:t>
                    </m:r>
                    <m:r>
                      <a:rPr lang="en-US" altLang="zh-CN" sz="2000" b="1" dirty="0">
                        <a:latin typeface="Cambria Math" panose="02040503050406030204" pitchFamily="18" charset="0"/>
                      </a:rPr>
                      <m:t>𝟑</m:t>
                    </m:r>
                  </m:oMath>
                </a14:m>
                <a:r>
                  <a:rPr lang="zh-CN" altLang="en-US" sz="2000" b="1" dirty="0">
                    <a:latin typeface="Times New Roman" panose="02020603050405020304" pitchFamily="18" charset="0"/>
                    <a:ea typeface="微软雅黑" panose="020B0503020204020204" pitchFamily="34" charset="-122"/>
                  </a:rPr>
                  <a:t>，其目标函数值 </a:t>
                </a:r>
                <a14:m>
                  <m:oMath xmlns:m="http://schemas.openxmlformats.org/officeDocument/2006/math">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i="1" baseline="30000" dirty="0">
                        <a:latin typeface="Times New Roman" panose="02020603050405020304" pitchFamily="18" charset="0"/>
                        <a:ea typeface="微软雅黑" panose="020B0503020204020204" pitchFamily="34" charset="-122"/>
                      </a:rPr>
                      <m:t>∗</m:t>
                    </m:r>
                    <m:r>
                      <m:rPr>
                        <m:nor/>
                      </m:rPr>
                      <a:rPr lang="en-US" altLang="zh-CN" sz="2000" b="1" dirty="0">
                        <a:latin typeface="Times New Roman" panose="02020603050405020304" pitchFamily="18" charset="0"/>
                        <a:ea typeface="微软雅黑" panose="020B0503020204020204" pitchFamily="34" charset="-122"/>
                      </a:rPr>
                      <m:t>)</m:t>
                    </m:r>
                    <m:r>
                      <a:rPr lang="zh-CN" altLang="en-US" sz="2000" b="1" i="1">
                        <a:latin typeface="Cambria Math" panose="02040503050406030204" pitchFamily="18" charset="0"/>
                      </a:rPr>
                      <m:t>=</m:t>
                    </m:r>
                    <m:r>
                      <a:rPr lang="zh-CN" altLang="en-US" sz="2000" b="1" i="1">
                        <a:latin typeface="Cambria Math" panose="02040503050406030204" pitchFamily="18" charset="0"/>
                      </a:rPr>
                      <m:t>𝟐</m:t>
                    </m:r>
                  </m:oMath>
                </a14:m>
                <a:r>
                  <a:rPr lang="zh-CN" altLang="en-US" sz="2000" b="1" dirty="0">
                    <a:latin typeface="Times New Roman" panose="02020603050405020304" pitchFamily="18" charset="0"/>
                    <a:ea typeface="微软雅黑" panose="020B0503020204020204" pitchFamily="34" charset="-122"/>
                  </a:rPr>
                  <a:t>。</a:t>
                </a:r>
                <a:r>
                  <a:rPr lang="en-US" altLang="zh-CN" sz="2000" b="1" dirty="0">
                    <a:latin typeface="Times New Roman" panose="02020603050405020304" pitchFamily="18" charset="0"/>
                    <a:ea typeface="微软雅黑" panose="020B0503020204020204" pitchFamily="34" charset="-122"/>
                  </a:rPr>
                  <a:t>	</a:t>
                </a:r>
              </a:p>
              <a:p>
                <a:pPr>
                  <a:lnSpc>
                    <a:spcPct val="150000"/>
                  </a:lnSpc>
                  <a:spcBef>
                    <a:spcPts val="450"/>
                  </a:spcBef>
                  <a:buClr>
                    <a:schemeClr val="accent1"/>
                  </a:buClr>
                  <a:buSzPct val="70000"/>
                </a:pPr>
                <a:r>
                  <a:rPr lang="zh-CN" altLang="en-US" sz="2000" b="1" dirty="0">
                    <a:latin typeface="Times New Roman" panose="02020603050405020304" pitchFamily="18" charset="0"/>
                    <a:ea typeface="微软雅黑" panose="020B0503020204020204" pitchFamily="34" charset="-122"/>
                  </a:rPr>
                  <a:t>在这个例子中，约束条件式</a:t>
                </a:r>
                <a:r>
                  <a:rPr lang="en-US" altLang="zh-CN" sz="2000" b="1" dirty="0">
                    <a:latin typeface="Times New Roman" panose="02020603050405020304" pitchFamily="18" charset="0"/>
                    <a:ea typeface="微软雅黑" panose="020B0503020204020204" pitchFamily="34" charset="-122"/>
                  </a:rPr>
                  <a:t>(1-2)</a:t>
                </a:r>
                <a:r>
                  <a:rPr lang="zh-CN" altLang="en-US" sz="2000" b="1" dirty="0">
                    <a:latin typeface="Times New Roman" panose="02020603050405020304" pitchFamily="18" charset="0"/>
                    <a:ea typeface="微软雅黑" panose="020B0503020204020204" pitchFamily="34" charset="-122"/>
                  </a:rPr>
                  <a:t>对最优解是有影响的。</a:t>
                </a:r>
                <a:endParaRPr lang="zh-CN" altLang="en-US" sz="2000" dirty="0"/>
              </a:p>
            </p:txBody>
          </p:sp>
        </mc:Choice>
        <mc:Fallback xmlns="">
          <p:sp>
            <p:nvSpPr>
              <p:cNvPr id="16" name="矩形 15">
                <a:extLst>
                  <a:ext uri="{FF2B5EF4-FFF2-40B4-BE49-F238E27FC236}">
                    <a16:creationId xmlns:a16="http://schemas.microsoft.com/office/drawing/2014/main" id="{E006A4E4-8F9C-4066-8639-1D6EBDF11EDA}"/>
                  </a:ext>
                </a:extLst>
              </p:cNvPr>
              <p:cNvSpPr>
                <a:spLocks noRot="1" noChangeAspect="1" noMove="1" noResize="1" noEditPoints="1" noAdjustHandles="1" noChangeArrowheads="1" noChangeShapeType="1" noTextEdit="1"/>
              </p:cNvSpPr>
              <p:nvPr/>
            </p:nvSpPr>
            <p:spPr>
              <a:xfrm>
                <a:off x="94593" y="3936724"/>
                <a:ext cx="6361386" cy="2934586"/>
              </a:xfrm>
              <a:prstGeom prst="rect">
                <a:avLst/>
              </a:prstGeom>
              <a:blipFill>
                <a:blip r:embed="rId9"/>
                <a:stretch>
                  <a:fillRect l="-1055" r="-192" b="-29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1459896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arn(inVertical)">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7B06DA97-4135-4A5E-A8DB-6C2A7CD2B884}"/>
              </a:ext>
            </a:extLst>
          </p:cNvPr>
          <p:cNvSpPr/>
          <p:nvPr/>
        </p:nvSpPr>
        <p:spPr>
          <a:xfrm>
            <a:off x="63061" y="812629"/>
            <a:ext cx="8899635" cy="223025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002060"/>
              </a:solidFill>
            </a:endParaRPr>
          </a:p>
        </p:txBody>
      </p:sp>
      <p:cxnSp>
        <p:nvCxnSpPr>
          <p:cNvPr id="10" name="直接连接符 9">
            <a:extLst>
              <a:ext uri="{FF2B5EF4-FFF2-40B4-BE49-F238E27FC236}">
                <a16:creationId xmlns:a16="http://schemas.microsoft.com/office/drawing/2014/main" id="{F57DF3CE-6E12-4DC7-B335-B174C2A81515}"/>
              </a:ext>
            </a:extLst>
          </p:cNvPr>
          <p:cNvCxnSpPr>
            <a:cxnSpLocks/>
          </p:cNvCxnSpPr>
          <p:nvPr>
            <p:custDataLst>
              <p:tags r:id="rId1"/>
            </p:custDataLst>
          </p:nvPr>
        </p:nvCxnSpPr>
        <p:spPr>
          <a:xfrm>
            <a:off x="0" y="764704"/>
            <a:ext cx="9144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67F7111D-6B97-42D9-9EAF-591DAD85B7AF}"/>
              </a:ext>
            </a:extLst>
          </p:cNvPr>
          <p:cNvSpPr/>
          <p:nvPr/>
        </p:nvSpPr>
        <p:spPr>
          <a:xfrm>
            <a:off x="-60705" y="150125"/>
            <a:ext cx="4852610" cy="523220"/>
          </a:xfrm>
          <a:prstGeom prst="rect">
            <a:avLst/>
          </a:prstGeom>
        </p:spPr>
        <p:txBody>
          <a:bodyPr wrap="none">
            <a:spAutoFit/>
          </a:bodyPr>
          <a:lstStyle/>
          <a:p>
            <a:pPr>
              <a:spcBef>
                <a:spcPts val="450"/>
              </a:spcBef>
              <a:buClr>
                <a:schemeClr val="accent1"/>
              </a:buClr>
              <a:buSzPct val="70000"/>
            </a:pPr>
            <a:r>
              <a:rPr lang="zh-CN" altLang="en-US" sz="2800" b="1" dirty="0">
                <a:solidFill>
                  <a:srgbClr val="002060"/>
                </a:solidFill>
                <a:latin typeface="Times New Roman" panose="02020603050405020304" pitchFamily="18" charset="0"/>
                <a:ea typeface="微软雅黑" panose="020B0503020204020204" pitchFamily="34" charset="-122"/>
              </a:rPr>
              <a:t>非线性规划几何意义及图解法</a:t>
            </a:r>
            <a:endParaRPr lang="en-US" altLang="zh-CN" sz="2800" b="1" dirty="0">
              <a:solidFill>
                <a:srgbClr val="002060"/>
              </a:solidFill>
              <a:latin typeface="Times New Roman" panose="02020603050405020304" pitchFamily="18" charset="0"/>
              <a:ea typeface="微软雅黑" panose="020B0503020204020204" pitchFamily="34" charset="-122"/>
            </a:endParaRPr>
          </a:p>
        </p:txBody>
      </p:sp>
      <p:sp>
        <p:nvSpPr>
          <p:cNvPr id="13" name="Rectangle 3">
            <a:extLst>
              <a:ext uri="{FF2B5EF4-FFF2-40B4-BE49-F238E27FC236}">
                <a16:creationId xmlns:a16="http://schemas.microsoft.com/office/drawing/2014/main" id="{FFFFEA40-EA0E-4829-B8B6-4E0A22E201E4}"/>
              </a:ext>
            </a:extLst>
          </p:cNvPr>
          <p:cNvSpPr txBox="1">
            <a:spLocks noChangeArrowheads="1"/>
          </p:cNvSpPr>
          <p:nvPr/>
        </p:nvSpPr>
        <p:spPr bwMode="auto">
          <a:xfrm>
            <a:off x="186154" y="3243130"/>
            <a:ext cx="8472378" cy="5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ts val="450"/>
              </a:spcBef>
              <a:buClr>
                <a:schemeClr val="accent1"/>
              </a:buClr>
              <a:buSzPct val="70000"/>
            </a:pPr>
            <a:r>
              <a:rPr lang="zh-CN" altLang="en-US" sz="2000" b="1" dirty="0">
                <a:latin typeface="Times New Roman" panose="02020603050405020304" pitchFamily="18" charset="0"/>
                <a:ea typeface="微软雅黑" panose="020B0503020204020204" pitchFamily="34" charset="-122"/>
              </a:rPr>
              <a:t>现若</a:t>
            </a:r>
            <a:endParaRPr lang="zh-CN" altLang="en-US" sz="2000" dirty="0">
              <a:latin typeface="Times New Roman" panose="02020603050405020304" pitchFamily="18" charset="0"/>
              <a:ea typeface="微软雅黑" panose="020B0503020204020204" pitchFamily="34" charset="-122"/>
            </a:endParaRPr>
          </a:p>
        </p:txBody>
      </p:sp>
      <p:graphicFrame>
        <p:nvGraphicFramePr>
          <p:cNvPr id="14" name="对象 13">
            <a:extLst>
              <a:ext uri="{FF2B5EF4-FFF2-40B4-BE49-F238E27FC236}">
                <a16:creationId xmlns:a16="http://schemas.microsoft.com/office/drawing/2014/main" id="{43B878B4-FB43-4FC0-9EE5-B168D364D88B}"/>
              </a:ext>
            </a:extLst>
          </p:cNvPr>
          <p:cNvGraphicFramePr>
            <a:graphicFrameLocks noChangeAspect="1"/>
          </p:cNvGraphicFramePr>
          <p:nvPr>
            <p:extLst>
              <p:ext uri="{D42A27DB-BD31-4B8C-83A1-F6EECF244321}">
                <p14:modId xmlns:p14="http://schemas.microsoft.com/office/powerpoint/2010/main" val="4131116916"/>
              </p:ext>
            </p:extLst>
          </p:nvPr>
        </p:nvGraphicFramePr>
        <p:xfrm>
          <a:off x="1049450" y="3281224"/>
          <a:ext cx="5464206" cy="356949"/>
        </p:xfrm>
        <a:graphic>
          <a:graphicData uri="http://schemas.openxmlformats.org/presentationml/2006/ole">
            <mc:AlternateContent xmlns:mc="http://schemas.openxmlformats.org/markup-compatibility/2006">
              <mc:Choice xmlns:v="urn:schemas-microsoft-com:vml" Requires="v">
                <p:oleObj name="Equation" r:id="rId3" imgW="5054400" imgH="330120" progId="Equation.DSMT4">
                  <p:embed/>
                </p:oleObj>
              </mc:Choice>
              <mc:Fallback>
                <p:oleObj name="Equation" r:id="rId3" imgW="5054400" imgH="330120" progId="Equation.DSMT4">
                  <p:embed/>
                  <p:pic>
                    <p:nvPicPr>
                      <p:cNvPr id="27" name="对象 26">
                        <a:extLst>
                          <a:ext uri="{FF2B5EF4-FFF2-40B4-BE49-F238E27FC236}">
                            <a16:creationId xmlns:a16="http://schemas.microsoft.com/office/drawing/2014/main" id="{7C254F66-4F78-4FA5-BA1C-D2CF6C18D24E}"/>
                          </a:ext>
                        </a:extLst>
                      </p:cNvPr>
                      <p:cNvPicPr/>
                      <p:nvPr/>
                    </p:nvPicPr>
                    <p:blipFill>
                      <a:blip r:embed="rId4"/>
                      <a:stretch>
                        <a:fillRect/>
                      </a:stretch>
                    </p:blipFill>
                    <p:spPr>
                      <a:xfrm>
                        <a:off x="1049450" y="3281224"/>
                        <a:ext cx="5464206" cy="356949"/>
                      </a:xfrm>
                      <a:prstGeom prst="rect">
                        <a:avLst/>
                      </a:prstGeom>
                    </p:spPr>
                  </p:pic>
                </p:oleObj>
              </mc:Fallback>
            </mc:AlternateContent>
          </a:graphicData>
        </a:graphic>
      </p:graphicFrame>
      <p:grpSp>
        <p:nvGrpSpPr>
          <p:cNvPr id="2" name="组合 1">
            <a:extLst>
              <a:ext uri="{FF2B5EF4-FFF2-40B4-BE49-F238E27FC236}">
                <a16:creationId xmlns:a16="http://schemas.microsoft.com/office/drawing/2014/main" id="{660A12A9-C48D-4329-B28C-40B8D1D3C15A}"/>
              </a:ext>
            </a:extLst>
          </p:cNvPr>
          <p:cNvGrpSpPr/>
          <p:nvPr/>
        </p:nvGrpSpPr>
        <p:grpSpPr>
          <a:xfrm>
            <a:off x="6772046" y="1340768"/>
            <a:ext cx="2422270" cy="2548478"/>
            <a:chOff x="6781680" y="1312104"/>
            <a:chExt cx="2422270" cy="2548478"/>
          </a:xfrm>
        </p:grpSpPr>
        <p:pic>
          <p:nvPicPr>
            <p:cNvPr id="15" name="图片 14">
              <a:extLst>
                <a:ext uri="{FF2B5EF4-FFF2-40B4-BE49-F238E27FC236}">
                  <a16:creationId xmlns:a16="http://schemas.microsoft.com/office/drawing/2014/main" id="{1F3D12CC-87D3-4629-9ABF-C5A009080823}"/>
                </a:ext>
              </a:extLst>
            </p:cNvPr>
            <p:cNvPicPr>
              <a:picLocks noChangeAspect="1"/>
            </p:cNvPicPr>
            <p:nvPr/>
          </p:nvPicPr>
          <p:blipFill>
            <a:blip r:embed="rId5"/>
            <a:stretch>
              <a:fillRect/>
            </a:stretch>
          </p:blipFill>
          <p:spPr>
            <a:xfrm>
              <a:off x="6781680" y="1312104"/>
              <a:ext cx="2422270" cy="2548478"/>
            </a:xfrm>
            <a:prstGeom prst="rect">
              <a:avLst/>
            </a:prstGeom>
          </p:spPr>
        </p:pic>
        <p:sp>
          <p:nvSpPr>
            <p:cNvPr id="16" name="矩形 15">
              <a:extLst>
                <a:ext uri="{FF2B5EF4-FFF2-40B4-BE49-F238E27FC236}">
                  <a16:creationId xmlns:a16="http://schemas.microsoft.com/office/drawing/2014/main" id="{57A4490B-5F97-4D91-82B9-5BAD7C4B5D7F}"/>
                </a:ext>
              </a:extLst>
            </p:cNvPr>
            <p:cNvSpPr/>
            <p:nvPr/>
          </p:nvSpPr>
          <p:spPr>
            <a:xfrm>
              <a:off x="7347709" y="2400730"/>
              <a:ext cx="280883" cy="523220"/>
            </a:xfrm>
            <a:prstGeom prst="rect">
              <a:avLst/>
            </a:prstGeom>
          </p:spPr>
          <p:txBody>
            <a:bodyPr wrap="square">
              <a:spAutoFit/>
            </a:bodyPr>
            <a:lstStyle/>
            <a:p>
              <a:r>
                <a:rPr lang="en-US" altLang="zh-CN" sz="2800" b="1" dirty="0">
                  <a:solidFill>
                    <a:srgbClr val="FF0000"/>
                  </a:solidFill>
                  <a:latin typeface="Times New Roman" panose="02020603050405020304" pitchFamily="18" charset="0"/>
                  <a:ea typeface="微软雅黑" panose="020B0503020204020204" pitchFamily="34" charset="-122"/>
                </a:rPr>
                <a:t>.</a:t>
              </a:r>
              <a:endParaRPr lang="zh-CN" altLang="en-US" sz="2800" dirty="0">
                <a:solidFill>
                  <a:srgbClr val="FF0000"/>
                </a:solidFill>
              </a:endParaRPr>
            </a:p>
          </p:txBody>
        </p:sp>
      </p:gr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78FCC41F-B310-48D7-82DD-C47FB9509E14}"/>
                  </a:ext>
                </a:extLst>
              </p:cNvPr>
              <p:cNvSpPr/>
              <p:nvPr/>
            </p:nvSpPr>
            <p:spPr>
              <a:xfrm>
                <a:off x="63061" y="3819193"/>
                <a:ext cx="9080939" cy="1884427"/>
              </a:xfrm>
              <a:prstGeom prst="rect">
                <a:avLst/>
              </a:prstGeom>
            </p:spPr>
            <p:txBody>
              <a:bodyPr wrap="square">
                <a:spAutoFit/>
              </a:bodyPr>
              <a:lstStyle/>
              <a:p>
                <a:pPr>
                  <a:lnSpc>
                    <a:spcPct val="150000"/>
                  </a:lnSpc>
                  <a:spcBef>
                    <a:spcPts val="450"/>
                  </a:spcBef>
                  <a:buClr>
                    <a:schemeClr val="accent1"/>
                  </a:buClr>
                  <a:buSzPct val="70000"/>
                </a:pPr>
                <a:r>
                  <a:rPr lang="zh-CN" altLang="en-US" sz="2000" b="1" dirty="0">
                    <a:latin typeface="Times New Roman" panose="02020603050405020304" pitchFamily="18" charset="0"/>
                    <a:ea typeface="微软雅黑" panose="020B0503020204020204" pitchFamily="34" charset="-122"/>
                  </a:rPr>
                  <a:t>代替约束条件式</a:t>
                </a:r>
                <a:r>
                  <a:rPr lang="en-US" altLang="zh-CN" sz="2000" b="1" dirty="0">
                    <a:latin typeface="Times New Roman" panose="02020603050405020304" pitchFamily="18" charset="0"/>
                    <a:ea typeface="微软雅黑" panose="020B0503020204020204" pitchFamily="34" charset="-122"/>
                  </a:rPr>
                  <a:t>(1-2)</a:t>
                </a:r>
                <a:r>
                  <a:rPr lang="zh-CN" altLang="en-US" sz="2000" b="1" dirty="0">
                    <a:latin typeface="Times New Roman" panose="02020603050405020304" pitchFamily="18" charset="0"/>
                    <a:ea typeface="微软雅黑" panose="020B0503020204020204" pitchFamily="34" charset="-122"/>
                  </a:rPr>
                  <a:t>，则非线性规划问题式</a:t>
                </a:r>
                <a:r>
                  <a:rPr lang="en-US" altLang="zh-CN" sz="2000" b="1" dirty="0">
                    <a:latin typeface="Times New Roman" panose="02020603050405020304" pitchFamily="18" charset="0"/>
                    <a:ea typeface="微软雅黑" panose="020B0503020204020204" pitchFamily="34" charset="-122"/>
                  </a:rPr>
                  <a:t>(1-1)</a:t>
                </a:r>
                <a:r>
                  <a:rPr lang="zh-CN" altLang="en-US" sz="2000" b="1" dirty="0">
                    <a:latin typeface="Times New Roman" panose="02020603050405020304" pitchFamily="18" charset="0"/>
                    <a:ea typeface="微软雅黑" panose="020B0503020204020204" pitchFamily="34" charset="-122"/>
                  </a:rPr>
                  <a:t>、式</a:t>
                </a:r>
                <a:r>
                  <a:rPr lang="en-US" altLang="zh-CN" sz="2000" b="1" dirty="0">
                    <a:latin typeface="Times New Roman" panose="02020603050405020304" pitchFamily="18" charset="0"/>
                    <a:ea typeface="微软雅黑" panose="020B0503020204020204" pitchFamily="34" charset="-122"/>
                  </a:rPr>
                  <a:t>(1-4)</a:t>
                </a:r>
                <a:r>
                  <a:rPr lang="zh-CN" altLang="en-US" sz="2000" b="1" dirty="0">
                    <a:latin typeface="Times New Roman" panose="02020603050405020304" pitchFamily="18" charset="0"/>
                    <a:ea typeface="微软雅黑" panose="020B0503020204020204" pitchFamily="34" charset="-122"/>
                  </a:rPr>
                  <a:t>的最优解是 </a:t>
                </a:r>
                <a14:m>
                  <m:oMath xmlns:m="http://schemas.openxmlformats.org/officeDocument/2006/math">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𝒙</m:t>
                        </m:r>
                      </m:e>
                      <m:sub>
                        <m:r>
                          <a:rPr lang="zh-CN" altLang="en-US" sz="2000" b="1">
                            <a:latin typeface="Cambria Math" panose="02040503050406030204" pitchFamily="18" charset="0"/>
                          </a:rPr>
                          <m:t>𝟏</m:t>
                        </m:r>
                      </m:sub>
                    </m:sSub>
                    <m:r>
                      <a:rPr lang="zh-CN" altLang="en-US" sz="2000" b="1">
                        <a:latin typeface="Cambria Math" panose="02040503050406030204" pitchFamily="18" charset="0"/>
                      </a:rPr>
                      <m:t>=</m:t>
                    </m:r>
                    <m:sSub>
                      <m:sSubPr>
                        <m:ctrlPr>
                          <a:rPr lang="zh-CN" altLang="en-US" sz="2000" b="1" i="1">
                            <a:latin typeface="Cambria Math" panose="02040503050406030204" pitchFamily="18" charset="0"/>
                          </a:rPr>
                        </m:ctrlPr>
                      </m:sSubPr>
                      <m:e>
                        <m:r>
                          <a:rPr lang="zh-CN" altLang="en-US" sz="2000" b="1" i="1">
                            <a:latin typeface="Cambria Math" panose="02040503050406030204" pitchFamily="18" charset="0"/>
                          </a:rPr>
                          <m:t>𝒙</m:t>
                        </m:r>
                      </m:e>
                      <m:sub>
                        <m:r>
                          <a:rPr lang="zh-CN" altLang="en-US" sz="2000" b="1">
                            <a:latin typeface="Cambria Math" panose="02040503050406030204" pitchFamily="18" charset="0"/>
                          </a:rPr>
                          <m:t>𝟐</m:t>
                        </m:r>
                      </m:sub>
                    </m:sSub>
                    <m:r>
                      <a:rPr lang="zh-CN" altLang="en-US" sz="2000" b="1">
                        <a:latin typeface="Cambria Math" panose="02040503050406030204" pitchFamily="18" charset="0"/>
                      </a:rPr>
                      <m:t>=</m:t>
                    </m:r>
                    <m:r>
                      <a:rPr lang="zh-CN" altLang="en-US" sz="2000" b="1">
                        <a:latin typeface="Cambria Math" panose="02040503050406030204" pitchFamily="18" charset="0"/>
                      </a:rPr>
                      <m:t>𝟐</m:t>
                    </m:r>
                  </m:oMath>
                </a14:m>
                <a:r>
                  <a:rPr lang="zh-CN" altLang="en-US" sz="2000" b="1" dirty="0">
                    <a:latin typeface="Times New Roman" panose="02020603050405020304" pitchFamily="18" charset="0"/>
                    <a:ea typeface="微软雅黑" panose="020B0503020204020204" pitchFamily="34" charset="-122"/>
                  </a:rPr>
                  <a:t>，即图</a:t>
                </a:r>
                <a:r>
                  <a:rPr lang="en-US" altLang="zh-CN" sz="2000" b="1" dirty="0">
                    <a:latin typeface="Times New Roman" panose="02020603050405020304" pitchFamily="18" charset="0"/>
                    <a:ea typeface="微软雅黑" panose="020B0503020204020204" pitchFamily="34" charset="-122"/>
                  </a:rPr>
                  <a:t>7-1</a:t>
                </a:r>
                <a:r>
                  <a:rPr lang="zh-CN" altLang="en-US" sz="2000" b="1" dirty="0">
                    <a:latin typeface="Times New Roman" panose="02020603050405020304" pitchFamily="18" charset="0"/>
                    <a:ea typeface="微软雅黑" panose="020B0503020204020204" pitchFamily="34" charset="-122"/>
                  </a:rPr>
                  <a:t>中的</a:t>
                </a:r>
                <a:r>
                  <a:rPr lang="en-US" altLang="zh-CN" sz="2000" b="1" dirty="0">
                    <a:latin typeface="Times New Roman" panose="02020603050405020304" pitchFamily="18" charset="0"/>
                    <a:ea typeface="微软雅黑" panose="020B0503020204020204" pitchFamily="34" charset="-122"/>
                  </a:rPr>
                  <a:t>C</a:t>
                </a:r>
                <a:r>
                  <a:rPr lang="zh-CN" altLang="en-US" sz="2000" b="1" dirty="0">
                    <a:latin typeface="Times New Roman" panose="02020603050405020304" pitchFamily="18" charset="0"/>
                    <a:ea typeface="微软雅黑" panose="020B0503020204020204" pitchFamily="34" charset="-122"/>
                  </a:rPr>
                  <a:t>点（这时</a:t>
                </a:r>
                <a14:m>
                  <m:oMath xmlns:m="http://schemas.openxmlformats.org/officeDocument/2006/math">
                    <m:r>
                      <a:rPr lang="en-US" altLang="zh-CN" sz="2000" b="1" dirty="0">
                        <a:latin typeface="Cambria Math" panose="02040503050406030204" pitchFamily="18" charset="0"/>
                        <a:ea typeface="微软雅黑" panose="020B0503020204020204" pitchFamily="34" charset="-122"/>
                      </a:rPr>
                      <m:t> </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r>
                      <a:rPr lang="zh-CN" altLang="en-US" sz="2000" b="1">
                        <a:latin typeface="Cambria Math" panose="02040503050406030204" pitchFamily="18" charset="0"/>
                      </a:rPr>
                      <m:t>=</m:t>
                    </m:r>
                    <m:r>
                      <a:rPr lang="en-US" altLang="zh-CN" sz="2000" b="1">
                        <a:latin typeface="Cambria Math" panose="02040503050406030204" pitchFamily="18" charset="0"/>
                      </a:rPr>
                      <m:t>𝟎</m:t>
                    </m:r>
                  </m:oMath>
                </a14:m>
                <a:r>
                  <a:rPr lang="en-US" altLang="zh-CN" sz="2000" b="1" dirty="0">
                    <a:latin typeface="Times New Roman" panose="02020603050405020304" pitchFamily="18" charset="0"/>
                    <a:ea typeface="微软雅黑" panose="020B0503020204020204" pitchFamily="34" charset="-122"/>
                  </a:rPr>
                  <a:t>)</a:t>
                </a:r>
                <a:r>
                  <a:rPr lang="zh-CN" altLang="en-US" sz="2000" b="1" dirty="0">
                    <a:latin typeface="Times New Roman" panose="02020603050405020304" pitchFamily="18" charset="0"/>
                    <a:ea typeface="微软雅黑" panose="020B0503020204020204" pitchFamily="34" charset="-122"/>
                  </a:rPr>
                  <a:t>。由于最优点位于可行域的内部，故对这个问题的最优解来说，约束式</a:t>
                </a:r>
                <a:r>
                  <a:rPr lang="en-US" altLang="zh-CN" sz="2000" b="1" dirty="0">
                    <a:latin typeface="Times New Roman" panose="02020603050405020304" pitchFamily="18" charset="0"/>
                    <a:ea typeface="微软雅黑" panose="020B0503020204020204" pitchFamily="34" charset="-122"/>
                  </a:rPr>
                  <a:t>(1-4)</a:t>
                </a:r>
                <a:r>
                  <a:rPr lang="zh-CN" altLang="en-US" sz="2000" b="1" dirty="0">
                    <a:latin typeface="Times New Roman" panose="02020603050405020304" pitchFamily="18" charset="0"/>
                    <a:ea typeface="微软雅黑" panose="020B0503020204020204" pitchFamily="34" charset="-122"/>
                  </a:rPr>
                  <a:t>事实上是不起作用的。在求这个问题的最优解时，可不考虑约束条件式</a:t>
                </a:r>
                <a:r>
                  <a:rPr lang="en-US" altLang="zh-CN" sz="2000" b="1" dirty="0">
                    <a:latin typeface="Times New Roman" panose="02020603050405020304" pitchFamily="18" charset="0"/>
                    <a:ea typeface="微软雅黑" panose="020B0503020204020204" pitchFamily="34" charset="-122"/>
                  </a:rPr>
                  <a:t>(1-4)</a:t>
                </a:r>
                <a:r>
                  <a:rPr lang="zh-CN" altLang="en-US" sz="2000" b="1" dirty="0">
                    <a:latin typeface="Times New Roman" panose="02020603050405020304" pitchFamily="18" charset="0"/>
                    <a:ea typeface="微软雅黑" panose="020B0503020204020204" pitchFamily="34" charset="-122"/>
                  </a:rPr>
                  <a:t>，就相当于没有这个约束一样。</a:t>
                </a:r>
                <a:endParaRPr lang="zh-CN" altLang="en-US" sz="2000" dirty="0">
                  <a:latin typeface="Times New Roman" panose="02020603050405020304" pitchFamily="18" charset="0"/>
                  <a:ea typeface="微软雅黑" panose="020B0503020204020204" pitchFamily="34" charset="-122"/>
                </a:endParaRPr>
              </a:p>
            </p:txBody>
          </p:sp>
        </mc:Choice>
        <mc:Fallback xmlns="">
          <p:sp>
            <p:nvSpPr>
              <p:cNvPr id="17" name="矩形 16">
                <a:extLst>
                  <a:ext uri="{FF2B5EF4-FFF2-40B4-BE49-F238E27FC236}">
                    <a16:creationId xmlns:a16="http://schemas.microsoft.com/office/drawing/2014/main" id="{78FCC41F-B310-48D7-82DD-C47FB9509E14}"/>
                  </a:ext>
                </a:extLst>
              </p:cNvPr>
              <p:cNvSpPr>
                <a:spLocks noRot="1" noChangeAspect="1" noMove="1" noResize="1" noEditPoints="1" noAdjustHandles="1" noChangeArrowheads="1" noChangeShapeType="1" noTextEdit="1"/>
              </p:cNvSpPr>
              <p:nvPr/>
            </p:nvSpPr>
            <p:spPr>
              <a:xfrm>
                <a:off x="63061" y="3819193"/>
                <a:ext cx="9080939" cy="1884427"/>
              </a:xfrm>
              <a:prstGeom prst="rect">
                <a:avLst/>
              </a:prstGeom>
              <a:blipFill>
                <a:blip r:embed="rId7"/>
                <a:stretch>
                  <a:fillRect l="-671" r="-738" b="-4854"/>
                </a:stretch>
              </a:blipFill>
            </p:spPr>
            <p:txBody>
              <a:bodyPr/>
              <a:lstStyle/>
              <a:p>
                <a:r>
                  <a:rPr lang="zh-CN" altLang="en-US">
                    <a:noFill/>
                  </a:rPr>
                  <a:t> </a:t>
                </a:r>
              </a:p>
            </p:txBody>
          </p:sp>
        </mc:Fallback>
      </mc:AlternateContent>
      <p:sp>
        <p:nvSpPr>
          <p:cNvPr id="18" name="矩形 17">
            <a:extLst>
              <a:ext uri="{FF2B5EF4-FFF2-40B4-BE49-F238E27FC236}">
                <a16:creationId xmlns:a16="http://schemas.microsoft.com/office/drawing/2014/main" id="{C6258CDC-FEE4-4BF9-B20C-9D6423C7A7F3}"/>
              </a:ext>
            </a:extLst>
          </p:cNvPr>
          <p:cNvSpPr/>
          <p:nvPr/>
        </p:nvSpPr>
        <p:spPr>
          <a:xfrm>
            <a:off x="0" y="5736959"/>
            <a:ext cx="9144000" cy="1082797"/>
          </a:xfrm>
          <a:prstGeom prst="rect">
            <a:avLst/>
          </a:prstGeom>
          <a:solidFill>
            <a:schemeClr val="accent2">
              <a:lumMod val="50000"/>
            </a:schemeClr>
          </a:solidFill>
        </p:spPr>
        <p:txBody>
          <a:bodyPr wrap="square">
            <a:spAutoFit/>
          </a:bodyPr>
          <a:lstStyle/>
          <a:p>
            <a:pPr>
              <a:lnSpc>
                <a:spcPct val="110000"/>
              </a:lnSpc>
              <a:spcBef>
                <a:spcPts val="450"/>
              </a:spcBef>
              <a:buClr>
                <a:schemeClr val="accent1"/>
              </a:buClr>
              <a:buSzPct val="70000"/>
            </a:pPr>
            <a:r>
              <a:rPr lang="zh-CN" altLang="en-US" sz="2000" b="1" dirty="0">
                <a:solidFill>
                  <a:schemeClr val="bg1"/>
                </a:solidFill>
                <a:latin typeface="Times New Roman" panose="02020603050405020304" pitchFamily="18" charset="0"/>
                <a:ea typeface="微软雅黑" panose="020B0503020204020204" pitchFamily="34" charset="-122"/>
              </a:rPr>
              <a:t>如果线性规划问题的最优解存在，其最优解只能在其可行域的边界上达到（特别是在可行域的顶点上达到）而非线性规划问题的最优解（如果最优解存在）则可能在其可行域中的任意一点达到。</a:t>
            </a:r>
            <a:endParaRPr lang="zh-CN" altLang="en-US" sz="2000" dirty="0">
              <a:solidFill>
                <a:schemeClr val="bg1"/>
              </a:solidFill>
            </a:endParaRPr>
          </a:p>
        </p:txBody>
      </p:sp>
      <p:graphicFrame>
        <p:nvGraphicFramePr>
          <p:cNvPr id="20" name="对象 19">
            <a:extLst>
              <a:ext uri="{FF2B5EF4-FFF2-40B4-BE49-F238E27FC236}">
                <a16:creationId xmlns:a16="http://schemas.microsoft.com/office/drawing/2014/main" id="{E1E5BDB6-6FBD-4B9E-BABB-9E6E3613DC42}"/>
              </a:ext>
            </a:extLst>
          </p:cNvPr>
          <p:cNvGraphicFramePr>
            <a:graphicFrameLocks noChangeAspect="1"/>
          </p:cNvGraphicFramePr>
          <p:nvPr>
            <p:extLst>
              <p:ext uri="{D42A27DB-BD31-4B8C-83A1-F6EECF244321}">
                <p14:modId xmlns:p14="http://schemas.microsoft.com/office/powerpoint/2010/main" val="3224677659"/>
              </p:ext>
            </p:extLst>
          </p:nvPr>
        </p:nvGraphicFramePr>
        <p:xfrm>
          <a:off x="2656401" y="889347"/>
          <a:ext cx="4076251" cy="569212"/>
        </p:xfrm>
        <a:graphic>
          <a:graphicData uri="http://schemas.openxmlformats.org/presentationml/2006/ole">
            <mc:AlternateContent xmlns:mc="http://schemas.openxmlformats.org/markup-compatibility/2006">
              <mc:Choice xmlns:v="urn:schemas-microsoft-com:vml" Requires="v">
                <p:oleObj name="Equation" r:id="rId8" imgW="5638680" imgH="787320" progId="Equation.DSMT4">
                  <p:embed/>
                </p:oleObj>
              </mc:Choice>
              <mc:Fallback>
                <p:oleObj name="Equation" r:id="rId8" imgW="5638680" imgH="787320" progId="Equation.DSMT4">
                  <p:embed/>
                  <p:pic>
                    <p:nvPicPr>
                      <p:cNvPr id="5" name="对象 4">
                        <a:extLst>
                          <a:ext uri="{FF2B5EF4-FFF2-40B4-BE49-F238E27FC236}">
                            <a16:creationId xmlns:a16="http://schemas.microsoft.com/office/drawing/2014/main" id="{FBB3F337-3314-49A0-8D36-2E41052B71D1}"/>
                          </a:ext>
                        </a:extLst>
                      </p:cNvPr>
                      <p:cNvPicPr/>
                      <p:nvPr/>
                    </p:nvPicPr>
                    <p:blipFill>
                      <a:blip r:embed="rId9"/>
                      <a:stretch>
                        <a:fillRect/>
                      </a:stretch>
                    </p:blipFill>
                    <p:spPr>
                      <a:xfrm>
                        <a:off x="2656401" y="889347"/>
                        <a:ext cx="4076251" cy="569212"/>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E0B4B20B-0E32-49A7-8E08-E7DCE2234DD2}"/>
              </a:ext>
            </a:extLst>
          </p:cNvPr>
          <p:cNvGraphicFramePr>
            <a:graphicFrameLocks noChangeAspect="1"/>
          </p:cNvGraphicFramePr>
          <p:nvPr>
            <p:extLst>
              <p:ext uri="{D42A27DB-BD31-4B8C-83A1-F6EECF244321}">
                <p14:modId xmlns:p14="http://schemas.microsoft.com/office/powerpoint/2010/main" val="1246682565"/>
              </p:ext>
            </p:extLst>
          </p:nvPr>
        </p:nvGraphicFramePr>
        <p:xfrm>
          <a:off x="2656401" y="1607332"/>
          <a:ext cx="3805237" cy="289005"/>
        </p:xfrm>
        <a:graphic>
          <a:graphicData uri="http://schemas.openxmlformats.org/presentationml/2006/ole">
            <mc:AlternateContent xmlns:mc="http://schemas.openxmlformats.org/markup-compatibility/2006">
              <mc:Choice xmlns:v="urn:schemas-microsoft-com:vml" Requires="v">
                <p:oleObj name="Equation" r:id="rId10" imgW="4025880" imgH="304560" progId="Equation.DSMT4">
                  <p:embed/>
                </p:oleObj>
              </mc:Choice>
              <mc:Fallback>
                <p:oleObj name="Equation" r:id="rId10" imgW="4025880" imgH="304560" progId="Equation.DSMT4">
                  <p:embed/>
                  <p:pic>
                    <p:nvPicPr>
                      <p:cNvPr id="6" name="对象 5">
                        <a:extLst>
                          <a:ext uri="{FF2B5EF4-FFF2-40B4-BE49-F238E27FC236}">
                            <a16:creationId xmlns:a16="http://schemas.microsoft.com/office/drawing/2014/main" id="{773D07F3-563A-4BCA-881F-99629A5DD4FB}"/>
                          </a:ext>
                        </a:extLst>
                      </p:cNvPr>
                      <p:cNvPicPr/>
                      <p:nvPr/>
                    </p:nvPicPr>
                    <p:blipFill>
                      <a:blip r:embed="rId11"/>
                      <a:stretch>
                        <a:fillRect/>
                      </a:stretch>
                    </p:blipFill>
                    <p:spPr>
                      <a:xfrm>
                        <a:off x="2656401" y="1607332"/>
                        <a:ext cx="3805237" cy="289005"/>
                      </a:xfrm>
                      <a:prstGeom prst="rect">
                        <a:avLst/>
                      </a:prstGeom>
                    </p:spPr>
                  </p:pic>
                </p:oleObj>
              </mc:Fallback>
            </mc:AlternateContent>
          </a:graphicData>
        </a:graphic>
      </p:graphicFrame>
      <p:sp>
        <p:nvSpPr>
          <p:cNvPr id="22" name="矩形 21">
            <a:extLst>
              <a:ext uri="{FF2B5EF4-FFF2-40B4-BE49-F238E27FC236}">
                <a16:creationId xmlns:a16="http://schemas.microsoft.com/office/drawing/2014/main" id="{235726BA-F308-4F85-8F51-6F6E1326ACD8}"/>
              </a:ext>
            </a:extLst>
          </p:cNvPr>
          <p:cNvSpPr/>
          <p:nvPr/>
        </p:nvSpPr>
        <p:spPr>
          <a:xfrm>
            <a:off x="2471" y="837735"/>
            <a:ext cx="2492990" cy="400110"/>
          </a:xfrm>
          <a:prstGeom prst="rect">
            <a:avLst/>
          </a:prstGeom>
        </p:spPr>
        <p:txBody>
          <a:bodyPr wrap="non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rPr>
              <a:t>考虑非线性规划问题</a:t>
            </a:r>
            <a:endParaRPr lang="zh-CN" altLang="en-US" sz="2000" dirty="0">
              <a:solidFill>
                <a:srgbClr val="002060"/>
              </a:solidFill>
            </a:endParaRPr>
          </a:p>
        </p:txBody>
      </p:sp>
      <p:sp>
        <p:nvSpPr>
          <p:cNvPr id="23" name="矩形 22">
            <a:extLst>
              <a:ext uri="{FF2B5EF4-FFF2-40B4-BE49-F238E27FC236}">
                <a16:creationId xmlns:a16="http://schemas.microsoft.com/office/drawing/2014/main" id="{DA873794-4DB9-44BF-A826-4DB85F7F3990}"/>
              </a:ext>
            </a:extLst>
          </p:cNvPr>
          <p:cNvSpPr/>
          <p:nvPr/>
        </p:nvSpPr>
        <p:spPr>
          <a:xfrm>
            <a:off x="-35629" y="1496227"/>
            <a:ext cx="2108269" cy="400110"/>
          </a:xfrm>
          <a:prstGeom prst="rect">
            <a:avLst/>
          </a:prstGeom>
        </p:spPr>
        <p:txBody>
          <a:bodyPr wrap="none">
            <a:spAutoFit/>
          </a:bodyPr>
          <a:lstStyle/>
          <a:p>
            <a:r>
              <a:rPr lang="en-US" altLang="zh-CN" sz="2000" dirty="0">
                <a:solidFill>
                  <a:srgbClr val="002060"/>
                </a:solidFill>
                <a:latin typeface="Times New Roman" panose="02020603050405020304" pitchFamily="18" charset="0"/>
                <a:ea typeface="微软雅黑" panose="020B0503020204020204" pitchFamily="34" charset="-122"/>
              </a:rPr>
              <a:t> </a:t>
            </a:r>
            <a:r>
              <a:rPr lang="zh-CN" altLang="en-US" sz="2000" b="1" dirty="0">
                <a:solidFill>
                  <a:srgbClr val="002060"/>
                </a:solidFill>
                <a:latin typeface="Times New Roman" panose="02020603050405020304" pitchFamily="18" charset="0"/>
                <a:ea typeface="微软雅黑" panose="020B0503020204020204" pitchFamily="34" charset="-122"/>
              </a:rPr>
              <a:t>若令其目标函数 </a:t>
            </a:r>
            <a:endParaRPr lang="zh-CN" altLang="en-US" sz="2000" dirty="0">
              <a:solidFill>
                <a:srgbClr val="002060"/>
              </a:solidFill>
            </a:endParaRPr>
          </a:p>
        </p:txBody>
      </p:sp>
      <p:sp>
        <p:nvSpPr>
          <p:cNvPr id="24" name="矩形 23">
            <a:extLst>
              <a:ext uri="{FF2B5EF4-FFF2-40B4-BE49-F238E27FC236}">
                <a16:creationId xmlns:a16="http://schemas.microsoft.com/office/drawing/2014/main" id="{FC53CB2F-AD66-410F-9460-A643A870417E}"/>
              </a:ext>
            </a:extLst>
          </p:cNvPr>
          <p:cNvSpPr/>
          <p:nvPr/>
        </p:nvSpPr>
        <p:spPr>
          <a:xfrm>
            <a:off x="23089" y="2042278"/>
            <a:ext cx="6203732" cy="1015663"/>
          </a:xfrm>
          <a:prstGeom prst="rect">
            <a:avLst/>
          </a:prstGeom>
        </p:spPr>
        <p:txBody>
          <a:bodyPr wrap="square">
            <a:spAutoFit/>
          </a:bodyPr>
          <a:lstStyle/>
          <a:p>
            <a:pPr>
              <a:spcBef>
                <a:spcPts val="450"/>
              </a:spcBef>
              <a:buClr>
                <a:schemeClr val="accent1"/>
              </a:buClr>
              <a:buSzPct val="70000"/>
            </a:pPr>
            <a:r>
              <a:rPr lang="zh-CN" altLang="en-US" sz="2000" b="1" dirty="0">
                <a:solidFill>
                  <a:srgbClr val="002060"/>
                </a:solidFill>
                <a:latin typeface="Times New Roman" panose="02020603050405020304" pitchFamily="18" charset="0"/>
                <a:ea typeface="微软雅黑" panose="020B0503020204020204" pitchFamily="34" charset="-122"/>
              </a:rPr>
              <a:t>其中</a:t>
            </a:r>
            <a:r>
              <a:rPr lang="en-US" altLang="zh-CN" sz="2000" b="1" i="1" dirty="0">
                <a:solidFill>
                  <a:srgbClr val="002060"/>
                </a:solidFill>
                <a:latin typeface="Times New Roman" panose="02020603050405020304" pitchFamily="18" charset="0"/>
                <a:ea typeface="微软雅黑" panose="020B0503020204020204" pitchFamily="34" charset="-122"/>
              </a:rPr>
              <a:t>c</a:t>
            </a:r>
            <a:r>
              <a:rPr lang="zh-CN" altLang="en-US" sz="2000" b="1" dirty="0">
                <a:solidFill>
                  <a:srgbClr val="002060"/>
                </a:solidFill>
                <a:latin typeface="Times New Roman" panose="02020603050405020304" pitchFamily="18" charset="0"/>
                <a:ea typeface="微软雅黑" panose="020B0503020204020204" pitchFamily="34" charset="-122"/>
              </a:rPr>
              <a:t>为某一常数，则式</a:t>
            </a:r>
            <a:r>
              <a:rPr lang="en-US" altLang="zh-CN" sz="2000" b="1" dirty="0">
                <a:solidFill>
                  <a:srgbClr val="002060"/>
                </a:solidFill>
                <a:latin typeface="Times New Roman" panose="02020603050405020304" pitchFamily="18" charset="0"/>
                <a:ea typeface="微软雅黑" panose="020B0503020204020204" pitchFamily="34" charset="-122"/>
              </a:rPr>
              <a:t>(1-3)</a:t>
            </a:r>
            <a:r>
              <a:rPr lang="zh-CN" altLang="en-US" sz="2000" b="1" dirty="0">
                <a:solidFill>
                  <a:srgbClr val="002060"/>
                </a:solidFill>
                <a:latin typeface="Times New Roman" panose="02020603050405020304" pitchFamily="18" charset="0"/>
                <a:ea typeface="微软雅黑" panose="020B0503020204020204" pitchFamily="34" charset="-122"/>
              </a:rPr>
              <a:t>代表目标函数值等于</a:t>
            </a:r>
            <a:r>
              <a:rPr lang="en-US" altLang="zh-CN" sz="2000" b="1" i="1" dirty="0">
                <a:solidFill>
                  <a:srgbClr val="002060"/>
                </a:solidFill>
                <a:latin typeface="Times New Roman" panose="02020603050405020304" pitchFamily="18" charset="0"/>
                <a:ea typeface="微软雅黑" panose="020B0503020204020204" pitchFamily="34" charset="-122"/>
              </a:rPr>
              <a:t>c</a:t>
            </a:r>
            <a:r>
              <a:rPr lang="zh-CN" altLang="en-US" sz="2000" b="1" dirty="0">
                <a:solidFill>
                  <a:srgbClr val="002060"/>
                </a:solidFill>
                <a:latin typeface="Times New Roman" panose="02020603050405020304" pitchFamily="18" charset="0"/>
                <a:ea typeface="微软雅黑" panose="020B0503020204020204" pitchFamily="34" charset="-122"/>
              </a:rPr>
              <a:t>的点的集合，它一般为一条曲线或一张曲面，通常称其为等值线或等值面。</a:t>
            </a:r>
            <a:endParaRPr lang="en-US" altLang="zh-CN" sz="2000" b="1" dirty="0">
              <a:solidFill>
                <a:srgbClr val="002060"/>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45170266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1000"/>
                                        <p:tgtEl>
                                          <p:spTgt spid="18"/>
                                        </p:tgtEl>
                                      </p:cBhvr>
                                    </p:animEffect>
                                    <p:anim calcmode="lin" valueType="num">
                                      <p:cBhvr>
                                        <p:cTn id="19" dur="1000" fill="hold"/>
                                        <p:tgtEl>
                                          <p:spTgt spid="18"/>
                                        </p:tgtEl>
                                        <p:attrNameLst>
                                          <p:attrName>ppt_x</p:attrName>
                                        </p:attrNameLst>
                                      </p:cBhvr>
                                      <p:tavLst>
                                        <p:tav tm="0">
                                          <p:val>
                                            <p:strVal val="#ppt_x"/>
                                          </p:val>
                                        </p:tav>
                                        <p:tav tm="100000">
                                          <p:val>
                                            <p:strVal val="#ppt_x"/>
                                          </p:val>
                                        </p:tav>
                                      </p:tavLst>
                                    </p:anim>
                                    <p:anim calcmode="lin" valueType="num">
                                      <p:cBhvr>
                                        <p:cTn id="2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F57DF3CE-6E12-4DC7-B335-B174C2A81515}"/>
              </a:ext>
            </a:extLst>
          </p:cNvPr>
          <p:cNvCxnSpPr>
            <a:cxnSpLocks/>
          </p:cNvCxnSpPr>
          <p:nvPr>
            <p:custDataLst>
              <p:tags r:id="rId1"/>
            </p:custDataLst>
          </p:nvPr>
        </p:nvCxnSpPr>
        <p:spPr>
          <a:xfrm>
            <a:off x="0" y="764704"/>
            <a:ext cx="9144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67F7111D-6B97-42D9-9EAF-591DAD85B7AF}"/>
              </a:ext>
            </a:extLst>
          </p:cNvPr>
          <p:cNvSpPr/>
          <p:nvPr/>
        </p:nvSpPr>
        <p:spPr>
          <a:xfrm>
            <a:off x="-60705" y="150125"/>
            <a:ext cx="3775393" cy="523220"/>
          </a:xfrm>
          <a:prstGeom prst="rect">
            <a:avLst/>
          </a:prstGeom>
        </p:spPr>
        <p:txBody>
          <a:bodyPr wrap="none">
            <a:spAutoFit/>
          </a:bodyPr>
          <a:lstStyle/>
          <a:p>
            <a:pPr>
              <a:spcBef>
                <a:spcPts val="450"/>
              </a:spcBef>
              <a:buClr>
                <a:schemeClr val="accent1"/>
              </a:buClr>
              <a:buSzPct val="70000"/>
            </a:pPr>
            <a:r>
              <a:rPr lang="zh-CN" altLang="en-US" sz="2800" b="1" dirty="0">
                <a:solidFill>
                  <a:srgbClr val="002060"/>
                </a:solidFill>
                <a:latin typeface="Times New Roman" panose="02020603050405020304" pitchFamily="18" charset="0"/>
                <a:ea typeface="微软雅黑" panose="020B0503020204020204" pitchFamily="34" charset="-122"/>
              </a:rPr>
              <a:t>非线性规划最优性条件</a:t>
            </a:r>
            <a:endParaRPr lang="en-US" altLang="zh-CN" sz="2800" b="1" dirty="0">
              <a:solidFill>
                <a:srgbClr val="002060"/>
              </a:solidFill>
              <a:latin typeface="Times New Roman" panose="02020603050405020304" pitchFamily="18" charset="0"/>
              <a:ea typeface="微软雅黑" panose="020B0503020204020204" pitchFamily="34" charset="-122"/>
            </a:endParaRPr>
          </a:p>
        </p:txBody>
      </p:sp>
      <p:sp>
        <p:nvSpPr>
          <p:cNvPr id="4" name="矩形 3">
            <a:extLst>
              <a:ext uri="{FF2B5EF4-FFF2-40B4-BE49-F238E27FC236}">
                <a16:creationId xmlns:a16="http://schemas.microsoft.com/office/drawing/2014/main" id="{4F3D1182-1F6A-46A9-8852-4064EC52F898}"/>
              </a:ext>
            </a:extLst>
          </p:cNvPr>
          <p:cNvSpPr/>
          <p:nvPr/>
        </p:nvSpPr>
        <p:spPr>
          <a:xfrm>
            <a:off x="106083" y="908720"/>
            <a:ext cx="8253249" cy="707886"/>
          </a:xfrm>
          <a:prstGeom prst="rect">
            <a:avLst/>
          </a:prstGeom>
        </p:spPr>
        <p:txBody>
          <a:bodyPr wrap="square">
            <a:spAutoFit/>
          </a:bodyPr>
          <a:lstStyle/>
          <a:p>
            <a:r>
              <a:rPr lang="zh-CN" altLang="en-US" sz="2000" b="1" dirty="0">
                <a:latin typeface="Times New Roman" panose="02020603050405020304" pitchFamily="18" charset="0"/>
                <a:ea typeface="微软雅黑" panose="020B0503020204020204" pitchFamily="34" charset="-122"/>
              </a:rPr>
              <a:t>在高等数学课程中，已学过一元函数和多元函数的极值问题，现仅扼要说明如下。</a:t>
            </a:r>
            <a:endParaRPr lang="zh-CN" altLang="en-US" sz="2000" dirty="0"/>
          </a:p>
        </p:txBody>
      </p:sp>
      <p:sp>
        <p:nvSpPr>
          <p:cNvPr id="5" name="矩形 4">
            <a:extLst>
              <a:ext uri="{FF2B5EF4-FFF2-40B4-BE49-F238E27FC236}">
                <a16:creationId xmlns:a16="http://schemas.microsoft.com/office/drawing/2014/main" id="{E22E6442-4D21-4750-8358-1109FEE4796E}"/>
              </a:ext>
            </a:extLst>
          </p:cNvPr>
          <p:cNvSpPr/>
          <p:nvPr/>
        </p:nvSpPr>
        <p:spPr>
          <a:xfrm>
            <a:off x="-16864" y="1551827"/>
            <a:ext cx="2749471" cy="400110"/>
          </a:xfrm>
          <a:prstGeom prst="rect">
            <a:avLst/>
          </a:prstGeom>
        </p:spPr>
        <p:txBody>
          <a:bodyPr wrap="none">
            <a:spAutoFit/>
          </a:bodyPr>
          <a:lstStyle/>
          <a:p>
            <a:pPr>
              <a:spcBef>
                <a:spcPts val="450"/>
              </a:spcBef>
              <a:buClr>
                <a:schemeClr val="accent1"/>
              </a:buClr>
              <a:buSzPct val="70000"/>
            </a:pPr>
            <a:r>
              <a:rPr lang="en-US" altLang="zh-CN" sz="2000" b="1" dirty="0">
                <a:solidFill>
                  <a:srgbClr val="C00000"/>
                </a:solidFill>
                <a:latin typeface="Times New Roman" panose="02020603050405020304" pitchFamily="18" charset="0"/>
                <a:ea typeface="微软雅黑" panose="020B0503020204020204" pitchFamily="34" charset="-122"/>
              </a:rPr>
              <a:t>1. </a:t>
            </a:r>
            <a:r>
              <a:rPr lang="zh-CN" altLang="en-US" sz="2000" b="1" dirty="0">
                <a:solidFill>
                  <a:srgbClr val="C00000"/>
                </a:solidFill>
                <a:latin typeface="Times New Roman" panose="02020603050405020304" pitchFamily="18" charset="0"/>
                <a:ea typeface="微软雅黑" panose="020B0503020204020204" pitchFamily="34" charset="-122"/>
              </a:rPr>
              <a:t>局部极值和全局极值</a:t>
            </a:r>
            <a:endParaRPr lang="en-US" altLang="zh-CN" sz="2000" b="1" dirty="0">
              <a:solidFill>
                <a:srgbClr val="C00000"/>
              </a:solidFill>
              <a:latin typeface="Times New Roman" panose="02020603050405020304" pitchFamily="18" charset="0"/>
              <a:ea typeface="微软雅黑" panose="020B0503020204020204" pitchFamily="34" charset="-122"/>
            </a:endParaRPr>
          </a:p>
        </p:txBody>
      </p:sp>
      <p:sp>
        <p:nvSpPr>
          <p:cNvPr id="6" name="矩形 5">
            <a:extLst>
              <a:ext uri="{FF2B5EF4-FFF2-40B4-BE49-F238E27FC236}">
                <a16:creationId xmlns:a16="http://schemas.microsoft.com/office/drawing/2014/main" id="{98662CD5-1B06-42CF-8D92-A79E557A4731}"/>
              </a:ext>
            </a:extLst>
          </p:cNvPr>
          <p:cNvSpPr/>
          <p:nvPr/>
        </p:nvSpPr>
        <p:spPr>
          <a:xfrm>
            <a:off x="106085" y="1823526"/>
            <a:ext cx="8852339" cy="1422762"/>
          </a:xfrm>
          <a:prstGeom prst="rect">
            <a:avLst/>
          </a:prstGeom>
        </p:spPr>
        <p:txBody>
          <a:bodyPr wrap="square">
            <a:spAutoFit/>
          </a:bodyPr>
          <a:lstStyle/>
          <a:p>
            <a:pPr>
              <a:lnSpc>
                <a:spcPct val="150000"/>
              </a:lnSpc>
              <a:spcBef>
                <a:spcPts val="450"/>
              </a:spcBef>
              <a:buClr>
                <a:schemeClr val="accent1"/>
              </a:buClr>
              <a:buSzPct val="70000"/>
            </a:pPr>
            <a:r>
              <a:rPr lang="zh-CN" altLang="en-US" sz="2000" b="1" dirty="0">
                <a:solidFill>
                  <a:schemeClr val="accent1">
                    <a:lumMod val="75000"/>
                  </a:schemeClr>
                </a:solidFill>
                <a:latin typeface="Times New Roman" panose="02020603050405020304" pitchFamily="18" charset="0"/>
                <a:ea typeface="微软雅黑" panose="020B0503020204020204" pitchFamily="34" charset="-122"/>
              </a:rPr>
              <a:t>由于线性规划的目标函数为线性函数，可行域为凸集，因而求出的最优解就是在整个可行域上的全局最优解。非线性规划却不然，有时求出的某个解虽是一部分可行域上的极值点，但却并不一定是整个可行域上的全局最优解。</a:t>
            </a:r>
            <a:endParaRPr lang="en-US" altLang="zh-CN" sz="2000" b="1" dirty="0">
              <a:solidFill>
                <a:schemeClr val="accent1">
                  <a:lumMod val="75000"/>
                </a:schemeClr>
              </a:solidFill>
              <a:latin typeface="Times New Roman" panose="02020603050405020304" pitchFamily="18"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6DE1F9E-3587-4331-81FE-6558EF664574}"/>
                  </a:ext>
                </a:extLst>
              </p:cNvPr>
              <p:cNvSpPr/>
              <p:nvPr/>
            </p:nvSpPr>
            <p:spPr>
              <a:xfrm>
                <a:off x="-60705" y="3239400"/>
                <a:ext cx="9649072" cy="405624"/>
              </a:xfrm>
              <a:prstGeom prst="rect">
                <a:avLst/>
              </a:prstGeom>
            </p:spPr>
            <p:txBody>
              <a:bodyPr wrap="square">
                <a:spAutoFit/>
              </a:bodyPr>
              <a:lstStyle/>
              <a:p>
                <a:pPr>
                  <a:spcBef>
                    <a:spcPts val="450"/>
                  </a:spcBef>
                  <a:buClr>
                    <a:schemeClr val="accent1"/>
                  </a:buClr>
                  <a:buSzPct val="70000"/>
                </a:pPr>
                <a:r>
                  <a:rPr lang="zh-CN" altLang="en-US" sz="2000" b="1" dirty="0">
                    <a:solidFill>
                      <a:srgbClr val="C00000"/>
                    </a:solidFill>
                    <a:latin typeface="Times New Roman" panose="02020603050405020304" pitchFamily="18" charset="0"/>
                    <a:ea typeface="微软雅黑" panose="020B0503020204020204" pitchFamily="34" charset="-122"/>
                  </a:rPr>
                  <a:t>设 </a:t>
                </a:r>
                <a14:m>
                  <m:oMath xmlns:m="http://schemas.openxmlformats.org/officeDocument/2006/math">
                    <m:r>
                      <m:rPr>
                        <m:nor/>
                      </m:rPr>
                      <a:rPr lang="en-US" altLang="zh-CN" sz="2000" b="1" i="1" dirty="0">
                        <a:solidFill>
                          <a:srgbClr val="C00000"/>
                        </a:solidFill>
                        <a:latin typeface="Times New Roman" panose="02020603050405020304" pitchFamily="18" charset="0"/>
                        <a:ea typeface="微软雅黑" panose="020B0503020204020204" pitchFamily="34" charset="-122"/>
                      </a:rPr>
                      <m:t>f</m:t>
                    </m:r>
                    <m:r>
                      <m:rPr>
                        <m:nor/>
                      </m:rPr>
                      <a:rPr lang="en-US" altLang="zh-CN" sz="2000" b="1" i="1" dirty="0">
                        <a:solidFill>
                          <a:srgbClr val="C00000"/>
                        </a:solidFill>
                        <a:latin typeface="Times New Roman" panose="02020603050405020304" pitchFamily="18" charset="0"/>
                        <a:ea typeface="微软雅黑" panose="020B0503020204020204" pitchFamily="34" charset="-122"/>
                      </a:rPr>
                      <m:t> </m:t>
                    </m:r>
                    <m:r>
                      <m:rPr>
                        <m:nor/>
                      </m:rPr>
                      <a:rPr lang="en-US" altLang="zh-CN" sz="2000" b="1" dirty="0">
                        <a:solidFill>
                          <a:srgbClr val="C00000"/>
                        </a:solidFill>
                        <a:latin typeface="Times New Roman" panose="02020603050405020304" pitchFamily="18" charset="0"/>
                        <a:ea typeface="微软雅黑" panose="020B0503020204020204" pitchFamily="34" charset="-122"/>
                      </a:rPr>
                      <m:t>(</m:t>
                    </m:r>
                    <m:r>
                      <m:rPr>
                        <m:nor/>
                      </m:rPr>
                      <a:rPr lang="en-US" altLang="zh-CN" sz="2000" b="1" i="1" dirty="0">
                        <a:solidFill>
                          <a:srgbClr val="C00000"/>
                        </a:solidFill>
                        <a:latin typeface="Times New Roman" panose="02020603050405020304" pitchFamily="18" charset="0"/>
                        <a:ea typeface="微软雅黑" panose="020B0503020204020204" pitchFamily="34" charset="-122"/>
                      </a:rPr>
                      <m:t>X</m:t>
                    </m:r>
                    <m:r>
                      <m:rPr>
                        <m:nor/>
                      </m:rPr>
                      <a:rPr lang="en-US" altLang="zh-CN" sz="2000" b="1" dirty="0">
                        <a:solidFill>
                          <a:srgbClr val="C00000"/>
                        </a:solidFill>
                        <a:latin typeface="Times New Roman" panose="02020603050405020304" pitchFamily="18" charset="0"/>
                        <a:ea typeface="微软雅黑" panose="020B0503020204020204" pitchFamily="34" charset="-122"/>
                      </a:rPr>
                      <m:t>)</m:t>
                    </m:r>
                  </m:oMath>
                </a14:m>
                <a:r>
                  <a:rPr lang="zh-CN" altLang="en-US" sz="2000" b="1" dirty="0">
                    <a:solidFill>
                      <a:srgbClr val="C00000"/>
                    </a:solidFill>
                    <a:latin typeface="Times New Roman" panose="02020603050405020304" pitchFamily="18" charset="0"/>
                    <a:ea typeface="微软雅黑" panose="020B0503020204020204" pitchFamily="34" charset="-122"/>
                  </a:rPr>
                  <a:t>为 </a:t>
                </a:r>
                <a:r>
                  <a:rPr lang="en-US" altLang="zh-CN" sz="2000" b="1" i="1" dirty="0">
                    <a:solidFill>
                      <a:srgbClr val="C00000"/>
                    </a:solidFill>
                    <a:latin typeface="Times New Roman" panose="02020603050405020304" pitchFamily="18" charset="0"/>
                    <a:ea typeface="微软雅黑" panose="020B0503020204020204" pitchFamily="34" charset="-122"/>
                  </a:rPr>
                  <a:t>n </a:t>
                </a:r>
                <a:r>
                  <a:rPr lang="zh-CN" altLang="en-US" sz="2000" b="1" dirty="0">
                    <a:solidFill>
                      <a:srgbClr val="C00000"/>
                    </a:solidFill>
                    <a:latin typeface="Times New Roman" panose="02020603050405020304" pitchFamily="18" charset="0"/>
                    <a:ea typeface="微软雅黑" panose="020B0503020204020204" pitchFamily="34" charset="-122"/>
                  </a:rPr>
                  <a:t>维欧氏空间</a:t>
                </a:r>
                <a14:m>
                  <m:oMath xmlns:m="http://schemas.openxmlformats.org/officeDocument/2006/math">
                    <m:sSup>
                      <m:sSupPr>
                        <m:ctrlPr>
                          <a:rPr lang="zh-CN" altLang="en-US" sz="2000" b="1" i="1">
                            <a:solidFill>
                              <a:srgbClr val="C00000"/>
                            </a:solidFill>
                            <a:latin typeface="Cambria Math" panose="02040503050406030204" pitchFamily="18" charset="0"/>
                          </a:rPr>
                        </m:ctrlPr>
                      </m:sSupPr>
                      <m:e>
                        <m:r>
                          <a:rPr lang="en-US" altLang="zh-CN" sz="2000" b="1" i="1">
                            <a:solidFill>
                              <a:srgbClr val="C00000"/>
                            </a:solidFill>
                            <a:latin typeface="Cambria Math" panose="02040503050406030204" pitchFamily="18" charset="0"/>
                          </a:rPr>
                          <m:t> </m:t>
                        </m:r>
                        <m:r>
                          <a:rPr lang="zh-CN" altLang="en-US" sz="2000" b="1" i="1">
                            <a:solidFill>
                              <a:srgbClr val="C00000"/>
                            </a:solidFill>
                            <a:latin typeface="Cambria Math" panose="02040503050406030204" pitchFamily="18" charset="0"/>
                          </a:rPr>
                          <m:t>𝑬</m:t>
                        </m:r>
                      </m:e>
                      <m:sup>
                        <m:r>
                          <a:rPr lang="zh-CN" altLang="en-US" sz="2000" b="1" i="1">
                            <a:solidFill>
                              <a:srgbClr val="C00000"/>
                            </a:solidFill>
                            <a:latin typeface="Cambria Math" panose="02040503050406030204" pitchFamily="18" charset="0"/>
                          </a:rPr>
                          <m:t>𝒏</m:t>
                        </m:r>
                      </m:sup>
                    </m:sSup>
                  </m:oMath>
                </a14:m>
                <a:r>
                  <a:rPr lang="zh-CN" altLang="en-US" sz="2000" b="1" dirty="0">
                    <a:solidFill>
                      <a:srgbClr val="C00000"/>
                    </a:solidFill>
                    <a:latin typeface="Times New Roman" panose="02020603050405020304" pitchFamily="18" charset="0"/>
                    <a:ea typeface="微软雅黑" panose="020B0503020204020204" pitchFamily="34" charset="-122"/>
                  </a:rPr>
                  <a:t> 的某区域 </a:t>
                </a:r>
                <a:r>
                  <a:rPr lang="en-US" altLang="zh-CN" sz="2000" b="1" i="1" dirty="0">
                    <a:solidFill>
                      <a:srgbClr val="C00000"/>
                    </a:solidFill>
                    <a:latin typeface="Times New Roman" panose="02020603050405020304" pitchFamily="18" charset="0"/>
                    <a:ea typeface="微软雅黑" panose="020B0503020204020204" pitchFamily="34" charset="-122"/>
                  </a:rPr>
                  <a:t>R </a:t>
                </a:r>
                <a:r>
                  <a:rPr lang="zh-CN" altLang="en-US" sz="2000" b="1" dirty="0">
                    <a:solidFill>
                      <a:srgbClr val="C00000"/>
                    </a:solidFill>
                    <a:latin typeface="Times New Roman" panose="02020603050405020304" pitchFamily="18" charset="0"/>
                    <a:ea typeface="微软雅黑" panose="020B0503020204020204" pitchFamily="34" charset="-122"/>
                  </a:rPr>
                  <a:t>上的 </a:t>
                </a:r>
                <a:r>
                  <a:rPr lang="en-US" altLang="zh-CN" sz="2000" b="1" i="1" dirty="0">
                    <a:solidFill>
                      <a:srgbClr val="C00000"/>
                    </a:solidFill>
                    <a:latin typeface="Times New Roman" panose="02020603050405020304" pitchFamily="18" charset="0"/>
                    <a:ea typeface="微软雅黑" panose="020B0503020204020204" pitchFamily="34" charset="-122"/>
                  </a:rPr>
                  <a:t>n </a:t>
                </a:r>
                <a:r>
                  <a:rPr lang="zh-CN" altLang="en-US" sz="2000" b="1" dirty="0">
                    <a:solidFill>
                      <a:srgbClr val="C00000"/>
                    </a:solidFill>
                    <a:latin typeface="Times New Roman" panose="02020603050405020304" pitchFamily="18" charset="0"/>
                    <a:ea typeface="微软雅黑" panose="020B0503020204020204" pitchFamily="34" charset="-122"/>
                  </a:rPr>
                  <a:t>元实函数，其中</a:t>
                </a:r>
                <a14:m>
                  <m:oMath xmlns:m="http://schemas.openxmlformats.org/officeDocument/2006/math">
                    <m:r>
                      <a:rPr lang="en-US" altLang="zh-CN" sz="2000" b="1" i="1" dirty="0">
                        <a:solidFill>
                          <a:srgbClr val="C00000"/>
                        </a:solidFill>
                        <a:latin typeface="Cambria Math" panose="02040503050406030204" pitchFamily="18" charset="0"/>
                      </a:rPr>
                      <m:t>𝑿</m:t>
                    </m:r>
                    <m:r>
                      <a:rPr lang="zh-CN" altLang="en-US" sz="2000" b="1">
                        <a:solidFill>
                          <a:srgbClr val="C00000"/>
                        </a:solidFill>
                        <a:latin typeface="Cambria Math" panose="02040503050406030204" pitchFamily="18" charset="0"/>
                      </a:rPr>
                      <m:t>=</m:t>
                    </m:r>
                    <m:sSup>
                      <m:sSupPr>
                        <m:ctrlPr>
                          <a:rPr lang="zh-CN" altLang="en-US" sz="2000" b="1" i="1">
                            <a:solidFill>
                              <a:srgbClr val="C00000"/>
                            </a:solidFill>
                            <a:latin typeface="Cambria Math" panose="02040503050406030204" pitchFamily="18" charset="0"/>
                          </a:rPr>
                        </m:ctrlPr>
                      </m:sSupPr>
                      <m:e>
                        <m:d>
                          <m:dPr>
                            <m:ctrlPr>
                              <a:rPr lang="zh-CN" altLang="en-US" sz="2000" b="1" i="1">
                                <a:solidFill>
                                  <a:srgbClr val="C00000"/>
                                </a:solidFill>
                                <a:latin typeface="Cambria Math" panose="02040503050406030204" pitchFamily="18" charset="0"/>
                              </a:rPr>
                            </m:ctrlPr>
                          </m:dPr>
                          <m:e>
                            <m:sSub>
                              <m:sSubPr>
                                <m:ctrlPr>
                                  <a:rPr lang="zh-CN" altLang="en-US" sz="2000" b="1" i="1">
                                    <a:solidFill>
                                      <a:srgbClr val="C00000"/>
                                    </a:solidFill>
                                    <a:latin typeface="Cambria Math" panose="02040503050406030204" pitchFamily="18" charset="0"/>
                                  </a:rPr>
                                </m:ctrlPr>
                              </m:sSubPr>
                              <m:e>
                                <m:r>
                                  <a:rPr lang="zh-CN" altLang="en-US" sz="2000" b="1" i="1">
                                    <a:solidFill>
                                      <a:srgbClr val="C00000"/>
                                    </a:solidFill>
                                    <a:latin typeface="Cambria Math" panose="02040503050406030204" pitchFamily="18" charset="0"/>
                                  </a:rPr>
                                  <m:t>𝒙</m:t>
                                </m:r>
                              </m:e>
                              <m:sub>
                                <m:r>
                                  <a:rPr lang="zh-CN" altLang="en-US" sz="2000" b="1" i="1">
                                    <a:solidFill>
                                      <a:srgbClr val="C00000"/>
                                    </a:solidFill>
                                    <a:latin typeface="Cambria Math" panose="02040503050406030204" pitchFamily="18" charset="0"/>
                                  </a:rPr>
                                  <m:t>𝟏</m:t>
                                </m:r>
                              </m:sub>
                            </m:sSub>
                            <m:r>
                              <a:rPr lang="zh-CN" altLang="en-US" sz="2000" b="1">
                                <a:solidFill>
                                  <a:srgbClr val="C00000"/>
                                </a:solidFill>
                                <a:latin typeface="Cambria Math" panose="02040503050406030204" pitchFamily="18" charset="0"/>
                              </a:rPr>
                              <m:t>,</m:t>
                            </m:r>
                            <m:sSub>
                              <m:sSubPr>
                                <m:ctrlPr>
                                  <a:rPr lang="zh-CN" altLang="en-US"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   </m:t>
                                </m:r>
                                <m:r>
                                  <a:rPr lang="zh-CN" altLang="en-US" sz="2000" b="1" i="1">
                                    <a:solidFill>
                                      <a:srgbClr val="C00000"/>
                                    </a:solidFill>
                                    <a:latin typeface="Cambria Math" panose="02040503050406030204" pitchFamily="18" charset="0"/>
                                  </a:rPr>
                                  <m:t>𝒙</m:t>
                                </m:r>
                              </m:e>
                              <m:sub>
                                <m:r>
                                  <a:rPr lang="zh-CN" altLang="en-US" sz="2000" b="1" i="1">
                                    <a:solidFill>
                                      <a:srgbClr val="C00000"/>
                                    </a:solidFill>
                                    <a:latin typeface="Cambria Math" panose="02040503050406030204" pitchFamily="18" charset="0"/>
                                  </a:rPr>
                                  <m:t>𝟐</m:t>
                                </m:r>
                              </m:sub>
                            </m:sSub>
                            <m:r>
                              <a:rPr lang="zh-CN" altLang="en-US" sz="2000" b="1">
                                <a:solidFill>
                                  <a:srgbClr val="C00000"/>
                                </a:solidFill>
                                <a:latin typeface="Cambria Math" panose="02040503050406030204" pitchFamily="18" charset="0"/>
                              </a:rPr>
                              <m:t>,⋯</m:t>
                            </m:r>
                            <m:sSub>
                              <m:sSubPr>
                                <m:ctrlPr>
                                  <a:rPr lang="zh-CN" altLang="en-US" sz="2000" b="1" i="1">
                                    <a:solidFill>
                                      <a:srgbClr val="C00000"/>
                                    </a:solidFill>
                                    <a:latin typeface="Cambria Math" panose="02040503050406030204" pitchFamily="18" charset="0"/>
                                  </a:rPr>
                                </m:ctrlPr>
                              </m:sSubPr>
                              <m:e>
                                <m:r>
                                  <a:rPr lang="zh-CN" altLang="en-US" sz="2000" b="1" i="1">
                                    <a:solidFill>
                                      <a:srgbClr val="C00000"/>
                                    </a:solidFill>
                                    <a:latin typeface="Cambria Math" panose="02040503050406030204" pitchFamily="18" charset="0"/>
                                  </a:rPr>
                                  <m:t>𝒙</m:t>
                                </m:r>
                              </m:e>
                              <m:sub>
                                <m:r>
                                  <a:rPr lang="zh-CN" altLang="en-US" sz="2000" b="1" i="1">
                                    <a:solidFill>
                                      <a:srgbClr val="C00000"/>
                                    </a:solidFill>
                                    <a:latin typeface="Cambria Math" panose="02040503050406030204" pitchFamily="18" charset="0"/>
                                  </a:rPr>
                                  <m:t>𝒏</m:t>
                                </m:r>
                              </m:sub>
                            </m:sSub>
                          </m:e>
                        </m:d>
                      </m:e>
                      <m:sup>
                        <m:r>
                          <a:rPr lang="zh-CN" altLang="en-US" sz="2000" b="1" i="1">
                            <a:solidFill>
                              <a:srgbClr val="C00000"/>
                            </a:solidFill>
                            <a:latin typeface="Cambria Math" panose="02040503050406030204" pitchFamily="18" charset="0"/>
                          </a:rPr>
                          <m:t>𝑻</m:t>
                        </m:r>
                      </m:sup>
                    </m:sSup>
                    <m:r>
                      <a:rPr lang="zh-CN" altLang="en-US" sz="2000" b="1" i="1">
                        <a:solidFill>
                          <a:srgbClr val="C00000"/>
                        </a:solidFill>
                        <a:latin typeface="Cambria Math" panose="02040503050406030204" pitchFamily="18" charset="0"/>
                      </a:rPr>
                      <m:t> </m:t>
                    </m:r>
                  </m:oMath>
                </a14:m>
                <a:r>
                  <a:rPr lang="zh-CN" altLang="en-US" sz="2000" b="1" dirty="0">
                    <a:solidFill>
                      <a:srgbClr val="C00000"/>
                    </a:solidFill>
                    <a:latin typeface="Times New Roman" panose="02020603050405020304" pitchFamily="18" charset="0"/>
                    <a:ea typeface="微软雅黑" panose="020B0503020204020204" pitchFamily="34" charset="-122"/>
                  </a:rPr>
                  <a:t>。</a:t>
                </a:r>
                <a:endParaRPr lang="zh-CN" altLang="en-US" sz="2000" dirty="0">
                  <a:solidFill>
                    <a:srgbClr val="C00000"/>
                  </a:solidFill>
                  <a:latin typeface="Times New Roman" panose="02020603050405020304" pitchFamily="18" charset="0"/>
                  <a:ea typeface="微软雅黑" panose="020B0503020204020204" pitchFamily="34" charset="-122"/>
                </a:endParaRPr>
              </a:p>
            </p:txBody>
          </p:sp>
        </mc:Choice>
        <mc:Fallback xmlns="">
          <p:sp>
            <p:nvSpPr>
              <p:cNvPr id="7" name="矩形 6">
                <a:extLst>
                  <a:ext uri="{FF2B5EF4-FFF2-40B4-BE49-F238E27FC236}">
                    <a16:creationId xmlns:a16="http://schemas.microsoft.com/office/drawing/2014/main" id="{16DE1F9E-3587-4331-81FE-6558EF664574}"/>
                  </a:ext>
                </a:extLst>
              </p:cNvPr>
              <p:cNvSpPr>
                <a:spLocks noRot="1" noChangeAspect="1" noMove="1" noResize="1" noEditPoints="1" noAdjustHandles="1" noChangeArrowheads="1" noChangeShapeType="1" noTextEdit="1"/>
              </p:cNvSpPr>
              <p:nvPr/>
            </p:nvSpPr>
            <p:spPr>
              <a:xfrm>
                <a:off x="-60705" y="3239400"/>
                <a:ext cx="9649072" cy="405624"/>
              </a:xfrm>
              <a:prstGeom prst="rect">
                <a:avLst/>
              </a:prstGeom>
              <a:blipFill>
                <a:blip r:embed="rId3"/>
                <a:stretch>
                  <a:fillRect l="-632" t="-5970" r="-695" b="-253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FAF451B-0AF5-492A-8C50-886B5674F75A}"/>
                  </a:ext>
                </a:extLst>
              </p:cNvPr>
              <p:cNvSpPr/>
              <p:nvPr/>
            </p:nvSpPr>
            <p:spPr>
              <a:xfrm>
                <a:off x="35496" y="3717032"/>
                <a:ext cx="9018187" cy="1631216"/>
              </a:xfrm>
              <a:prstGeom prst="rect">
                <a:avLst/>
              </a:prstGeom>
              <a:solidFill>
                <a:schemeClr val="accent3">
                  <a:lumMod val="20000"/>
                  <a:lumOff val="80000"/>
                </a:schemeClr>
              </a:solidFill>
            </p:spPr>
            <p:txBody>
              <a:bodyPr wrap="square">
                <a:spAutoFit/>
              </a:bodyPr>
              <a:lstStyle/>
              <a:p>
                <a:r>
                  <a:rPr lang="zh-CN" altLang="en-US" sz="2000" b="1" dirty="0">
                    <a:latin typeface="Times New Roman" panose="02020603050405020304" pitchFamily="18" charset="0"/>
                    <a:ea typeface="微软雅黑" panose="020B0503020204020204" pitchFamily="34" charset="-122"/>
                  </a:rPr>
                  <a:t>对于</a:t>
                </a:r>
                <a14:m>
                  <m:oMath xmlns:m="http://schemas.openxmlformats.org/officeDocument/2006/math">
                    <m:sSup>
                      <m:sSupPr>
                        <m:ctrlPr>
                          <a:rPr lang="en-US" altLang="zh-CN" sz="2000" b="1" i="1" dirty="0">
                            <a:latin typeface="Cambria Math" panose="02040503050406030204" pitchFamily="18" charset="0"/>
                          </a:rPr>
                        </m:ctrlPr>
                      </m:sSupPr>
                      <m:e>
                        <m:r>
                          <a:rPr lang="en-US" altLang="zh-CN" sz="2000" b="1" i="1" dirty="0">
                            <a:latin typeface="Cambria Math" panose="02040503050406030204" pitchFamily="18" charset="0"/>
                          </a:rPr>
                          <m:t>𝑿</m:t>
                        </m:r>
                      </m:e>
                      <m:sup>
                        <m:r>
                          <a:rPr lang="en-US" altLang="zh-CN" sz="2000" b="1" dirty="0">
                            <a:latin typeface="Cambria Math" panose="02040503050406030204" pitchFamily="18" charset="0"/>
                          </a:rPr>
                          <m:t>∗</m:t>
                        </m:r>
                      </m:sup>
                    </m:sSup>
                    <m:r>
                      <a:rPr lang="en-US" altLang="zh-CN" sz="2000" b="1" dirty="0">
                        <a:latin typeface="Cambria Math" panose="02040503050406030204" pitchFamily="18" charset="0"/>
                      </a:rPr>
                      <m:t>∈</m:t>
                    </m:r>
                    <m:r>
                      <a:rPr lang="en-US" altLang="zh-CN" sz="2000" b="1" i="1" dirty="0">
                        <a:latin typeface="Cambria Math" panose="02040503050406030204" pitchFamily="18" charset="0"/>
                      </a:rPr>
                      <m:t>𝑹</m:t>
                    </m:r>
                  </m:oMath>
                </a14:m>
                <a:r>
                  <a:rPr lang="zh-CN" altLang="en-US" sz="2000" b="1" dirty="0">
                    <a:latin typeface="Times New Roman" panose="02020603050405020304" pitchFamily="18" charset="0"/>
                    <a:ea typeface="微软雅黑" panose="020B0503020204020204" pitchFamily="34" charset="-122"/>
                  </a:rPr>
                  <a:t>，如果存在某个</a:t>
                </a:r>
                <a:r>
                  <a:rPr lang="en-US" altLang="zh-CN" sz="2000" b="1" dirty="0">
                    <a:latin typeface="Times New Roman" panose="02020603050405020304" pitchFamily="18" charset="0"/>
                    <a:ea typeface="微软雅黑" panose="020B0503020204020204" pitchFamily="34" charset="-122"/>
                  </a:rPr>
                  <a:t> </a:t>
                </a:r>
                <a14:m>
                  <m:oMath xmlns:m="http://schemas.openxmlformats.org/officeDocument/2006/math">
                    <m:r>
                      <a:rPr lang="zh-CN" altLang="en-US" sz="2000" b="1" i="1">
                        <a:latin typeface="Cambria Math" panose="02040503050406030204" pitchFamily="18" charset="0"/>
                      </a:rPr>
                      <m:t>𝜺</m:t>
                    </m:r>
                    <m:r>
                      <a:rPr lang="zh-CN" altLang="en-US" sz="2000" b="1">
                        <a:latin typeface="Cambria Math" panose="02040503050406030204" pitchFamily="18" charset="0"/>
                      </a:rPr>
                      <m:t>&gt;</m:t>
                    </m:r>
                    <m:r>
                      <a:rPr lang="zh-CN" altLang="en-US" sz="2000" b="1" i="1">
                        <a:latin typeface="Cambria Math" panose="02040503050406030204" pitchFamily="18" charset="0"/>
                      </a:rPr>
                      <m:t>𝟎</m:t>
                    </m:r>
                  </m:oMath>
                </a14:m>
                <a:r>
                  <a:rPr lang="zh-CN" altLang="en-US" sz="2000" b="1" dirty="0">
                    <a:latin typeface="Times New Roman" panose="02020603050405020304" pitchFamily="18" charset="0"/>
                    <a:ea typeface="微软雅黑" panose="020B0503020204020204" pitchFamily="34" charset="-122"/>
                  </a:rPr>
                  <a:t>，使所有与 </a:t>
                </a:r>
                <a14:m>
                  <m:oMath xmlns:m="http://schemas.openxmlformats.org/officeDocument/2006/math">
                    <m:sSup>
                      <m:sSupPr>
                        <m:ctrlPr>
                          <a:rPr lang="en-US" altLang="zh-CN" sz="2000" b="1" i="1" dirty="0">
                            <a:latin typeface="Cambria Math" panose="02040503050406030204" pitchFamily="18" charset="0"/>
                          </a:rPr>
                        </m:ctrlPr>
                      </m:sSupPr>
                      <m:e>
                        <m:r>
                          <a:rPr lang="en-US" altLang="zh-CN" sz="2000" b="1" i="1" dirty="0">
                            <a:latin typeface="Cambria Math" panose="02040503050406030204" pitchFamily="18" charset="0"/>
                          </a:rPr>
                          <m:t>𝑿</m:t>
                        </m:r>
                      </m:e>
                      <m:sup>
                        <m:r>
                          <a:rPr lang="en-US" altLang="zh-CN" sz="2000" b="1" dirty="0">
                            <a:latin typeface="Cambria Math" panose="02040503050406030204" pitchFamily="18" charset="0"/>
                          </a:rPr>
                          <m:t>∗</m:t>
                        </m:r>
                      </m:sup>
                    </m:sSup>
                  </m:oMath>
                </a14:m>
                <a:r>
                  <a:rPr lang="zh-CN" altLang="en-US" sz="2000" b="1" dirty="0">
                    <a:latin typeface="Times New Roman" panose="02020603050405020304" pitchFamily="18" charset="0"/>
                    <a:ea typeface="微软雅黑" panose="020B0503020204020204" pitchFamily="34" charset="-122"/>
                  </a:rPr>
                  <a:t> 的距离小于</a:t>
                </a:r>
                <a14:m>
                  <m:oMath xmlns:m="http://schemas.openxmlformats.org/officeDocument/2006/math">
                    <m:r>
                      <a:rPr lang="en-US" altLang="zh-CN" sz="2000" b="1">
                        <a:latin typeface="Cambria Math" panose="02040503050406030204" pitchFamily="18" charset="0"/>
                      </a:rPr>
                      <m:t> </m:t>
                    </m:r>
                    <m:r>
                      <a:rPr lang="zh-CN" altLang="en-US" sz="2000" b="1" i="1">
                        <a:latin typeface="Cambria Math" panose="02040503050406030204" pitchFamily="18" charset="0"/>
                      </a:rPr>
                      <m:t>𝜺</m:t>
                    </m:r>
                  </m:oMath>
                </a14:m>
                <a:r>
                  <a:rPr lang="zh-CN" altLang="en-US" sz="2000" b="1" dirty="0">
                    <a:latin typeface="Times New Roman" panose="02020603050405020304" pitchFamily="18" charset="0"/>
                    <a:ea typeface="微软雅黑" panose="020B0503020204020204" pitchFamily="34" charset="-122"/>
                  </a:rPr>
                  <a:t> 的</a:t>
                </a:r>
                <a14:m>
                  <m:oMath xmlns:m="http://schemas.openxmlformats.org/officeDocument/2006/math">
                    <m:r>
                      <a:rPr lang="en-US" altLang="zh-CN" sz="2000" b="1" i="1" dirty="0">
                        <a:latin typeface="Cambria Math" panose="02040503050406030204" pitchFamily="18" charset="0"/>
                      </a:rPr>
                      <m:t>𝑿</m:t>
                    </m:r>
                    <m:r>
                      <a:rPr lang="en-US" altLang="zh-CN" sz="2000" b="1" dirty="0">
                        <a:latin typeface="Cambria Math" panose="02040503050406030204" pitchFamily="18" charset="0"/>
                      </a:rPr>
                      <m:t>∈</m:t>
                    </m:r>
                    <m:r>
                      <a:rPr lang="en-US" altLang="zh-CN" sz="2000" b="1" i="1" dirty="0">
                        <a:latin typeface="Cambria Math" panose="02040503050406030204" pitchFamily="18" charset="0"/>
                      </a:rPr>
                      <m:t>𝑹</m:t>
                    </m:r>
                  </m:oMath>
                </a14:m>
                <a:r>
                  <a:rPr lang="en-US" altLang="zh-CN" sz="2000" b="1" dirty="0">
                    <a:latin typeface="Times New Roman" panose="02020603050405020304" pitchFamily="18" charset="0"/>
                    <a:ea typeface="微软雅黑" panose="020B0503020204020204" pitchFamily="34" charset="-122"/>
                  </a:rPr>
                  <a:t> </a:t>
                </a:r>
                <a:r>
                  <a:rPr lang="zh-CN" altLang="en-US" sz="2000" b="1" dirty="0">
                    <a:latin typeface="Times New Roman" panose="02020603050405020304" pitchFamily="18" charset="0"/>
                    <a:ea typeface="微软雅黑" panose="020B0503020204020204" pitchFamily="34" charset="-122"/>
                  </a:rPr>
                  <a:t>（即</a:t>
                </a:r>
                <a14:m>
                  <m:oMath xmlns:m="http://schemas.openxmlformats.org/officeDocument/2006/math">
                    <m:r>
                      <a:rPr lang="en-US" altLang="zh-CN" sz="2000" b="1" i="1" dirty="0">
                        <a:latin typeface="Cambria Math" panose="02040503050406030204" pitchFamily="18" charset="0"/>
                      </a:rPr>
                      <m:t>𝑿</m:t>
                    </m:r>
                    <m:r>
                      <a:rPr lang="en-US" altLang="zh-CN" sz="2000" b="1" dirty="0">
                        <a:latin typeface="Cambria Math" panose="02040503050406030204" pitchFamily="18" charset="0"/>
                      </a:rPr>
                      <m:t>∈</m:t>
                    </m:r>
                    <m:r>
                      <a:rPr lang="en-US" altLang="zh-CN" sz="2000" b="1" i="1" dirty="0">
                        <a:latin typeface="Cambria Math" panose="02040503050406030204" pitchFamily="18" charset="0"/>
                      </a:rPr>
                      <m:t>𝑹</m:t>
                    </m:r>
                  </m:oMath>
                </a14:m>
                <a:r>
                  <a:rPr lang="zh-CN" altLang="en-US" sz="2000" b="1" dirty="0">
                    <a:latin typeface="Times New Roman" panose="02020603050405020304" pitchFamily="18" charset="0"/>
                    <a:ea typeface="微软雅黑" panose="020B0503020204020204" pitchFamily="34" charset="-122"/>
                  </a:rPr>
                  <a:t>且</a:t>
                </a:r>
                <a14:m>
                  <m:oMath xmlns:m="http://schemas.openxmlformats.org/officeDocument/2006/math">
                    <m:d>
                      <m:dPr>
                        <m:begChr m:val="‖"/>
                        <m:endChr m:val="‖"/>
                        <m:ctrlPr>
                          <a:rPr lang="en-US" altLang="zh-CN" sz="2000" b="1" i="1" dirty="0">
                            <a:latin typeface="Cambria Math" panose="02040503050406030204" pitchFamily="18" charset="0"/>
                          </a:rPr>
                        </m:ctrlPr>
                      </m:dPr>
                      <m:e>
                        <m:r>
                          <a:rPr lang="en-US" altLang="zh-CN" sz="2000" b="1" i="1" dirty="0">
                            <a:latin typeface="Cambria Math" panose="02040503050406030204" pitchFamily="18" charset="0"/>
                          </a:rPr>
                          <m:t>𝑿</m:t>
                        </m:r>
                        <m:r>
                          <a:rPr lang="en-US" altLang="zh-CN" sz="2000" b="1" dirty="0">
                            <a:latin typeface="Cambria Math" panose="02040503050406030204" pitchFamily="18" charset="0"/>
                          </a:rPr>
                          <m:t>−</m:t>
                        </m:r>
                        <m:sSup>
                          <m:sSupPr>
                            <m:ctrlPr>
                              <a:rPr lang="en-US" altLang="zh-CN" sz="2000" b="1" i="1" dirty="0">
                                <a:latin typeface="Cambria Math" panose="02040503050406030204" pitchFamily="18" charset="0"/>
                              </a:rPr>
                            </m:ctrlPr>
                          </m:sSupPr>
                          <m:e>
                            <m:r>
                              <a:rPr lang="en-US" altLang="zh-CN" sz="2000" b="1" i="1" dirty="0">
                                <a:latin typeface="Cambria Math" panose="02040503050406030204" pitchFamily="18" charset="0"/>
                              </a:rPr>
                              <m:t>𝑿</m:t>
                            </m:r>
                          </m:e>
                          <m:sup>
                            <m:r>
                              <a:rPr lang="en-US" altLang="zh-CN" sz="2000" b="1" dirty="0">
                                <a:latin typeface="Cambria Math" panose="02040503050406030204" pitchFamily="18" charset="0"/>
                              </a:rPr>
                              <m:t>∗</m:t>
                            </m:r>
                          </m:sup>
                        </m:sSup>
                      </m:e>
                    </m:d>
                    <m:r>
                      <a:rPr lang="en-US" altLang="zh-CN" sz="2000" b="1" dirty="0">
                        <a:latin typeface="Cambria Math" panose="02040503050406030204" pitchFamily="18" charset="0"/>
                      </a:rPr>
                      <m:t>&lt;</m:t>
                    </m:r>
                    <m:r>
                      <a:rPr lang="en-US" altLang="zh-CN" sz="2000" b="1" i="1" dirty="0">
                        <a:latin typeface="Cambria Math" panose="02040503050406030204" pitchFamily="18" charset="0"/>
                      </a:rPr>
                      <m:t>𝜺</m:t>
                    </m:r>
                  </m:oMath>
                </a14:m>
                <a:r>
                  <a:rPr lang="en-US" altLang="zh-CN" sz="2000" b="1" dirty="0">
                    <a:latin typeface="Times New Roman" panose="02020603050405020304" pitchFamily="18" charset="0"/>
                    <a:ea typeface="微软雅黑" panose="020B0503020204020204" pitchFamily="34" charset="-122"/>
                  </a:rPr>
                  <a:t>)</a:t>
                </a:r>
                <a:r>
                  <a:rPr lang="zh-CN" altLang="en-US" sz="2000" b="1" dirty="0">
                    <a:latin typeface="Times New Roman" panose="02020603050405020304" pitchFamily="18" charset="0"/>
                    <a:ea typeface="微软雅黑" panose="020B0503020204020204" pitchFamily="34" charset="-122"/>
                  </a:rPr>
                  <a:t>均满足不等式</a:t>
                </a:r>
                <a14:m>
                  <m:oMath xmlns:m="http://schemas.openxmlformats.org/officeDocument/2006/math">
                    <m:r>
                      <a:rPr lang="en-US" altLang="zh-CN" sz="2000" b="1" dirty="0">
                        <a:latin typeface="Cambria Math" panose="02040503050406030204" pitchFamily="18" charset="0"/>
                        <a:ea typeface="微软雅黑" panose="020B0503020204020204" pitchFamily="34" charset="-122"/>
                      </a:rPr>
                      <m:t> </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r>
                      <a:rPr lang="zh-CN" altLang="en-US" sz="2000" b="1">
                        <a:latin typeface="Cambria Math" panose="02040503050406030204" pitchFamily="18" charset="0"/>
                      </a:rPr>
                      <m:t>≥</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i="1" baseline="30000" dirty="0">
                        <a:latin typeface="Times New Roman" panose="02020603050405020304" pitchFamily="18" charset="0"/>
                        <a:ea typeface="微软雅黑" panose="020B0503020204020204" pitchFamily="34" charset="-122"/>
                      </a:rPr>
                      <m:t>∗</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，则称</a:t>
                </a:r>
                <a14:m>
                  <m:oMath xmlns:m="http://schemas.openxmlformats.org/officeDocument/2006/math">
                    <m:sSup>
                      <m:sSupPr>
                        <m:ctrlPr>
                          <a:rPr lang="en-US" altLang="zh-CN" sz="2000" b="1" i="1" dirty="0">
                            <a:latin typeface="Cambria Math" panose="02040503050406030204" pitchFamily="18" charset="0"/>
                          </a:rPr>
                        </m:ctrlPr>
                      </m:sSupPr>
                      <m:e>
                        <m:r>
                          <a:rPr lang="en-US" altLang="zh-CN" sz="2000" b="1" i="1" dirty="0">
                            <a:latin typeface="Cambria Math" panose="02040503050406030204" pitchFamily="18" charset="0"/>
                          </a:rPr>
                          <m:t>𝑿</m:t>
                        </m:r>
                      </m:e>
                      <m:sup>
                        <m:r>
                          <a:rPr lang="en-US" altLang="zh-CN" sz="2000" b="1" dirty="0">
                            <a:latin typeface="Cambria Math" panose="02040503050406030204" pitchFamily="18" charset="0"/>
                          </a:rPr>
                          <m:t>∗</m:t>
                        </m:r>
                      </m:sup>
                    </m:sSup>
                  </m:oMath>
                </a14:m>
                <a:r>
                  <a:rPr lang="zh-CN" altLang="en-US" sz="2000" b="1" dirty="0">
                    <a:latin typeface="Times New Roman" panose="02020603050405020304" pitchFamily="18" charset="0"/>
                    <a:ea typeface="微软雅黑" panose="020B0503020204020204" pitchFamily="34" charset="-122"/>
                  </a:rPr>
                  <a:t>为 </a:t>
                </a:r>
                <a14:m>
                  <m:oMath xmlns:m="http://schemas.openxmlformats.org/officeDocument/2006/math">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oMath>
                </a14:m>
                <a:r>
                  <a:rPr lang="en-US" altLang="zh-CN" sz="2000" b="1" i="1" dirty="0">
                    <a:latin typeface="Times New Roman" panose="02020603050405020304" pitchFamily="18" charset="0"/>
                    <a:ea typeface="微软雅黑" panose="020B0503020204020204" pitchFamily="34" charset="-122"/>
                  </a:rPr>
                  <a:t> </a:t>
                </a:r>
                <a:r>
                  <a:rPr lang="zh-CN" altLang="en-US" sz="2000" b="1" dirty="0">
                    <a:latin typeface="Times New Roman" panose="02020603050405020304" pitchFamily="18" charset="0"/>
                    <a:ea typeface="微软雅黑" panose="020B0503020204020204" pitchFamily="34" charset="-122"/>
                  </a:rPr>
                  <a:t>在</a:t>
                </a:r>
                <a:r>
                  <a:rPr lang="en-US" altLang="zh-CN" sz="2000" b="1" i="1" dirty="0">
                    <a:latin typeface="Times New Roman" panose="02020603050405020304" pitchFamily="18" charset="0"/>
                    <a:ea typeface="微软雅黑" panose="020B0503020204020204" pitchFamily="34" charset="-122"/>
                  </a:rPr>
                  <a:t>R </a:t>
                </a:r>
                <a:r>
                  <a:rPr lang="zh-CN" altLang="en-US" sz="2000" b="1" dirty="0">
                    <a:latin typeface="Times New Roman" panose="02020603050405020304" pitchFamily="18" charset="0"/>
                    <a:ea typeface="微软雅黑" panose="020B0503020204020204" pitchFamily="34" charset="-122"/>
                  </a:rPr>
                  <a:t>上的</a:t>
                </a:r>
                <a:r>
                  <a:rPr lang="zh-CN" altLang="en-US" sz="2000" b="1" dirty="0">
                    <a:solidFill>
                      <a:srgbClr val="C00000"/>
                    </a:solidFill>
                    <a:latin typeface="Times New Roman" panose="02020603050405020304" pitchFamily="18" charset="0"/>
                    <a:ea typeface="微软雅黑" panose="020B0503020204020204" pitchFamily="34" charset="-122"/>
                  </a:rPr>
                  <a:t>局部极小点</a:t>
                </a:r>
                <a:r>
                  <a:rPr lang="zh-CN" altLang="en-US" sz="2000" b="1" dirty="0">
                    <a:latin typeface="Times New Roman" panose="02020603050405020304" pitchFamily="18" charset="0"/>
                    <a:ea typeface="微软雅黑" panose="020B0503020204020204" pitchFamily="34" charset="-122"/>
                  </a:rPr>
                  <a:t>（或相对极小点），</a:t>
                </a:r>
                <a14:m>
                  <m:oMath xmlns:m="http://schemas.openxmlformats.org/officeDocument/2006/math">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i="1" baseline="30000" dirty="0">
                        <a:latin typeface="Times New Roman" panose="02020603050405020304" pitchFamily="18" charset="0"/>
                        <a:ea typeface="微软雅黑" panose="020B0503020204020204" pitchFamily="34" charset="-122"/>
                      </a:rPr>
                      <m:t>∗</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为</a:t>
                </a:r>
                <a:r>
                  <a:rPr lang="zh-CN" altLang="en-US" sz="2000" b="1" dirty="0">
                    <a:solidFill>
                      <a:srgbClr val="C00000"/>
                    </a:solidFill>
                    <a:latin typeface="Times New Roman" panose="02020603050405020304" pitchFamily="18" charset="0"/>
                    <a:ea typeface="微软雅黑" panose="020B0503020204020204" pitchFamily="34" charset="-122"/>
                  </a:rPr>
                  <a:t>局部极小值</a:t>
                </a:r>
                <a:r>
                  <a:rPr lang="zh-CN" altLang="en-US" sz="2000" b="1" dirty="0">
                    <a:latin typeface="Times New Roman" panose="02020603050405020304" pitchFamily="18" charset="0"/>
                    <a:ea typeface="微软雅黑" panose="020B0503020204020204" pitchFamily="34" charset="-122"/>
                  </a:rPr>
                  <a:t>。若对于所有</a:t>
                </a:r>
                <a14:m>
                  <m:oMath xmlns:m="http://schemas.openxmlformats.org/officeDocument/2006/math">
                    <m:r>
                      <a:rPr lang="en-US" altLang="zh-CN" sz="2000" b="1" i="1" dirty="0">
                        <a:latin typeface="Cambria Math" panose="02040503050406030204" pitchFamily="18" charset="0"/>
                      </a:rPr>
                      <m:t>𝑿</m:t>
                    </m:r>
                    <m:r>
                      <a:rPr lang="zh-CN" altLang="en-US" sz="2000" b="1">
                        <a:latin typeface="Cambria Math" panose="02040503050406030204" pitchFamily="18" charset="0"/>
                      </a:rPr>
                      <m:t>≠</m:t>
                    </m:r>
                    <m:sSup>
                      <m:sSupPr>
                        <m:ctrlPr>
                          <a:rPr lang="zh-CN" altLang="en-US" sz="2000" b="1" i="1">
                            <a:latin typeface="Cambria Math" panose="02040503050406030204" pitchFamily="18" charset="0"/>
                          </a:rPr>
                        </m:ctrlPr>
                      </m:sSupPr>
                      <m:e>
                        <m:r>
                          <a:rPr lang="en-US" altLang="zh-CN" sz="2000" b="1" i="1">
                            <a:latin typeface="Cambria Math" panose="02040503050406030204" pitchFamily="18" charset="0"/>
                          </a:rPr>
                          <m:t>𝑿</m:t>
                        </m:r>
                      </m:e>
                      <m:sup>
                        <m:r>
                          <a:rPr lang="zh-CN" altLang="en-US" sz="2000" b="1">
                            <a:latin typeface="Cambria Math" panose="02040503050406030204" pitchFamily="18" charset="0"/>
                          </a:rPr>
                          <m:t>∗</m:t>
                        </m:r>
                      </m:sup>
                    </m:sSup>
                  </m:oMath>
                </a14:m>
                <a:r>
                  <a:rPr lang="zh-CN" altLang="en-US" sz="2000" b="1" dirty="0">
                    <a:latin typeface="Times New Roman" panose="02020603050405020304" pitchFamily="18" charset="0"/>
                    <a:ea typeface="微软雅黑" panose="020B0503020204020204" pitchFamily="34" charset="-122"/>
                  </a:rPr>
                  <a:t>且与</a:t>
                </a:r>
                <a14:m>
                  <m:oMath xmlns:m="http://schemas.openxmlformats.org/officeDocument/2006/math">
                    <m:sSup>
                      <m:sSupPr>
                        <m:ctrlPr>
                          <a:rPr lang="en-US" altLang="zh-CN" sz="2000" b="1" i="1" dirty="0">
                            <a:latin typeface="Cambria Math" panose="02040503050406030204" pitchFamily="18" charset="0"/>
                          </a:rPr>
                        </m:ctrlPr>
                      </m:sSupPr>
                      <m:e>
                        <m:r>
                          <a:rPr lang="en-US" altLang="zh-CN" sz="2000" b="1" i="1" dirty="0">
                            <a:latin typeface="Cambria Math" panose="02040503050406030204" pitchFamily="18" charset="0"/>
                          </a:rPr>
                          <m:t> </m:t>
                        </m:r>
                        <m:r>
                          <a:rPr lang="en-US" altLang="zh-CN" sz="2000" b="1" i="1" dirty="0">
                            <a:latin typeface="Cambria Math" panose="02040503050406030204" pitchFamily="18" charset="0"/>
                          </a:rPr>
                          <m:t>𝑿</m:t>
                        </m:r>
                      </m:e>
                      <m:sup>
                        <m:r>
                          <a:rPr lang="en-US" altLang="zh-CN" sz="2000" b="1" dirty="0">
                            <a:latin typeface="Cambria Math" panose="02040503050406030204" pitchFamily="18" charset="0"/>
                          </a:rPr>
                          <m:t>∗</m:t>
                        </m:r>
                      </m:sup>
                    </m:sSup>
                  </m:oMath>
                </a14:m>
                <a:r>
                  <a:rPr lang="zh-CN" altLang="en-US" sz="2000" b="1" dirty="0">
                    <a:latin typeface="Times New Roman" panose="02020603050405020304" pitchFamily="18" charset="0"/>
                    <a:ea typeface="微软雅黑" panose="020B0503020204020204" pitchFamily="34" charset="-122"/>
                  </a:rPr>
                  <a:t> 的距离小于</a:t>
                </a:r>
                <a14:m>
                  <m:oMath xmlns:m="http://schemas.openxmlformats.org/officeDocument/2006/math">
                    <m:r>
                      <a:rPr lang="en-US" altLang="zh-CN" sz="2000" b="1">
                        <a:latin typeface="Cambria Math" panose="02040503050406030204" pitchFamily="18" charset="0"/>
                      </a:rPr>
                      <m:t> </m:t>
                    </m:r>
                    <m:r>
                      <a:rPr lang="zh-CN" altLang="en-US" sz="2000" b="1" i="1">
                        <a:latin typeface="Cambria Math" panose="02040503050406030204" pitchFamily="18" charset="0"/>
                      </a:rPr>
                      <m:t>𝜺</m:t>
                    </m:r>
                  </m:oMath>
                </a14:m>
                <a:r>
                  <a:rPr lang="zh-CN" altLang="en-US" sz="2000" b="1" dirty="0">
                    <a:latin typeface="Times New Roman" panose="02020603050405020304" pitchFamily="18" charset="0"/>
                    <a:ea typeface="微软雅黑" panose="020B0503020204020204" pitchFamily="34" charset="-122"/>
                  </a:rPr>
                  <a:t> 的</a:t>
                </a:r>
                <a14:m>
                  <m:oMath xmlns:m="http://schemas.openxmlformats.org/officeDocument/2006/math">
                    <m:r>
                      <a:rPr lang="en-US" altLang="zh-CN" sz="2000" b="1" i="1" dirty="0">
                        <a:latin typeface="Cambria Math" panose="02040503050406030204" pitchFamily="18" charset="0"/>
                      </a:rPr>
                      <m:t>𝑿</m:t>
                    </m:r>
                    <m:r>
                      <a:rPr lang="en-US" altLang="zh-CN" sz="2000" b="1" dirty="0">
                        <a:latin typeface="Cambria Math" panose="02040503050406030204" pitchFamily="18" charset="0"/>
                      </a:rPr>
                      <m:t>∈</m:t>
                    </m:r>
                    <m:r>
                      <a:rPr lang="en-US" altLang="zh-CN" sz="2000" b="1" i="1" dirty="0">
                        <a:latin typeface="Cambria Math" panose="02040503050406030204" pitchFamily="18" charset="0"/>
                      </a:rPr>
                      <m:t>𝑹</m:t>
                    </m:r>
                    <m:r>
                      <a:rPr lang="zh-CN" altLang="en-US" sz="2000" b="1" i="1" dirty="0">
                        <a:latin typeface="Cambria Math" panose="02040503050406030204" pitchFamily="18" charset="0"/>
                      </a:rPr>
                      <m:t>，</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r>
                      <a:rPr lang="en-US" altLang="zh-CN" sz="2000" b="1" i="1">
                        <a:latin typeface="Cambria Math" panose="02040503050406030204" pitchFamily="18" charset="0"/>
                      </a:rPr>
                      <m:t>&gt;</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i="1" baseline="30000" dirty="0">
                        <a:latin typeface="Times New Roman" panose="02020603050405020304" pitchFamily="18" charset="0"/>
                        <a:ea typeface="微软雅黑" panose="020B0503020204020204" pitchFamily="34" charset="-122"/>
                      </a:rPr>
                      <m:t>∗</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，则称</a:t>
                </a:r>
                <a14:m>
                  <m:oMath xmlns:m="http://schemas.openxmlformats.org/officeDocument/2006/math">
                    <m:sSup>
                      <m:sSupPr>
                        <m:ctrlPr>
                          <a:rPr lang="zh-CN" altLang="en-US" sz="2000" b="1" i="1">
                            <a:latin typeface="Cambria Math" panose="02040503050406030204" pitchFamily="18" charset="0"/>
                          </a:rPr>
                        </m:ctrlPr>
                      </m:sSupPr>
                      <m:e>
                        <m:r>
                          <a:rPr lang="en-US" altLang="zh-CN" sz="2000" b="1" i="1">
                            <a:latin typeface="Cambria Math" panose="02040503050406030204" pitchFamily="18" charset="0"/>
                          </a:rPr>
                          <m:t>𝑿</m:t>
                        </m:r>
                      </m:e>
                      <m:sup>
                        <m:r>
                          <a:rPr lang="zh-CN" altLang="en-US" sz="2000" b="1">
                            <a:latin typeface="Cambria Math" panose="02040503050406030204" pitchFamily="18" charset="0"/>
                          </a:rPr>
                          <m:t>∗</m:t>
                        </m:r>
                      </m:sup>
                    </m:sSup>
                  </m:oMath>
                </a14:m>
                <a:r>
                  <a:rPr lang="zh-CN" altLang="en-US" sz="2000" b="1" dirty="0">
                    <a:latin typeface="Times New Roman" panose="02020603050405020304" pitchFamily="18" charset="0"/>
                    <a:ea typeface="微软雅黑" panose="020B0503020204020204" pitchFamily="34" charset="-122"/>
                  </a:rPr>
                  <a:t>为 </a:t>
                </a:r>
                <a14:m>
                  <m:oMath xmlns:m="http://schemas.openxmlformats.org/officeDocument/2006/math">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 在 </a:t>
                </a:r>
                <a:r>
                  <a:rPr lang="en-US" altLang="zh-CN" sz="2000" b="1" i="1" dirty="0">
                    <a:latin typeface="Times New Roman" panose="02020603050405020304" pitchFamily="18" charset="0"/>
                    <a:ea typeface="微软雅黑" panose="020B0503020204020204" pitchFamily="34" charset="-122"/>
                  </a:rPr>
                  <a:t>R </a:t>
                </a:r>
                <a:r>
                  <a:rPr lang="zh-CN" altLang="en-US" sz="2000" b="1" dirty="0">
                    <a:latin typeface="Times New Roman" panose="02020603050405020304" pitchFamily="18" charset="0"/>
                    <a:ea typeface="微软雅黑" panose="020B0503020204020204" pitchFamily="34" charset="-122"/>
                  </a:rPr>
                  <a:t>上的</a:t>
                </a:r>
                <a:r>
                  <a:rPr lang="zh-CN" altLang="en-US" sz="2000" b="1" dirty="0">
                    <a:solidFill>
                      <a:srgbClr val="C00000"/>
                    </a:solidFill>
                    <a:latin typeface="Times New Roman" panose="02020603050405020304" pitchFamily="18" charset="0"/>
                    <a:ea typeface="微软雅黑" panose="020B0503020204020204" pitchFamily="34" charset="-122"/>
                  </a:rPr>
                  <a:t>严格局格极小点</a:t>
                </a:r>
                <a:r>
                  <a:rPr lang="zh-CN" altLang="en-US" sz="2000" b="1" dirty="0">
                    <a:latin typeface="Times New Roman" panose="02020603050405020304" pitchFamily="18" charset="0"/>
                    <a:ea typeface="微软雅黑" panose="020B0503020204020204" pitchFamily="34" charset="-122"/>
                  </a:rPr>
                  <a:t>，</a:t>
                </a:r>
                <a14:m>
                  <m:oMath xmlns:m="http://schemas.openxmlformats.org/officeDocument/2006/math">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i="1" baseline="30000" dirty="0">
                        <a:latin typeface="Times New Roman" panose="02020603050405020304" pitchFamily="18" charset="0"/>
                        <a:ea typeface="微软雅黑" panose="020B0503020204020204" pitchFamily="34" charset="-122"/>
                      </a:rPr>
                      <m:t>∗</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 为</a:t>
                </a:r>
                <a:r>
                  <a:rPr lang="zh-CN" altLang="en-US" sz="2000" b="1" dirty="0">
                    <a:solidFill>
                      <a:srgbClr val="C00000"/>
                    </a:solidFill>
                    <a:latin typeface="Times New Roman" panose="02020603050405020304" pitchFamily="18" charset="0"/>
                    <a:ea typeface="微软雅黑" panose="020B0503020204020204" pitchFamily="34" charset="-122"/>
                  </a:rPr>
                  <a:t>严格局部极小值</a:t>
                </a:r>
                <a:r>
                  <a:rPr lang="zh-CN" altLang="en-US" sz="2000" b="1" dirty="0">
                    <a:latin typeface="Times New Roman" panose="02020603050405020304" pitchFamily="18" charset="0"/>
                    <a:ea typeface="微软雅黑" panose="020B0503020204020204" pitchFamily="34" charset="-122"/>
                  </a:rPr>
                  <a:t>。</a:t>
                </a:r>
                <a:endParaRPr lang="zh-CN" altLang="en-US" sz="2000" dirty="0"/>
              </a:p>
            </p:txBody>
          </p:sp>
        </mc:Choice>
        <mc:Fallback xmlns="">
          <p:sp>
            <p:nvSpPr>
              <p:cNvPr id="8" name="矩形 7">
                <a:extLst>
                  <a:ext uri="{FF2B5EF4-FFF2-40B4-BE49-F238E27FC236}">
                    <a16:creationId xmlns:a16="http://schemas.microsoft.com/office/drawing/2014/main" id="{EFAF451B-0AF5-492A-8C50-886B5674F75A}"/>
                  </a:ext>
                </a:extLst>
              </p:cNvPr>
              <p:cNvSpPr>
                <a:spLocks noRot="1" noChangeAspect="1" noMove="1" noResize="1" noEditPoints="1" noAdjustHandles="1" noChangeArrowheads="1" noChangeShapeType="1" noTextEdit="1"/>
              </p:cNvSpPr>
              <p:nvPr/>
            </p:nvSpPr>
            <p:spPr>
              <a:xfrm>
                <a:off x="35496" y="3717032"/>
                <a:ext cx="9018187" cy="1631216"/>
              </a:xfrm>
              <a:prstGeom prst="rect">
                <a:avLst/>
              </a:prstGeom>
              <a:blipFill>
                <a:blip r:embed="rId4"/>
                <a:stretch>
                  <a:fillRect l="-744" t="-2247" b="-59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8511355F-B19B-472B-978B-2BB7C9AB6FEE}"/>
                  </a:ext>
                </a:extLst>
              </p:cNvPr>
              <p:cNvSpPr/>
              <p:nvPr/>
            </p:nvSpPr>
            <p:spPr>
              <a:xfrm>
                <a:off x="106083" y="5334701"/>
                <a:ext cx="9061565" cy="1015663"/>
              </a:xfrm>
              <a:prstGeom prst="rect">
                <a:avLst/>
              </a:prstGeom>
              <a:solidFill>
                <a:schemeClr val="accent2">
                  <a:lumMod val="20000"/>
                  <a:lumOff val="80000"/>
                </a:schemeClr>
              </a:solidFill>
            </p:spPr>
            <p:txBody>
              <a:bodyPr wrap="square">
                <a:spAutoFit/>
              </a:bodyPr>
              <a:lstStyle/>
              <a:p>
                <a:pPr>
                  <a:spcBef>
                    <a:spcPts val="450"/>
                  </a:spcBef>
                  <a:buClr>
                    <a:schemeClr val="accent1"/>
                  </a:buClr>
                  <a:buSzPct val="70000"/>
                </a:pPr>
                <a:r>
                  <a:rPr lang="zh-CN" altLang="en-US" sz="2000" dirty="0">
                    <a:latin typeface="Times New Roman" panose="02020603050405020304" pitchFamily="18" charset="0"/>
                    <a:ea typeface="微软雅黑" panose="020B0503020204020204" pitchFamily="34" charset="-122"/>
                  </a:rPr>
                  <a:t> </a:t>
                </a:r>
                <a:r>
                  <a:rPr lang="zh-CN" altLang="en-US" sz="2000" b="1" dirty="0">
                    <a:latin typeface="Times New Roman" panose="02020603050405020304" pitchFamily="18" charset="0"/>
                    <a:ea typeface="微软雅黑" panose="020B0503020204020204" pitchFamily="34" charset="-122"/>
                  </a:rPr>
                  <a:t>若点</a:t>
                </a:r>
                <a14:m>
                  <m:oMath xmlns:m="http://schemas.openxmlformats.org/officeDocument/2006/math">
                    <m:sSup>
                      <m:sSupPr>
                        <m:ctrlPr>
                          <a:rPr lang="en-US" altLang="zh-CN" sz="2000" b="1" i="1" dirty="0">
                            <a:latin typeface="Cambria Math" panose="02040503050406030204" pitchFamily="18" charset="0"/>
                          </a:rPr>
                        </m:ctrlPr>
                      </m:sSupPr>
                      <m:e>
                        <m:r>
                          <a:rPr lang="en-US" altLang="zh-CN" sz="2000" b="1" i="1" dirty="0">
                            <a:latin typeface="Cambria Math" panose="02040503050406030204" pitchFamily="18" charset="0"/>
                          </a:rPr>
                          <m:t>𝑿</m:t>
                        </m:r>
                      </m:e>
                      <m:sup>
                        <m:r>
                          <a:rPr lang="en-US" altLang="zh-CN" sz="2000" b="1" dirty="0">
                            <a:latin typeface="Cambria Math" panose="02040503050406030204" pitchFamily="18" charset="0"/>
                          </a:rPr>
                          <m:t>∗</m:t>
                        </m:r>
                      </m:sup>
                    </m:sSup>
                    <m:r>
                      <a:rPr lang="en-US" altLang="zh-CN" sz="2000" b="1" dirty="0">
                        <a:latin typeface="Cambria Math" panose="02040503050406030204" pitchFamily="18" charset="0"/>
                      </a:rPr>
                      <m:t>∈</m:t>
                    </m:r>
                    <m:r>
                      <a:rPr lang="en-US" altLang="zh-CN" sz="2000" b="1" i="1" dirty="0">
                        <a:latin typeface="Cambria Math" panose="02040503050406030204" pitchFamily="18" charset="0"/>
                      </a:rPr>
                      <m:t>𝑹</m:t>
                    </m:r>
                    <m:r>
                      <a:rPr lang="en-US" altLang="zh-CN" sz="2000" b="1" i="1" dirty="0">
                        <a:latin typeface="Cambria Math" panose="02040503050406030204" pitchFamily="18" charset="0"/>
                      </a:rPr>
                      <m:t> </m:t>
                    </m:r>
                  </m:oMath>
                </a14:m>
                <a:r>
                  <a:rPr lang="zh-CN" altLang="en-US" sz="2000" b="1" dirty="0">
                    <a:latin typeface="Times New Roman" panose="02020603050405020304" pitchFamily="18" charset="0"/>
                    <a:ea typeface="微软雅黑" panose="020B0503020204020204" pitchFamily="34" charset="-122"/>
                  </a:rPr>
                  <a:t>，而对于所有</a:t>
                </a:r>
                <a14:m>
                  <m:oMath xmlns:m="http://schemas.openxmlformats.org/officeDocument/2006/math">
                    <m:r>
                      <a:rPr lang="en-US" altLang="zh-CN" sz="2000" b="1" i="1" dirty="0">
                        <a:latin typeface="Cambria Math" panose="02040503050406030204" pitchFamily="18" charset="0"/>
                      </a:rPr>
                      <m:t>𝑿</m:t>
                    </m:r>
                    <m:r>
                      <a:rPr lang="en-US" altLang="zh-CN" sz="2000" b="1" dirty="0">
                        <a:latin typeface="Cambria Math" panose="02040503050406030204" pitchFamily="18" charset="0"/>
                      </a:rPr>
                      <m:t>∈</m:t>
                    </m:r>
                    <m:r>
                      <a:rPr lang="en-US" altLang="zh-CN" sz="2000" b="1" i="1" dirty="0">
                        <a:latin typeface="Cambria Math" panose="02040503050406030204" pitchFamily="18" charset="0"/>
                      </a:rPr>
                      <m:t>𝑹</m:t>
                    </m:r>
                  </m:oMath>
                </a14:m>
                <a:r>
                  <a:rPr lang="zh-CN" altLang="en-US" sz="2000" b="1" dirty="0">
                    <a:latin typeface="Times New Roman" panose="02020603050405020304" pitchFamily="18" charset="0"/>
                    <a:ea typeface="微软雅黑" panose="020B0503020204020204" pitchFamily="34" charset="-122"/>
                  </a:rPr>
                  <a:t>都有 </a:t>
                </a:r>
                <a14:m>
                  <m:oMath xmlns:m="http://schemas.openxmlformats.org/officeDocument/2006/math">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r>
                      <a:rPr lang="zh-CN" altLang="en-US" sz="2000" b="1">
                        <a:latin typeface="Cambria Math" panose="02040503050406030204" pitchFamily="18" charset="0"/>
                      </a:rPr>
                      <m:t>≥</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i="1" baseline="30000" dirty="0">
                        <a:latin typeface="Times New Roman" panose="02020603050405020304" pitchFamily="18" charset="0"/>
                        <a:ea typeface="微软雅黑" panose="020B0503020204020204" pitchFamily="34" charset="-122"/>
                      </a:rPr>
                      <m:t>∗</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，则称</a:t>
                </a:r>
                <a14:m>
                  <m:oMath xmlns:m="http://schemas.openxmlformats.org/officeDocument/2006/math">
                    <m:sSup>
                      <m:sSupPr>
                        <m:ctrlPr>
                          <a:rPr lang="en-US" altLang="zh-CN" sz="2000" b="1" i="1" dirty="0">
                            <a:latin typeface="Cambria Math" panose="02040503050406030204" pitchFamily="18" charset="0"/>
                          </a:rPr>
                        </m:ctrlPr>
                      </m:sSupPr>
                      <m:e>
                        <m:r>
                          <a:rPr lang="en-US" altLang="zh-CN" sz="2000" b="1" i="1" dirty="0">
                            <a:latin typeface="Cambria Math" panose="02040503050406030204" pitchFamily="18" charset="0"/>
                          </a:rPr>
                          <m:t> </m:t>
                        </m:r>
                        <m:r>
                          <a:rPr lang="en-US" altLang="zh-CN" sz="2000" b="1" i="1" dirty="0">
                            <a:latin typeface="Cambria Math" panose="02040503050406030204" pitchFamily="18" charset="0"/>
                          </a:rPr>
                          <m:t>𝑿</m:t>
                        </m:r>
                      </m:e>
                      <m:sup>
                        <m:r>
                          <a:rPr lang="en-US" altLang="zh-CN" sz="2000" b="1" dirty="0">
                            <a:latin typeface="Cambria Math" panose="02040503050406030204" pitchFamily="18" charset="0"/>
                          </a:rPr>
                          <m:t>∗</m:t>
                        </m:r>
                      </m:sup>
                    </m:sSup>
                  </m:oMath>
                </a14:m>
                <a:r>
                  <a:rPr lang="zh-CN" altLang="en-US" sz="2000" b="1" dirty="0">
                    <a:latin typeface="Times New Roman" panose="02020603050405020304" pitchFamily="18" charset="0"/>
                    <a:ea typeface="微软雅黑" panose="020B0503020204020204" pitchFamily="34" charset="-122"/>
                  </a:rPr>
                  <a:t>为</a:t>
                </a:r>
                <a14:m>
                  <m:oMath xmlns:m="http://schemas.openxmlformats.org/officeDocument/2006/math">
                    <m:r>
                      <a:rPr lang="en-US" altLang="zh-CN" sz="2000" b="1" dirty="0">
                        <a:latin typeface="Cambria Math" panose="02040503050406030204" pitchFamily="18" charset="0"/>
                        <a:ea typeface="微软雅黑" panose="020B0503020204020204" pitchFamily="34" charset="-122"/>
                      </a:rPr>
                      <m:t> </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 在 </a:t>
                </a:r>
                <a:r>
                  <a:rPr lang="en-US" altLang="zh-CN" sz="2000" b="1" i="1" dirty="0">
                    <a:latin typeface="Times New Roman" panose="02020603050405020304" pitchFamily="18" charset="0"/>
                    <a:ea typeface="微软雅黑" panose="020B0503020204020204" pitchFamily="34" charset="-122"/>
                  </a:rPr>
                  <a:t>R </a:t>
                </a:r>
                <a:r>
                  <a:rPr lang="zh-CN" altLang="en-US" sz="2000" b="1" dirty="0">
                    <a:latin typeface="Times New Roman" panose="02020603050405020304" pitchFamily="18" charset="0"/>
                    <a:ea typeface="微软雅黑" panose="020B0503020204020204" pitchFamily="34" charset="-122"/>
                  </a:rPr>
                  <a:t>上的</a:t>
                </a:r>
                <a:r>
                  <a:rPr lang="zh-CN" altLang="en-US" sz="2000" b="1" dirty="0">
                    <a:solidFill>
                      <a:srgbClr val="C00000"/>
                    </a:solidFill>
                    <a:latin typeface="Times New Roman" panose="02020603050405020304" pitchFamily="18" charset="0"/>
                    <a:ea typeface="微软雅黑" panose="020B0503020204020204" pitchFamily="34" charset="-122"/>
                  </a:rPr>
                  <a:t>全局极小点</a:t>
                </a:r>
                <a:r>
                  <a:rPr lang="zh-CN" altLang="en-US" sz="2000" b="1" dirty="0">
                    <a:latin typeface="Times New Roman" panose="02020603050405020304" pitchFamily="18" charset="0"/>
                    <a:ea typeface="微软雅黑" panose="020B0503020204020204" pitchFamily="34" charset="-122"/>
                  </a:rPr>
                  <a:t>，</a:t>
                </a:r>
                <a14:m>
                  <m:oMath xmlns:m="http://schemas.openxmlformats.org/officeDocument/2006/math">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i="1" baseline="30000" dirty="0">
                        <a:latin typeface="Times New Roman" panose="02020603050405020304" pitchFamily="18" charset="0"/>
                        <a:ea typeface="微软雅黑" panose="020B0503020204020204" pitchFamily="34" charset="-122"/>
                      </a:rPr>
                      <m:t>∗</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为</a:t>
                </a:r>
                <a:r>
                  <a:rPr lang="zh-CN" altLang="en-US" sz="2000" b="1" dirty="0">
                    <a:solidFill>
                      <a:srgbClr val="C00000"/>
                    </a:solidFill>
                    <a:latin typeface="Times New Roman" panose="02020603050405020304" pitchFamily="18" charset="0"/>
                    <a:ea typeface="微软雅黑" panose="020B0503020204020204" pitchFamily="34" charset="-122"/>
                  </a:rPr>
                  <a:t>全局极小值</a:t>
                </a:r>
                <a:r>
                  <a:rPr lang="zh-CN" altLang="en-US" sz="2000" b="1" dirty="0">
                    <a:latin typeface="Times New Roman" panose="02020603050405020304" pitchFamily="18" charset="0"/>
                    <a:ea typeface="微软雅黑" panose="020B0503020204020204" pitchFamily="34" charset="-122"/>
                  </a:rPr>
                  <a:t>。若对于所有</a:t>
                </a:r>
                <a14:m>
                  <m:oMath xmlns:m="http://schemas.openxmlformats.org/officeDocument/2006/math">
                    <m:r>
                      <a:rPr lang="en-US" altLang="zh-CN" sz="2000" b="1" i="1" dirty="0">
                        <a:latin typeface="Cambria Math" panose="02040503050406030204" pitchFamily="18" charset="0"/>
                      </a:rPr>
                      <m:t>𝑿</m:t>
                    </m:r>
                    <m:r>
                      <a:rPr lang="en-US" altLang="zh-CN" sz="2000" b="1" dirty="0">
                        <a:latin typeface="Cambria Math" panose="02040503050406030204" pitchFamily="18" charset="0"/>
                      </a:rPr>
                      <m:t>∈</m:t>
                    </m:r>
                    <m:r>
                      <a:rPr lang="en-US" altLang="zh-CN" sz="2000" b="1" i="1" dirty="0">
                        <a:latin typeface="Cambria Math" panose="02040503050406030204" pitchFamily="18" charset="0"/>
                      </a:rPr>
                      <m:t>𝑹</m:t>
                    </m:r>
                  </m:oMath>
                </a14:m>
                <a:r>
                  <a:rPr lang="zh-CN" altLang="en-US" sz="2000" b="1" dirty="0">
                    <a:latin typeface="Times New Roman" panose="02020603050405020304" pitchFamily="18" charset="0"/>
                    <a:ea typeface="微软雅黑" panose="020B0503020204020204" pitchFamily="34" charset="-122"/>
                  </a:rPr>
                  <a:t>且</a:t>
                </a:r>
                <a14:m>
                  <m:oMath xmlns:m="http://schemas.openxmlformats.org/officeDocument/2006/math">
                    <m:r>
                      <a:rPr lang="en-US" altLang="zh-CN" sz="2000" b="1" i="1" dirty="0">
                        <a:latin typeface="Cambria Math" panose="02040503050406030204" pitchFamily="18" charset="0"/>
                      </a:rPr>
                      <m:t>𝑿</m:t>
                    </m:r>
                    <m:r>
                      <a:rPr lang="zh-CN" altLang="en-US" sz="2000" b="1">
                        <a:latin typeface="Cambria Math" panose="02040503050406030204" pitchFamily="18" charset="0"/>
                      </a:rPr>
                      <m:t>≠</m:t>
                    </m:r>
                    <m:sSup>
                      <m:sSupPr>
                        <m:ctrlPr>
                          <a:rPr lang="zh-CN" altLang="en-US" sz="2000" b="1" i="1">
                            <a:latin typeface="Cambria Math" panose="02040503050406030204" pitchFamily="18" charset="0"/>
                          </a:rPr>
                        </m:ctrlPr>
                      </m:sSupPr>
                      <m:e>
                        <m:r>
                          <a:rPr lang="en-US" altLang="zh-CN" sz="2000" b="1" i="1">
                            <a:latin typeface="Cambria Math" panose="02040503050406030204" pitchFamily="18" charset="0"/>
                          </a:rPr>
                          <m:t>𝑿</m:t>
                        </m:r>
                      </m:e>
                      <m:sup>
                        <m:r>
                          <a:rPr lang="zh-CN" altLang="en-US" sz="2000" b="1">
                            <a:latin typeface="Cambria Math" panose="02040503050406030204" pitchFamily="18" charset="0"/>
                          </a:rPr>
                          <m:t>∗</m:t>
                        </m:r>
                      </m:sup>
                    </m:sSup>
                    <m:r>
                      <a:rPr lang="zh-CN" altLang="en-US" sz="2000" b="1" i="1">
                        <a:latin typeface="Cambria Math" panose="02040503050406030204" pitchFamily="18" charset="0"/>
                      </a:rPr>
                      <m:t> </m:t>
                    </m:r>
                  </m:oMath>
                </a14:m>
                <a:r>
                  <a:rPr lang="zh-CN" altLang="en-US" sz="2000" b="1" dirty="0">
                    <a:latin typeface="Times New Roman" panose="02020603050405020304" pitchFamily="18" charset="0"/>
                    <a:ea typeface="微软雅黑" panose="020B0503020204020204" pitchFamily="34" charset="-122"/>
                  </a:rPr>
                  <a:t>，都有</a:t>
                </a:r>
                <a14:m>
                  <m:oMath xmlns:m="http://schemas.openxmlformats.org/officeDocument/2006/math">
                    <m:r>
                      <a:rPr lang="en-US" altLang="zh-CN" sz="2000" b="1" dirty="0">
                        <a:latin typeface="Cambria Math" panose="02040503050406030204" pitchFamily="18" charset="0"/>
                        <a:ea typeface="微软雅黑" panose="020B0503020204020204" pitchFamily="34" charset="-122"/>
                      </a:rPr>
                      <m:t> </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r>
                      <a:rPr lang="en-US" altLang="zh-CN" sz="2000" b="1" i="1" dirty="0">
                        <a:latin typeface="Cambria Math" panose="02040503050406030204" pitchFamily="18" charset="0"/>
                        <a:ea typeface="微软雅黑" panose="020B0503020204020204" pitchFamily="34" charset="-122"/>
                      </a:rPr>
                      <m:t>&gt;</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i="1" baseline="30000" dirty="0">
                        <a:latin typeface="Times New Roman" panose="02020603050405020304" pitchFamily="18" charset="0"/>
                        <a:ea typeface="微软雅黑" panose="020B0503020204020204" pitchFamily="34" charset="-122"/>
                      </a:rPr>
                      <m:t>∗</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，则称</a:t>
                </a:r>
                <a14:m>
                  <m:oMath xmlns:m="http://schemas.openxmlformats.org/officeDocument/2006/math">
                    <m:sSup>
                      <m:sSupPr>
                        <m:ctrlPr>
                          <a:rPr lang="en-US" altLang="zh-CN" sz="2000" b="1" i="1" dirty="0">
                            <a:latin typeface="Cambria Math" panose="02040503050406030204" pitchFamily="18" charset="0"/>
                          </a:rPr>
                        </m:ctrlPr>
                      </m:sSupPr>
                      <m:e>
                        <m:r>
                          <a:rPr lang="en-US" altLang="zh-CN" sz="2000" b="1" i="1" dirty="0">
                            <a:latin typeface="Cambria Math" panose="02040503050406030204" pitchFamily="18" charset="0"/>
                          </a:rPr>
                          <m:t> </m:t>
                        </m:r>
                        <m:r>
                          <a:rPr lang="en-US" altLang="zh-CN" sz="2000" b="1" i="1" dirty="0">
                            <a:latin typeface="Cambria Math" panose="02040503050406030204" pitchFamily="18" charset="0"/>
                          </a:rPr>
                          <m:t>𝑿</m:t>
                        </m:r>
                      </m:e>
                      <m:sup>
                        <m:r>
                          <a:rPr lang="en-US" altLang="zh-CN" sz="2000" b="1" dirty="0">
                            <a:latin typeface="Cambria Math" panose="02040503050406030204" pitchFamily="18" charset="0"/>
                          </a:rPr>
                          <m:t>∗</m:t>
                        </m:r>
                      </m:sup>
                    </m:sSup>
                  </m:oMath>
                </a14:m>
                <a:r>
                  <a:rPr lang="zh-CN" altLang="en-US" sz="2000" b="1" dirty="0">
                    <a:latin typeface="Times New Roman" panose="02020603050405020304" pitchFamily="18" charset="0"/>
                    <a:ea typeface="微软雅黑" panose="020B0503020204020204" pitchFamily="34" charset="-122"/>
                  </a:rPr>
                  <a:t>为</a:t>
                </a:r>
                <a14:m>
                  <m:oMath xmlns:m="http://schemas.openxmlformats.org/officeDocument/2006/math">
                    <m:r>
                      <a:rPr lang="en-US" altLang="zh-CN" sz="2000" b="1" dirty="0">
                        <a:latin typeface="Cambria Math" panose="02040503050406030204" pitchFamily="18" charset="0"/>
                        <a:ea typeface="微软雅黑" panose="020B0503020204020204" pitchFamily="34" charset="-122"/>
                      </a:rPr>
                      <m:t> </m:t>
                    </m:r>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在 </a:t>
                </a:r>
                <a:r>
                  <a:rPr lang="en-US" altLang="zh-CN" sz="2000" b="1" i="1" dirty="0">
                    <a:latin typeface="Times New Roman" panose="02020603050405020304" pitchFamily="18" charset="0"/>
                    <a:ea typeface="微软雅黑" panose="020B0503020204020204" pitchFamily="34" charset="-122"/>
                  </a:rPr>
                  <a:t>R </a:t>
                </a:r>
                <a:r>
                  <a:rPr lang="zh-CN" altLang="en-US" sz="2000" b="1" dirty="0">
                    <a:latin typeface="Times New Roman" panose="02020603050405020304" pitchFamily="18" charset="0"/>
                    <a:ea typeface="微软雅黑" panose="020B0503020204020204" pitchFamily="34" charset="-122"/>
                  </a:rPr>
                  <a:t>上的</a:t>
                </a:r>
                <a:r>
                  <a:rPr lang="zh-CN" altLang="en-US" sz="2000" b="1" dirty="0">
                    <a:solidFill>
                      <a:srgbClr val="C00000"/>
                    </a:solidFill>
                    <a:latin typeface="Times New Roman" panose="02020603050405020304" pitchFamily="18" charset="0"/>
                    <a:ea typeface="微软雅黑" panose="020B0503020204020204" pitchFamily="34" charset="-122"/>
                  </a:rPr>
                  <a:t>严格全局极小点</a:t>
                </a:r>
                <a:r>
                  <a:rPr lang="zh-CN" altLang="en-US" sz="2000" b="1" dirty="0">
                    <a:latin typeface="Times New Roman" panose="02020603050405020304" pitchFamily="18" charset="0"/>
                    <a:ea typeface="微软雅黑" panose="020B0503020204020204" pitchFamily="34" charset="-122"/>
                  </a:rPr>
                  <a:t>，</a:t>
                </a:r>
                <a14:m>
                  <m:oMath xmlns:m="http://schemas.openxmlformats.org/officeDocument/2006/math">
                    <m:r>
                      <m:rPr>
                        <m:nor/>
                      </m:rPr>
                      <a:rPr lang="en-US" altLang="zh-CN" sz="2000" b="1" i="1" dirty="0">
                        <a:latin typeface="Times New Roman" panose="02020603050405020304" pitchFamily="18" charset="0"/>
                        <a:ea typeface="微软雅黑" panose="020B0503020204020204" pitchFamily="34" charset="-122"/>
                      </a:rPr>
                      <m:t>f</m:t>
                    </m:r>
                    <m:r>
                      <m:rPr>
                        <m:nor/>
                      </m:rPr>
                      <a:rPr lang="en-US" altLang="zh-CN" sz="2000" b="1" i="1" dirty="0">
                        <a:latin typeface="Times New Roman" panose="02020603050405020304" pitchFamily="18" charset="0"/>
                        <a:ea typeface="微软雅黑" panose="020B0503020204020204" pitchFamily="34" charset="-122"/>
                      </a:rPr>
                      <m:t> </m:t>
                    </m:r>
                    <m:r>
                      <m:rPr>
                        <m:nor/>
                      </m:rPr>
                      <a:rPr lang="en-US" altLang="zh-CN" sz="2000" b="1" dirty="0">
                        <a:latin typeface="Times New Roman" panose="02020603050405020304" pitchFamily="18" charset="0"/>
                        <a:ea typeface="微软雅黑" panose="020B0503020204020204" pitchFamily="34" charset="-122"/>
                      </a:rPr>
                      <m:t>(</m:t>
                    </m:r>
                    <m:r>
                      <m:rPr>
                        <m:nor/>
                      </m:rPr>
                      <a:rPr lang="en-US" altLang="zh-CN" sz="2000" b="1" i="1" dirty="0">
                        <a:latin typeface="Times New Roman" panose="02020603050405020304" pitchFamily="18" charset="0"/>
                        <a:ea typeface="微软雅黑" panose="020B0503020204020204" pitchFamily="34" charset="-122"/>
                      </a:rPr>
                      <m:t>X</m:t>
                    </m:r>
                    <m:r>
                      <m:rPr>
                        <m:nor/>
                      </m:rPr>
                      <a:rPr lang="en-US" altLang="zh-CN" sz="2000" b="1" i="1" baseline="30000" dirty="0">
                        <a:latin typeface="Times New Roman" panose="02020603050405020304" pitchFamily="18" charset="0"/>
                        <a:ea typeface="微软雅黑" panose="020B0503020204020204" pitchFamily="34" charset="-122"/>
                      </a:rPr>
                      <m:t>∗</m:t>
                    </m:r>
                    <m:r>
                      <m:rPr>
                        <m:nor/>
                      </m:rPr>
                      <a:rPr lang="en-US" altLang="zh-CN" sz="2000" b="1" dirty="0">
                        <a:latin typeface="Times New Roman" panose="02020603050405020304" pitchFamily="18" charset="0"/>
                        <a:ea typeface="微软雅黑" panose="020B0503020204020204" pitchFamily="34" charset="-122"/>
                      </a:rPr>
                      <m:t>)</m:t>
                    </m:r>
                  </m:oMath>
                </a14:m>
                <a:r>
                  <a:rPr lang="zh-CN" altLang="en-US" sz="2000" b="1" dirty="0">
                    <a:latin typeface="Times New Roman" panose="02020603050405020304" pitchFamily="18" charset="0"/>
                    <a:ea typeface="微软雅黑" panose="020B0503020204020204" pitchFamily="34" charset="-122"/>
                  </a:rPr>
                  <a:t>为</a:t>
                </a:r>
                <a:r>
                  <a:rPr lang="zh-CN" altLang="en-US" sz="2000" b="1" dirty="0">
                    <a:solidFill>
                      <a:srgbClr val="C00000"/>
                    </a:solidFill>
                    <a:latin typeface="Times New Roman" panose="02020603050405020304" pitchFamily="18" charset="0"/>
                    <a:ea typeface="微软雅黑" panose="020B0503020204020204" pitchFamily="34" charset="-122"/>
                  </a:rPr>
                  <a:t>严格全局极小值</a:t>
                </a:r>
                <a:r>
                  <a:rPr lang="zh-CN" altLang="en-US" sz="2000" b="1" dirty="0">
                    <a:latin typeface="Times New Roman" panose="02020603050405020304" pitchFamily="18" charset="0"/>
                    <a:ea typeface="微软雅黑" panose="020B0503020204020204" pitchFamily="34" charset="-122"/>
                  </a:rPr>
                  <a:t>。</a:t>
                </a:r>
                <a:endParaRPr lang="en-US" altLang="zh-CN" sz="2000" b="1" dirty="0">
                  <a:latin typeface="Times New Roman" panose="02020603050405020304" pitchFamily="18" charset="0"/>
                  <a:ea typeface="微软雅黑" panose="020B0503020204020204" pitchFamily="34" charset="-122"/>
                </a:endParaRPr>
              </a:p>
            </p:txBody>
          </p:sp>
        </mc:Choice>
        <mc:Fallback xmlns="">
          <p:sp>
            <p:nvSpPr>
              <p:cNvPr id="9" name="矩形 8">
                <a:extLst>
                  <a:ext uri="{FF2B5EF4-FFF2-40B4-BE49-F238E27FC236}">
                    <a16:creationId xmlns:a16="http://schemas.microsoft.com/office/drawing/2014/main" id="{8511355F-B19B-472B-978B-2BB7C9AB6FEE}"/>
                  </a:ext>
                </a:extLst>
              </p:cNvPr>
              <p:cNvSpPr>
                <a:spLocks noRot="1" noChangeAspect="1" noMove="1" noResize="1" noEditPoints="1" noAdjustHandles="1" noChangeArrowheads="1" noChangeShapeType="1" noTextEdit="1"/>
              </p:cNvSpPr>
              <p:nvPr/>
            </p:nvSpPr>
            <p:spPr>
              <a:xfrm>
                <a:off x="106083" y="5334701"/>
                <a:ext cx="9061565" cy="1015663"/>
              </a:xfrm>
              <a:prstGeom prst="rect">
                <a:avLst/>
              </a:prstGeom>
              <a:blipFill>
                <a:blip r:embed="rId5"/>
                <a:stretch>
                  <a:fillRect l="-672" t="-2994" b="-9581"/>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01ABE671-1B39-4E31-B1EB-475E8F1FB8C4}"/>
              </a:ext>
            </a:extLst>
          </p:cNvPr>
          <p:cNvSpPr/>
          <p:nvPr/>
        </p:nvSpPr>
        <p:spPr>
          <a:xfrm>
            <a:off x="106083" y="6413266"/>
            <a:ext cx="7545433" cy="400110"/>
          </a:xfrm>
          <a:prstGeom prst="rect">
            <a:avLst/>
          </a:prstGeom>
        </p:spPr>
        <p:txBody>
          <a:bodyPr wrap="square">
            <a:spAutoFit/>
          </a:bodyPr>
          <a:lstStyle/>
          <a:p>
            <a:pPr>
              <a:spcBef>
                <a:spcPts val="450"/>
              </a:spcBef>
              <a:buClr>
                <a:schemeClr val="accent1"/>
              </a:buClr>
              <a:buSzPct val="70000"/>
            </a:pPr>
            <a:r>
              <a:rPr lang="zh-CN" altLang="en-US" sz="2000" b="1" dirty="0">
                <a:latin typeface="Times New Roman" panose="02020603050405020304" pitchFamily="18" charset="0"/>
                <a:ea typeface="微软雅黑" panose="020B0503020204020204" pitchFamily="34" charset="-122"/>
              </a:rPr>
              <a:t>如将上述不等式反向，即可得到相应的</a:t>
            </a:r>
            <a:r>
              <a:rPr lang="zh-CN" altLang="en-US" sz="2000" b="1" dirty="0">
                <a:solidFill>
                  <a:srgbClr val="C00000"/>
                </a:solidFill>
                <a:latin typeface="Times New Roman" panose="02020603050405020304" pitchFamily="18" charset="0"/>
                <a:ea typeface="微软雅黑" panose="020B0503020204020204" pitchFamily="34" charset="-122"/>
              </a:rPr>
              <a:t>极大点</a:t>
            </a:r>
            <a:r>
              <a:rPr lang="zh-CN" altLang="en-US" sz="2000" b="1" dirty="0">
                <a:latin typeface="Times New Roman" panose="02020603050405020304" pitchFamily="18" charset="0"/>
                <a:ea typeface="微软雅黑" panose="020B0503020204020204" pitchFamily="34" charset="-122"/>
              </a:rPr>
              <a:t>和</a:t>
            </a:r>
            <a:r>
              <a:rPr lang="zh-CN" altLang="en-US" sz="2000" b="1" dirty="0">
                <a:solidFill>
                  <a:srgbClr val="C00000"/>
                </a:solidFill>
                <a:latin typeface="Times New Roman" panose="02020603050405020304" pitchFamily="18" charset="0"/>
                <a:ea typeface="微软雅黑" panose="020B0503020204020204" pitchFamily="34" charset="-122"/>
              </a:rPr>
              <a:t>极大值</a:t>
            </a:r>
            <a:r>
              <a:rPr lang="zh-CN" altLang="en-US" sz="2000" b="1" dirty="0">
                <a:latin typeface="Times New Roman" panose="02020603050405020304" pitchFamily="18" charset="0"/>
                <a:ea typeface="微软雅黑" panose="020B0503020204020204" pitchFamily="34" charset="-122"/>
              </a:rPr>
              <a:t>的定义。</a:t>
            </a:r>
            <a:endParaRPr lang="zh-CN" altLang="en-US" sz="2000" dirty="0"/>
          </a:p>
        </p:txBody>
      </p:sp>
    </p:spTree>
    <p:extLst>
      <p:ext uri="{BB962C8B-B14F-4D97-AF65-F5344CB8AC3E}">
        <p14:creationId xmlns:p14="http://schemas.microsoft.com/office/powerpoint/2010/main" val="147355010"/>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p:nvPr/>
        </p:nvSpPr>
        <p:spPr>
          <a:xfrm>
            <a:off x="1295400" y="1556792"/>
            <a:ext cx="6300936" cy="2160239"/>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1</a:t>
            </a:r>
            <a:r>
              <a:rPr lang="zh-CN" altLang="en-US" sz="2800" b="1" dirty="0">
                <a:solidFill>
                  <a:schemeClr val="folHlink"/>
                </a:solidFill>
                <a:latin typeface="微软雅黑" panose="020B0503020204020204" pitchFamily="34" charset="-122"/>
                <a:ea typeface="微软雅黑" panose="020B0503020204020204" pitchFamily="34" charset="-122"/>
              </a:rPr>
              <a:t>节   线性规划的标准形式</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marL="273050" indent="-273050">
              <a:lnSpc>
                <a:spcPct val="150000"/>
              </a:lnSpc>
              <a:spcBef>
                <a:spcPts val="600"/>
              </a:spcBef>
              <a:buClr>
                <a:schemeClr val="accent1"/>
              </a:buClr>
              <a:buSzPct val="70000"/>
              <a:buFont typeface="Wingdings" panose="05000000000000000000" pitchFamily="2" charset="2"/>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2</a:t>
            </a:r>
            <a:r>
              <a:rPr lang="zh-CN" altLang="en-US" sz="2800" b="1" dirty="0">
                <a:solidFill>
                  <a:schemeClr val="folHlink"/>
                </a:solidFill>
                <a:latin typeface="微软雅黑" panose="020B0503020204020204" pitchFamily="34" charset="-122"/>
                <a:ea typeface="微软雅黑" panose="020B0503020204020204" pitchFamily="34" charset="-122"/>
              </a:rPr>
              <a:t>节   线性规划的图解法</a:t>
            </a:r>
            <a:endParaRPr lang="en-US" altLang="zh-CN" sz="2800" b="1" dirty="0">
              <a:solidFill>
                <a:schemeClr val="folHlink"/>
              </a:solidFill>
              <a:latin typeface="微软雅黑" panose="020B0503020204020204" pitchFamily="34" charset="-122"/>
              <a:ea typeface="微软雅黑" panose="020B0503020204020204" pitchFamily="34" charset="-122"/>
            </a:endParaRPr>
          </a:p>
          <a:p>
            <a:pPr marL="273050" indent="-273050">
              <a:lnSpc>
                <a:spcPct val="150000"/>
              </a:lnSpc>
              <a:spcBef>
                <a:spcPts val="600"/>
              </a:spcBef>
              <a:buClr>
                <a:schemeClr val="accent1"/>
              </a:buClr>
              <a:buSzPct val="70000"/>
              <a:buFont typeface="Wingdings" panose="05000000000000000000" pitchFamily="2" charset="2"/>
            </a:pPr>
            <a:r>
              <a:rPr lang="zh-CN" altLang="en-US" sz="2800" b="1" dirty="0">
                <a:solidFill>
                  <a:schemeClr val="folHlink"/>
                </a:solidFill>
                <a:latin typeface="微软雅黑" panose="020B0503020204020204" pitchFamily="34" charset="-122"/>
                <a:ea typeface="微软雅黑" panose="020B0503020204020204" pitchFamily="34" charset="-122"/>
              </a:rPr>
              <a:t>第</a:t>
            </a:r>
            <a:r>
              <a:rPr lang="en-US" altLang="zh-CN" sz="2800" b="1" dirty="0">
                <a:solidFill>
                  <a:schemeClr val="folHlink"/>
                </a:solidFill>
                <a:latin typeface="微软雅黑" panose="020B0503020204020204" pitchFamily="34" charset="-122"/>
                <a:ea typeface="微软雅黑" panose="020B0503020204020204" pitchFamily="34" charset="-122"/>
              </a:rPr>
              <a:t>3</a:t>
            </a:r>
            <a:r>
              <a:rPr lang="zh-CN" altLang="en-US" sz="2800" b="1" dirty="0">
                <a:solidFill>
                  <a:schemeClr val="folHlink"/>
                </a:solidFill>
                <a:latin typeface="微软雅黑" panose="020B0503020204020204" pitchFamily="34" charset="-122"/>
                <a:ea typeface="微软雅黑" panose="020B0503020204020204" pitchFamily="34" charset="-122"/>
              </a:rPr>
              <a:t>节   线性规划的基本性质</a:t>
            </a:r>
          </a:p>
        </p:txBody>
      </p:sp>
      <p:sp>
        <p:nvSpPr>
          <p:cNvPr id="24579" name="Rectangle 6"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a typeface="微软雅黑" panose="020B0503020204020204" pitchFamily="34" charset="-122"/>
            </a:endParaRPr>
          </a:p>
        </p:txBody>
      </p:sp>
      <p:pic>
        <p:nvPicPr>
          <p:cNvPr id="24580" name="Picture 10"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4581" name="Text Box 11"/>
          <p:cNvSpPr txBox="1"/>
          <p:nvPr/>
        </p:nvSpPr>
        <p:spPr>
          <a:xfrm>
            <a:off x="1116013" y="549275"/>
            <a:ext cx="6624637" cy="584775"/>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2</a:t>
            </a:r>
            <a:r>
              <a:rPr lang="zh-CN" altLang="en-US" sz="3200" b="1" dirty="0">
                <a:solidFill>
                  <a:srgbClr val="FF0000"/>
                </a:solidFill>
                <a:latin typeface="微软雅黑" panose="020B0503020204020204" pitchFamily="34" charset="-122"/>
                <a:ea typeface="微软雅黑" panose="020B0503020204020204" pitchFamily="34" charset="-122"/>
              </a:rPr>
              <a:t>章  线性规划的基本性质</a:t>
            </a: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5603"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5604" name="Text Box 4"/>
          <p:cNvSpPr txBox="1"/>
          <p:nvPr/>
        </p:nvSpPr>
        <p:spPr>
          <a:xfrm>
            <a:off x="1763713" y="549275"/>
            <a:ext cx="5976937" cy="584775"/>
          </a:xfrm>
          <a:prstGeom prst="rect">
            <a:avLst/>
          </a:prstGeom>
          <a:noFill/>
          <a:ln w="9525">
            <a:noFill/>
          </a:ln>
        </p:spPr>
        <p:txBody>
          <a:bodyPr>
            <a:spAutoFit/>
          </a:bodyPr>
          <a:lstStyle/>
          <a:p>
            <a:pP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3</a:t>
            </a:r>
            <a:r>
              <a:rPr lang="zh-CN" altLang="en-US" sz="3200" b="1" dirty="0">
                <a:solidFill>
                  <a:srgbClr val="FF0000"/>
                </a:solidFill>
                <a:latin typeface="微软雅黑" panose="020B0503020204020204" pitchFamily="34" charset="-122"/>
                <a:ea typeface="微软雅黑" panose="020B0503020204020204" pitchFamily="34" charset="-122"/>
              </a:rPr>
              <a:t>章  线性规划的单纯形法</a:t>
            </a:r>
          </a:p>
        </p:txBody>
      </p:sp>
      <p:sp>
        <p:nvSpPr>
          <p:cNvPr id="25605" name="Rectangle 3"/>
          <p:cNvSpPr txBox="1"/>
          <p:nvPr/>
        </p:nvSpPr>
        <p:spPr>
          <a:xfrm>
            <a:off x="1259632" y="1844675"/>
            <a:ext cx="6624736" cy="2237293"/>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2800" b="1" dirty="0">
                <a:solidFill>
                  <a:srgbClr val="0033CC"/>
                </a:solidFill>
                <a:latin typeface="微软雅黑" panose="020B0503020204020204" pitchFamily="34" charset="-122"/>
                <a:ea typeface="微软雅黑" panose="020B0503020204020204" pitchFamily="34" charset="-122"/>
              </a:rPr>
              <a:t>第</a:t>
            </a:r>
            <a:r>
              <a:rPr lang="en-US" altLang="zh-CN" sz="2800" b="1" dirty="0">
                <a:solidFill>
                  <a:srgbClr val="0033CC"/>
                </a:solidFill>
                <a:latin typeface="微软雅黑" panose="020B0503020204020204" pitchFamily="34" charset="-122"/>
                <a:ea typeface="微软雅黑" panose="020B0503020204020204" pitchFamily="34" charset="-122"/>
              </a:rPr>
              <a:t>1</a:t>
            </a:r>
            <a:r>
              <a:rPr lang="zh-CN" altLang="en-US" sz="2800" b="1" dirty="0">
                <a:solidFill>
                  <a:srgbClr val="0033CC"/>
                </a:solidFill>
                <a:latin typeface="微软雅黑" panose="020B0503020204020204" pitchFamily="34" charset="-122"/>
                <a:ea typeface="微软雅黑" panose="020B0503020204020204" pitchFamily="34" charset="-122"/>
              </a:rPr>
              <a:t>节 单纯形法方法原理 </a:t>
            </a:r>
          </a:p>
          <a:p>
            <a:pPr marL="273050" indent="-273050">
              <a:lnSpc>
                <a:spcPct val="150000"/>
              </a:lnSpc>
              <a:spcBef>
                <a:spcPts val="600"/>
              </a:spcBef>
              <a:buClr>
                <a:schemeClr val="accent1"/>
              </a:buClr>
              <a:buSzPct val="70000"/>
            </a:pPr>
            <a:r>
              <a:rPr lang="zh-CN" altLang="en-US" sz="2800" b="1" dirty="0">
                <a:solidFill>
                  <a:srgbClr val="0033CC"/>
                </a:solidFill>
                <a:latin typeface="微软雅黑" panose="020B0503020204020204" pitchFamily="34" charset="-122"/>
                <a:ea typeface="微软雅黑" panose="020B0503020204020204" pitchFamily="34" charset="-122"/>
              </a:rPr>
              <a:t>第</a:t>
            </a:r>
            <a:r>
              <a:rPr lang="en-US" altLang="zh-CN" sz="2800" b="1" dirty="0">
                <a:solidFill>
                  <a:srgbClr val="0033CC"/>
                </a:solidFill>
                <a:latin typeface="微软雅黑" panose="020B0503020204020204" pitchFamily="34" charset="-122"/>
                <a:ea typeface="微软雅黑" panose="020B0503020204020204" pitchFamily="34" charset="-122"/>
              </a:rPr>
              <a:t>2</a:t>
            </a:r>
            <a:r>
              <a:rPr lang="zh-CN" altLang="en-US" sz="2800" b="1" dirty="0">
                <a:solidFill>
                  <a:srgbClr val="0033CC"/>
                </a:solidFill>
                <a:latin typeface="微软雅黑" panose="020B0503020204020204" pitchFamily="34" charset="-122"/>
                <a:ea typeface="微软雅黑" panose="020B0503020204020204" pitchFamily="34" charset="-122"/>
              </a:rPr>
              <a:t>节 两阶段法与大 </a:t>
            </a:r>
            <a:r>
              <a:rPr lang="en-US" altLang="zh-CN" sz="2800" b="1" dirty="0">
                <a:solidFill>
                  <a:srgbClr val="0033CC"/>
                </a:solidFill>
                <a:latin typeface="微软雅黑" panose="020B0503020204020204" pitchFamily="34" charset="-122"/>
                <a:ea typeface="微软雅黑" panose="020B0503020204020204" pitchFamily="34" charset="-122"/>
              </a:rPr>
              <a:t>M </a:t>
            </a:r>
            <a:r>
              <a:rPr lang="zh-CN" altLang="en-US" sz="2800" b="1" dirty="0">
                <a:solidFill>
                  <a:srgbClr val="0033CC"/>
                </a:solidFill>
                <a:latin typeface="微软雅黑" panose="020B0503020204020204" pitchFamily="34" charset="-122"/>
                <a:ea typeface="微软雅黑" panose="020B0503020204020204" pitchFamily="34" charset="-122"/>
              </a:rPr>
              <a:t>法</a:t>
            </a:r>
          </a:p>
          <a:p>
            <a:pPr marL="273050" indent="-273050" algn="just">
              <a:lnSpc>
                <a:spcPct val="150000"/>
              </a:lnSpc>
              <a:spcBef>
                <a:spcPts val="600"/>
              </a:spcBef>
              <a:buClr>
                <a:schemeClr val="accent1"/>
              </a:buClr>
              <a:buSzPct val="70000"/>
              <a:buFont typeface="Wingdings" panose="05000000000000000000" pitchFamily="2" charset="2"/>
            </a:pPr>
            <a:r>
              <a:rPr lang="zh-CN" altLang="en-US" sz="2800" b="1" dirty="0">
                <a:solidFill>
                  <a:srgbClr val="0033CC"/>
                </a:solidFill>
                <a:latin typeface="微软雅黑" panose="020B0503020204020204" pitchFamily="34" charset="-122"/>
                <a:ea typeface="微软雅黑" panose="020B0503020204020204" pitchFamily="34" charset="-122"/>
              </a:rPr>
              <a:t>第</a:t>
            </a:r>
            <a:r>
              <a:rPr lang="en-US" altLang="zh-CN" sz="2800" b="1" dirty="0">
                <a:solidFill>
                  <a:srgbClr val="0033CC"/>
                </a:solidFill>
                <a:latin typeface="微软雅黑" panose="020B0503020204020204" pitchFamily="34" charset="-122"/>
                <a:ea typeface="微软雅黑" panose="020B0503020204020204" pitchFamily="34" charset="-122"/>
              </a:rPr>
              <a:t>3</a:t>
            </a:r>
            <a:r>
              <a:rPr lang="zh-CN" altLang="en-US" sz="2800" b="1" dirty="0">
                <a:solidFill>
                  <a:srgbClr val="0033CC"/>
                </a:solidFill>
                <a:latin typeface="微软雅黑" panose="020B0503020204020204" pitchFamily="34" charset="-122"/>
                <a:ea typeface="微软雅黑" panose="020B0503020204020204" pitchFamily="34" charset="-122"/>
              </a:rPr>
              <a:t>节 退化情形</a:t>
            </a: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5603"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5604" name="Text Box 4"/>
          <p:cNvSpPr txBox="1"/>
          <p:nvPr/>
        </p:nvSpPr>
        <p:spPr>
          <a:xfrm>
            <a:off x="1763713" y="549275"/>
            <a:ext cx="5976937" cy="584775"/>
          </a:xfrm>
          <a:prstGeom prst="rect">
            <a:avLst/>
          </a:prstGeom>
          <a:noFill/>
          <a:ln w="9525">
            <a:noFill/>
          </a:ln>
        </p:spPr>
        <p:txBody>
          <a:bodyPr>
            <a:spAutoFit/>
          </a:bodyPr>
          <a:lstStyle/>
          <a:p>
            <a:pP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4</a:t>
            </a:r>
            <a:r>
              <a:rPr lang="zh-CN" altLang="en-US" sz="3200" b="1" dirty="0">
                <a:solidFill>
                  <a:srgbClr val="FF0000"/>
                </a:solidFill>
                <a:latin typeface="微软雅黑" panose="020B0503020204020204" pitchFamily="34" charset="-122"/>
                <a:ea typeface="微软雅黑" panose="020B0503020204020204" pitchFamily="34" charset="-122"/>
              </a:rPr>
              <a:t>章  对偶原理及灵敏度分析</a:t>
            </a:r>
          </a:p>
        </p:txBody>
      </p:sp>
      <p:sp>
        <p:nvSpPr>
          <p:cNvPr id="25605" name="Rectangle 3"/>
          <p:cNvSpPr txBox="1"/>
          <p:nvPr/>
        </p:nvSpPr>
        <p:spPr>
          <a:xfrm>
            <a:off x="1331640" y="1844675"/>
            <a:ext cx="6264696" cy="3240509"/>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1</a:t>
            </a:r>
            <a:r>
              <a:rPr lang="zh-CN" altLang="en-US" sz="3200" b="1" dirty="0">
                <a:solidFill>
                  <a:srgbClr val="0033CC"/>
                </a:solidFill>
                <a:latin typeface="微软雅黑" panose="020B0503020204020204" pitchFamily="34" charset="-122"/>
                <a:ea typeface="微软雅黑" panose="020B0503020204020204" pitchFamily="34" charset="-122"/>
              </a:rPr>
              <a:t>节  线性规划中的对偶理论</a:t>
            </a:r>
            <a:endParaRPr lang="en-US" altLang="zh-CN" sz="3200" b="1" dirty="0">
              <a:solidFill>
                <a:srgbClr val="0033CC"/>
              </a:solidFill>
              <a:latin typeface="微软雅黑" panose="020B0503020204020204" pitchFamily="34" charset="-122"/>
              <a:ea typeface="微软雅黑" panose="020B0503020204020204" pitchFamily="34" charset="-122"/>
            </a:endParaRPr>
          </a:p>
          <a:p>
            <a:pPr marL="273050" indent="-273050">
              <a:lnSpc>
                <a:spcPct val="150000"/>
              </a:lnSpc>
              <a:spcBef>
                <a:spcPts val="600"/>
              </a:spcBef>
              <a:buClr>
                <a:schemeClr val="accent1"/>
              </a:buClr>
              <a:buSzPct val="70000"/>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2</a:t>
            </a:r>
            <a:r>
              <a:rPr lang="zh-CN" altLang="en-US" sz="3200" b="1" dirty="0">
                <a:solidFill>
                  <a:srgbClr val="0033CC"/>
                </a:solidFill>
                <a:latin typeface="微软雅黑" panose="020B0503020204020204" pitchFamily="34" charset="-122"/>
                <a:ea typeface="微软雅黑" panose="020B0503020204020204" pitchFamily="34" charset="-122"/>
              </a:rPr>
              <a:t>节  对偶单纯形法</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3</a:t>
            </a:r>
            <a:r>
              <a:rPr lang="zh-CN" altLang="en-US" sz="3200" b="1" dirty="0">
                <a:solidFill>
                  <a:srgbClr val="0033CC"/>
                </a:solidFill>
                <a:latin typeface="微软雅黑" panose="020B0503020204020204" pitchFamily="34" charset="-122"/>
                <a:ea typeface="微软雅黑" panose="020B0503020204020204" pitchFamily="34" charset="-122"/>
              </a:rPr>
              <a:t>节  原始对偶算法</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4</a:t>
            </a:r>
            <a:r>
              <a:rPr lang="zh-CN" altLang="en-US" sz="3200" b="1" dirty="0">
                <a:solidFill>
                  <a:srgbClr val="0033CC"/>
                </a:solidFill>
                <a:latin typeface="微软雅黑" panose="020B0503020204020204" pitchFamily="34" charset="-122"/>
                <a:ea typeface="微软雅黑" panose="020B0503020204020204" pitchFamily="34" charset="-122"/>
              </a:rPr>
              <a:t>节  灵敏度分析</a:t>
            </a:r>
          </a:p>
        </p:txBody>
      </p:sp>
    </p:spTree>
    <p:extLst>
      <p:ext uri="{BB962C8B-B14F-4D97-AF65-F5344CB8AC3E}">
        <p14:creationId xmlns:p14="http://schemas.microsoft.com/office/powerpoint/2010/main" val="692881082"/>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6627"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6628" name="Text Box 4"/>
          <p:cNvSpPr txBox="1"/>
          <p:nvPr/>
        </p:nvSpPr>
        <p:spPr>
          <a:xfrm>
            <a:off x="2700338" y="549275"/>
            <a:ext cx="3600450" cy="579438"/>
          </a:xfrm>
          <a:prstGeom prst="rect">
            <a:avLst/>
          </a:prstGeom>
          <a:noFill/>
          <a:ln w="9525">
            <a:noFill/>
          </a:ln>
        </p:spPr>
        <p:txBody>
          <a:bodyPr>
            <a:spAutoFit/>
          </a:bodyPr>
          <a:lstStyle/>
          <a:p>
            <a:pP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5</a:t>
            </a:r>
            <a:r>
              <a:rPr lang="zh-CN" altLang="en-US" sz="3200" b="1" dirty="0">
                <a:solidFill>
                  <a:srgbClr val="FF0000"/>
                </a:solidFill>
                <a:latin typeface="微软雅黑" panose="020B0503020204020204" pitchFamily="34" charset="-122"/>
                <a:ea typeface="微软雅黑" panose="020B0503020204020204" pitchFamily="34" charset="-122"/>
              </a:rPr>
              <a:t>章  运输问题</a:t>
            </a:r>
          </a:p>
        </p:txBody>
      </p:sp>
      <p:sp>
        <p:nvSpPr>
          <p:cNvPr id="26629" name="Rectangle 3"/>
          <p:cNvSpPr txBox="1"/>
          <p:nvPr/>
        </p:nvSpPr>
        <p:spPr>
          <a:xfrm>
            <a:off x="1259633" y="1844675"/>
            <a:ext cx="7200800" cy="464820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1</a:t>
            </a:r>
            <a:r>
              <a:rPr lang="zh-CN" altLang="en-US" sz="3200" b="1" dirty="0">
                <a:solidFill>
                  <a:srgbClr val="0033CC"/>
                </a:solidFill>
                <a:latin typeface="微软雅黑" panose="020B0503020204020204" pitchFamily="34" charset="-122"/>
                <a:ea typeface="微软雅黑" panose="020B0503020204020204" pitchFamily="34" charset="-122"/>
              </a:rPr>
              <a:t>节  运输问题的数学模型与基本性质</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2</a:t>
            </a:r>
            <a:r>
              <a:rPr lang="zh-CN" altLang="en-US" sz="3200" b="1" dirty="0">
                <a:solidFill>
                  <a:srgbClr val="0033CC"/>
                </a:solidFill>
                <a:latin typeface="微软雅黑" panose="020B0503020204020204" pitchFamily="34" charset="-122"/>
                <a:ea typeface="微软雅黑" panose="020B0503020204020204" pitchFamily="34" charset="-122"/>
              </a:rPr>
              <a:t>节  表上作业法</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3</a:t>
            </a:r>
            <a:r>
              <a:rPr lang="zh-CN" altLang="en-US" sz="3200" b="1" dirty="0">
                <a:solidFill>
                  <a:srgbClr val="0033CC"/>
                </a:solidFill>
                <a:latin typeface="微软雅黑" panose="020B0503020204020204" pitchFamily="34" charset="-122"/>
                <a:ea typeface="微软雅黑" panose="020B0503020204020204" pitchFamily="34" charset="-122"/>
              </a:rPr>
              <a:t>节  产销不平衡运输问题</a:t>
            </a:r>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7651"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7652" name="Text Box 4"/>
          <p:cNvSpPr txBox="1"/>
          <p:nvPr/>
        </p:nvSpPr>
        <p:spPr>
          <a:xfrm>
            <a:off x="1116013" y="549275"/>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6</a:t>
            </a:r>
            <a:r>
              <a:rPr lang="zh-CN" altLang="en-US" sz="3200" b="1" dirty="0">
                <a:solidFill>
                  <a:srgbClr val="FF0000"/>
                </a:solidFill>
                <a:latin typeface="微软雅黑" panose="020B0503020204020204" pitchFamily="34" charset="-122"/>
                <a:ea typeface="微软雅黑" panose="020B0503020204020204" pitchFamily="34" charset="-122"/>
              </a:rPr>
              <a:t>章  凸集</a:t>
            </a:r>
          </a:p>
        </p:txBody>
      </p:sp>
      <p:sp>
        <p:nvSpPr>
          <p:cNvPr id="27653" name="Rectangle 3"/>
          <p:cNvSpPr txBox="1"/>
          <p:nvPr/>
        </p:nvSpPr>
        <p:spPr>
          <a:xfrm>
            <a:off x="1187624" y="1844675"/>
            <a:ext cx="6480001" cy="464820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1</a:t>
            </a:r>
            <a:r>
              <a:rPr lang="zh-CN" altLang="en-US" sz="3200" b="1" dirty="0">
                <a:solidFill>
                  <a:srgbClr val="0033CC"/>
                </a:solidFill>
                <a:latin typeface="微软雅黑" panose="020B0503020204020204" pitchFamily="34" charset="-122"/>
                <a:ea typeface="微软雅黑" panose="020B0503020204020204" pitchFamily="34" charset="-122"/>
              </a:rPr>
              <a:t>节   凸集概念及定义</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2</a:t>
            </a:r>
            <a:r>
              <a:rPr lang="zh-CN" altLang="en-US" sz="3200" b="1" dirty="0">
                <a:solidFill>
                  <a:srgbClr val="0033CC"/>
                </a:solidFill>
                <a:latin typeface="微软雅黑" panose="020B0503020204020204" pitchFamily="34" charset="-122"/>
                <a:ea typeface="微软雅黑" panose="020B0503020204020204" pitchFamily="34" charset="-122"/>
              </a:rPr>
              <a:t>节   保凸运算</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3</a:t>
            </a:r>
            <a:r>
              <a:rPr lang="zh-CN" altLang="en-US" sz="3200" b="1" dirty="0">
                <a:solidFill>
                  <a:srgbClr val="0033CC"/>
                </a:solidFill>
                <a:latin typeface="微软雅黑" panose="020B0503020204020204" pitchFamily="34" charset="-122"/>
                <a:ea typeface="微软雅黑" panose="020B0503020204020204" pitchFamily="34" charset="-122"/>
              </a:rPr>
              <a:t>节   分离与支持超平面</a:t>
            </a:r>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8675"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8676" name="Text Box 4"/>
          <p:cNvSpPr txBox="1"/>
          <p:nvPr/>
        </p:nvSpPr>
        <p:spPr>
          <a:xfrm>
            <a:off x="1116013" y="549275"/>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7</a:t>
            </a:r>
            <a:r>
              <a:rPr lang="zh-CN" altLang="en-US" sz="3200" b="1" dirty="0">
                <a:solidFill>
                  <a:srgbClr val="FF0000"/>
                </a:solidFill>
                <a:latin typeface="微软雅黑" panose="020B0503020204020204" pitchFamily="34" charset="-122"/>
                <a:ea typeface="微软雅黑" panose="020B0503020204020204" pitchFamily="34" charset="-122"/>
              </a:rPr>
              <a:t>章  凸函数</a:t>
            </a:r>
          </a:p>
        </p:txBody>
      </p:sp>
      <p:sp>
        <p:nvSpPr>
          <p:cNvPr id="28677" name="Rectangle 3"/>
          <p:cNvSpPr txBox="1"/>
          <p:nvPr/>
        </p:nvSpPr>
        <p:spPr>
          <a:xfrm>
            <a:off x="1403648" y="1844675"/>
            <a:ext cx="6120680" cy="3456533"/>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1</a:t>
            </a:r>
            <a:r>
              <a:rPr lang="zh-CN" altLang="en-US" sz="3200" b="1" dirty="0">
                <a:solidFill>
                  <a:srgbClr val="0033CC"/>
                </a:solidFill>
                <a:latin typeface="微软雅黑" panose="020B0503020204020204" pitchFamily="34" charset="-122"/>
                <a:ea typeface="微软雅黑" panose="020B0503020204020204" pitchFamily="34" charset="-122"/>
              </a:rPr>
              <a:t>节   定义及典型例子</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2</a:t>
            </a:r>
            <a:r>
              <a:rPr lang="zh-CN" altLang="en-US" sz="3200" b="1" dirty="0">
                <a:solidFill>
                  <a:srgbClr val="0033CC"/>
                </a:solidFill>
                <a:latin typeface="微软雅黑" panose="020B0503020204020204" pitchFamily="34" charset="-122"/>
                <a:ea typeface="微软雅黑" panose="020B0503020204020204" pitchFamily="34" charset="-122"/>
              </a:rPr>
              <a:t>节   基本性质及判定条件</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3</a:t>
            </a:r>
            <a:r>
              <a:rPr lang="zh-CN" altLang="en-US" sz="3200" b="1" dirty="0">
                <a:solidFill>
                  <a:srgbClr val="0033CC"/>
                </a:solidFill>
                <a:latin typeface="微软雅黑" panose="020B0503020204020204" pitchFamily="34" charset="-122"/>
                <a:ea typeface="微软雅黑" panose="020B0503020204020204" pitchFamily="34" charset="-122"/>
              </a:rPr>
              <a:t>节   保凸运算</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4</a:t>
            </a:r>
            <a:r>
              <a:rPr lang="zh-CN" altLang="en-US" sz="3200" b="1" dirty="0">
                <a:solidFill>
                  <a:srgbClr val="0033CC"/>
                </a:solidFill>
                <a:latin typeface="微软雅黑" panose="020B0503020204020204" pitchFamily="34" charset="-122"/>
                <a:ea typeface="微软雅黑" panose="020B0503020204020204" pitchFamily="34" charset="-122"/>
              </a:rPr>
              <a:t>节   共轭函数</a:t>
            </a:r>
            <a:endParaRPr lang="en-US" altLang="zh-CN" sz="3200" b="1" dirty="0">
              <a:solidFill>
                <a:srgbClr val="0033CC"/>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8675"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8676" name="Text Box 4"/>
          <p:cNvSpPr txBox="1"/>
          <p:nvPr/>
        </p:nvSpPr>
        <p:spPr>
          <a:xfrm>
            <a:off x="1116013" y="549275"/>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8</a:t>
            </a:r>
            <a:r>
              <a:rPr lang="zh-CN" altLang="en-US" sz="3200" b="1" dirty="0">
                <a:solidFill>
                  <a:srgbClr val="FF0000"/>
                </a:solidFill>
                <a:latin typeface="微软雅黑" panose="020B0503020204020204" pitchFamily="34" charset="-122"/>
                <a:ea typeface="微软雅黑" panose="020B0503020204020204" pitchFamily="34" charset="-122"/>
              </a:rPr>
              <a:t>章  </a:t>
            </a:r>
            <a:r>
              <a:rPr lang="en-US" altLang="zh-CN" sz="3200" b="1" dirty="0">
                <a:solidFill>
                  <a:srgbClr val="FF0000"/>
                </a:solidFill>
                <a:latin typeface="微软雅黑" panose="020B0503020204020204" pitchFamily="34" charset="-122"/>
                <a:ea typeface="微软雅黑" panose="020B0503020204020204" pitchFamily="34" charset="-122"/>
              </a:rPr>
              <a:t>Lagrange </a:t>
            </a:r>
            <a:r>
              <a:rPr lang="zh-CN" altLang="en-US" sz="3200" b="1" dirty="0">
                <a:solidFill>
                  <a:srgbClr val="FF0000"/>
                </a:solidFill>
                <a:latin typeface="微软雅黑" panose="020B0503020204020204" pitchFamily="34" charset="-122"/>
                <a:ea typeface="微软雅黑" panose="020B0503020204020204" pitchFamily="34" charset="-122"/>
              </a:rPr>
              <a:t>对偶理论</a:t>
            </a:r>
          </a:p>
        </p:txBody>
      </p:sp>
      <p:sp>
        <p:nvSpPr>
          <p:cNvPr id="28677" name="Rectangle 3"/>
          <p:cNvSpPr txBox="1"/>
          <p:nvPr/>
        </p:nvSpPr>
        <p:spPr>
          <a:xfrm>
            <a:off x="1259632" y="1844824"/>
            <a:ext cx="6984777" cy="464820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1</a:t>
            </a:r>
            <a:r>
              <a:rPr lang="zh-CN" altLang="en-US" sz="3200" b="1" dirty="0">
                <a:solidFill>
                  <a:srgbClr val="0033CC"/>
                </a:solidFill>
                <a:latin typeface="微软雅黑" panose="020B0503020204020204" pitchFamily="34" charset="-122"/>
                <a:ea typeface="微软雅黑" panose="020B0503020204020204" pitchFamily="34" charset="-122"/>
              </a:rPr>
              <a:t>节   </a:t>
            </a:r>
            <a:r>
              <a:rPr lang="en-US" altLang="zh-CN" sz="3200" b="1" dirty="0">
                <a:solidFill>
                  <a:srgbClr val="0033CC"/>
                </a:solidFill>
                <a:latin typeface="微软雅黑" panose="020B0503020204020204" pitchFamily="34" charset="-122"/>
                <a:ea typeface="微软雅黑" panose="020B0503020204020204" pitchFamily="34" charset="-122"/>
              </a:rPr>
              <a:t>Lagrange </a:t>
            </a:r>
            <a:r>
              <a:rPr lang="zh-CN" altLang="en-US" sz="3200" b="1" dirty="0">
                <a:solidFill>
                  <a:srgbClr val="0033CC"/>
                </a:solidFill>
                <a:latin typeface="微软雅黑" panose="020B0503020204020204" pitchFamily="34" charset="-122"/>
                <a:ea typeface="微软雅黑" panose="020B0503020204020204" pitchFamily="34" charset="-122"/>
              </a:rPr>
              <a:t>对偶函数</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2</a:t>
            </a:r>
            <a:r>
              <a:rPr lang="zh-CN" altLang="en-US" sz="3200" b="1" dirty="0">
                <a:solidFill>
                  <a:srgbClr val="0033CC"/>
                </a:solidFill>
                <a:latin typeface="微软雅黑" panose="020B0503020204020204" pitchFamily="34" charset="-122"/>
                <a:ea typeface="微软雅黑" panose="020B0503020204020204" pitchFamily="34" charset="-122"/>
              </a:rPr>
              <a:t>节   </a:t>
            </a:r>
            <a:r>
              <a:rPr lang="en-US" altLang="zh-CN" sz="3200" b="1" dirty="0">
                <a:solidFill>
                  <a:srgbClr val="0033CC"/>
                </a:solidFill>
                <a:latin typeface="微软雅黑" panose="020B0503020204020204" pitchFamily="34" charset="-122"/>
                <a:ea typeface="微软雅黑" panose="020B0503020204020204" pitchFamily="34" charset="-122"/>
              </a:rPr>
              <a:t>Lagrange </a:t>
            </a:r>
            <a:r>
              <a:rPr lang="zh-CN" altLang="en-US" sz="3200" b="1" dirty="0">
                <a:solidFill>
                  <a:srgbClr val="0033CC"/>
                </a:solidFill>
                <a:latin typeface="微软雅黑" panose="020B0503020204020204" pitchFamily="34" charset="-122"/>
                <a:ea typeface="微软雅黑" panose="020B0503020204020204" pitchFamily="34" charset="-122"/>
              </a:rPr>
              <a:t>对偶问题标准形式</a:t>
            </a:r>
          </a:p>
          <a:p>
            <a:pPr marL="273050" indent="-273050" algn="just">
              <a:lnSpc>
                <a:spcPct val="150000"/>
              </a:lnSpc>
              <a:spcBef>
                <a:spcPts val="600"/>
              </a:spcBef>
              <a:buClr>
                <a:schemeClr val="accent1"/>
              </a:buClr>
              <a:buSzPct val="70000"/>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3</a:t>
            </a:r>
            <a:r>
              <a:rPr lang="zh-CN" altLang="en-US" sz="3200" b="1" dirty="0">
                <a:solidFill>
                  <a:srgbClr val="0033CC"/>
                </a:solidFill>
                <a:latin typeface="微软雅黑" panose="020B0503020204020204" pitchFamily="34" charset="-122"/>
                <a:ea typeface="微软雅黑" panose="020B0503020204020204" pitchFamily="34" charset="-122"/>
              </a:rPr>
              <a:t>节   </a:t>
            </a:r>
            <a:r>
              <a:rPr lang="en-US" altLang="zh-CN" sz="3200" b="1" dirty="0">
                <a:solidFill>
                  <a:srgbClr val="0033CC"/>
                </a:solidFill>
                <a:latin typeface="微软雅黑" panose="020B0503020204020204" pitchFamily="34" charset="-122"/>
                <a:ea typeface="微软雅黑" panose="020B0503020204020204" pitchFamily="34" charset="-122"/>
              </a:rPr>
              <a:t>Lagrange </a:t>
            </a:r>
            <a:r>
              <a:rPr lang="zh-CN" altLang="en-US" sz="3200" b="1" dirty="0">
                <a:solidFill>
                  <a:srgbClr val="0033CC"/>
                </a:solidFill>
                <a:latin typeface="微软雅黑" panose="020B0503020204020204" pitchFamily="34" charset="-122"/>
                <a:ea typeface="微软雅黑" panose="020B0503020204020204" pitchFamily="34" charset="-122"/>
              </a:rPr>
              <a:t>对偶问题例子</a:t>
            </a:r>
            <a:endParaRPr lang="en-US" altLang="zh-CN" sz="3200" b="1" dirty="0">
              <a:solidFill>
                <a:srgbClr val="0033CC"/>
              </a:solidFill>
              <a:latin typeface="微软雅黑" panose="020B0503020204020204" pitchFamily="34" charset="-122"/>
              <a:ea typeface="微软雅黑" panose="020B0503020204020204" pitchFamily="34" charset="-122"/>
            </a:endParaRPr>
          </a:p>
          <a:p>
            <a:pPr marL="273050" indent="-273050" algn="just">
              <a:lnSpc>
                <a:spcPct val="150000"/>
              </a:lnSpc>
              <a:spcBef>
                <a:spcPts val="600"/>
              </a:spcBef>
              <a:buClr>
                <a:schemeClr val="accent1"/>
              </a:buClr>
              <a:buSzPct val="70000"/>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4</a:t>
            </a:r>
            <a:r>
              <a:rPr lang="zh-CN" altLang="en-US" sz="3200" b="1" dirty="0">
                <a:solidFill>
                  <a:srgbClr val="0033CC"/>
                </a:solidFill>
                <a:latin typeface="微软雅黑" panose="020B0503020204020204" pitchFamily="34" charset="-122"/>
                <a:ea typeface="微软雅黑" panose="020B0503020204020204" pitchFamily="34" charset="-122"/>
              </a:rPr>
              <a:t>节</a:t>
            </a:r>
            <a:r>
              <a:rPr lang="en-US" altLang="zh-CN" sz="3200" b="1" dirty="0">
                <a:solidFill>
                  <a:srgbClr val="0033CC"/>
                </a:solidFill>
                <a:latin typeface="微软雅黑" panose="020B0503020204020204" pitchFamily="34" charset="-122"/>
                <a:ea typeface="微软雅黑" panose="020B0503020204020204" pitchFamily="34" charset="-122"/>
              </a:rPr>
              <a:t>   </a:t>
            </a:r>
            <a:r>
              <a:rPr lang="zh-CN" altLang="en-US" sz="3200" b="1" dirty="0">
                <a:solidFill>
                  <a:srgbClr val="0033CC"/>
                </a:solidFill>
                <a:latin typeface="微软雅黑" panose="020B0503020204020204" pitchFamily="34" charset="-122"/>
                <a:ea typeface="微软雅黑" panose="020B0503020204020204" pitchFamily="34" charset="-122"/>
              </a:rPr>
              <a:t>最优性条件及</a:t>
            </a:r>
            <a:r>
              <a:rPr lang="en-US" altLang="zh-CN" sz="3200" b="1" dirty="0">
                <a:solidFill>
                  <a:srgbClr val="0033CC"/>
                </a:solidFill>
                <a:latin typeface="微软雅黑" panose="020B0503020204020204" pitchFamily="34" charset="-122"/>
                <a:ea typeface="微软雅黑" panose="020B0503020204020204" pitchFamily="34" charset="-122"/>
              </a:rPr>
              <a:t>KKT </a:t>
            </a:r>
            <a:r>
              <a:rPr lang="zh-CN" altLang="en-US" sz="3200" b="1" dirty="0">
                <a:solidFill>
                  <a:srgbClr val="0033CC"/>
                </a:solidFill>
                <a:latin typeface="微软雅黑" panose="020B0503020204020204" pitchFamily="34" charset="-122"/>
                <a:ea typeface="微软雅黑" panose="020B0503020204020204" pitchFamily="34" charset="-122"/>
              </a:rPr>
              <a:t>定理</a:t>
            </a:r>
          </a:p>
        </p:txBody>
      </p:sp>
    </p:spTree>
    <p:extLst>
      <p:ext uri="{BB962C8B-B14F-4D97-AF65-F5344CB8AC3E}">
        <p14:creationId xmlns:p14="http://schemas.microsoft.com/office/powerpoint/2010/main" val="3911157985"/>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8675"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8676" name="Text Box 4"/>
          <p:cNvSpPr txBox="1"/>
          <p:nvPr/>
        </p:nvSpPr>
        <p:spPr>
          <a:xfrm>
            <a:off x="1116013" y="549275"/>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9</a:t>
            </a:r>
            <a:r>
              <a:rPr lang="zh-CN" altLang="en-US" sz="3200" b="1" dirty="0">
                <a:solidFill>
                  <a:srgbClr val="FF0000"/>
                </a:solidFill>
                <a:latin typeface="微软雅黑" panose="020B0503020204020204" pitchFamily="34" charset="-122"/>
                <a:ea typeface="微软雅黑" panose="020B0503020204020204" pitchFamily="34" charset="-122"/>
              </a:rPr>
              <a:t>章  凸优化标准问题介绍</a:t>
            </a:r>
          </a:p>
        </p:txBody>
      </p:sp>
      <p:sp>
        <p:nvSpPr>
          <p:cNvPr id="28677" name="Rectangle 3"/>
          <p:cNvSpPr txBox="1"/>
          <p:nvPr/>
        </p:nvSpPr>
        <p:spPr>
          <a:xfrm>
            <a:off x="1475656" y="1988840"/>
            <a:ext cx="5976665" cy="262381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1</a:t>
            </a:r>
            <a:r>
              <a:rPr lang="zh-CN" altLang="en-US" sz="3200" b="1" dirty="0">
                <a:solidFill>
                  <a:srgbClr val="0033CC"/>
                </a:solidFill>
                <a:latin typeface="微软雅黑" panose="020B0503020204020204" pitchFamily="34" charset="-122"/>
                <a:ea typeface="微软雅黑" panose="020B0503020204020204" pitchFamily="34" charset="-122"/>
              </a:rPr>
              <a:t>节  线性规划问题</a:t>
            </a:r>
          </a:p>
          <a:p>
            <a:pPr marL="273050" indent="-273050" algn="just">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2</a:t>
            </a:r>
            <a:r>
              <a:rPr lang="zh-CN" altLang="en-US" sz="3200" b="1" dirty="0">
                <a:solidFill>
                  <a:srgbClr val="0033CC"/>
                </a:solidFill>
                <a:latin typeface="微软雅黑" panose="020B0503020204020204" pitchFamily="34" charset="-122"/>
                <a:ea typeface="微软雅黑" panose="020B0503020204020204" pitchFamily="34" charset="-122"/>
              </a:rPr>
              <a:t>节   二次规划问题</a:t>
            </a:r>
          </a:p>
          <a:p>
            <a:pPr marL="273050" indent="-273050" algn="just">
              <a:lnSpc>
                <a:spcPct val="150000"/>
              </a:lnSpc>
              <a:spcBef>
                <a:spcPts val="600"/>
              </a:spcBef>
              <a:buClr>
                <a:schemeClr val="accent1"/>
              </a:buClr>
              <a:buSzPct val="70000"/>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3</a:t>
            </a:r>
            <a:r>
              <a:rPr lang="zh-CN" altLang="en-US" sz="3200" b="1" dirty="0">
                <a:solidFill>
                  <a:srgbClr val="0033CC"/>
                </a:solidFill>
                <a:latin typeface="微软雅黑" panose="020B0503020204020204" pitchFamily="34" charset="-122"/>
                <a:ea typeface="微软雅黑" panose="020B0503020204020204" pitchFamily="34" charset="-122"/>
              </a:rPr>
              <a:t>节  半定规划问题</a:t>
            </a:r>
          </a:p>
        </p:txBody>
      </p:sp>
    </p:spTree>
    <p:extLst>
      <p:ext uri="{BB962C8B-B14F-4D97-AF65-F5344CB8AC3E}">
        <p14:creationId xmlns:p14="http://schemas.microsoft.com/office/powerpoint/2010/main" val="2300857619"/>
      </p:ext>
    </p:ext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8675"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8676" name="Text Box 4"/>
          <p:cNvSpPr txBox="1"/>
          <p:nvPr/>
        </p:nvSpPr>
        <p:spPr>
          <a:xfrm>
            <a:off x="1116013" y="549275"/>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10</a:t>
            </a:r>
            <a:r>
              <a:rPr lang="zh-CN" altLang="en-US" sz="3200" b="1" dirty="0">
                <a:solidFill>
                  <a:srgbClr val="FF0000"/>
                </a:solidFill>
                <a:latin typeface="微软雅黑" panose="020B0503020204020204" pitchFamily="34" charset="-122"/>
                <a:ea typeface="微软雅黑" panose="020B0503020204020204" pitchFamily="34" charset="-122"/>
              </a:rPr>
              <a:t>章 无约束最小化</a:t>
            </a:r>
          </a:p>
        </p:txBody>
      </p:sp>
      <p:sp>
        <p:nvSpPr>
          <p:cNvPr id="28677" name="Rectangle 3"/>
          <p:cNvSpPr txBox="1"/>
          <p:nvPr/>
        </p:nvSpPr>
        <p:spPr>
          <a:xfrm>
            <a:off x="1331641" y="1804987"/>
            <a:ext cx="5976664" cy="464820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1</a:t>
            </a:r>
            <a:r>
              <a:rPr lang="zh-CN" altLang="en-US" sz="3200" b="1" dirty="0">
                <a:solidFill>
                  <a:srgbClr val="0033CC"/>
                </a:solidFill>
                <a:latin typeface="微软雅黑" panose="020B0503020204020204" pitchFamily="34" charset="-122"/>
                <a:ea typeface="微软雅黑" panose="020B0503020204020204" pitchFamily="34" charset="-122"/>
              </a:rPr>
              <a:t>节 无约束最小化问题</a:t>
            </a:r>
          </a:p>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2</a:t>
            </a:r>
            <a:r>
              <a:rPr lang="zh-CN" altLang="en-US" sz="3200" b="1" dirty="0">
                <a:solidFill>
                  <a:srgbClr val="0033CC"/>
                </a:solidFill>
                <a:latin typeface="微软雅黑" panose="020B0503020204020204" pitchFamily="34" charset="-122"/>
                <a:ea typeface="微软雅黑" panose="020B0503020204020204" pitchFamily="34" charset="-122"/>
              </a:rPr>
              <a:t>节 </a:t>
            </a:r>
            <a:r>
              <a:rPr lang="en-US" altLang="zh-CN" sz="3200" b="1" dirty="0">
                <a:solidFill>
                  <a:srgbClr val="0033CC"/>
                </a:solidFill>
                <a:latin typeface="微软雅黑" panose="020B0503020204020204" pitchFamily="34" charset="-122"/>
                <a:ea typeface="微软雅黑" panose="020B0503020204020204" pitchFamily="34" charset="-122"/>
              </a:rPr>
              <a:t> </a:t>
            </a:r>
            <a:r>
              <a:rPr lang="zh-CN" altLang="en-US" sz="3200" b="1" dirty="0">
                <a:solidFill>
                  <a:srgbClr val="0033CC"/>
                </a:solidFill>
                <a:latin typeface="微软雅黑" panose="020B0503020204020204" pitchFamily="34" charset="-122"/>
                <a:ea typeface="微软雅黑" panose="020B0503020204020204" pitchFamily="34" charset="-122"/>
              </a:rPr>
              <a:t>下降法</a:t>
            </a:r>
          </a:p>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3</a:t>
            </a:r>
            <a:r>
              <a:rPr lang="zh-CN" altLang="en-US" sz="3200" b="1" dirty="0">
                <a:solidFill>
                  <a:srgbClr val="0033CC"/>
                </a:solidFill>
                <a:latin typeface="微软雅黑" panose="020B0503020204020204" pitchFamily="34" charset="-122"/>
                <a:ea typeface="微软雅黑" panose="020B0503020204020204" pitchFamily="34" charset="-122"/>
              </a:rPr>
              <a:t>节</a:t>
            </a:r>
            <a:r>
              <a:rPr lang="en-US" altLang="zh-CN" sz="3200" b="1" dirty="0">
                <a:solidFill>
                  <a:srgbClr val="0033CC"/>
                </a:solidFill>
                <a:latin typeface="微软雅黑" panose="020B0503020204020204" pitchFamily="34" charset="-122"/>
                <a:ea typeface="微软雅黑" panose="020B0503020204020204" pitchFamily="34" charset="-122"/>
              </a:rPr>
              <a:t>  </a:t>
            </a:r>
            <a:r>
              <a:rPr lang="zh-CN" altLang="en-US" sz="3200" b="1" dirty="0">
                <a:solidFill>
                  <a:srgbClr val="0033CC"/>
                </a:solidFill>
                <a:latin typeface="微软雅黑" panose="020B0503020204020204" pitchFamily="34" charset="-122"/>
                <a:ea typeface="微软雅黑" panose="020B0503020204020204" pitchFamily="34" charset="-122"/>
              </a:rPr>
              <a:t>梯度下降法</a:t>
            </a:r>
          </a:p>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4</a:t>
            </a:r>
            <a:r>
              <a:rPr lang="zh-CN" altLang="en-US" sz="3200" b="1" dirty="0">
                <a:solidFill>
                  <a:srgbClr val="0033CC"/>
                </a:solidFill>
                <a:latin typeface="微软雅黑" panose="020B0503020204020204" pitchFamily="34" charset="-122"/>
                <a:ea typeface="微软雅黑" panose="020B0503020204020204" pitchFamily="34" charset="-122"/>
              </a:rPr>
              <a:t>节 </a:t>
            </a:r>
            <a:r>
              <a:rPr lang="en-US" altLang="zh-CN" sz="3200" b="1" dirty="0">
                <a:solidFill>
                  <a:srgbClr val="0033CC"/>
                </a:solidFill>
                <a:latin typeface="微软雅黑" panose="020B0503020204020204" pitchFamily="34" charset="-122"/>
                <a:ea typeface="微软雅黑" panose="020B0503020204020204" pitchFamily="34" charset="-122"/>
              </a:rPr>
              <a:t> </a:t>
            </a:r>
            <a:r>
              <a:rPr lang="zh-CN" altLang="en-US" sz="3200" b="1" dirty="0">
                <a:solidFill>
                  <a:srgbClr val="0033CC"/>
                </a:solidFill>
                <a:latin typeface="微软雅黑" panose="020B0503020204020204" pitchFamily="34" charset="-122"/>
                <a:ea typeface="微软雅黑" panose="020B0503020204020204" pitchFamily="34" charset="-122"/>
              </a:rPr>
              <a:t>最速下降法</a:t>
            </a:r>
          </a:p>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5</a:t>
            </a:r>
            <a:r>
              <a:rPr lang="zh-CN" altLang="en-US" sz="3200" b="1" dirty="0">
                <a:solidFill>
                  <a:srgbClr val="0033CC"/>
                </a:solidFill>
                <a:latin typeface="微软雅黑" panose="020B0503020204020204" pitchFamily="34" charset="-122"/>
                <a:ea typeface="微软雅黑" panose="020B0503020204020204" pitchFamily="34" charset="-122"/>
              </a:rPr>
              <a:t>节  牛顿法</a:t>
            </a:r>
          </a:p>
        </p:txBody>
      </p:sp>
    </p:spTree>
    <p:extLst>
      <p:ext uri="{BB962C8B-B14F-4D97-AF65-F5344CB8AC3E}">
        <p14:creationId xmlns:p14="http://schemas.microsoft.com/office/powerpoint/2010/main" val="3799903870"/>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descr="信纸"/>
          <p:cNvSpPr/>
          <p:nvPr/>
        </p:nvSpPr>
        <p:spPr>
          <a:xfrm>
            <a:off x="1116013" y="404813"/>
            <a:ext cx="6551612" cy="863600"/>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latin typeface="Tahoma" panose="020B0604030504040204" pitchFamily="34" charset="0"/>
            </a:endParaRPr>
          </a:p>
        </p:txBody>
      </p:sp>
      <p:pic>
        <p:nvPicPr>
          <p:cNvPr id="28675" name="Picture 3" descr="卷轴2"/>
          <p:cNvPicPr>
            <a:picLocks noChangeAspect="1"/>
          </p:cNvPicPr>
          <p:nvPr/>
        </p:nvPicPr>
        <p:blipFill>
          <a:blip r:embed="rId3"/>
          <a:stretch>
            <a:fillRect/>
          </a:stretch>
        </p:blipFill>
        <p:spPr>
          <a:xfrm>
            <a:off x="250825" y="0"/>
            <a:ext cx="8281988" cy="1700213"/>
          </a:xfrm>
          <a:prstGeom prst="rect">
            <a:avLst/>
          </a:prstGeom>
          <a:noFill/>
          <a:ln w="9525">
            <a:noFill/>
          </a:ln>
        </p:spPr>
      </p:pic>
      <p:sp>
        <p:nvSpPr>
          <p:cNvPr id="28676" name="Text Box 4"/>
          <p:cNvSpPr txBox="1"/>
          <p:nvPr/>
        </p:nvSpPr>
        <p:spPr>
          <a:xfrm>
            <a:off x="1116013" y="549275"/>
            <a:ext cx="6551612" cy="584200"/>
          </a:xfrm>
          <a:prstGeom prst="rect">
            <a:avLst/>
          </a:prstGeom>
          <a:noFill/>
          <a:ln w="9525">
            <a:noFill/>
          </a:ln>
        </p:spPr>
        <p:txBody>
          <a:bodyPr wrap="square">
            <a:spAutoFit/>
          </a:bodyPr>
          <a:lstStyle/>
          <a:p>
            <a:pPr algn="ctr" eaLnBrk="1" hangingPunct="1">
              <a:spcBef>
                <a:spcPct val="50000"/>
              </a:spcBef>
            </a:pPr>
            <a:r>
              <a:rPr lang="zh-CN" altLang="en-US" sz="3200" b="1" dirty="0">
                <a:solidFill>
                  <a:srgbClr val="FF0000"/>
                </a:solidFill>
                <a:latin typeface="微软雅黑" panose="020B0503020204020204" pitchFamily="34" charset="-122"/>
                <a:ea typeface="微软雅黑" panose="020B0503020204020204" pitchFamily="34" charset="-122"/>
              </a:rPr>
              <a:t>第</a:t>
            </a:r>
            <a:r>
              <a:rPr lang="en-US" altLang="zh-CN" sz="3200" b="1" dirty="0">
                <a:solidFill>
                  <a:srgbClr val="FF0000"/>
                </a:solidFill>
                <a:latin typeface="微软雅黑" panose="020B0503020204020204" pitchFamily="34" charset="-122"/>
                <a:ea typeface="微软雅黑" panose="020B0503020204020204" pitchFamily="34" charset="-122"/>
              </a:rPr>
              <a:t>11</a:t>
            </a:r>
            <a:r>
              <a:rPr lang="zh-CN" altLang="en-US" sz="3200" b="1" dirty="0">
                <a:solidFill>
                  <a:srgbClr val="FF0000"/>
                </a:solidFill>
                <a:latin typeface="微软雅黑" panose="020B0503020204020204" pitchFamily="34" charset="-122"/>
                <a:ea typeface="微软雅黑" panose="020B0503020204020204" pitchFamily="34" charset="-122"/>
              </a:rPr>
              <a:t>章 最优化在深度学习中的应用</a:t>
            </a:r>
          </a:p>
        </p:txBody>
      </p:sp>
      <p:sp>
        <p:nvSpPr>
          <p:cNvPr id="28677" name="Rectangle 3"/>
          <p:cNvSpPr txBox="1"/>
          <p:nvPr/>
        </p:nvSpPr>
        <p:spPr>
          <a:xfrm>
            <a:off x="1259632" y="1916832"/>
            <a:ext cx="5688235" cy="2623810"/>
          </a:xfrm>
          <a:prstGeom prst="rect">
            <a:avLst/>
          </a:prstGeom>
          <a:noFill/>
          <a:ln w="9525">
            <a:noFill/>
          </a:ln>
        </p:spPr>
        <p:txBody>
          <a:bodyPr/>
          <a:lstStyle/>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1</a:t>
            </a:r>
            <a:r>
              <a:rPr lang="zh-CN" altLang="en-US" sz="3200" b="1" dirty="0">
                <a:solidFill>
                  <a:srgbClr val="0033CC"/>
                </a:solidFill>
                <a:latin typeface="微软雅黑" panose="020B0503020204020204" pitchFamily="34" charset="-122"/>
                <a:ea typeface="微软雅黑" panose="020B0503020204020204" pitchFamily="34" charset="-122"/>
              </a:rPr>
              <a:t>节  深度神经网络模型</a:t>
            </a:r>
          </a:p>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2</a:t>
            </a:r>
            <a:r>
              <a:rPr lang="zh-CN" altLang="en-US" sz="3200" b="1" dirty="0">
                <a:solidFill>
                  <a:srgbClr val="0033CC"/>
                </a:solidFill>
                <a:latin typeface="微软雅黑" panose="020B0503020204020204" pitchFamily="34" charset="-122"/>
                <a:ea typeface="微软雅黑" panose="020B0503020204020204" pitchFamily="34" charset="-122"/>
              </a:rPr>
              <a:t>节 </a:t>
            </a:r>
            <a:r>
              <a:rPr lang="en-US" altLang="zh-CN" sz="3200" b="1" dirty="0">
                <a:solidFill>
                  <a:srgbClr val="0033CC"/>
                </a:solidFill>
                <a:latin typeface="微软雅黑" panose="020B0503020204020204" pitchFamily="34" charset="-122"/>
                <a:ea typeface="微软雅黑" panose="020B0503020204020204" pitchFamily="34" charset="-122"/>
              </a:rPr>
              <a:t> </a:t>
            </a:r>
            <a:r>
              <a:rPr lang="zh-CN" altLang="en-US" sz="3200" b="1" dirty="0">
                <a:solidFill>
                  <a:srgbClr val="0033CC"/>
                </a:solidFill>
                <a:latin typeface="微软雅黑" panose="020B0503020204020204" pitchFamily="34" charset="-122"/>
                <a:ea typeface="微软雅黑" panose="020B0503020204020204" pitchFamily="34" charset="-122"/>
              </a:rPr>
              <a:t>反向传播与链式法则</a:t>
            </a:r>
          </a:p>
          <a:p>
            <a:pPr marL="273050" indent="-273050">
              <a:lnSpc>
                <a:spcPct val="150000"/>
              </a:lnSpc>
              <a:spcBef>
                <a:spcPts val="600"/>
              </a:spcBef>
              <a:buClr>
                <a:schemeClr val="accent1"/>
              </a:buClr>
              <a:buSzPct val="70000"/>
              <a:buFont typeface="Wingdings" panose="05000000000000000000" pitchFamily="2" charset="2"/>
            </a:pPr>
            <a:r>
              <a:rPr lang="zh-CN" altLang="en-US" sz="3200" b="1" dirty="0">
                <a:solidFill>
                  <a:srgbClr val="0033CC"/>
                </a:solidFill>
                <a:latin typeface="微软雅黑" panose="020B0503020204020204" pitchFamily="34" charset="-122"/>
                <a:ea typeface="微软雅黑" panose="020B0503020204020204" pitchFamily="34" charset="-122"/>
              </a:rPr>
              <a:t>第</a:t>
            </a:r>
            <a:r>
              <a:rPr lang="en-US" altLang="zh-CN" sz="3200" b="1" dirty="0">
                <a:solidFill>
                  <a:srgbClr val="0033CC"/>
                </a:solidFill>
                <a:latin typeface="微软雅黑" panose="020B0503020204020204" pitchFamily="34" charset="-122"/>
                <a:ea typeface="微软雅黑" panose="020B0503020204020204" pitchFamily="34" charset="-122"/>
              </a:rPr>
              <a:t>3</a:t>
            </a:r>
            <a:r>
              <a:rPr lang="zh-CN" altLang="en-US" sz="3200" b="1" dirty="0">
                <a:solidFill>
                  <a:srgbClr val="0033CC"/>
                </a:solidFill>
                <a:latin typeface="微软雅黑" panose="020B0503020204020204" pitchFamily="34" charset="-122"/>
                <a:ea typeface="微软雅黑" panose="020B0503020204020204" pitchFamily="34" charset="-122"/>
              </a:rPr>
              <a:t>节 </a:t>
            </a:r>
            <a:r>
              <a:rPr lang="en-US" altLang="zh-CN" sz="3200" b="1" dirty="0">
                <a:solidFill>
                  <a:srgbClr val="0033CC"/>
                </a:solidFill>
                <a:latin typeface="微软雅黑" panose="020B0503020204020204" pitchFamily="34" charset="-122"/>
                <a:ea typeface="微软雅黑" panose="020B0503020204020204" pitchFamily="34" charset="-122"/>
              </a:rPr>
              <a:t> </a:t>
            </a:r>
            <a:r>
              <a:rPr lang="zh-CN" altLang="en-US" sz="3200" b="1" dirty="0">
                <a:solidFill>
                  <a:srgbClr val="0033CC"/>
                </a:solidFill>
                <a:latin typeface="微软雅黑" panose="020B0503020204020204" pitchFamily="34" charset="-122"/>
                <a:ea typeface="微软雅黑" panose="020B0503020204020204" pitchFamily="34" charset="-122"/>
              </a:rPr>
              <a:t>梯度算法加速</a:t>
            </a:r>
          </a:p>
        </p:txBody>
      </p:sp>
    </p:spTree>
    <p:extLst>
      <p:ext uri="{BB962C8B-B14F-4D97-AF65-F5344CB8AC3E}">
        <p14:creationId xmlns:p14="http://schemas.microsoft.com/office/powerpoint/2010/main" val="827798214"/>
      </p:ext>
    </p:ext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MH" val="20190110142214"/>
  <p:tag name="MH_LIBRARY" val="GRAPHIC"/>
  <p:tag name="MH_ORDER" val="Straight Connector 9"/>
</p:tagLst>
</file>

<file path=ppt/tags/tag2.xml><?xml version="1.0" encoding="utf-8"?>
<p:tagLst xmlns:a="http://schemas.openxmlformats.org/drawingml/2006/main" xmlns:r="http://schemas.openxmlformats.org/officeDocument/2006/relationships" xmlns:p="http://schemas.openxmlformats.org/presentationml/2006/main">
  <p:tag name="MH" val="20190110142214"/>
  <p:tag name="MH_LIBRARY" val="GRAPHIC"/>
  <p:tag name="MH_ORDER" val="Straight Connector 9"/>
</p:tagLst>
</file>

<file path=ppt/tags/tag3.xml><?xml version="1.0" encoding="utf-8"?>
<p:tagLst xmlns:a="http://schemas.openxmlformats.org/drawingml/2006/main" xmlns:r="http://schemas.openxmlformats.org/officeDocument/2006/relationships" xmlns:p="http://schemas.openxmlformats.org/presentationml/2006/main">
  <p:tag name="MH" val="20190110142214"/>
  <p:tag name="MH_LIBRARY" val="GRAPHIC"/>
  <p:tag name="MH_ORDER" val="Straight Connector 9"/>
</p:tagLst>
</file>

<file path=ppt/tags/tag4.xml><?xml version="1.0" encoding="utf-8"?>
<p:tagLst xmlns:a="http://schemas.openxmlformats.org/drawingml/2006/main" xmlns:r="http://schemas.openxmlformats.org/officeDocument/2006/relationships" xmlns:p="http://schemas.openxmlformats.org/presentationml/2006/main">
  <p:tag name="MH" val="20190110142214"/>
  <p:tag name="MH_LIBRARY" val="GRAPHIC"/>
  <p:tag name="MH_ORDER" val="Straight Connector 9"/>
</p:tagLst>
</file>

<file path=ppt/tags/tag5.xml><?xml version="1.0" encoding="utf-8"?>
<p:tagLst xmlns:a="http://schemas.openxmlformats.org/drawingml/2006/main" xmlns:r="http://schemas.openxmlformats.org/officeDocument/2006/relationships" xmlns:p="http://schemas.openxmlformats.org/presentationml/2006/main">
  <p:tag name="MH" val="20190110142214"/>
  <p:tag name="MH_LIBRARY" val="GRAPHIC"/>
  <p:tag name="MH_ORDER" val="Straight Connector 9"/>
</p:tagLst>
</file>

<file path=ppt/tags/tag6.xml><?xml version="1.0" encoding="utf-8"?>
<p:tagLst xmlns:a="http://schemas.openxmlformats.org/drawingml/2006/main" xmlns:r="http://schemas.openxmlformats.org/officeDocument/2006/relationships" xmlns:p="http://schemas.openxmlformats.org/presentationml/2006/main">
  <p:tag name="MH" val="20190110142214"/>
  <p:tag name="MH_LIBRARY" val="GRAPHIC"/>
  <p:tag name="MH_ORDER" val="Straight Connector 9"/>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1078</TotalTime>
  <Words>3688</Words>
  <Application>Microsoft Office PowerPoint</Application>
  <PresentationFormat>全屏显示(4:3)</PresentationFormat>
  <Paragraphs>378</Paragraphs>
  <Slides>40</Slides>
  <Notes>1</Notes>
  <HiddenSlides>0</HiddenSlides>
  <MMClips>0</MMClips>
  <ScaleCrop>false</ScaleCrop>
  <HeadingPairs>
    <vt:vector size="10"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40</vt:i4>
      </vt:variant>
      <vt:variant>
        <vt:lpstr>自定义放映</vt:lpstr>
      </vt:variant>
      <vt:variant>
        <vt:i4>1</vt:i4>
      </vt:variant>
    </vt:vector>
  </HeadingPairs>
  <TitlesOfParts>
    <vt:vector size="51" baseType="lpstr">
      <vt:lpstr>quote-cjk-patch</vt:lpstr>
      <vt:lpstr>华文楷体</vt:lpstr>
      <vt:lpstr>微软雅黑</vt:lpstr>
      <vt:lpstr>Arial</vt:lpstr>
      <vt:lpstr>Cambria Math</vt:lpstr>
      <vt:lpstr>Tahoma</vt:lpstr>
      <vt:lpstr>Times New Roman</vt:lpstr>
      <vt:lpstr>Wingdings</vt:lpstr>
      <vt:lpstr>Blends</vt:lpstr>
      <vt:lpstr>Equation</vt:lpstr>
      <vt:lpstr>PowerPoint 演示文稿</vt:lpstr>
      <vt:lpstr>PowerPoint 演示文稿</vt:lpstr>
      <vt:lpstr>什么是最优化？</vt:lpstr>
      <vt:lpstr>最优化学科的发展历史</vt:lpstr>
      <vt:lpstr>PowerPoint 演示文稿</vt:lpstr>
      <vt:lpstr>PowerPoint 演示文稿</vt:lpstr>
      <vt:lpstr>PowerPoint 演示文稿</vt:lpstr>
      <vt:lpstr>最优化问题（一般形式）：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自定义放映1</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反馈控制理论基础</dc:title>
  <dc:creator>jakey</dc:creator>
  <cp:lastModifiedBy>wang</cp:lastModifiedBy>
  <cp:revision>1044</cp:revision>
  <dcterms:created xsi:type="dcterms:W3CDTF">2002-01-10T11:18:00Z</dcterms:created>
  <dcterms:modified xsi:type="dcterms:W3CDTF">2026-09-07T06:44:06Z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