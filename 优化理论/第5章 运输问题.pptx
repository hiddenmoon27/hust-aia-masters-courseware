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9"/>
  </p:notesMasterIdLst>
  <p:handoutMasterIdLst>
    <p:handoutMasterId r:id="rId90"/>
  </p:handoutMasterIdLst>
  <p:sldIdLst>
    <p:sldId id="546" r:id="rId2"/>
    <p:sldId id="557" r:id="rId3"/>
    <p:sldId id="547" r:id="rId4"/>
    <p:sldId id="548" r:id="rId5"/>
    <p:sldId id="549" r:id="rId6"/>
    <p:sldId id="550" r:id="rId7"/>
    <p:sldId id="551" r:id="rId8"/>
    <p:sldId id="552" r:id="rId9"/>
    <p:sldId id="556" r:id="rId10"/>
    <p:sldId id="553" r:id="rId11"/>
    <p:sldId id="554" r:id="rId12"/>
    <p:sldId id="555" r:id="rId13"/>
    <p:sldId id="657" r:id="rId14"/>
    <p:sldId id="493" r:id="rId15"/>
    <p:sldId id="494" r:id="rId16"/>
    <p:sldId id="498" r:id="rId17"/>
    <p:sldId id="499" r:id="rId18"/>
    <p:sldId id="542" r:id="rId19"/>
    <p:sldId id="501" r:id="rId20"/>
    <p:sldId id="502" r:id="rId21"/>
    <p:sldId id="503" r:id="rId22"/>
    <p:sldId id="599" r:id="rId23"/>
    <p:sldId id="601" r:id="rId24"/>
    <p:sldId id="505" r:id="rId25"/>
    <p:sldId id="506" r:id="rId26"/>
    <p:sldId id="509" r:id="rId27"/>
    <p:sldId id="543" r:id="rId28"/>
    <p:sldId id="511" r:id="rId29"/>
    <p:sldId id="513" r:id="rId30"/>
    <p:sldId id="515" r:id="rId31"/>
    <p:sldId id="567" r:id="rId32"/>
    <p:sldId id="594" r:id="rId33"/>
    <p:sldId id="566" r:id="rId34"/>
    <p:sldId id="516" r:id="rId35"/>
    <p:sldId id="600" r:id="rId36"/>
    <p:sldId id="520" r:id="rId37"/>
    <p:sldId id="521" r:id="rId38"/>
    <p:sldId id="523" r:id="rId39"/>
    <p:sldId id="581" r:id="rId40"/>
    <p:sldId id="586" r:id="rId41"/>
    <p:sldId id="588" r:id="rId42"/>
    <p:sldId id="589" r:id="rId43"/>
    <p:sldId id="590" r:id="rId44"/>
    <p:sldId id="597" r:id="rId45"/>
    <p:sldId id="591" r:id="rId46"/>
    <p:sldId id="596" r:id="rId47"/>
    <p:sldId id="595" r:id="rId48"/>
    <p:sldId id="592" r:id="rId49"/>
    <p:sldId id="593" r:id="rId50"/>
    <p:sldId id="568" r:id="rId51"/>
    <p:sldId id="569" r:id="rId52"/>
    <p:sldId id="570" r:id="rId53"/>
    <p:sldId id="571" r:id="rId54"/>
    <p:sldId id="572" r:id="rId55"/>
    <p:sldId id="573" r:id="rId56"/>
    <p:sldId id="574" r:id="rId57"/>
    <p:sldId id="575" r:id="rId58"/>
    <p:sldId id="576" r:id="rId59"/>
    <p:sldId id="577" r:id="rId60"/>
    <p:sldId id="578" r:id="rId61"/>
    <p:sldId id="579" r:id="rId62"/>
    <p:sldId id="598" r:id="rId63"/>
    <p:sldId id="658" r:id="rId64"/>
    <p:sldId id="614" r:id="rId65"/>
    <p:sldId id="615" r:id="rId66"/>
    <p:sldId id="583" r:id="rId67"/>
    <p:sldId id="616" r:id="rId68"/>
    <p:sldId id="584" r:id="rId69"/>
    <p:sldId id="585" r:id="rId70"/>
    <p:sldId id="587" r:id="rId71"/>
    <p:sldId id="633" r:id="rId72"/>
    <p:sldId id="634" r:id="rId73"/>
    <p:sldId id="635" r:id="rId74"/>
    <p:sldId id="636" r:id="rId75"/>
    <p:sldId id="638" r:id="rId76"/>
    <p:sldId id="640" r:id="rId77"/>
    <p:sldId id="645" r:id="rId78"/>
    <p:sldId id="641" r:id="rId79"/>
    <p:sldId id="646" r:id="rId80"/>
    <p:sldId id="642" r:id="rId81"/>
    <p:sldId id="617" r:id="rId82"/>
    <p:sldId id="643" r:id="rId83"/>
    <p:sldId id="644" r:id="rId84"/>
    <p:sldId id="495" r:id="rId85"/>
    <p:sldId id="653" r:id="rId86"/>
    <p:sldId id="654" r:id="rId87"/>
    <p:sldId id="655" r:id="rId88"/>
  </p:sldIdLst>
  <p:sldSz cx="9144000" cy="6858000" type="screen4x3"/>
  <p:notesSz cx="7099300" cy="10234613"/>
  <p:custShowLst>
    <p:custShow name="自定义放映1" id="0">
      <p:sldLst/>
    </p:custShow>
  </p:custShow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F1F7"/>
    <a:srgbClr val="99FF99"/>
    <a:srgbClr val="FFFF99"/>
    <a:srgbClr val="D5D2FE"/>
    <a:srgbClr val="FFCCFF"/>
    <a:srgbClr val="CC99FF"/>
    <a:srgbClr val="A0E4A2"/>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022" autoAdjust="0"/>
    <p:restoredTop sz="94652"/>
  </p:normalViewPr>
  <p:slideViewPr>
    <p:cSldViewPr showGuides="1">
      <p:cViewPr varScale="1">
        <p:scale>
          <a:sx n="86" d="100"/>
          <a:sy n="86" d="100"/>
        </p:scale>
        <p:origin x="972" y="24"/>
      </p:cViewPr>
      <p:guideLst>
        <p:guide orient="horz" pos="2160"/>
        <p:guide pos="285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1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4" Type="http://schemas.openxmlformats.org/officeDocument/2006/relationships/image" Target="../media/image72.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4" Type="http://schemas.openxmlformats.org/officeDocument/2006/relationships/image" Target="../media/image8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emf"/><Relationship Id="rId1" Type="http://schemas.openxmlformats.org/officeDocument/2006/relationships/image" Target="../media/image85.wmf"/><Relationship Id="rId4"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image" Target="../media/image122.wmf"/><Relationship Id="rId7" Type="http://schemas.openxmlformats.org/officeDocument/2006/relationships/image" Target="../media/image126.w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42.wmf"/><Relationship Id="rId1" Type="http://schemas.openxmlformats.org/officeDocument/2006/relationships/image" Target="../media/image141.wmf"/><Relationship Id="rId4" Type="http://schemas.openxmlformats.org/officeDocument/2006/relationships/image" Target="../media/image143.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kumimoji="1" sz="13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1747"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kumimoji="1" sz="13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483C946F-26F8-4F79-8A5A-ED8B9C30E669}"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2026/9/20</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1748"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kumimoji="1" sz="13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1749"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kumimoji="1" sz="13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CB660EC8-4333-47CD-96AF-2B6E7DF1ADE8}"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kumimoji="1" sz="13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072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kumimoji="1" sz="13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F13BE2A8-1EA3-44F7-BF6E-9266D4966721}"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2026/9/20</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2052"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第五级</a:t>
            </a:r>
          </a:p>
        </p:txBody>
      </p:sp>
      <p:sp>
        <p:nvSpPr>
          <p:cNvPr id="3072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kumimoji="1" sz="1300">
                <a:latin typeface="Times New Roman" panose="02020603050405020304" pitchFamily="18" charset="0"/>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072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kumimoji="1" sz="1300">
                <a:latin typeface="Times New Roman" panose="02020603050405020304" pitchFamily="18" charset="0"/>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D21B5255-AF71-49A4-88E4-61C939350C7E}"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defRPr/>
            </a:pPr>
            <a:fld id="{F8A48924-97E9-4CBC-BFCD-4DEFFAF60EC0}"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微软雅黑" pitchFamily="34" charset="-122"/>
                <a:cs typeface="+mn-cs"/>
              </a:rPr>
              <a:t>2026/9/20</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defRPr/>
            </a:pPr>
            <a:fld id="{F8A48924-97E9-4CBC-BFCD-4DEFFAF60EC0}"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微软雅黑" pitchFamily="34" charset="-122"/>
                <a:cs typeface="+mn-cs"/>
              </a:rPr>
              <a:t>2026/9/20</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ChangeArrowheads="1" noTextEdit="1"/>
          </p:cNvSpPr>
          <p:nvPr>
            <p:ph type="sldImg" idx="4294967295"/>
          </p:nvPr>
        </p:nvSpPr>
        <p:spPr>
          <a:ln/>
        </p:spPr>
      </p:sp>
      <p:sp>
        <p:nvSpPr>
          <p:cNvPr id="18435" name="备注占位符 2"/>
          <p:cNvSpPr>
            <a:spLocks noGrp="1" noChangeArrowheads="1"/>
          </p:cNvSpPr>
          <p:nvPr>
            <p:ph type="body" idx="4294967295"/>
          </p:nvPr>
        </p:nvSpPr>
        <p:spPr>
          <a:xfrm>
            <a:off x="709613" y="4860925"/>
            <a:ext cx="5680075" cy="4605338"/>
          </a:xfrm>
        </p:spPr>
        <p:txBody>
          <a:bodyPr>
            <a:prstTxWarp prst="textNoShape">
              <a:avLst/>
            </a:prstTxWarp>
          </a:bodyPr>
          <a:lstStyle/>
          <a:p>
            <a:pPr eaLnBrk="1" hangingPunct="1">
              <a:spcBef>
                <a:spcPct val="0"/>
              </a:spcBef>
            </a:pPr>
            <a:endParaRPr lang="zh-CN" altLang="en-US"/>
          </a:p>
        </p:txBody>
      </p:sp>
      <p:sp>
        <p:nvSpPr>
          <p:cNvPr id="18436" name="灯片编号占位符 3"/>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Tahoma" panose="020B0604030504040204" pitchFamily="34" charset="0"/>
                <a:ea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r" eaLnBrk="1" hangingPunct="1"/>
            <a:fld id="{50F430F1-9A1C-4AB7-8E7F-722183E50BF5}" type="slidenum">
              <a:rPr lang="zh-CN" altLang="en-US" sz="1300">
                <a:latin typeface="Verdana" panose="020B0604030504040204" pitchFamily="34" charset="0"/>
              </a:rPr>
              <a:pPr algn="r" eaLnBrk="1" hangingPunct="1"/>
              <a:t>76</a:t>
            </a:fld>
            <a:endParaRPr lang="zh-CN" altLang="en-US" sz="1300">
              <a:latin typeface="Verdan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ChangeArrowheads="1" noTextEdit="1"/>
          </p:cNvSpPr>
          <p:nvPr>
            <p:ph type="sldImg" idx="4294967295"/>
          </p:nvPr>
        </p:nvSpPr>
        <p:spPr>
          <a:ln/>
        </p:spPr>
      </p:sp>
      <p:sp>
        <p:nvSpPr>
          <p:cNvPr id="18435" name="备注占位符 2"/>
          <p:cNvSpPr>
            <a:spLocks noGrp="1" noChangeArrowheads="1"/>
          </p:cNvSpPr>
          <p:nvPr>
            <p:ph type="body" idx="4294967295"/>
          </p:nvPr>
        </p:nvSpPr>
        <p:spPr>
          <a:xfrm>
            <a:off x="709613" y="4860925"/>
            <a:ext cx="5680075" cy="4605338"/>
          </a:xfrm>
        </p:spPr>
        <p:txBody>
          <a:bodyPr>
            <a:prstTxWarp prst="textNoShape">
              <a:avLst/>
            </a:prstTxWarp>
          </a:bodyPr>
          <a:lstStyle/>
          <a:p>
            <a:pPr eaLnBrk="1" hangingPunct="1">
              <a:spcBef>
                <a:spcPct val="0"/>
              </a:spcBef>
            </a:pPr>
            <a:endParaRPr lang="zh-CN" altLang="en-US"/>
          </a:p>
        </p:txBody>
      </p:sp>
      <p:sp>
        <p:nvSpPr>
          <p:cNvPr id="18436" name="灯片编号占位符 3"/>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Tahoma" panose="020B0604030504040204" pitchFamily="34" charset="0"/>
                <a:ea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r" eaLnBrk="1" hangingPunct="1"/>
            <a:fld id="{50F430F1-9A1C-4AB7-8E7F-722183E50BF5}" type="slidenum">
              <a:rPr lang="zh-CN" altLang="en-US" sz="1300">
                <a:latin typeface="Verdana" panose="020B0604030504040204" pitchFamily="34" charset="0"/>
              </a:rPr>
              <a:pPr algn="r" eaLnBrk="1" hangingPunct="1"/>
              <a:t>77</a:t>
            </a:fld>
            <a:endParaRPr lang="zh-CN" altLang="en-US" sz="1300">
              <a:latin typeface="Verdana" panose="020B0604030504040204" pitchFamily="34" charset="0"/>
            </a:endParaRPr>
          </a:p>
        </p:txBody>
      </p:sp>
    </p:spTree>
    <p:extLst>
      <p:ext uri="{BB962C8B-B14F-4D97-AF65-F5344CB8AC3E}">
        <p14:creationId xmlns:p14="http://schemas.microsoft.com/office/powerpoint/2010/main" val="2967546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idx="4294967295"/>
          </p:nvPr>
        </p:nvSpPr>
        <p:spPr>
          <a:ln/>
        </p:spPr>
      </p:sp>
      <p:sp>
        <p:nvSpPr>
          <p:cNvPr id="20483" name="备注占位符 2"/>
          <p:cNvSpPr>
            <a:spLocks noGrp="1" noChangeArrowheads="1"/>
          </p:cNvSpPr>
          <p:nvPr>
            <p:ph type="body" idx="4294967295"/>
          </p:nvPr>
        </p:nvSpPr>
        <p:spPr>
          <a:xfrm>
            <a:off x="709613" y="4860925"/>
            <a:ext cx="5680075" cy="4605338"/>
          </a:xfrm>
        </p:spPr>
        <p:txBody>
          <a:bodyPr>
            <a:prstTxWarp prst="textNoShape">
              <a:avLst/>
            </a:prstTxWarp>
          </a:bodyPr>
          <a:lstStyle/>
          <a:p>
            <a:pPr eaLnBrk="1" hangingPunct="1">
              <a:spcBef>
                <a:spcPct val="0"/>
              </a:spcBef>
            </a:pPr>
            <a:endParaRPr lang="zh-CN" altLang="en-US"/>
          </a:p>
        </p:txBody>
      </p:sp>
      <p:sp>
        <p:nvSpPr>
          <p:cNvPr id="20484" name="灯片编号占位符 3"/>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Tahoma" panose="020B0604030504040204" pitchFamily="34" charset="0"/>
                <a:ea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r" eaLnBrk="1" hangingPunct="1"/>
            <a:fld id="{E7B9D6F4-BA27-4660-A617-02C24A7889FF}" type="slidenum">
              <a:rPr lang="zh-CN" altLang="en-US" sz="1300">
                <a:latin typeface="Verdana" panose="020B0604030504040204" pitchFamily="34" charset="0"/>
              </a:rPr>
              <a:pPr algn="r" eaLnBrk="1" hangingPunct="1"/>
              <a:t>78</a:t>
            </a:fld>
            <a:endParaRPr lang="zh-CN" altLang="en-US" sz="1300">
              <a:latin typeface="Verdan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27"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fld id="{A27202E6-5A98-486A-97E4-8D615D30554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2026/9/20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37228"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37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lvl1pPr>
          </a:lstStyle>
          <a:p>
            <a:pPr marL="0" marR="0" lvl="0" indent="0" algn="r" defTabSz="914400" rtl="0" eaLnBrk="1" fontAlgn="base" latinLnBrk="0" hangingPunct="1">
              <a:lnSpc>
                <a:spcPct val="100000"/>
              </a:lnSpc>
              <a:spcBef>
                <a:spcPct val="0"/>
              </a:spcBef>
              <a:spcAft>
                <a:spcPct val="0"/>
              </a:spcAft>
              <a:buClrTx/>
              <a:buSzTx/>
              <a:buFontTx/>
              <a:buNone/>
              <a:defRPr/>
            </a:pPr>
            <a:fld id="{88AC9EB3-411E-4F3B-959F-C767359420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oleObject" Target="../embeddings/oleObject1.bin"/><Relationship Id="rId7" Type="http://schemas.openxmlformats.org/officeDocument/2006/relationships/image" Target="../media/image17.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18.png"/><Relationship Id="rId4" Type="http://schemas.openxmlformats.org/officeDocument/2006/relationships/image" Target="../media/image1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5.bin"/><Relationship Id="rId4" Type="http://schemas.openxmlformats.org/officeDocument/2006/relationships/image" Target="../media/image20.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s>
</file>

<file path=ppt/slides/_rels/slide10.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8.bin"/><Relationship Id="rId7"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18.png"/><Relationship Id="rId2" Type="http://schemas.openxmlformats.org/officeDocument/2006/relationships/slideLayout" Target="../slideLayouts/slideLayout11.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oleObject" Target="../embeddings/oleObject12.bin"/><Relationship Id="rId4" Type="http://schemas.openxmlformats.org/officeDocument/2006/relationships/image" Target="../media/image28.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1.xml"/><Relationship Id="rId1" Type="http://schemas.openxmlformats.org/officeDocument/2006/relationships/vmlDrawing" Target="../drawings/vmlDrawing7.vml"/><Relationship Id="rId6" Type="http://schemas.openxmlformats.org/officeDocument/2006/relationships/image" Target="../media/image31.wmf"/><Relationship Id="rId5" Type="http://schemas.openxmlformats.org/officeDocument/2006/relationships/oleObject" Target="../embeddings/oleObject14.bin"/><Relationship Id="rId4" Type="http://schemas.openxmlformats.org/officeDocument/2006/relationships/image" Target="../media/image30.wm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wmf"/></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wmf"/><Relationship Id="rId1" Type="http://schemas.openxmlformats.org/officeDocument/2006/relationships/slideLayout" Target="../slideLayouts/slideLayout6.xml"/><Relationship Id="rId5" Type="http://schemas.openxmlformats.org/officeDocument/2006/relationships/image" Target="../media/image37.wmf"/><Relationship Id="rId4" Type="http://schemas.openxmlformats.org/officeDocument/2006/relationships/image" Target="../media/image36.wmf"/></Relationships>
</file>

<file path=ppt/slides/_rels/slide1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8.png"/><Relationship Id="rId1" Type="http://schemas.openxmlformats.org/officeDocument/2006/relationships/slideLayout" Target="../slideLayouts/slideLayout6.xml"/><Relationship Id="rId4" Type="http://schemas.openxmlformats.org/officeDocument/2006/relationships/image" Target="../media/image37.wmf"/></Relationships>
</file>

<file path=ppt/slides/_rels/slide19.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8.png"/><Relationship Id="rId1" Type="http://schemas.openxmlformats.org/officeDocument/2006/relationships/slideLayout" Target="../slideLayouts/slideLayout6.xml"/><Relationship Id="rId4" Type="http://schemas.openxmlformats.org/officeDocument/2006/relationships/image" Target="../media/image3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41.png"/><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40.wmf"/><Relationship Id="rId5" Type="http://schemas.openxmlformats.org/officeDocument/2006/relationships/oleObject" Target="../embeddings/oleObject16.bin"/><Relationship Id="rId4" Type="http://schemas.openxmlformats.org/officeDocument/2006/relationships/image" Target="../media/image39.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39.wmf"/></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32.wm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32.wmf"/><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wmf"/></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wmf"/><Relationship Id="rId1" Type="http://schemas.openxmlformats.org/officeDocument/2006/relationships/slideLayout" Target="../slideLayouts/slideLayout6.xml"/><Relationship Id="rId4" Type="http://schemas.openxmlformats.org/officeDocument/2006/relationships/image" Target="../media/image49.wmf"/></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wmf"/><Relationship Id="rId1" Type="http://schemas.openxmlformats.org/officeDocument/2006/relationships/slideLayout" Target="../slideLayouts/slideLayout6.xml"/><Relationship Id="rId4" Type="http://schemas.openxmlformats.org/officeDocument/2006/relationships/image" Target="../media/image49.wmf"/></Relationships>
</file>

<file path=ppt/slides/_rels/slide28.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52.wmf"/><Relationship Id="rId7"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50.wmf"/><Relationship Id="rId5" Type="http://schemas.openxmlformats.org/officeDocument/2006/relationships/oleObject" Target="../embeddings/oleObject18.bin"/><Relationship Id="rId4" Type="http://schemas.openxmlformats.org/officeDocument/2006/relationships/image" Target="../media/image53.wmf"/></Relationships>
</file>

<file path=ppt/slides/_rels/slide29.x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55.wmf"/><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21.bin"/><Relationship Id="rId5" Type="http://schemas.openxmlformats.org/officeDocument/2006/relationships/image" Target="../media/image54.wmf"/><Relationship Id="rId4"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38.png"/><Relationship Id="rId7" Type="http://schemas.openxmlformats.org/officeDocument/2006/relationships/image" Target="../media/image58.wmf"/><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23.bin"/><Relationship Id="rId5" Type="http://schemas.openxmlformats.org/officeDocument/2006/relationships/image" Target="../media/image57.wmf"/><Relationship Id="rId4"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oleObject" Target="../embeddings/oleObject24.bin"/><Relationship Id="rId7" Type="http://schemas.openxmlformats.org/officeDocument/2006/relationships/image" Target="../media/image64.png"/><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wmf"/><Relationship Id="rId9"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w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70.wmf"/><Relationship Id="rId5" Type="http://schemas.openxmlformats.org/officeDocument/2006/relationships/oleObject" Target="../embeddings/oleObject26.bin"/><Relationship Id="rId10" Type="http://schemas.openxmlformats.org/officeDocument/2006/relationships/image" Target="../media/image72.png"/><Relationship Id="rId4" Type="http://schemas.openxmlformats.org/officeDocument/2006/relationships/image" Target="../media/image69.wmf"/><Relationship Id="rId9" Type="http://schemas.openxmlformats.org/officeDocument/2006/relationships/oleObject" Target="../embeddings/oleObject28.bin"/></Relationships>
</file>

<file path=ppt/slides/_rels/slide3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9.bin"/><Relationship Id="rId7" Type="http://schemas.openxmlformats.org/officeDocument/2006/relationships/image" Target="../media/image75.wmf"/><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38.png"/><Relationship Id="rId5" Type="http://schemas.openxmlformats.org/officeDocument/2006/relationships/image" Target="../media/image74.wmf"/><Relationship Id="rId4" Type="http://schemas.openxmlformats.org/officeDocument/2006/relationships/image" Target="../media/image73.wmf"/></Relationships>
</file>

<file path=ppt/slides/_rels/slide38.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78.wmf"/><Relationship Id="rId5" Type="http://schemas.openxmlformats.org/officeDocument/2006/relationships/oleObject" Target="../embeddings/oleObject31.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33.bin"/></Relationships>
</file>

<file path=ppt/slides/_rels/slide4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83.wmf"/><Relationship Id="rId5" Type="http://schemas.openxmlformats.org/officeDocument/2006/relationships/oleObject" Target="../embeddings/oleObject35.bin"/><Relationship Id="rId4" Type="http://schemas.openxmlformats.org/officeDocument/2006/relationships/image" Target="../media/image82.wmf"/></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4.w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86.emf"/><Relationship Id="rId5" Type="http://schemas.openxmlformats.org/officeDocument/2006/relationships/oleObject" Target="../embeddings/oleObject37.bin"/><Relationship Id="rId10" Type="http://schemas.openxmlformats.org/officeDocument/2006/relationships/image" Target="../media/image88.wmf"/><Relationship Id="rId4" Type="http://schemas.openxmlformats.org/officeDocument/2006/relationships/image" Target="../media/image85.wmf"/><Relationship Id="rId9" Type="http://schemas.openxmlformats.org/officeDocument/2006/relationships/oleObject" Target="../embeddings/oleObject39.bin"/></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4.wmf"/><Relationship Id="rId1" Type="http://schemas.openxmlformats.org/officeDocument/2006/relationships/slideLayout" Target="../slideLayouts/slideLayout6.xml"/><Relationship Id="rId5" Type="http://schemas.openxmlformats.org/officeDocument/2006/relationships/image" Target="../media/image32.wmf"/><Relationship Id="rId4" Type="http://schemas.openxmlformats.org/officeDocument/2006/relationships/image" Target="../media/image89.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9.wmf"/><Relationship Id="rId1" Type="http://schemas.openxmlformats.org/officeDocument/2006/relationships/slideLayout" Target="../slideLayouts/slideLayout6.xml"/><Relationship Id="rId4" Type="http://schemas.openxmlformats.org/officeDocument/2006/relationships/image" Target="../media/image90.wmf"/></Relationships>
</file>

<file path=ppt/slides/_rels/slide49.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slideLayout" Target="../slideLayouts/slideLayout6.xml"/><Relationship Id="rId4" Type="http://schemas.openxmlformats.org/officeDocument/2006/relationships/image" Target="../media/image95.wmf"/></Relationships>
</file>

<file path=ppt/slides/_rels/slide5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w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w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7.w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10.wmf"/><Relationship Id="rId2" Type="http://schemas.openxmlformats.org/officeDocument/2006/relationships/slideLayout" Target="../slideLayouts/slideLayout12.xml"/><Relationship Id="rId1" Type="http://schemas.openxmlformats.org/officeDocument/2006/relationships/vmlDrawing" Target="../drawings/vmlDrawing19.vml"/><Relationship Id="rId6" Type="http://schemas.openxmlformats.org/officeDocument/2006/relationships/image" Target="../media/image108.wmf"/><Relationship Id="rId5" Type="http://schemas.openxmlformats.org/officeDocument/2006/relationships/oleObject" Target="../embeddings/oleObject40.bin"/><Relationship Id="rId4" Type="http://schemas.openxmlformats.org/officeDocument/2006/relationships/image" Target="../media/image109.wmf"/></Relationships>
</file>

<file path=ppt/slides/_rels/slide58.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wmf"/><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119.wmf"/><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image" Target="../media/image116.wmf"/><Relationship Id="rId11" Type="http://schemas.openxmlformats.org/officeDocument/2006/relationships/oleObject" Target="../embeddings/oleObject45.bin"/><Relationship Id="rId5" Type="http://schemas.openxmlformats.org/officeDocument/2006/relationships/oleObject" Target="../embeddings/oleObject42.bin"/><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44.bin"/></Relationships>
</file>

<file path=ppt/slides/_rels/slide65.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51.bin"/><Relationship Id="rId18" Type="http://schemas.openxmlformats.org/officeDocument/2006/relationships/image" Target="../media/image127.wmf"/><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124.wmf"/><Relationship Id="rId17" Type="http://schemas.openxmlformats.org/officeDocument/2006/relationships/oleObject" Target="../embeddings/oleObject53.bin"/><Relationship Id="rId2" Type="http://schemas.openxmlformats.org/officeDocument/2006/relationships/slideLayout" Target="../slideLayouts/slideLayout6.xml"/><Relationship Id="rId16" Type="http://schemas.openxmlformats.org/officeDocument/2006/relationships/image" Target="../media/image126.wmf"/><Relationship Id="rId1" Type="http://schemas.openxmlformats.org/officeDocument/2006/relationships/vmlDrawing" Target="../drawings/vmlDrawing21.vml"/><Relationship Id="rId6" Type="http://schemas.openxmlformats.org/officeDocument/2006/relationships/image" Target="../media/image121.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49.bin"/><Relationship Id="rId14" Type="http://schemas.openxmlformats.org/officeDocument/2006/relationships/image" Target="../media/image125.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129.wmf"/><Relationship Id="rId5" Type="http://schemas.openxmlformats.org/officeDocument/2006/relationships/oleObject" Target="../embeddings/oleObject55.bin"/><Relationship Id="rId4" Type="http://schemas.openxmlformats.org/officeDocument/2006/relationships/image" Target="../media/image128.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33.png"/></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132.png"/><Relationship Id="rId4" Type="http://schemas.openxmlformats.org/officeDocument/2006/relationships/image" Target="../media/image134.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1.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137.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6.xml"/><Relationship Id="rId1" Type="http://schemas.openxmlformats.org/officeDocument/2006/relationships/vmlDrawing" Target="../drawings/vmlDrawing23.vml"/><Relationship Id="rId5" Type="http://schemas.openxmlformats.org/officeDocument/2006/relationships/image" Target="../media/image139.wmf"/><Relationship Id="rId4" Type="http://schemas.openxmlformats.org/officeDocument/2006/relationships/image" Target="../media/image138.wmf"/></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xml"/><Relationship Id="rId1" Type="http://schemas.openxmlformats.org/officeDocument/2006/relationships/vmlDrawing" Target="../drawings/vmlDrawing24.vml"/><Relationship Id="rId6" Type="http://schemas.openxmlformats.org/officeDocument/2006/relationships/image" Target="../media/image139.wmf"/><Relationship Id="rId5" Type="http://schemas.openxmlformats.org/officeDocument/2006/relationships/image" Target="../media/image140.wmf"/><Relationship Id="rId4" Type="http://schemas.openxmlformats.org/officeDocument/2006/relationships/oleObject" Target="../embeddings/oleObject58.bin"/></Relationships>
</file>

<file path=ppt/slides/_rels/slide81.x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142.wmf"/><Relationship Id="rId5" Type="http://schemas.openxmlformats.org/officeDocument/2006/relationships/oleObject" Target="../embeddings/oleObject60.bin"/><Relationship Id="rId10" Type="http://schemas.openxmlformats.org/officeDocument/2006/relationships/image" Target="../media/image143.wmf"/><Relationship Id="rId4" Type="http://schemas.openxmlformats.org/officeDocument/2006/relationships/image" Target="../media/image141.wmf"/><Relationship Id="rId9" Type="http://schemas.openxmlformats.org/officeDocument/2006/relationships/oleObject" Target="../embeddings/oleObject62.bin"/></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38.wmf"/><Relationship Id="rId2" Type="http://schemas.openxmlformats.org/officeDocument/2006/relationships/tags" Target="../tags/tag8.xml"/><Relationship Id="rId1" Type="http://schemas.openxmlformats.org/officeDocument/2006/relationships/vmlDrawing" Target="../drawings/vmlDrawing26.vml"/><Relationship Id="rId6" Type="http://schemas.openxmlformats.org/officeDocument/2006/relationships/oleObject" Target="../embeddings/oleObject64.bin"/><Relationship Id="rId5" Type="http://schemas.openxmlformats.org/officeDocument/2006/relationships/image" Target="../media/image140.wmf"/><Relationship Id="rId4" Type="http://schemas.openxmlformats.org/officeDocument/2006/relationships/oleObject" Target="../embeddings/oleObject63.bin"/></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ndParaRPr>
          </a:p>
        </p:txBody>
      </p:sp>
      <p:pic>
        <p:nvPicPr>
          <p:cNvPr id="4099"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4100" name="Text Box 4"/>
          <p:cNvSpPr txBox="1"/>
          <p:nvPr/>
        </p:nvSpPr>
        <p:spPr>
          <a:xfrm>
            <a:off x="2700338" y="549275"/>
            <a:ext cx="3600450"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itchFamily="34" charset="-122"/>
                <a:ea typeface="微软雅黑" pitchFamily="34" charset="-122"/>
              </a:rPr>
              <a:t>第</a:t>
            </a:r>
            <a:r>
              <a:rPr lang="en-US" altLang="zh-CN" sz="3200" b="1" dirty="0">
                <a:solidFill>
                  <a:srgbClr val="FF0000"/>
                </a:solidFill>
                <a:latin typeface="微软雅黑" pitchFamily="34" charset="-122"/>
                <a:ea typeface="微软雅黑" pitchFamily="34" charset="-122"/>
              </a:rPr>
              <a:t>5</a:t>
            </a:r>
            <a:r>
              <a:rPr lang="zh-CN" altLang="en-US" sz="3200" b="1" dirty="0">
                <a:solidFill>
                  <a:srgbClr val="FF0000"/>
                </a:solidFill>
                <a:latin typeface="微软雅黑" pitchFamily="34" charset="-122"/>
                <a:ea typeface="微软雅黑" pitchFamily="34" charset="-122"/>
              </a:rPr>
              <a:t>章  运输问题</a:t>
            </a:r>
          </a:p>
        </p:txBody>
      </p:sp>
      <p:sp>
        <p:nvSpPr>
          <p:cNvPr id="4101" name="Rectangle 3"/>
          <p:cNvSpPr txBox="1"/>
          <p:nvPr/>
        </p:nvSpPr>
        <p:spPr>
          <a:xfrm>
            <a:off x="611188" y="1844675"/>
            <a:ext cx="8280400" cy="46482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sz="3200" b="1" dirty="0">
                <a:solidFill>
                  <a:schemeClr val="hlink"/>
                </a:solidFill>
                <a:latin typeface="微软雅黑" pitchFamily="34" charset="-122"/>
                <a:ea typeface="微软雅黑" pitchFamily="34" charset="-122"/>
              </a:rPr>
              <a:t>第</a:t>
            </a:r>
            <a:r>
              <a:rPr lang="en-US" altLang="zh-CN" sz="3200" b="1" dirty="0">
                <a:solidFill>
                  <a:schemeClr val="hlink"/>
                </a:solidFill>
                <a:latin typeface="微软雅黑" pitchFamily="34" charset="-122"/>
                <a:ea typeface="微软雅黑" pitchFamily="34" charset="-122"/>
              </a:rPr>
              <a:t>1</a:t>
            </a:r>
            <a:r>
              <a:rPr lang="zh-CN" altLang="en-US" sz="3200" b="1" dirty="0">
                <a:solidFill>
                  <a:schemeClr val="hlink"/>
                </a:solidFill>
                <a:latin typeface="微软雅黑" pitchFamily="34" charset="-122"/>
                <a:ea typeface="微软雅黑" pitchFamily="34" charset="-122"/>
              </a:rPr>
              <a:t>节  运输问题的数学模型与基本性质</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2</a:t>
            </a:r>
            <a:r>
              <a:rPr lang="zh-CN" altLang="en-US" sz="3200" b="1" dirty="0">
                <a:solidFill>
                  <a:srgbClr val="0000FF"/>
                </a:solidFill>
                <a:latin typeface="微软雅黑" pitchFamily="34" charset="-122"/>
                <a:ea typeface="微软雅黑" pitchFamily="34" charset="-122"/>
              </a:rPr>
              <a:t>节  表上作业法</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3</a:t>
            </a:r>
            <a:r>
              <a:rPr lang="zh-CN" altLang="en-US" sz="3200" b="1" dirty="0">
                <a:solidFill>
                  <a:srgbClr val="0000FF"/>
                </a:solidFill>
                <a:latin typeface="微软雅黑" pitchFamily="34" charset="-122"/>
                <a:ea typeface="微软雅黑" pitchFamily="34" charset="-122"/>
              </a:rPr>
              <a:t>节  产销不平衡的运输问题</a:t>
            </a:r>
            <a:endParaRPr lang="en-US" altLang="zh-CN" sz="3200" b="1" dirty="0">
              <a:solidFill>
                <a:srgbClr val="0000FF"/>
              </a:solidFill>
              <a:latin typeface="微软雅黑" pitchFamily="34" charset="-122"/>
              <a:ea typeface="微软雅黑" pitchFamily="34"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txBox="1"/>
          <p:nvPr/>
        </p:nvSpPr>
        <p:spPr>
          <a:xfrm>
            <a:off x="1223963" y="0"/>
            <a:ext cx="7920037" cy="620713"/>
          </a:xfrm>
          <a:prstGeom prst="rect">
            <a:avLst/>
          </a:prstGeom>
          <a:noFill/>
          <a:ln w="9525">
            <a:noFill/>
          </a:ln>
        </p:spPr>
        <p:txBody>
          <a:bodyPr/>
          <a:lstStyle/>
          <a:p>
            <a:r>
              <a:rPr lang="zh-CN" altLang="en-US" sz="3600" b="1" dirty="0">
                <a:solidFill>
                  <a:schemeClr val="hlink"/>
                </a:solidFill>
                <a:latin typeface="微软雅黑" pitchFamily="34" charset="-122"/>
                <a:ea typeface="微软雅黑" pitchFamily="34" charset="-122"/>
              </a:rPr>
              <a:t>第</a:t>
            </a:r>
            <a:r>
              <a:rPr lang="en-US" altLang="zh-CN" sz="3600" b="1" dirty="0">
                <a:solidFill>
                  <a:schemeClr val="hlink"/>
                </a:solidFill>
                <a:latin typeface="微软雅黑" pitchFamily="34" charset="-122"/>
                <a:ea typeface="微软雅黑" pitchFamily="34" charset="-122"/>
              </a:rPr>
              <a:t>5.1</a:t>
            </a:r>
            <a:r>
              <a:rPr lang="zh-CN" altLang="en-US" sz="3600" b="1" dirty="0">
                <a:solidFill>
                  <a:schemeClr val="hlink"/>
                </a:solidFill>
                <a:latin typeface="微软雅黑" pitchFamily="34" charset="-122"/>
                <a:ea typeface="微软雅黑" pitchFamily="34" charset="-122"/>
              </a:rPr>
              <a:t>节  运输问题的数学模型</a:t>
            </a:r>
          </a:p>
        </p:txBody>
      </p:sp>
      <p:sp>
        <p:nvSpPr>
          <p:cNvPr id="9219" name="Rectangle 3"/>
          <p:cNvSpPr txBox="1">
            <a:spLocks noChangeArrowheads="1"/>
          </p:cNvSpPr>
          <p:nvPr/>
        </p:nvSpPr>
        <p:spPr bwMode="auto">
          <a:xfrm>
            <a:off x="0" y="620713"/>
            <a:ext cx="9144000" cy="3384351"/>
          </a:xfrm>
          <a:prstGeom prst="rect">
            <a:avLst/>
          </a:prstGeom>
          <a:solidFill>
            <a:srgbClr val="F1FEA4"/>
          </a:solidFill>
          <a:ln w="9525">
            <a:noFill/>
            <a:miter lim="800000"/>
          </a:ln>
        </p:spPr>
        <p:txBody>
          <a:bodyPr/>
          <a:lstStyle/>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物流和供应链管理是经济管理中的一类重要问题。供应链是一个由物流系统和该供应链中的所有单个组织或企业相关活动组成的网络。为满足供应链中各方的需求，需要对物品、服务及相关信息，从产地到消费地高效率、低成本地流动及储存进行规划、执行和控制。运筹学中对运输模型的研究为达到上述目的提供了相应地理论和方法论基础。</a:t>
            </a:r>
          </a:p>
        </p:txBody>
      </p:sp>
      <p:sp>
        <p:nvSpPr>
          <p:cNvPr id="19" name="Rectangle 3"/>
          <p:cNvSpPr txBox="1">
            <a:spLocks noChangeArrowheads="1"/>
          </p:cNvSpPr>
          <p:nvPr/>
        </p:nvSpPr>
        <p:spPr bwMode="auto">
          <a:xfrm>
            <a:off x="-3142" y="4293096"/>
            <a:ext cx="9147142" cy="1800199"/>
          </a:xfrm>
          <a:prstGeom prst="rect">
            <a:avLst/>
          </a:prstGeom>
          <a:solidFill>
            <a:schemeClr val="accent1">
              <a:lumMod val="40000"/>
              <a:lumOff val="60000"/>
            </a:schemeClr>
          </a:solidFill>
          <a:ln w="9525">
            <a:noFill/>
            <a:miter lim="800000"/>
          </a:ln>
        </p:spPr>
        <p:txBody>
          <a:bodyPr/>
          <a:lstStyle/>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在经济建设中，经常碰到大宗物资调运问题，如煤、钢铁、木材、粮食等物资，在全国有若干生产基地，根据已有的交通网，应如何制订调运方案，将这些物资运到各消费地点，而总运费要最小。</a:t>
            </a:r>
          </a:p>
        </p:txBody>
      </p:sp>
    </p:spTree>
    <p:extLst>
      <p:ext uri="{BB962C8B-B14F-4D97-AF65-F5344CB8AC3E}">
        <p14:creationId xmlns:p14="http://schemas.microsoft.com/office/powerpoint/2010/main" val="1276832223"/>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txBox="1"/>
          <p:nvPr/>
        </p:nvSpPr>
        <p:spPr>
          <a:xfrm>
            <a:off x="1223963" y="0"/>
            <a:ext cx="7920037" cy="620713"/>
          </a:xfrm>
          <a:prstGeom prst="rect">
            <a:avLst/>
          </a:prstGeom>
          <a:noFill/>
          <a:ln w="9525">
            <a:noFill/>
          </a:ln>
        </p:spPr>
        <p:txBody>
          <a:bodyPr/>
          <a:lstStyle/>
          <a:p>
            <a:r>
              <a:rPr lang="zh-CN" altLang="en-US" sz="3600" b="1" dirty="0">
                <a:solidFill>
                  <a:schemeClr val="hlink"/>
                </a:solidFill>
                <a:latin typeface="微软雅黑" pitchFamily="34" charset="-122"/>
                <a:ea typeface="微软雅黑" pitchFamily="34" charset="-122"/>
              </a:rPr>
              <a:t>第</a:t>
            </a:r>
            <a:r>
              <a:rPr lang="en-US" altLang="zh-CN" sz="3600" b="1" dirty="0">
                <a:solidFill>
                  <a:schemeClr val="hlink"/>
                </a:solidFill>
                <a:latin typeface="微软雅黑" pitchFamily="34" charset="-122"/>
                <a:ea typeface="微软雅黑" pitchFamily="34" charset="-122"/>
              </a:rPr>
              <a:t>5.1</a:t>
            </a:r>
            <a:r>
              <a:rPr lang="zh-CN" altLang="en-US" sz="3600" b="1" dirty="0">
                <a:solidFill>
                  <a:schemeClr val="hlink"/>
                </a:solidFill>
                <a:latin typeface="微软雅黑" pitchFamily="34" charset="-122"/>
                <a:ea typeface="微软雅黑" pitchFamily="34" charset="-122"/>
              </a:rPr>
              <a:t>节  运输问题的数学模型</a:t>
            </a:r>
          </a:p>
        </p:txBody>
      </p:sp>
      <p:sp>
        <p:nvSpPr>
          <p:cNvPr id="9219" name="Rectangle 3"/>
          <p:cNvSpPr txBox="1">
            <a:spLocks noChangeArrowheads="1"/>
          </p:cNvSpPr>
          <p:nvPr/>
        </p:nvSpPr>
        <p:spPr bwMode="auto">
          <a:xfrm>
            <a:off x="0" y="620713"/>
            <a:ext cx="9144000" cy="2952750"/>
          </a:xfrm>
          <a:prstGeom prst="rect">
            <a:avLst/>
          </a:prstGeom>
          <a:solidFill>
            <a:srgbClr val="F1FEA4"/>
          </a:solidFill>
          <a:ln w="9525">
            <a:noFill/>
            <a:miter lim="800000"/>
          </a:ln>
        </p:spPr>
        <p:txBody>
          <a:bodyPr/>
          <a:lstStyle/>
          <a:p>
            <a:pPr marL="357505" marR="0" indent="-357505"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m</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个生产地点</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a:solidFill>
                  <a:schemeClr val="folHlink"/>
                </a:solidFill>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i</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 </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 … , m</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。可供应某种物资，其供应量</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产量</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分别为</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i</a:t>
            </a:r>
            <a:r>
              <a:rPr kumimoji="0" lang="zh-CN" altLang="en-US" b="1" i="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i</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 , m</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n</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个销售地点</a:t>
            </a:r>
            <a:r>
              <a:rPr kumimoji="0" lang="en-US" altLang="zh-CN" b="1" i="1" kern="1200" cap="none" spc="0" normalizeH="0" baseline="0" noProof="0" dirty="0" err="1">
                <a:solidFill>
                  <a:schemeClr val="folHlink"/>
                </a:solidFill>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solidFill>
                  <a:schemeClr val="folHlink"/>
                </a:solidFill>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solidFill>
                  <a:schemeClr val="folHlink"/>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j=</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 </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 …, </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n</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其需要量分别为</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j=</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n</a:t>
            </a:r>
            <a:endPar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从</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到</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运输单位物资的运价</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单价</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为</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c</a:t>
            </a:r>
            <a:r>
              <a:rPr kumimoji="0" lang="en-US" altLang="zh-CN" b="1" i="1" kern="1200" cap="none" spc="0" normalizeH="0" baseline="-30000" noProof="0" dirty="0" err="1">
                <a:latin typeface="Times New Roman" panose="02020603050405020304" pitchFamily="18" charset="0"/>
                <a:ea typeface="微软雅黑" pitchFamily="34" charset="-122"/>
                <a:cs typeface="Times New Roman" panose="02020603050405020304" pitchFamily="18" charset="0"/>
              </a:rPr>
              <a:t>ij</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这些数据可汇总于</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产销平衡表</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和</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单位运价表</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中，见表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4-1</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a:t>
            </a: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有时可把这两表合二为一</a:t>
            </a:r>
          </a:p>
        </p:txBody>
      </p:sp>
      <p:sp>
        <p:nvSpPr>
          <p:cNvPr id="4" name="Rectangle 2"/>
          <p:cNvSpPr txBox="1"/>
          <p:nvPr/>
        </p:nvSpPr>
        <p:spPr>
          <a:xfrm>
            <a:off x="1677988" y="6381115"/>
            <a:ext cx="1296987" cy="593725"/>
          </a:xfrm>
          <a:prstGeom prst="rect">
            <a:avLst/>
          </a:prstGeom>
          <a:noFill/>
          <a:ln w="9525">
            <a:noFill/>
          </a:ln>
        </p:spPr>
        <p:txBody>
          <a:bodyPr/>
          <a:lstStyle/>
          <a:p>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4-1</a:t>
            </a:r>
          </a:p>
        </p:txBody>
      </p:sp>
      <p:sp>
        <p:nvSpPr>
          <p:cNvPr id="36" name="矩形 35"/>
          <p:cNvSpPr/>
          <p:nvPr/>
        </p:nvSpPr>
        <p:spPr>
          <a:xfrm>
            <a:off x="6365784" y="6013844"/>
            <a:ext cx="1295400" cy="400110"/>
          </a:xfrm>
          <a:prstGeom prst="rect">
            <a:avLst/>
          </a:prstGeom>
          <a:noFill/>
          <a:ln w="9525">
            <a:noFill/>
          </a:ln>
        </p:spPr>
        <p:txBody>
          <a:bodyPr>
            <a:spAutoFit/>
          </a:bodyPr>
          <a:lstStyle/>
          <a:p>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4-2</a:t>
            </a:r>
          </a:p>
        </p:txBody>
      </p:sp>
      <p:pic>
        <p:nvPicPr>
          <p:cNvPr id="6" name="图片 5"/>
          <p:cNvPicPr>
            <a:picLocks noChangeAspect="1"/>
          </p:cNvPicPr>
          <p:nvPr/>
        </p:nvPicPr>
        <p:blipFill>
          <a:blip r:embed="rId2"/>
          <a:stretch>
            <a:fillRect/>
          </a:stretch>
        </p:blipFill>
        <p:spPr>
          <a:xfrm>
            <a:off x="4787900" y="3991610"/>
            <a:ext cx="4254500" cy="1954530"/>
          </a:xfrm>
          <a:prstGeom prst="rect">
            <a:avLst/>
          </a:prstGeom>
        </p:spPr>
      </p:pic>
      <p:pic>
        <p:nvPicPr>
          <p:cNvPr id="8" name="图片 7"/>
          <p:cNvPicPr>
            <a:picLocks noChangeAspect="1"/>
          </p:cNvPicPr>
          <p:nvPr/>
        </p:nvPicPr>
        <p:blipFill>
          <a:blip r:embed="rId3"/>
          <a:stretch>
            <a:fillRect/>
          </a:stretch>
        </p:blipFill>
        <p:spPr>
          <a:xfrm>
            <a:off x="107315" y="3830955"/>
            <a:ext cx="4438650" cy="2533015"/>
          </a:xfrm>
          <a:prstGeom prst="rect">
            <a:avLst/>
          </a:prstGeom>
        </p:spPr>
      </p:pic>
      <p:pic>
        <p:nvPicPr>
          <p:cNvPr id="9" name="图片 8" descr="横平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1640" y="4199890"/>
            <a:ext cx="1616710" cy="225425"/>
          </a:xfrm>
          <a:prstGeom prst="rect">
            <a:avLst/>
          </a:prstGeom>
        </p:spPr>
      </p:pic>
      <p:pic>
        <p:nvPicPr>
          <p:cNvPr id="13" name="图片 12" descr="横平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7540" y="4077335"/>
            <a:ext cx="1297305" cy="180340"/>
          </a:xfrm>
          <a:prstGeom prst="rect">
            <a:avLst/>
          </a:prstGeom>
        </p:spPr>
      </p:pic>
      <p:pic>
        <p:nvPicPr>
          <p:cNvPr id="14" name="图片 13" descr="横平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37055" y="5944870"/>
            <a:ext cx="1408430" cy="206375"/>
          </a:xfrm>
          <a:prstGeom prst="rect">
            <a:avLst/>
          </a:prstGeom>
        </p:spPr>
      </p:pic>
      <p:pic>
        <p:nvPicPr>
          <p:cNvPr id="15" name="图片 14" descr="竖直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3895" y="4509135"/>
            <a:ext cx="185420" cy="1232535"/>
          </a:xfrm>
          <a:prstGeom prst="rect">
            <a:avLst/>
          </a:prstGeom>
        </p:spPr>
      </p:pic>
      <p:pic>
        <p:nvPicPr>
          <p:cNvPr id="16" name="图片 15" descr="竖直2"/>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67810" y="4526915"/>
            <a:ext cx="262890" cy="1196975"/>
          </a:xfrm>
          <a:prstGeom prst="rect">
            <a:avLst/>
          </a:prstGeom>
        </p:spPr>
      </p:pic>
      <p:pic>
        <p:nvPicPr>
          <p:cNvPr id="17" name="图片 16" descr="矩阵1"/>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71640" y="4713605"/>
            <a:ext cx="1699260" cy="1163320"/>
          </a:xfrm>
          <a:prstGeom prst="rect">
            <a:avLst/>
          </a:prstGeom>
        </p:spPr>
      </p:pic>
      <p:pic>
        <p:nvPicPr>
          <p:cNvPr id="18" name="图片 17" descr="竖直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64480" y="4713605"/>
            <a:ext cx="185420" cy="123253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7" dur="500"/>
                                        <p:tgtEl>
                                          <p:spTgt spid="92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2" dur="500"/>
                                        <p:tgtEl>
                                          <p:spTgt spid="9219">
                                            <p:txEl>
                                              <p:pRg st="3" end="3"/>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blinds(horizontal)">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3"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4"/>
          <p:cNvSpPr txBox="1"/>
          <p:nvPr/>
        </p:nvSpPr>
        <p:spPr>
          <a:xfrm>
            <a:off x="1219200" y="5715000"/>
            <a:ext cx="4572000" cy="762000"/>
          </a:xfrm>
          <a:prstGeom prst="rect">
            <a:avLst/>
          </a:prstGeom>
          <a:noFill/>
          <a:ln w="9525">
            <a:noFill/>
          </a:ln>
        </p:spPr>
        <p:txBody>
          <a:bodyPr>
            <a:spAutoFit/>
          </a:bodyPr>
          <a:lstStyle/>
          <a:p>
            <a:pPr eaLnBrk="1" hangingPunct="1">
              <a:spcBef>
                <a:spcPct val="50000"/>
              </a:spcBef>
            </a:pPr>
            <a:r>
              <a:rPr lang="en-US" altLang="zh-CN" sz="4400" b="1" i="1" dirty="0">
                <a:solidFill>
                  <a:srgbClr val="000066"/>
                </a:solidFill>
                <a:latin typeface="Times New Roman" panose="02020603050405020304" pitchFamily="18" charset="0"/>
              </a:rPr>
              <a:t>c</a:t>
            </a:r>
            <a:r>
              <a:rPr lang="en-US" altLang="zh-CN" sz="1200" b="1" i="1" dirty="0">
                <a:solidFill>
                  <a:srgbClr val="000066"/>
                </a:solidFill>
                <a:latin typeface="Times New Roman" panose="02020603050405020304" pitchFamily="18" charset="0"/>
              </a:rPr>
              <a:t>ij</a:t>
            </a:r>
            <a:r>
              <a:rPr lang="en-US" altLang="zh-CN" sz="3200" b="1" i="1" dirty="0">
                <a:solidFill>
                  <a:srgbClr val="000066"/>
                </a:solidFill>
                <a:latin typeface="Times New Roman" panose="02020603050405020304" pitchFamily="18" charset="0"/>
              </a:rPr>
              <a:t> </a:t>
            </a:r>
            <a:r>
              <a:rPr lang="en-US" altLang="zh-CN" sz="3200" b="1" dirty="0">
                <a:solidFill>
                  <a:srgbClr val="000066"/>
                </a:solidFill>
                <a:latin typeface="Times New Roman" panose="02020603050405020304" pitchFamily="18" charset="0"/>
              </a:rPr>
              <a:t>        </a:t>
            </a:r>
            <a:r>
              <a:rPr lang="zh-CN" altLang="en-US" sz="3200" b="1" dirty="0">
                <a:solidFill>
                  <a:srgbClr val="000066"/>
                </a:solidFill>
                <a:latin typeface="Times New Roman" panose="02020603050405020304" pitchFamily="18" charset="0"/>
              </a:rPr>
              <a:t>为运价</a:t>
            </a:r>
            <a:endParaRPr lang="zh-CN" altLang="en-US" sz="1200" b="1" dirty="0">
              <a:solidFill>
                <a:srgbClr val="000066"/>
              </a:solidFill>
              <a:latin typeface="Times New Roman" panose="02020603050405020304" pitchFamily="18" charset="0"/>
            </a:endParaRPr>
          </a:p>
        </p:txBody>
      </p:sp>
      <p:sp>
        <p:nvSpPr>
          <p:cNvPr id="6147" name="Line 2"/>
          <p:cNvSpPr/>
          <p:nvPr/>
        </p:nvSpPr>
        <p:spPr>
          <a:xfrm>
            <a:off x="1143000" y="457200"/>
            <a:ext cx="7086600" cy="0"/>
          </a:xfrm>
          <a:prstGeom prst="line">
            <a:avLst/>
          </a:prstGeom>
          <a:ln w="9525" cap="flat" cmpd="sng">
            <a:solidFill>
              <a:schemeClr val="tx1"/>
            </a:solidFill>
            <a:prstDash val="solid"/>
            <a:headEnd type="none" w="med" len="med"/>
            <a:tailEnd type="none" w="med" len="med"/>
          </a:ln>
        </p:spPr>
      </p:sp>
      <p:sp>
        <p:nvSpPr>
          <p:cNvPr id="6148" name="Line 3"/>
          <p:cNvSpPr/>
          <p:nvPr/>
        </p:nvSpPr>
        <p:spPr>
          <a:xfrm>
            <a:off x="1066800" y="1219200"/>
            <a:ext cx="7086600" cy="0"/>
          </a:xfrm>
          <a:prstGeom prst="line">
            <a:avLst/>
          </a:prstGeom>
          <a:ln w="9525" cap="flat" cmpd="sng">
            <a:solidFill>
              <a:schemeClr val="tx1"/>
            </a:solidFill>
            <a:prstDash val="solid"/>
            <a:headEnd type="none" w="med" len="med"/>
            <a:tailEnd type="none" w="med" len="med"/>
          </a:ln>
        </p:spPr>
      </p:sp>
      <p:sp>
        <p:nvSpPr>
          <p:cNvPr id="6149" name="Line 4"/>
          <p:cNvSpPr/>
          <p:nvPr/>
        </p:nvSpPr>
        <p:spPr>
          <a:xfrm>
            <a:off x="1066800" y="5562600"/>
            <a:ext cx="7086600" cy="0"/>
          </a:xfrm>
          <a:prstGeom prst="line">
            <a:avLst/>
          </a:prstGeom>
          <a:ln w="9525" cap="flat" cmpd="sng">
            <a:solidFill>
              <a:schemeClr val="tx1"/>
            </a:solidFill>
            <a:prstDash val="solid"/>
            <a:headEnd type="none" w="med" len="med"/>
            <a:tailEnd type="none" w="med" len="med"/>
          </a:ln>
        </p:spPr>
      </p:sp>
      <p:sp>
        <p:nvSpPr>
          <p:cNvPr id="6150" name="Line 5"/>
          <p:cNvSpPr/>
          <p:nvPr/>
        </p:nvSpPr>
        <p:spPr>
          <a:xfrm>
            <a:off x="990600" y="4800600"/>
            <a:ext cx="7086600" cy="0"/>
          </a:xfrm>
          <a:prstGeom prst="line">
            <a:avLst/>
          </a:prstGeom>
          <a:ln w="9525" cap="flat" cmpd="sng">
            <a:solidFill>
              <a:schemeClr val="tx1"/>
            </a:solidFill>
            <a:prstDash val="solid"/>
            <a:headEnd type="none" w="med" len="med"/>
            <a:tailEnd type="none" w="med" len="med"/>
          </a:ln>
        </p:spPr>
      </p:sp>
      <p:sp>
        <p:nvSpPr>
          <p:cNvPr id="6151" name="Text Box 6"/>
          <p:cNvSpPr txBox="1"/>
          <p:nvPr/>
        </p:nvSpPr>
        <p:spPr>
          <a:xfrm>
            <a:off x="1371600" y="457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销地</a:t>
            </a:r>
          </a:p>
        </p:txBody>
      </p:sp>
      <p:sp>
        <p:nvSpPr>
          <p:cNvPr id="6152" name="Text Box 7"/>
          <p:cNvSpPr txBox="1"/>
          <p:nvPr/>
        </p:nvSpPr>
        <p:spPr>
          <a:xfrm>
            <a:off x="914400" y="838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产地</a:t>
            </a:r>
          </a:p>
        </p:txBody>
      </p:sp>
      <p:sp>
        <p:nvSpPr>
          <p:cNvPr id="6153" name="Text Box 8"/>
          <p:cNvSpPr txBox="1"/>
          <p:nvPr/>
        </p:nvSpPr>
        <p:spPr>
          <a:xfrm>
            <a:off x="1233488" y="1524000"/>
            <a:ext cx="674687" cy="2244725"/>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1      </a:t>
            </a:r>
          </a:p>
          <a:p>
            <a:pPr eaLnBrk="1" hangingPunct="1">
              <a:spcBef>
                <a:spcPct val="50000"/>
              </a:spcBef>
            </a:pPr>
            <a:endParaRPr lang="en-US" altLang="zh-CN" sz="800" dirty="0">
              <a:latin typeface="Times New Roman" panose="02020603050405020304" pitchFamily="18" charset="0"/>
            </a:endParaRPr>
          </a:p>
          <a:p>
            <a:pPr eaLnBrk="1" hangingPunct="1">
              <a:spcBef>
                <a:spcPct val="50000"/>
              </a:spcBef>
            </a:pPr>
            <a:r>
              <a:rPr lang="en-US" altLang="zh-CN" sz="3200" dirty="0">
                <a:latin typeface="Times New Roman" panose="02020603050405020304" pitchFamily="18" charset="0"/>
              </a:rPr>
              <a:t>2      </a:t>
            </a:r>
          </a:p>
          <a:p>
            <a:pPr eaLnBrk="1" hangingPunct="1">
              <a:spcBef>
                <a:spcPct val="50000"/>
              </a:spcBef>
            </a:pPr>
            <a:r>
              <a:rPr lang="en-US" altLang="zh-CN" sz="3200" dirty="0">
                <a:latin typeface="Times New Roman" panose="02020603050405020304" pitchFamily="18" charset="0"/>
              </a:rPr>
              <a:t>…</a:t>
            </a:r>
            <a:r>
              <a:rPr lang="en-US" altLang="zh-CN" sz="1800" dirty="0">
                <a:latin typeface="Times New Roman" panose="02020603050405020304" pitchFamily="18" charset="0"/>
              </a:rPr>
              <a:t>                            </a:t>
            </a:r>
          </a:p>
        </p:txBody>
      </p:sp>
      <p:sp>
        <p:nvSpPr>
          <p:cNvPr id="6154" name="Text Box 9"/>
          <p:cNvSpPr txBox="1"/>
          <p:nvPr/>
        </p:nvSpPr>
        <p:spPr>
          <a:xfrm>
            <a:off x="1201738" y="4076700"/>
            <a:ext cx="1066800" cy="579438"/>
          </a:xfrm>
          <a:prstGeom prst="rect">
            <a:avLst/>
          </a:prstGeom>
          <a:noFill/>
          <a:ln w="9525">
            <a:noFill/>
          </a:ln>
        </p:spPr>
        <p:txBody>
          <a:bodyPr>
            <a:spAutoFit/>
          </a:bodyPr>
          <a:lstStyle/>
          <a:p>
            <a:pPr eaLnBrk="1" hangingPunct="1">
              <a:spcBef>
                <a:spcPct val="50000"/>
              </a:spcBef>
            </a:pPr>
            <a:r>
              <a:rPr lang="zh-CN" altLang="en-US" sz="3200" i="1" dirty="0">
                <a:latin typeface="Times New Roman" panose="02020603050405020304" pitchFamily="18" charset="0"/>
              </a:rPr>
              <a:t> </a:t>
            </a:r>
            <a:r>
              <a:rPr lang="en-US" altLang="zh-CN" sz="3200" i="1" dirty="0">
                <a:latin typeface="Times New Roman" panose="02020603050405020304" pitchFamily="18" charset="0"/>
              </a:rPr>
              <a:t>m</a:t>
            </a:r>
            <a:endParaRPr lang="en-US" altLang="zh-CN" sz="3200" i="1" dirty="0">
              <a:latin typeface="Times New Roman" panose="02020603050405020304" pitchFamily="18" charset="0"/>
              <a:ea typeface="Times New Roman" panose="02020603050405020304" pitchFamily="18" charset="0"/>
            </a:endParaRPr>
          </a:p>
        </p:txBody>
      </p:sp>
      <p:sp>
        <p:nvSpPr>
          <p:cNvPr id="6155" name="Text Box 10"/>
          <p:cNvSpPr txBox="1"/>
          <p:nvPr/>
        </p:nvSpPr>
        <p:spPr>
          <a:xfrm>
            <a:off x="2438400" y="533400"/>
            <a:ext cx="6248400" cy="579438"/>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1          2         …        </a:t>
            </a:r>
            <a:r>
              <a:rPr lang="en-US" altLang="zh-CN" sz="3200" i="1" dirty="0">
                <a:latin typeface="Times New Roman" panose="02020603050405020304" pitchFamily="18" charset="0"/>
              </a:rPr>
              <a:t>n</a:t>
            </a:r>
          </a:p>
        </p:txBody>
      </p:sp>
      <p:sp>
        <p:nvSpPr>
          <p:cNvPr id="6156" name="Line 11"/>
          <p:cNvSpPr/>
          <p:nvPr/>
        </p:nvSpPr>
        <p:spPr>
          <a:xfrm>
            <a:off x="2133600" y="457200"/>
            <a:ext cx="0" cy="5105400"/>
          </a:xfrm>
          <a:prstGeom prst="line">
            <a:avLst/>
          </a:prstGeom>
          <a:ln w="9525" cap="flat" cmpd="sng">
            <a:solidFill>
              <a:schemeClr val="tx1"/>
            </a:solidFill>
            <a:prstDash val="solid"/>
            <a:headEnd type="none" w="med" len="med"/>
            <a:tailEnd type="none" w="med" len="med"/>
          </a:ln>
        </p:spPr>
      </p:sp>
      <p:sp>
        <p:nvSpPr>
          <p:cNvPr id="6157" name="Line 12"/>
          <p:cNvSpPr/>
          <p:nvPr/>
        </p:nvSpPr>
        <p:spPr>
          <a:xfrm>
            <a:off x="6705600" y="533400"/>
            <a:ext cx="0" cy="5105400"/>
          </a:xfrm>
          <a:prstGeom prst="line">
            <a:avLst/>
          </a:prstGeom>
          <a:ln w="9525" cap="flat" cmpd="sng">
            <a:solidFill>
              <a:schemeClr val="tx1"/>
            </a:solidFill>
            <a:prstDash val="solid"/>
            <a:headEnd type="none" w="med" len="med"/>
            <a:tailEnd type="none" w="med" len="med"/>
          </a:ln>
        </p:spPr>
      </p:sp>
      <p:sp>
        <p:nvSpPr>
          <p:cNvPr id="6158" name="Text Box 13"/>
          <p:cNvSpPr txBox="1"/>
          <p:nvPr/>
        </p:nvSpPr>
        <p:spPr>
          <a:xfrm>
            <a:off x="990600" y="5029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销量</a:t>
            </a:r>
          </a:p>
        </p:txBody>
      </p:sp>
      <p:sp>
        <p:nvSpPr>
          <p:cNvPr id="6159" name="Text Box 14"/>
          <p:cNvSpPr txBox="1"/>
          <p:nvPr/>
        </p:nvSpPr>
        <p:spPr>
          <a:xfrm>
            <a:off x="6934200" y="6858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产量</a:t>
            </a:r>
          </a:p>
        </p:txBody>
      </p:sp>
      <p:sp>
        <p:nvSpPr>
          <p:cNvPr id="6160" name="Text Box 17"/>
          <p:cNvSpPr txBox="1"/>
          <p:nvPr/>
        </p:nvSpPr>
        <p:spPr>
          <a:xfrm>
            <a:off x="7034213" y="4038600"/>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i="1" dirty="0">
                <a:latin typeface="Times New Roman" panose="02020603050405020304" pitchFamily="18" charset="0"/>
              </a:rPr>
              <a:t>m</a:t>
            </a:r>
            <a:endParaRPr lang="en-US" altLang="zh-CN" sz="3600" i="1" dirty="0">
              <a:latin typeface="Times New Roman" panose="02020603050405020304" pitchFamily="18" charset="0"/>
            </a:endParaRPr>
          </a:p>
        </p:txBody>
      </p:sp>
      <p:sp>
        <p:nvSpPr>
          <p:cNvPr id="6161" name="Text Box 18"/>
          <p:cNvSpPr txBox="1"/>
          <p:nvPr/>
        </p:nvSpPr>
        <p:spPr>
          <a:xfrm>
            <a:off x="7140575" y="3001963"/>
            <a:ext cx="671513"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rPr>
              <a:t>     </a:t>
            </a:r>
            <a:r>
              <a:rPr lang="en-US" altLang="zh-CN" sz="3200" dirty="0">
                <a:latin typeface="Times New Roman" panose="02020603050405020304" pitchFamily="18" charset="0"/>
              </a:rPr>
              <a:t>…</a:t>
            </a:r>
            <a:r>
              <a:rPr lang="en-US" altLang="zh-CN" sz="1800" dirty="0">
                <a:latin typeface="Times New Roman" panose="02020603050405020304" pitchFamily="18" charset="0"/>
              </a:rPr>
              <a:t>                            </a:t>
            </a:r>
          </a:p>
        </p:txBody>
      </p:sp>
      <p:sp>
        <p:nvSpPr>
          <p:cNvPr id="6162" name="Text Box 21"/>
          <p:cNvSpPr txBox="1"/>
          <p:nvPr/>
        </p:nvSpPr>
        <p:spPr>
          <a:xfrm>
            <a:off x="2455863" y="4114800"/>
            <a:ext cx="4419600" cy="57943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c</a:t>
            </a:r>
            <a:r>
              <a:rPr lang="en-US" altLang="zh-CN" sz="1200" i="1" dirty="0">
                <a:latin typeface="Times New Roman" panose="02020603050405020304" pitchFamily="18" charset="0"/>
              </a:rPr>
              <a:t>m</a:t>
            </a:r>
            <a:r>
              <a:rPr lang="en-US" altLang="zh-CN" sz="1200" dirty="0">
                <a:latin typeface="Times New Roman" panose="02020603050405020304" pitchFamily="18" charset="0"/>
              </a:rPr>
              <a:t>1</a:t>
            </a:r>
            <a:r>
              <a:rPr lang="en-US" altLang="zh-CN" sz="3200" dirty="0">
                <a:latin typeface="Times New Roman" panose="02020603050405020304" pitchFamily="18" charset="0"/>
              </a:rPr>
              <a:t>         </a:t>
            </a:r>
            <a:r>
              <a:rPr lang="en-US" altLang="zh-CN" sz="3200" i="1" dirty="0">
                <a:latin typeface="Times New Roman" panose="02020603050405020304" pitchFamily="18" charset="0"/>
              </a:rPr>
              <a:t>c</a:t>
            </a:r>
            <a:r>
              <a:rPr lang="en-US" altLang="zh-CN" sz="1200" i="1" dirty="0">
                <a:latin typeface="Times New Roman" panose="02020603050405020304" pitchFamily="18" charset="0"/>
              </a:rPr>
              <a:t>m</a:t>
            </a:r>
            <a:r>
              <a:rPr lang="en-US" altLang="zh-CN" sz="1200" dirty="0">
                <a:latin typeface="Times New Roman" panose="02020603050405020304" pitchFamily="18" charset="0"/>
              </a:rPr>
              <a:t>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c</a:t>
            </a:r>
            <a:r>
              <a:rPr lang="en-US" altLang="zh-CN" sz="1200" i="1" dirty="0">
                <a:latin typeface="Times New Roman" panose="02020603050405020304" pitchFamily="18" charset="0"/>
              </a:rPr>
              <a:t>mn</a:t>
            </a:r>
          </a:p>
        </p:txBody>
      </p:sp>
      <p:sp>
        <p:nvSpPr>
          <p:cNvPr id="6163" name="Text Box 23"/>
          <p:cNvSpPr txBox="1"/>
          <p:nvPr/>
        </p:nvSpPr>
        <p:spPr>
          <a:xfrm>
            <a:off x="3733800" y="3048000"/>
            <a:ext cx="671513"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rPr>
              <a:t>     </a:t>
            </a:r>
            <a:r>
              <a:rPr lang="en-US" altLang="zh-CN" sz="3200" dirty="0">
                <a:latin typeface="Times New Roman" panose="02020603050405020304" pitchFamily="18" charset="0"/>
              </a:rPr>
              <a:t>…</a:t>
            </a:r>
            <a:r>
              <a:rPr lang="en-US" altLang="zh-CN" sz="1800" dirty="0">
                <a:latin typeface="Times New Roman" panose="02020603050405020304" pitchFamily="18" charset="0"/>
              </a:rPr>
              <a:t>                            </a:t>
            </a:r>
          </a:p>
        </p:txBody>
      </p:sp>
      <p:sp>
        <p:nvSpPr>
          <p:cNvPr id="6164" name="Text Box 17"/>
          <p:cNvSpPr txBox="1"/>
          <p:nvPr/>
        </p:nvSpPr>
        <p:spPr>
          <a:xfrm>
            <a:off x="7034213" y="242093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dirty="0">
                <a:latin typeface="Times New Roman" panose="02020603050405020304" pitchFamily="18" charset="0"/>
              </a:rPr>
              <a:t>2</a:t>
            </a:r>
            <a:endParaRPr lang="en-US" altLang="zh-CN" sz="3600" dirty="0">
              <a:latin typeface="Times New Roman" panose="02020603050405020304" pitchFamily="18" charset="0"/>
            </a:endParaRPr>
          </a:p>
        </p:txBody>
      </p:sp>
      <p:sp>
        <p:nvSpPr>
          <p:cNvPr id="6165" name="Text Box 17"/>
          <p:cNvSpPr txBox="1"/>
          <p:nvPr/>
        </p:nvSpPr>
        <p:spPr>
          <a:xfrm>
            <a:off x="7034213" y="155733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dirty="0">
                <a:latin typeface="Times New Roman" panose="02020603050405020304" pitchFamily="18" charset="0"/>
              </a:rPr>
              <a:t>1</a:t>
            </a:r>
            <a:endParaRPr lang="en-US" altLang="zh-CN" sz="3600" dirty="0">
              <a:latin typeface="Times New Roman" panose="02020603050405020304" pitchFamily="18" charset="0"/>
            </a:endParaRPr>
          </a:p>
        </p:txBody>
      </p:sp>
      <p:sp>
        <p:nvSpPr>
          <p:cNvPr id="6166" name="Text Box 21"/>
          <p:cNvSpPr txBox="1"/>
          <p:nvPr/>
        </p:nvSpPr>
        <p:spPr>
          <a:xfrm>
            <a:off x="2455863" y="2492375"/>
            <a:ext cx="4419600" cy="58578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c</a:t>
            </a:r>
            <a:r>
              <a:rPr lang="en-US" altLang="zh-CN" sz="1200" dirty="0">
                <a:latin typeface="Times New Roman" panose="02020603050405020304" pitchFamily="18" charset="0"/>
              </a:rPr>
              <a:t>21</a:t>
            </a:r>
            <a:r>
              <a:rPr lang="en-US" altLang="zh-CN" sz="3200" dirty="0">
                <a:latin typeface="Times New Roman" panose="02020603050405020304" pitchFamily="18" charset="0"/>
              </a:rPr>
              <a:t>         </a:t>
            </a:r>
            <a:r>
              <a:rPr lang="en-US" altLang="zh-CN" sz="3200" i="1" dirty="0">
                <a:latin typeface="Times New Roman" panose="02020603050405020304" pitchFamily="18" charset="0"/>
              </a:rPr>
              <a:t>c</a:t>
            </a:r>
            <a:r>
              <a:rPr lang="en-US" altLang="zh-CN" sz="1200" dirty="0">
                <a:latin typeface="Times New Roman" panose="02020603050405020304" pitchFamily="18" charset="0"/>
              </a:rPr>
              <a:t>22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c</a:t>
            </a:r>
            <a:r>
              <a:rPr lang="en-US" altLang="zh-CN" sz="1200" dirty="0">
                <a:latin typeface="Times New Roman" panose="02020603050405020304" pitchFamily="18" charset="0"/>
              </a:rPr>
              <a:t>2</a:t>
            </a:r>
            <a:r>
              <a:rPr lang="en-US" altLang="zh-CN" sz="1200" i="1" dirty="0">
                <a:latin typeface="Times New Roman" panose="02020603050405020304" pitchFamily="18" charset="0"/>
              </a:rPr>
              <a:t>n</a:t>
            </a:r>
          </a:p>
        </p:txBody>
      </p:sp>
      <p:sp>
        <p:nvSpPr>
          <p:cNvPr id="6167" name="Text Box 21"/>
          <p:cNvSpPr txBox="1"/>
          <p:nvPr/>
        </p:nvSpPr>
        <p:spPr>
          <a:xfrm>
            <a:off x="2455863" y="1412875"/>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c</a:t>
            </a:r>
            <a:r>
              <a:rPr lang="en-US" altLang="zh-CN" sz="1200" dirty="0">
                <a:latin typeface="Times New Roman" panose="02020603050405020304" pitchFamily="18" charset="0"/>
              </a:rPr>
              <a:t>11</a:t>
            </a:r>
            <a:r>
              <a:rPr lang="en-US" altLang="zh-CN" sz="3200" dirty="0">
                <a:latin typeface="Times New Roman" panose="02020603050405020304" pitchFamily="18" charset="0"/>
              </a:rPr>
              <a:t>         </a:t>
            </a:r>
            <a:r>
              <a:rPr lang="en-US" altLang="zh-CN" sz="3200" i="1" dirty="0">
                <a:latin typeface="Times New Roman" panose="02020603050405020304" pitchFamily="18" charset="0"/>
              </a:rPr>
              <a:t>c</a:t>
            </a:r>
            <a:r>
              <a:rPr lang="en-US" altLang="zh-CN" sz="1200" dirty="0">
                <a:latin typeface="Times New Roman" panose="02020603050405020304" pitchFamily="18" charset="0"/>
              </a:rPr>
              <a:t>12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c</a:t>
            </a:r>
            <a:r>
              <a:rPr lang="en-US" altLang="zh-CN" sz="1200" dirty="0">
                <a:latin typeface="Times New Roman" panose="02020603050405020304" pitchFamily="18" charset="0"/>
              </a:rPr>
              <a:t>1</a:t>
            </a:r>
            <a:r>
              <a:rPr lang="en-US" altLang="zh-CN" sz="1200" i="1" dirty="0">
                <a:latin typeface="Times New Roman" panose="02020603050405020304" pitchFamily="18" charset="0"/>
              </a:rPr>
              <a:t>n</a:t>
            </a:r>
          </a:p>
        </p:txBody>
      </p:sp>
      <p:sp>
        <p:nvSpPr>
          <p:cNvPr id="6168" name="Text Box 21"/>
          <p:cNvSpPr txBox="1"/>
          <p:nvPr/>
        </p:nvSpPr>
        <p:spPr>
          <a:xfrm>
            <a:off x="2484438" y="4865688"/>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b</a:t>
            </a:r>
            <a:r>
              <a:rPr lang="en-US" altLang="zh-CN" sz="1200" dirty="0">
                <a:latin typeface="Times New Roman" panose="02020603050405020304" pitchFamily="18" charset="0"/>
              </a:rPr>
              <a:t>1</a:t>
            </a:r>
            <a:r>
              <a:rPr lang="en-US" altLang="zh-CN" sz="3200" dirty="0">
                <a:latin typeface="Times New Roman" panose="02020603050405020304" pitchFamily="18" charset="0"/>
              </a:rPr>
              <a:t>         </a:t>
            </a:r>
            <a:r>
              <a:rPr lang="en-US" altLang="zh-CN" sz="3200" i="1" dirty="0">
                <a:latin typeface="Times New Roman" panose="02020603050405020304" pitchFamily="18" charset="0"/>
              </a:rPr>
              <a:t>b</a:t>
            </a:r>
            <a:r>
              <a:rPr lang="en-US" altLang="zh-CN" sz="1200" dirty="0">
                <a:latin typeface="Times New Roman" panose="02020603050405020304" pitchFamily="18" charset="0"/>
              </a:rPr>
              <a:t>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b</a:t>
            </a:r>
            <a:r>
              <a:rPr lang="en-US" altLang="zh-CN" sz="1200" i="1" dirty="0">
                <a:latin typeface="Times New Roman" panose="02020603050405020304" pitchFamily="18" charset="0"/>
              </a:rPr>
              <a:t>n</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24"/>
          <p:cNvSpPr/>
          <p:nvPr/>
        </p:nvSpPr>
        <p:spPr>
          <a:xfrm>
            <a:off x="179388" y="260350"/>
            <a:ext cx="5540375" cy="646113"/>
          </a:xfrm>
          <a:prstGeom prst="rect">
            <a:avLst/>
          </a:prstGeom>
          <a:noFill/>
          <a:ln w="9525">
            <a:noFill/>
          </a:ln>
        </p:spPr>
        <p:txBody>
          <a:bodyPr wrap="none">
            <a:spAutoFit/>
          </a:bodyPr>
          <a:lstStyle/>
          <a:p>
            <a:pPr eaLnBrk="1" hangingPunct="1"/>
            <a:r>
              <a:rPr lang="zh-CN" altLang="en-US" sz="3600" b="1" dirty="0">
                <a:latin typeface="Times New Roman" panose="02020603050405020304" pitchFamily="18" charset="0"/>
                <a:ea typeface="微软雅黑" pitchFamily="34" charset="-122"/>
              </a:rPr>
              <a:t>若用</a:t>
            </a:r>
            <a:r>
              <a:rPr lang="en-US" altLang="zh-CN" sz="3600" b="1" i="1" dirty="0">
                <a:latin typeface="Times New Roman" panose="02020603050405020304" pitchFamily="18" charset="0"/>
                <a:ea typeface="微软雅黑" pitchFamily="34" charset="-122"/>
              </a:rPr>
              <a:t>x</a:t>
            </a:r>
            <a:r>
              <a:rPr lang="en-US" altLang="zh-CN" sz="3600" b="1" i="1" baseline="-30000" dirty="0">
                <a:latin typeface="Times New Roman" panose="02020603050405020304" pitchFamily="18" charset="0"/>
                <a:ea typeface="微软雅黑" pitchFamily="34" charset="-122"/>
              </a:rPr>
              <a:t>ij</a:t>
            </a:r>
            <a:r>
              <a:rPr lang="zh-CN" altLang="en-US" sz="3600" b="1" dirty="0">
                <a:latin typeface="Times New Roman" panose="02020603050405020304" pitchFamily="18" charset="0"/>
                <a:ea typeface="微软雅黑" pitchFamily="34" charset="-122"/>
              </a:rPr>
              <a:t>表示从</a:t>
            </a:r>
            <a:r>
              <a:rPr lang="en-US" altLang="zh-CN" sz="3600" b="1" i="1" dirty="0">
                <a:latin typeface="Times New Roman" panose="02020603050405020304" pitchFamily="18" charset="0"/>
                <a:ea typeface="微软雅黑" pitchFamily="34" charset="-122"/>
              </a:rPr>
              <a:t>A</a:t>
            </a:r>
            <a:r>
              <a:rPr lang="en-US" altLang="zh-CN" sz="3600" b="1" i="1" baseline="-30000" dirty="0">
                <a:latin typeface="Times New Roman" panose="02020603050405020304" pitchFamily="18" charset="0"/>
                <a:ea typeface="微软雅黑" pitchFamily="34" charset="-122"/>
              </a:rPr>
              <a:t>i</a:t>
            </a:r>
            <a:r>
              <a:rPr lang="zh-CN" altLang="en-US" sz="3600" b="1" dirty="0">
                <a:latin typeface="Times New Roman" panose="02020603050405020304" pitchFamily="18" charset="0"/>
                <a:ea typeface="微软雅黑" pitchFamily="34" charset="-122"/>
              </a:rPr>
              <a:t>到</a:t>
            </a:r>
            <a:r>
              <a:rPr lang="en-US" altLang="zh-CN" sz="3600" b="1" i="1" dirty="0">
                <a:latin typeface="Times New Roman" panose="02020603050405020304" pitchFamily="18" charset="0"/>
                <a:ea typeface="微软雅黑" pitchFamily="34" charset="-122"/>
              </a:rPr>
              <a:t>B</a:t>
            </a:r>
            <a:r>
              <a:rPr lang="en-US" altLang="zh-CN" sz="3600" b="1" i="1" baseline="-30000" dirty="0">
                <a:latin typeface="Times New Roman" panose="02020603050405020304" pitchFamily="18" charset="0"/>
                <a:ea typeface="微软雅黑" pitchFamily="34" charset="-122"/>
              </a:rPr>
              <a:t>j</a:t>
            </a:r>
            <a:r>
              <a:rPr lang="zh-CN" altLang="en-US" sz="3600" b="1" dirty="0">
                <a:latin typeface="Times New Roman" panose="02020603050405020304" pitchFamily="18" charset="0"/>
                <a:ea typeface="微软雅黑" pitchFamily="34" charset="-122"/>
              </a:rPr>
              <a:t>的运量</a:t>
            </a:r>
            <a:endParaRPr lang="zh-CN" altLang="en-US" sz="3600" dirty="0">
              <a:ea typeface="微软雅黑" pitchFamily="34" charset="-122"/>
            </a:endParaRPr>
          </a:p>
        </p:txBody>
      </p:sp>
      <p:sp>
        <p:nvSpPr>
          <p:cNvPr id="7171" name="Line 2"/>
          <p:cNvSpPr/>
          <p:nvPr/>
        </p:nvSpPr>
        <p:spPr>
          <a:xfrm>
            <a:off x="839788" y="1487488"/>
            <a:ext cx="7086600" cy="0"/>
          </a:xfrm>
          <a:prstGeom prst="line">
            <a:avLst/>
          </a:prstGeom>
          <a:ln w="9525" cap="flat" cmpd="sng">
            <a:solidFill>
              <a:schemeClr val="tx1"/>
            </a:solidFill>
            <a:prstDash val="solid"/>
            <a:headEnd type="none" w="med" len="med"/>
            <a:tailEnd type="none" w="med" len="med"/>
          </a:ln>
        </p:spPr>
      </p:sp>
      <p:sp>
        <p:nvSpPr>
          <p:cNvPr id="7172" name="Line 3"/>
          <p:cNvSpPr/>
          <p:nvPr/>
        </p:nvSpPr>
        <p:spPr>
          <a:xfrm>
            <a:off x="763588" y="2249488"/>
            <a:ext cx="7086600" cy="0"/>
          </a:xfrm>
          <a:prstGeom prst="line">
            <a:avLst/>
          </a:prstGeom>
          <a:ln w="9525" cap="flat" cmpd="sng">
            <a:solidFill>
              <a:schemeClr val="tx1"/>
            </a:solidFill>
            <a:prstDash val="solid"/>
            <a:headEnd type="none" w="med" len="med"/>
            <a:tailEnd type="none" w="med" len="med"/>
          </a:ln>
        </p:spPr>
      </p:sp>
      <p:sp>
        <p:nvSpPr>
          <p:cNvPr id="7173" name="Line 4"/>
          <p:cNvSpPr/>
          <p:nvPr/>
        </p:nvSpPr>
        <p:spPr>
          <a:xfrm>
            <a:off x="763588" y="6592888"/>
            <a:ext cx="7086600" cy="0"/>
          </a:xfrm>
          <a:prstGeom prst="line">
            <a:avLst/>
          </a:prstGeom>
          <a:ln w="9525" cap="flat" cmpd="sng">
            <a:solidFill>
              <a:schemeClr val="tx1"/>
            </a:solidFill>
            <a:prstDash val="solid"/>
            <a:headEnd type="none" w="med" len="med"/>
            <a:tailEnd type="none" w="med" len="med"/>
          </a:ln>
        </p:spPr>
      </p:sp>
      <p:sp>
        <p:nvSpPr>
          <p:cNvPr id="7174" name="Line 5"/>
          <p:cNvSpPr/>
          <p:nvPr/>
        </p:nvSpPr>
        <p:spPr>
          <a:xfrm>
            <a:off x="687388" y="5830888"/>
            <a:ext cx="7086600" cy="0"/>
          </a:xfrm>
          <a:prstGeom prst="line">
            <a:avLst/>
          </a:prstGeom>
          <a:ln w="9525" cap="flat" cmpd="sng">
            <a:solidFill>
              <a:schemeClr val="tx1"/>
            </a:solidFill>
            <a:prstDash val="solid"/>
            <a:headEnd type="none" w="med" len="med"/>
            <a:tailEnd type="none" w="med" len="med"/>
          </a:ln>
        </p:spPr>
      </p:sp>
      <p:sp>
        <p:nvSpPr>
          <p:cNvPr id="7175" name="Text Box 6"/>
          <p:cNvSpPr txBox="1"/>
          <p:nvPr/>
        </p:nvSpPr>
        <p:spPr>
          <a:xfrm>
            <a:off x="1068388" y="1487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销地</a:t>
            </a:r>
          </a:p>
        </p:txBody>
      </p:sp>
      <p:sp>
        <p:nvSpPr>
          <p:cNvPr id="7176" name="Text Box 7"/>
          <p:cNvSpPr txBox="1"/>
          <p:nvPr/>
        </p:nvSpPr>
        <p:spPr>
          <a:xfrm>
            <a:off x="611188" y="1868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产地</a:t>
            </a:r>
          </a:p>
        </p:txBody>
      </p:sp>
      <p:sp>
        <p:nvSpPr>
          <p:cNvPr id="7177" name="Text Box 8"/>
          <p:cNvSpPr txBox="1"/>
          <p:nvPr/>
        </p:nvSpPr>
        <p:spPr>
          <a:xfrm>
            <a:off x="933450" y="2554288"/>
            <a:ext cx="671513" cy="2306637"/>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1</a:t>
            </a:r>
          </a:p>
          <a:p>
            <a:pPr eaLnBrk="1" hangingPunct="1">
              <a:spcBef>
                <a:spcPct val="50000"/>
              </a:spcBef>
            </a:pPr>
            <a:r>
              <a:rPr lang="en-US" altLang="zh-CN" sz="3200" dirty="0">
                <a:latin typeface="Times New Roman" panose="02020603050405020304" pitchFamily="18" charset="0"/>
              </a:rPr>
              <a:t> 2      …</a:t>
            </a:r>
            <a:r>
              <a:rPr lang="en-US" altLang="zh-CN" sz="1800" dirty="0">
                <a:latin typeface="Times New Roman" panose="02020603050405020304" pitchFamily="18" charset="0"/>
              </a:rPr>
              <a:t>                            </a:t>
            </a:r>
          </a:p>
        </p:txBody>
      </p:sp>
      <p:sp>
        <p:nvSpPr>
          <p:cNvPr id="7178" name="Text Box 9"/>
          <p:cNvSpPr txBox="1"/>
          <p:nvPr/>
        </p:nvSpPr>
        <p:spPr>
          <a:xfrm>
            <a:off x="898525" y="5106988"/>
            <a:ext cx="1066800" cy="579437"/>
          </a:xfrm>
          <a:prstGeom prst="rect">
            <a:avLst/>
          </a:prstGeom>
          <a:noFill/>
          <a:ln w="9525">
            <a:noFill/>
          </a:ln>
        </p:spPr>
        <p:txBody>
          <a:bodyPr>
            <a:spAutoFit/>
          </a:bodyPr>
          <a:lstStyle/>
          <a:p>
            <a:pPr eaLnBrk="1" hangingPunct="1">
              <a:spcBef>
                <a:spcPct val="50000"/>
              </a:spcBef>
            </a:pPr>
            <a:r>
              <a:rPr lang="zh-CN" altLang="en-US" sz="3200" i="1" dirty="0">
                <a:latin typeface="Times New Roman" panose="02020603050405020304" pitchFamily="18" charset="0"/>
              </a:rPr>
              <a:t> </a:t>
            </a:r>
            <a:r>
              <a:rPr lang="en-US" altLang="zh-CN" sz="3200" i="1" dirty="0">
                <a:latin typeface="Times New Roman" panose="02020603050405020304" pitchFamily="18" charset="0"/>
              </a:rPr>
              <a:t>m</a:t>
            </a:r>
            <a:endParaRPr lang="en-US" altLang="zh-CN" sz="3200" i="1" dirty="0">
              <a:latin typeface="Times New Roman" panose="02020603050405020304" pitchFamily="18" charset="0"/>
              <a:ea typeface="Times New Roman" panose="02020603050405020304" pitchFamily="18" charset="0"/>
            </a:endParaRPr>
          </a:p>
        </p:txBody>
      </p:sp>
      <p:sp>
        <p:nvSpPr>
          <p:cNvPr id="7179" name="Line 11"/>
          <p:cNvSpPr/>
          <p:nvPr/>
        </p:nvSpPr>
        <p:spPr>
          <a:xfrm>
            <a:off x="1830388" y="1487488"/>
            <a:ext cx="0" cy="5105400"/>
          </a:xfrm>
          <a:prstGeom prst="line">
            <a:avLst/>
          </a:prstGeom>
          <a:ln w="9525" cap="flat" cmpd="sng">
            <a:solidFill>
              <a:schemeClr val="tx1"/>
            </a:solidFill>
            <a:prstDash val="solid"/>
            <a:headEnd type="none" w="med" len="med"/>
            <a:tailEnd type="none" w="med" len="med"/>
          </a:ln>
        </p:spPr>
      </p:sp>
      <p:sp>
        <p:nvSpPr>
          <p:cNvPr id="7180" name="Line 12"/>
          <p:cNvSpPr/>
          <p:nvPr/>
        </p:nvSpPr>
        <p:spPr>
          <a:xfrm>
            <a:off x="6402388" y="1563688"/>
            <a:ext cx="0" cy="5105400"/>
          </a:xfrm>
          <a:prstGeom prst="line">
            <a:avLst/>
          </a:prstGeom>
          <a:ln w="9525" cap="flat" cmpd="sng">
            <a:solidFill>
              <a:schemeClr val="tx1"/>
            </a:solidFill>
            <a:prstDash val="solid"/>
            <a:headEnd type="none" w="med" len="med"/>
            <a:tailEnd type="none" w="med" len="med"/>
          </a:ln>
        </p:spPr>
      </p:sp>
      <p:sp>
        <p:nvSpPr>
          <p:cNvPr id="7181" name="Text Box 13"/>
          <p:cNvSpPr txBox="1"/>
          <p:nvPr/>
        </p:nvSpPr>
        <p:spPr>
          <a:xfrm>
            <a:off x="687388" y="6059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销量</a:t>
            </a:r>
          </a:p>
        </p:txBody>
      </p:sp>
      <p:sp>
        <p:nvSpPr>
          <p:cNvPr id="7182" name="Text Box 14"/>
          <p:cNvSpPr txBox="1"/>
          <p:nvPr/>
        </p:nvSpPr>
        <p:spPr>
          <a:xfrm>
            <a:off x="6630988" y="17160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rPr>
              <a:t>产量</a:t>
            </a:r>
          </a:p>
        </p:txBody>
      </p:sp>
      <p:sp>
        <p:nvSpPr>
          <p:cNvPr id="7183" name="Text Box 17"/>
          <p:cNvSpPr txBox="1"/>
          <p:nvPr/>
        </p:nvSpPr>
        <p:spPr>
          <a:xfrm>
            <a:off x="6731000" y="506888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i="1" dirty="0">
                <a:latin typeface="Times New Roman" panose="02020603050405020304" pitchFamily="18" charset="0"/>
              </a:rPr>
              <a:t>m</a:t>
            </a:r>
            <a:endParaRPr lang="en-US" altLang="zh-CN" sz="3600" i="1" dirty="0">
              <a:latin typeface="Times New Roman" panose="02020603050405020304" pitchFamily="18" charset="0"/>
            </a:endParaRPr>
          </a:p>
        </p:txBody>
      </p:sp>
      <p:sp>
        <p:nvSpPr>
          <p:cNvPr id="7184" name="Text Box 18"/>
          <p:cNvSpPr txBox="1"/>
          <p:nvPr/>
        </p:nvSpPr>
        <p:spPr>
          <a:xfrm>
            <a:off x="6837363" y="4032250"/>
            <a:ext cx="671512"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rPr>
              <a:t>     </a:t>
            </a:r>
            <a:r>
              <a:rPr lang="en-US" altLang="zh-CN" sz="3200" dirty="0">
                <a:latin typeface="Times New Roman" panose="02020603050405020304" pitchFamily="18" charset="0"/>
              </a:rPr>
              <a:t>…</a:t>
            </a:r>
            <a:r>
              <a:rPr lang="en-US" altLang="zh-CN" sz="1800" dirty="0">
                <a:latin typeface="Times New Roman" panose="02020603050405020304" pitchFamily="18" charset="0"/>
              </a:rPr>
              <a:t>                            </a:t>
            </a:r>
          </a:p>
        </p:txBody>
      </p:sp>
      <p:sp>
        <p:nvSpPr>
          <p:cNvPr id="7185" name="Text Box 21"/>
          <p:cNvSpPr txBox="1"/>
          <p:nvPr/>
        </p:nvSpPr>
        <p:spPr>
          <a:xfrm>
            <a:off x="2154238" y="5145088"/>
            <a:ext cx="4419600" cy="579437"/>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x</a:t>
            </a:r>
            <a:r>
              <a:rPr lang="en-US" altLang="zh-CN" sz="1200" i="1" dirty="0">
                <a:latin typeface="Times New Roman" panose="02020603050405020304" pitchFamily="18" charset="0"/>
              </a:rPr>
              <a:t>m</a:t>
            </a:r>
            <a:r>
              <a:rPr lang="en-US" altLang="zh-CN" sz="1200" dirty="0">
                <a:latin typeface="Times New Roman" panose="02020603050405020304" pitchFamily="18" charset="0"/>
              </a:rPr>
              <a:t>1</a:t>
            </a:r>
            <a:r>
              <a:rPr lang="en-US" altLang="zh-CN" sz="3200" dirty="0">
                <a:latin typeface="Times New Roman" panose="02020603050405020304" pitchFamily="18" charset="0"/>
              </a:rPr>
              <a:t>         </a:t>
            </a:r>
            <a:r>
              <a:rPr lang="en-US" altLang="zh-CN" sz="3200" i="1" dirty="0">
                <a:latin typeface="Times New Roman" panose="02020603050405020304" pitchFamily="18" charset="0"/>
              </a:rPr>
              <a:t>x</a:t>
            </a:r>
            <a:r>
              <a:rPr lang="en-US" altLang="zh-CN" sz="1200" i="1" dirty="0">
                <a:latin typeface="Times New Roman" panose="02020603050405020304" pitchFamily="18" charset="0"/>
              </a:rPr>
              <a:t>m</a:t>
            </a:r>
            <a:r>
              <a:rPr lang="en-US" altLang="zh-CN" sz="1200" dirty="0">
                <a:latin typeface="Times New Roman" panose="02020603050405020304" pitchFamily="18" charset="0"/>
              </a:rPr>
              <a:t>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x</a:t>
            </a:r>
            <a:r>
              <a:rPr lang="en-US" altLang="zh-CN" sz="1200" i="1" dirty="0">
                <a:latin typeface="Times New Roman" panose="02020603050405020304" pitchFamily="18" charset="0"/>
              </a:rPr>
              <a:t>mn</a:t>
            </a:r>
          </a:p>
        </p:txBody>
      </p:sp>
      <p:sp>
        <p:nvSpPr>
          <p:cNvPr id="7186" name="Text Box 23"/>
          <p:cNvSpPr txBox="1"/>
          <p:nvPr/>
        </p:nvSpPr>
        <p:spPr>
          <a:xfrm>
            <a:off x="3430588" y="4078288"/>
            <a:ext cx="671512"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rPr>
              <a:t>     </a:t>
            </a:r>
            <a:r>
              <a:rPr lang="en-US" altLang="zh-CN" sz="3200" dirty="0">
                <a:latin typeface="Times New Roman" panose="02020603050405020304" pitchFamily="18" charset="0"/>
              </a:rPr>
              <a:t>…</a:t>
            </a:r>
            <a:r>
              <a:rPr lang="en-US" altLang="zh-CN" sz="1800" dirty="0">
                <a:latin typeface="Times New Roman" panose="02020603050405020304" pitchFamily="18" charset="0"/>
              </a:rPr>
              <a:t>                            </a:t>
            </a:r>
          </a:p>
        </p:txBody>
      </p:sp>
      <p:sp>
        <p:nvSpPr>
          <p:cNvPr id="7187" name="Text Box 17"/>
          <p:cNvSpPr txBox="1"/>
          <p:nvPr/>
        </p:nvSpPr>
        <p:spPr>
          <a:xfrm>
            <a:off x="6731000" y="3451225"/>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dirty="0">
                <a:latin typeface="Times New Roman" panose="02020603050405020304" pitchFamily="18" charset="0"/>
              </a:rPr>
              <a:t>2</a:t>
            </a:r>
            <a:endParaRPr lang="en-US" altLang="zh-CN" sz="3600" dirty="0">
              <a:latin typeface="Times New Roman" panose="02020603050405020304" pitchFamily="18" charset="0"/>
            </a:endParaRPr>
          </a:p>
        </p:txBody>
      </p:sp>
      <p:sp>
        <p:nvSpPr>
          <p:cNvPr id="7188" name="Text Box 17"/>
          <p:cNvSpPr txBox="1"/>
          <p:nvPr/>
        </p:nvSpPr>
        <p:spPr>
          <a:xfrm>
            <a:off x="6731000" y="2587625"/>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rPr>
              <a:t>a</a:t>
            </a:r>
            <a:r>
              <a:rPr lang="en-US" altLang="zh-CN" sz="1200" dirty="0">
                <a:latin typeface="Times New Roman" panose="02020603050405020304" pitchFamily="18" charset="0"/>
              </a:rPr>
              <a:t>1</a:t>
            </a:r>
            <a:endParaRPr lang="en-US" altLang="zh-CN" sz="3600" dirty="0">
              <a:latin typeface="Times New Roman" panose="02020603050405020304" pitchFamily="18" charset="0"/>
            </a:endParaRPr>
          </a:p>
        </p:txBody>
      </p:sp>
      <p:sp>
        <p:nvSpPr>
          <p:cNvPr id="7189" name="Text Box 21"/>
          <p:cNvSpPr txBox="1"/>
          <p:nvPr/>
        </p:nvSpPr>
        <p:spPr>
          <a:xfrm>
            <a:off x="2154238" y="3522663"/>
            <a:ext cx="4419600" cy="585787"/>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x</a:t>
            </a:r>
            <a:r>
              <a:rPr lang="en-US" altLang="zh-CN" sz="1200" dirty="0">
                <a:latin typeface="Times New Roman" panose="02020603050405020304" pitchFamily="18" charset="0"/>
              </a:rPr>
              <a:t>21</a:t>
            </a:r>
            <a:r>
              <a:rPr lang="en-US" altLang="zh-CN" sz="3200" dirty="0">
                <a:latin typeface="Times New Roman" panose="02020603050405020304" pitchFamily="18" charset="0"/>
              </a:rPr>
              <a:t>         </a:t>
            </a:r>
            <a:r>
              <a:rPr lang="en-US" altLang="zh-CN" sz="3200" i="1" dirty="0">
                <a:latin typeface="Times New Roman" panose="02020603050405020304" pitchFamily="18" charset="0"/>
              </a:rPr>
              <a:t>x</a:t>
            </a:r>
            <a:r>
              <a:rPr lang="en-US" altLang="zh-CN" sz="1200" dirty="0">
                <a:latin typeface="Times New Roman" panose="02020603050405020304" pitchFamily="18" charset="0"/>
              </a:rPr>
              <a:t>22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x</a:t>
            </a:r>
            <a:r>
              <a:rPr lang="en-US" altLang="zh-CN" sz="1200" dirty="0">
                <a:latin typeface="Times New Roman" panose="02020603050405020304" pitchFamily="18" charset="0"/>
              </a:rPr>
              <a:t>2</a:t>
            </a:r>
            <a:r>
              <a:rPr lang="en-US" altLang="zh-CN" sz="1200" i="1" dirty="0">
                <a:latin typeface="Times New Roman" panose="02020603050405020304" pitchFamily="18" charset="0"/>
              </a:rPr>
              <a:t>n</a:t>
            </a:r>
          </a:p>
        </p:txBody>
      </p:sp>
      <p:sp>
        <p:nvSpPr>
          <p:cNvPr id="7190" name="Text Box 21"/>
          <p:cNvSpPr txBox="1"/>
          <p:nvPr/>
        </p:nvSpPr>
        <p:spPr>
          <a:xfrm>
            <a:off x="2154238" y="2443163"/>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x</a:t>
            </a:r>
            <a:r>
              <a:rPr lang="en-US" altLang="zh-CN" sz="1200" dirty="0">
                <a:latin typeface="Times New Roman" panose="02020603050405020304" pitchFamily="18" charset="0"/>
              </a:rPr>
              <a:t>11</a:t>
            </a:r>
            <a:r>
              <a:rPr lang="en-US" altLang="zh-CN" sz="3200" dirty="0">
                <a:latin typeface="Times New Roman" panose="02020603050405020304" pitchFamily="18" charset="0"/>
              </a:rPr>
              <a:t>         </a:t>
            </a:r>
            <a:r>
              <a:rPr lang="en-US" altLang="zh-CN" sz="3200" i="1" dirty="0">
                <a:latin typeface="Times New Roman" panose="02020603050405020304" pitchFamily="18" charset="0"/>
              </a:rPr>
              <a:t>x</a:t>
            </a:r>
            <a:r>
              <a:rPr lang="en-US" altLang="zh-CN" sz="1200" dirty="0">
                <a:latin typeface="Times New Roman" panose="02020603050405020304" pitchFamily="18" charset="0"/>
              </a:rPr>
              <a:t>12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x</a:t>
            </a:r>
            <a:r>
              <a:rPr lang="en-US" altLang="zh-CN" sz="1200" dirty="0">
                <a:latin typeface="Times New Roman" panose="02020603050405020304" pitchFamily="18" charset="0"/>
              </a:rPr>
              <a:t>1</a:t>
            </a:r>
            <a:r>
              <a:rPr lang="en-US" altLang="zh-CN" sz="1200" i="1" dirty="0">
                <a:latin typeface="Times New Roman" panose="02020603050405020304" pitchFamily="18" charset="0"/>
              </a:rPr>
              <a:t>n</a:t>
            </a:r>
          </a:p>
        </p:txBody>
      </p:sp>
      <p:sp>
        <p:nvSpPr>
          <p:cNvPr id="7191" name="Text Box 21"/>
          <p:cNvSpPr txBox="1"/>
          <p:nvPr/>
        </p:nvSpPr>
        <p:spPr>
          <a:xfrm>
            <a:off x="2181225" y="5895975"/>
            <a:ext cx="4419600" cy="58578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rPr>
              <a:t>b</a:t>
            </a:r>
            <a:r>
              <a:rPr lang="en-US" altLang="zh-CN" sz="1200" dirty="0">
                <a:latin typeface="Times New Roman" panose="02020603050405020304" pitchFamily="18" charset="0"/>
              </a:rPr>
              <a:t>1</a:t>
            </a:r>
            <a:r>
              <a:rPr lang="en-US" altLang="zh-CN" sz="3200" dirty="0">
                <a:latin typeface="Times New Roman" panose="02020603050405020304" pitchFamily="18" charset="0"/>
              </a:rPr>
              <a:t>         </a:t>
            </a:r>
            <a:r>
              <a:rPr lang="en-US" altLang="zh-CN" sz="3200" i="1" dirty="0">
                <a:latin typeface="Times New Roman" panose="02020603050405020304" pitchFamily="18" charset="0"/>
              </a:rPr>
              <a:t>b</a:t>
            </a:r>
            <a:r>
              <a:rPr lang="en-US" altLang="zh-CN" sz="1200" dirty="0">
                <a:latin typeface="Times New Roman" panose="02020603050405020304" pitchFamily="18" charset="0"/>
              </a:rPr>
              <a:t>2</a:t>
            </a:r>
            <a:r>
              <a:rPr lang="en-US" altLang="zh-CN" sz="3200" dirty="0">
                <a:latin typeface="Times New Roman" panose="02020603050405020304" pitchFamily="18" charset="0"/>
              </a:rPr>
              <a:t>       …          </a:t>
            </a:r>
            <a:r>
              <a:rPr lang="en-US" altLang="zh-CN" sz="3200" i="1" dirty="0">
                <a:latin typeface="Times New Roman" panose="02020603050405020304" pitchFamily="18" charset="0"/>
              </a:rPr>
              <a:t>b</a:t>
            </a:r>
            <a:r>
              <a:rPr lang="en-US" altLang="zh-CN" sz="1200" i="1" dirty="0">
                <a:latin typeface="Times New Roman" panose="02020603050405020304" pitchFamily="18" charset="0"/>
              </a:rPr>
              <a:t>n</a:t>
            </a:r>
          </a:p>
        </p:txBody>
      </p:sp>
      <p:sp>
        <p:nvSpPr>
          <p:cNvPr id="7192" name="Text Box 10"/>
          <p:cNvSpPr txBox="1"/>
          <p:nvPr/>
        </p:nvSpPr>
        <p:spPr>
          <a:xfrm>
            <a:off x="2139950" y="1628775"/>
            <a:ext cx="6248400" cy="579438"/>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1           2         …        </a:t>
            </a:r>
            <a:r>
              <a:rPr lang="en-US" altLang="zh-CN" sz="3200" i="1" dirty="0">
                <a:latin typeface="Times New Roman" panose="02020603050405020304" pitchFamily="18" charset="0"/>
              </a:rPr>
              <a:t>n</a:t>
            </a:r>
          </a:p>
        </p:txBody>
      </p:sp>
      <p:sp>
        <p:nvSpPr>
          <p:cNvPr id="2" name="文本框 1"/>
          <p:cNvSpPr txBox="1"/>
          <p:nvPr/>
        </p:nvSpPr>
        <p:spPr>
          <a:xfrm>
            <a:off x="4571365" y="3300095"/>
            <a:ext cx="309880" cy="460375"/>
          </a:xfrm>
          <a:prstGeom prst="rect">
            <a:avLst/>
          </a:prstGeom>
          <a:noFill/>
        </p:spPr>
        <p:txBody>
          <a:bodyPr wrap="none" rtlCol="0">
            <a:spAutoFit/>
          </a:bodyPr>
          <a:lstStyle/>
          <a:p>
            <a:endParaRPr lang="zh-CN" altLang="en-US"/>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2636838"/>
            <a:ext cx="9144000" cy="792162"/>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在</a:t>
            </a:r>
            <a:r>
              <a:rPr lang="zh-CN" altLang="en-US" b="1" dirty="0">
                <a:solidFill>
                  <a:schemeClr val="hlink"/>
                </a:solidFill>
                <a:latin typeface="Times New Roman" panose="02020603050405020304" pitchFamily="18" charset="0"/>
                <a:ea typeface="微软雅黑" pitchFamily="34" charset="-122"/>
              </a:rPr>
              <a:t>产销平衡</a:t>
            </a:r>
            <a:r>
              <a:rPr lang="zh-CN" altLang="en-US" b="1" dirty="0">
                <a:latin typeface="Times New Roman" panose="02020603050405020304" pitchFamily="18" charset="0"/>
                <a:ea typeface="微软雅黑" pitchFamily="34" charset="-122"/>
              </a:rPr>
              <a:t>的条件下，求总运费最小的调运方案，可求解以下数学模型</a:t>
            </a:r>
            <a:endParaRPr lang="zh-CN" altLang="en-US" b="1" dirty="0">
              <a:solidFill>
                <a:schemeClr val="tx2"/>
              </a:solidFill>
              <a:latin typeface="Times New Roman" panose="02020603050405020304" pitchFamily="18" charset="0"/>
              <a:ea typeface="微软雅黑" pitchFamily="34" charset="-122"/>
            </a:endParaRPr>
          </a:p>
        </p:txBody>
      </p:sp>
      <p:graphicFrame>
        <p:nvGraphicFramePr>
          <p:cNvPr id="3" name="Object 2"/>
          <p:cNvGraphicFramePr>
            <a:graphicFrameLocks noChangeAspect="1"/>
          </p:cNvGraphicFramePr>
          <p:nvPr/>
        </p:nvGraphicFramePr>
        <p:xfrm>
          <a:off x="120650" y="3429000"/>
          <a:ext cx="6523038" cy="3363913"/>
        </p:xfrm>
        <a:graphic>
          <a:graphicData uri="http://schemas.openxmlformats.org/presentationml/2006/ole">
            <mc:AlternateContent xmlns:mc="http://schemas.openxmlformats.org/markup-compatibility/2006">
              <mc:Choice xmlns:v="urn:schemas-microsoft-com:vml" Requires="v">
                <p:oleObj spid="_x0000_s3104" r:id="rId3" imgW="2628900" imgH="1803400" progId="Equation.DSMT4">
                  <p:embed/>
                </p:oleObj>
              </mc:Choice>
              <mc:Fallback>
                <p:oleObj r:id="rId3" imgW="2628900" imgH="1803400" progId="Equation.DSMT4">
                  <p:embed/>
                  <p:pic>
                    <p:nvPicPr>
                      <p:cNvPr id="0" name="图片 3075"/>
                      <p:cNvPicPr/>
                      <p:nvPr/>
                    </p:nvPicPr>
                    <p:blipFill>
                      <a:blip r:embed="rId4"/>
                      <a:stretch>
                        <a:fillRect/>
                      </a:stretch>
                    </p:blipFill>
                    <p:spPr>
                      <a:xfrm>
                        <a:off x="120650" y="3429000"/>
                        <a:ext cx="6523038" cy="3363913"/>
                      </a:xfrm>
                      <a:prstGeom prst="rect">
                        <a:avLst/>
                      </a:prstGeom>
                      <a:solidFill>
                        <a:srgbClr val="F1FEA4"/>
                      </a:solidFill>
                      <a:ln w="38100">
                        <a:noFill/>
                        <a:miter/>
                      </a:ln>
                    </p:spPr>
                  </p:pic>
                </p:oleObj>
              </mc:Fallback>
            </mc:AlternateContent>
          </a:graphicData>
        </a:graphic>
      </p:graphicFrame>
      <p:graphicFrame>
        <p:nvGraphicFramePr>
          <p:cNvPr id="322568" name="Object 8"/>
          <p:cNvGraphicFramePr>
            <a:graphicFrameLocks noChangeAspect="1"/>
          </p:cNvGraphicFramePr>
          <p:nvPr/>
        </p:nvGraphicFramePr>
        <p:xfrm>
          <a:off x="6932613" y="3068638"/>
          <a:ext cx="2193925" cy="1179512"/>
        </p:xfrm>
        <a:graphic>
          <a:graphicData uri="http://schemas.openxmlformats.org/presentationml/2006/ole">
            <mc:AlternateContent xmlns:mc="http://schemas.openxmlformats.org/markup-compatibility/2006">
              <mc:Choice xmlns:v="urn:schemas-microsoft-com:vml" Requires="v">
                <p:oleObj spid="_x0000_s3105" r:id="rId5" imgW="850900" imgH="457200" progId="Equation.DSMT4">
                  <p:embed/>
                </p:oleObj>
              </mc:Choice>
              <mc:Fallback>
                <p:oleObj r:id="rId5" imgW="850900" imgH="457200" progId="Equation.DSMT4">
                  <p:embed/>
                  <p:pic>
                    <p:nvPicPr>
                      <p:cNvPr id="0" name="图片 3076"/>
                      <p:cNvPicPr/>
                      <p:nvPr/>
                    </p:nvPicPr>
                    <p:blipFill>
                      <a:blip r:embed="rId6"/>
                      <a:stretch>
                        <a:fillRect/>
                      </a:stretch>
                    </p:blipFill>
                    <p:spPr>
                      <a:xfrm>
                        <a:off x="6932613" y="3068638"/>
                        <a:ext cx="2193925" cy="1179512"/>
                      </a:xfrm>
                      <a:prstGeom prst="rect">
                        <a:avLst/>
                      </a:prstGeom>
                      <a:solidFill>
                        <a:srgbClr val="FFCCFF"/>
                      </a:solidFill>
                      <a:ln w="38100">
                        <a:noFill/>
                        <a:miter/>
                      </a:ln>
                    </p:spPr>
                  </p:pic>
                </p:oleObj>
              </mc:Fallback>
            </mc:AlternateContent>
          </a:graphicData>
        </a:graphic>
      </p:graphicFrame>
      <p:sp>
        <p:nvSpPr>
          <p:cNvPr id="322569" name="Line 9"/>
          <p:cNvSpPr/>
          <p:nvPr/>
        </p:nvSpPr>
        <p:spPr>
          <a:xfrm>
            <a:off x="1403350" y="3068638"/>
            <a:ext cx="5545138" cy="576262"/>
          </a:xfrm>
          <a:prstGeom prst="line">
            <a:avLst/>
          </a:prstGeom>
          <a:ln w="76200" cap="flat" cmpd="sng">
            <a:solidFill>
              <a:schemeClr val="hlink"/>
            </a:solidFill>
            <a:prstDash val="solid"/>
            <a:headEnd type="none" w="med" len="med"/>
            <a:tailEnd type="triangle" w="med" len="med"/>
          </a:ln>
        </p:spPr>
      </p:sp>
      <p:sp>
        <p:nvSpPr>
          <p:cNvPr id="10" name="TextBox 9"/>
          <p:cNvSpPr txBox="1"/>
          <p:nvPr/>
        </p:nvSpPr>
        <p:spPr>
          <a:xfrm>
            <a:off x="6659563" y="4508500"/>
            <a:ext cx="1152525" cy="523875"/>
          </a:xfrm>
          <a:prstGeom prst="rect">
            <a:avLst/>
          </a:prstGeom>
          <a:noFill/>
          <a:ln w="9525">
            <a:noFill/>
          </a:ln>
        </p:spPr>
        <p:txBody>
          <a:bodyPr>
            <a:spAutoFit/>
          </a:bodyPr>
          <a:lstStyle/>
          <a:p>
            <a:pPr eaLnBrk="1" hangingPunct="1"/>
            <a:r>
              <a:rPr lang="zh-CN" altLang="en-US" sz="2800" b="1" dirty="0">
                <a:solidFill>
                  <a:srgbClr val="00B050"/>
                </a:solidFill>
                <a:latin typeface="微软雅黑" pitchFamily="34" charset="-122"/>
                <a:ea typeface="微软雅黑" pitchFamily="34" charset="-122"/>
              </a:rPr>
              <a:t>列和</a:t>
            </a:r>
          </a:p>
        </p:txBody>
      </p:sp>
      <p:sp>
        <p:nvSpPr>
          <p:cNvPr id="11" name="TextBox 10"/>
          <p:cNvSpPr txBox="1"/>
          <p:nvPr/>
        </p:nvSpPr>
        <p:spPr>
          <a:xfrm>
            <a:off x="6659563" y="5300663"/>
            <a:ext cx="1152525" cy="523875"/>
          </a:xfrm>
          <a:prstGeom prst="rect">
            <a:avLst/>
          </a:prstGeom>
          <a:noFill/>
          <a:ln w="9525">
            <a:noFill/>
          </a:ln>
        </p:spPr>
        <p:txBody>
          <a:bodyPr>
            <a:spAutoFit/>
          </a:bodyPr>
          <a:lstStyle/>
          <a:p>
            <a:pPr eaLnBrk="1" hangingPunct="1"/>
            <a:r>
              <a:rPr lang="zh-CN" altLang="en-US" sz="2800" b="1" dirty="0">
                <a:solidFill>
                  <a:srgbClr val="00B050"/>
                </a:solidFill>
                <a:latin typeface="微软雅黑" pitchFamily="34" charset="-122"/>
                <a:ea typeface="微软雅黑" pitchFamily="34" charset="-122"/>
              </a:rPr>
              <a:t>行和</a:t>
            </a:r>
          </a:p>
        </p:txBody>
      </p:sp>
      <p:pic>
        <p:nvPicPr>
          <p:cNvPr id="8200" name="Picture 10"/>
          <p:cNvPicPr>
            <a:picLocks noChangeAspect="1"/>
          </p:cNvPicPr>
          <p:nvPr/>
        </p:nvPicPr>
        <p:blipFill>
          <a:blip r:embed="rId7"/>
          <a:stretch>
            <a:fillRect/>
          </a:stretch>
        </p:blipFill>
        <p:spPr>
          <a:xfrm>
            <a:off x="468313" y="0"/>
            <a:ext cx="3598862" cy="2590800"/>
          </a:xfrm>
          <a:prstGeom prst="rect">
            <a:avLst/>
          </a:prstGeom>
          <a:noFill/>
          <a:ln w="9525">
            <a:noFill/>
          </a:ln>
        </p:spPr>
      </p:pic>
      <p:pic>
        <p:nvPicPr>
          <p:cNvPr id="8201" name="Picture 11"/>
          <p:cNvPicPr>
            <a:picLocks noChangeAspect="1"/>
          </p:cNvPicPr>
          <p:nvPr/>
        </p:nvPicPr>
        <p:blipFill>
          <a:blip r:embed="rId8"/>
          <a:stretch>
            <a:fillRect/>
          </a:stretch>
        </p:blipFill>
        <p:spPr>
          <a:xfrm>
            <a:off x="5219700" y="0"/>
            <a:ext cx="3592513" cy="2576513"/>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22569"/>
                                        </p:tgtEl>
                                        <p:attrNameLst>
                                          <p:attrName>style.visibility</p:attrName>
                                        </p:attrNameLst>
                                      </p:cBhvr>
                                      <p:to>
                                        <p:strVal val="visible"/>
                                      </p:to>
                                    </p:set>
                                    <p:animEffect transition="in" filter="blinds(horizontal)">
                                      <p:cBhvr>
                                        <p:cTn id="29" dur="500"/>
                                        <p:tgtEl>
                                          <p:spTgt spid="322569"/>
                                        </p:tgtEl>
                                      </p:cBhvr>
                                    </p:animEffect>
                                  </p:childTnLst>
                                </p:cTn>
                              </p:par>
                              <p:par>
                                <p:cTn id="30" presetID="3" presetClass="entr" presetSubtype="10" fill="hold" nodeType="withEffect">
                                  <p:stCondLst>
                                    <p:cond delay="0"/>
                                  </p:stCondLst>
                                  <p:childTnLst>
                                    <p:set>
                                      <p:cBhvr>
                                        <p:cTn id="31" dur="1" fill="hold">
                                          <p:stCondLst>
                                            <p:cond delay="0"/>
                                          </p:stCondLst>
                                        </p:cTn>
                                        <p:tgtEl>
                                          <p:spTgt spid="322568"/>
                                        </p:tgtEl>
                                        <p:attrNameLst>
                                          <p:attrName>style.visibility</p:attrName>
                                        </p:attrNameLst>
                                      </p:cBhvr>
                                      <p:to>
                                        <p:strVal val="visible"/>
                                      </p:to>
                                    </p:set>
                                    <p:animEffect transition="in" filter="blinds(horizontal)">
                                      <p:cBhvr>
                                        <p:cTn id="32" dur="500"/>
                                        <p:tgtEl>
                                          <p:spTgt spid="322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txBox="1"/>
          <p:nvPr/>
        </p:nvSpPr>
        <p:spPr>
          <a:xfrm>
            <a:off x="0" y="0"/>
            <a:ext cx="9144000" cy="836613"/>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这就是运输问题的数学模型。它包含</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个变量，</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m+n</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个约束方程。其系数矩阵的结构比较松散，且特殊</a:t>
            </a:r>
            <a:r>
              <a:rPr lang="zh-CN" altLang="en-US" sz="3000" dirty="0">
                <a:latin typeface="Century Schoolbook" pitchFamily="18" charset="0"/>
                <a:ea typeface="华文楷体" panose="02010600040101010101" pitchFamily="2" charset="-122"/>
              </a:rPr>
              <a:t> </a:t>
            </a:r>
          </a:p>
        </p:txBody>
      </p:sp>
      <p:graphicFrame>
        <p:nvGraphicFramePr>
          <p:cNvPr id="3" name="Object 2"/>
          <p:cNvGraphicFramePr>
            <a:graphicFrameLocks noChangeAspect="1"/>
          </p:cNvGraphicFramePr>
          <p:nvPr/>
        </p:nvGraphicFramePr>
        <p:xfrm>
          <a:off x="133350" y="836613"/>
          <a:ext cx="8877300" cy="4371975"/>
        </p:xfrm>
        <a:graphic>
          <a:graphicData uri="http://schemas.openxmlformats.org/presentationml/2006/ole">
            <mc:AlternateContent xmlns:mc="http://schemas.openxmlformats.org/markup-compatibility/2006">
              <mc:Choice xmlns:v="urn:schemas-microsoft-com:vml" Requires="v">
                <p:oleObj spid="_x0000_s4110" r:id="rId3" imgW="3784600" imgH="2311400" progId="Equation.DSMT4">
                  <p:embed/>
                </p:oleObj>
              </mc:Choice>
              <mc:Fallback>
                <p:oleObj r:id="rId3" imgW="3784600" imgH="2311400" progId="Equation.DSMT4">
                  <p:embed/>
                  <p:pic>
                    <p:nvPicPr>
                      <p:cNvPr id="0" name="图片 3077"/>
                      <p:cNvPicPr/>
                      <p:nvPr/>
                    </p:nvPicPr>
                    <p:blipFill>
                      <a:blip r:embed="rId4"/>
                      <a:stretch>
                        <a:fillRect/>
                      </a:stretch>
                    </p:blipFill>
                    <p:spPr>
                      <a:xfrm>
                        <a:off x="133350" y="836613"/>
                        <a:ext cx="8877300" cy="4371975"/>
                      </a:xfrm>
                      <a:prstGeom prst="rect">
                        <a:avLst/>
                      </a:prstGeom>
                      <a:solidFill>
                        <a:srgbClr val="FFFF99"/>
                      </a:solidFill>
                      <a:ln w="38100">
                        <a:noFill/>
                        <a:miter/>
                      </a:ln>
                    </p:spPr>
                  </p:pic>
                </p:oleObj>
              </mc:Fallback>
            </mc:AlternateContent>
          </a:graphicData>
        </a:graphic>
      </p:graphicFrame>
      <p:sp>
        <p:nvSpPr>
          <p:cNvPr id="4" name="Rectangle 3"/>
          <p:cNvSpPr txBox="1"/>
          <p:nvPr/>
        </p:nvSpPr>
        <p:spPr>
          <a:xfrm>
            <a:off x="0" y="5394325"/>
            <a:ext cx="9144000" cy="1463675"/>
          </a:xfrm>
          <a:prstGeom prst="rect">
            <a:avLst/>
          </a:prstGeom>
          <a:solidFill>
            <a:srgbClr val="FFCCFF"/>
          </a:solidFill>
          <a:ln w="9525">
            <a:noFill/>
          </a:ln>
        </p:spPr>
        <p:txBody>
          <a:bodyPr/>
          <a:lstStyle/>
          <a:p>
            <a:pPr marL="273050" indent="-273050">
              <a:lnSpc>
                <a:spcPct val="120000"/>
              </a:lnSpc>
              <a:spcBef>
                <a:spcPts val="600"/>
              </a:spcBef>
              <a:buClr>
                <a:schemeClr val="accent1"/>
              </a:buClr>
              <a:buSzPct val="70000"/>
            </a:pPr>
            <a:r>
              <a:rPr lang="zh-CN" altLang="en-US" b="1" dirty="0">
                <a:latin typeface="Times New Roman" panose="02020603050405020304" pitchFamily="18" charset="0"/>
                <a:ea typeface="微软雅黑" pitchFamily="34" charset="-122"/>
              </a:rPr>
              <a:t>该系数矩阵中对应于变量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ij</a:t>
            </a:r>
            <a:r>
              <a:rPr lang="zh-CN" altLang="en-US" b="1" dirty="0">
                <a:latin typeface="Times New Roman" panose="02020603050405020304" pitchFamily="18" charset="0"/>
                <a:ea typeface="微软雅黑" pitchFamily="34" charset="-122"/>
              </a:rPr>
              <a:t>的系数向量</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zh-CN" altLang="en-US" b="1" dirty="0">
                <a:latin typeface="等线" pitchFamily="2" charset="-122"/>
                <a:ea typeface="等线" pitchFamily="2" charset="-122"/>
              </a:rPr>
              <a:t>，</a:t>
            </a:r>
            <a:r>
              <a:rPr lang="zh-CN" altLang="en-US" b="1" dirty="0">
                <a:latin typeface="Times New Roman" panose="02020603050405020304" pitchFamily="18" charset="0"/>
                <a:ea typeface="微软雅黑" pitchFamily="34" charset="-122"/>
              </a:rPr>
              <a:t>其分量中除</a:t>
            </a:r>
            <a:r>
              <a:rPr lang="zh-CN" altLang="en-US" b="1" dirty="0">
                <a:solidFill>
                  <a:srgbClr val="FF0000"/>
                </a:solidFill>
                <a:latin typeface="Times New Roman" panose="02020603050405020304" pitchFamily="18" charset="0"/>
                <a:ea typeface="微软雅黑" pitchFamily="34" charset="-122"/>
              </a:rPr>
              <a:t>第</a:t>
            </a:r>
            <a:r>
              <a:rPr lang="en-US" altLang="zh-CN" b="1" i="1" dirty="0">
                <a:solidFill>
                  <a:srgbClr val="FF0000"/>
                </a:solidFill>
                <a:latin typeface="Times New Roman" panose="02020603050405020304" pitchFamily="18" charset="0"/>
                <a:ea typeface="微软雅黑" pitchFamily="34" charset="-122"/>
              </a:rPr>
              <a:t>i</a:t>
            </a:r>
            <a:r>
              <a:rPr lang="zh-CN" altLang="en-US" b="1" dirty="0">
                <a:solidFill>
                  <a:srgbClr val="FF0000"/>
                </a:solidFill>
                <a:latin typeface="Times New Roman" panose="02020603050405020304" pitchFamily="18" charset="0"/>
                <a:ea typeface="微软雅黑" pitchFamily="34" charset="-122"/>
              </a:rPr>
              <a:t>行</a:t>
            </a:r>
            <a:r>
              <a:rPr lang="zh-CN" altLang="en-US" b="1" dirty="0">
                <a:latin typeface="Times New Roman" panose="02020603050405020304" pitchFamily="18" charset="0"/>
                <a:ea typeface="微软雅黑" pitchFamily="34" charset="-122"/>
              </a:rPr>
              <a:t>和第</a:t>
            </a:r>
            <a:r>
              <a:rPr lang="en-US" altLang="zh-CN" b="1" i="1" dirty="0">
                <a:solidFill>
                  <a:srgbClr val="FF0000"/>
                </a:solidFill>
                <a:latin typeface="Times New Roman" panose="02020603050405020304" pitchFamily="18" charset="0"/>
                <a:ea typeface="微软雅黑" pitchFamily="34" charset="-122"/>
              </a:rPr>
              <a:t>m</a:t>
            </a:r>
            <a:r>
              <a:rPr lang="en-US" altLang="zh-CN" b="1" dirty="0">
                <a:solidFill>
                  <a:srgbClr val="FF0000"/>
                </a:solidFill>
                <a:latin typeface="Times New Roman" panose="02020603050405020304" pitchFamily="18" charset="0"/>
                <a:ea typeface="微软雅黑" pitchFamily="34" charset="-122"/>
              </a:rPr>
              <a:t>+</a:t>
            </a:r>
            <a:r>
              <a:rPr lang="en-US" altLang="zh-CN" b="1" i="1" dirty="0">
                <a:solidFill>
                  <a:srgbClr val="FF0000"/>
                </a:solidFill>
                <a:latin typeface="Times New Roman" panose="02020603050405020304" pitchFamily="18" charset="0"/>
                <a:ea typeface="微软雅黑" pitchFamily="34" charset="-122"/>
              </a:rPr>
              <a:t>j</a:t>
            </a:r>
            <a:r>
              <a:rPr lang="zh-CN" altLang="en-US" b="1" dirty="0">
                <a:solidFill>
                  <a:srgbClr val="FF0000"/>
                </a:solidFill>
                <a:latin typeface="Times New Roman" panose="02020603050405020304" pitchFamily="18" charset="0"/>
                <a:ea typeface="微软雅黑" pitchFamily="34" charset="-122"/>
              </a:rPr>
              <a:t>行</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以外，其余的都为零。即</a:t>
            </a:r>
          </a:p>
        </p:txBody>
      </p:sp>
      <p:sp>
        <p:nvSpPr>
          <p:cNvPr id="323589" name="Text Box 5"/>
          <p:cNvSpPr txBox="1"/>
          <p:nvPr/>
        </p:nvSpPr>
        <p:spPr>
          <a:xfrm>
            <a:off x="0" y="5059363"/>
            <a:ext cx="9144000" cy="457200"/>
          </a:xfrm>
          <a:prstGeom prst="rect">
            <a:avLst/>
          </a:prstGeom>
          <a:solidFill>
            <a:srgbClr val="99FF99"/>
          </a:solidFill>
          <a:ln w="9525">
            <a:noFill/>
          </a:ln>
        </p:spPr>
        <p:txBody>
          <a:bodyPr>
            <a:spAutoFit/>
          </a:bodyPr>
          <a:lstStyle/>
          <a:p>
            <a:pPr algn="ctr" eaLnBrk="1" hangingPunct="1">
              <a:spcBef>
                <a:spcPct val="50000"/>
              </a:spcBef>
            </a:pPr>
            <a:r>
              <a:rPr lang="en-US" altLang="zh-CN" b="1" i="1" dirty="0">
                <a:solidFill>
                  <a:schemeClr val="hlink"/>
                </a:solidFill>
                <a:latin typeface="Times New Roman" panose="02020603050405020304" pitchFamily="18" charset="0"/>
              </a:rPr>
              <a:t>AX</a:t>
            </a:r>
            <a:r>
              <a:rPr lang="en-US" altLang="zh-CN" b="1" i="1" baseline="30000" dirty="0">
                <a:solidFill>
                  <a:schemeClr val="hlink"/>
                </a:solidFill>
                <a:latin typeface="Times New Roman" panose="02020603050405020304" pitchFamily="18" charset="0"/>
              </a:rPr>
              <a:t>T</a:t>
            </a:r>
            <a:r>
              <a:rPr lang="en-US" altLang="zh-CN" b="1" i="1" dirty="0">
                <a:solidFill>
                  <a:schemeClr val="hlink"/>
                </a:solidFill>
                <a:latin typeface="Times New Roman" panose="02020603050405020304" pitchFamily="18" charset="0"/>
              </a:rPr>
              <a:t>=</a:t>
            </a:r>
            <a:r>
              <a:rPr lang="en-US" altLang="zh-CN" b="1" dirty="0">
                <a:solidFill>
                  <a:schemeClr val="hlink"/>
                </a:solidFill>
                <a:latin typeface="Times New Roman" panose="02020603050405020304" pitchFamily="18" charset="0"/>
              </a:rPr>
              <a:t>(</a:t>
            </a:r>
            <a:r>
              <a:rPr lang="en-US" altLang="zh-CN" b="1" i="1" dirty="0">
                <a:solidFill>
                  <a:schemeClr val="hlink"/>
                </a:solidFill>
                <a:latin typeface="Times New Roman" panose="02020603050405020304" pitchFamily="18" charset="0"/>
              </a:rPr>
              <a:t>a</a:t>
            </a:r>
            <a:r>
              <a:rPr lang="en-US" altLang="zh-CN" b="1" i="1" baseline="30000" dirty="0">
                <a:solidFill>
                  <a:schemeClr val="hlink"/>
                </a:solidFill>
                <a:latin typeface="Times New Roman" panose="02020603050405020304" pitchFamily="18" charset="0"/>
              </a:rPr>
              <a:t>T</a:t>
            </a:r>
            <a:r>
              <a:rPr lang="en-US" altLang="zh-CN" b="1" i="1" dirty="0">
                <a:solidFill>
                  <a:schemeClr val="hlink"/>
                </a:solidFill>
                <a:latin typeface="Times New Roman" panose="02020603050405020304" pitchFamily="18" charset="0"/>
              </a:rPr>
              <a:t>,b</a:t>
            </a:r>
            <a:r>
              <a:rPr lang="en-US" altLang="zh-CN" b="1" i="1" baseline="30000" dirty="0">
                <a:solidFill>
                  <a:schemeClr val="hlink"/>
                </a:solidFill>
                <a:latin typeface="Times New Roman" panose="02020603050405020304" pitchFamily="18" charset="0"/>
              </a:rPr>
              <a:t>T</a:t>
            </a:r>
            <a:r>
              <a:rPr lang="en-US" altLang="zh-CN" b="1" dirty="0">
                <a:solidFill>
                  <a:schemeClr val="hlink"/>
                </a:solidFill>
                <a:latin typeface="Times New Roman" panose="02020603050405020304" pitchFamily="18" charset="0"/>
              </a:rPr>
              <a:t>)</a:t>
            </a:r>
            <a:r>
              <a:rPr lang="en-US" altLang="zh-CN" b="1" i="1" baseline="30000" dirty="0">
                <a:solidFill>
                  <a:schemeClr val="hlink"/>
                </a:solidFill>
                <a:latin typeface="Times New Roman" panose="02020603050405020304" pitchFamily="18" charset="0"/>
              </a:rPr>
              <a:t>T</a:t>
            </a:r>
          </a:p>
        </p:txBody>
      </p:sp>
      <p:sp>
        <p:nvSpPr>
          <p:cNvPr id="8" name="矩形 7"/>
          <p:cNvSpPr/>
          <p:nvPr/>
        </p:nvSpPr>
        <p:spPr>
          <a:xfrm>
            <a:off x="1547813" y="6165850"/>
            <a:ext cx="6408737" cy="1055688"/>
          </a:xfrm>
          <a:prstGeom prst="rect">
            <a:avLst/>
          </a:prstGeom>
          <a:noFill/>
          <a:ln w="9525">
            <a:noFill/>
          </a:ln>
        </p:spPr>
        <p:txBody>
          <a:bodyPr>
            <a:spAutoFit/>
          </a:bodyPr>
          <a:lstStyle/>
          <a:p>
            <a:pPr marL="273050" indent="-273050" algn="ctr">
              <a:lnSpc>
                <a:spcPct val="12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=(0, …, 1, 0, …, 0, 1, 0, …, 0)</a:t>
            </a:r>
            <a:r>
              <a:rPr lang="en-US" altLang="zh-CN" b="1" baseline="30000" dirty="0">
                <a:latin typeface="Times New Roman" panose="02020603050405020304" pitchFamily="18" charset="0"/>
                <a:ea typeface="微软雅黑" pitchFamily="34" charset="-122"/>
              </a:rPr>
              <a:t>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p>
          <a:p>
            <a:pPr marL="273050" indent="-273050" algn="ctr">
              <a:lnSpc>
                <a:spcPct val="120000"/>
              </a:lnSpc>
              <a:spcBef>
                <a:spcPts val="600"/>
              </a:spcBef>
              <a:buClr>
                <a:schemeClr val="accent1"/>
              </a:buClr>
              <a:buSzPct val="70000"/>
            </a:pPr>
            <a:endParaRPr lang="en-US" altLang="zh-CN" b="1" i="1" dirty="0">
              <a:latin typeface="Times New Roman" panose="02020603050405020304" pitchFamily="18" charset="0"/>
              <a:ea typeface="微软雅黑" pitchFamily="34" charset="-122"/>
            </a:endParaRPr>
          </a:p>
        </p:txBody>
      </p:sp>
      <p:pic>
        <p:nvPicPr>
          <p:cNvPr id="9" name="Picture 11"/>
          <p:cNvPicPr>
            <a:picLocks noChangeAspect="1"/>
          </p:cNvPicPr>
          <p:nvPr/>
        </p:nvPicPr>
        <p:blipFill>
          <a:blip r:embed="rId5"/>
          <a:stretch>
            <a:fillRect/>
          </a:stretch>
        </p:blipFill>
        <p:spPr>
          <a:xfrm>
            <a:off x="0" y="4791075"/>
            <a:ext cx="2879725" cy="20669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323589"/>
                                        </p:tgtEl>
                                        <p:attrNameLst>
                                          <p:attrName>style.visibility</p:attrName>
                                        </p:attrNameLst>
                                      </p:cBhvr>
                                      <p:to>
                                        <p:strVal val="visible"/>
                                      </p:to>
                                    </p:set>
                                    <p:animEffect transition="in" filter="blinds(horizontal)">
                                      <p:cBhvr>
                                        <p:cTn id="14" dur="500"/>
                                        <p:tgtEl>
                                          <p:spTgt spid="32358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dissolve">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9"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5538"/>
            <a:ext cx="9144000" cy="1457325"/>
          </a:xfrm>
          <a:prstGeom prst="rect">
            <a:avLst/>
          </a:prstGeom>
          <a:noFill/>
          <a:ln w="9525">
            <a:noFill/>
          </a:ln>
        </p:spPr>
        <p:txBody>
          <a:bodyPr>
            <a:spAutoFit/>
          </a:bodyPr>
          <a:lstStyle/>
          <a:p>
            <a:pPr eaLnBrk="1" hangingPunct="1">
              <a:lnSpc>
                <a:spcPct val="200000"/>
              </a:lnSpc>
            </a:pPr>
            <a:r>
              <a:rPr lang="zh-CN" altLang="en-US" b="1" dirty="0">
                <a:latin typeface="Times New Roman" panose="02020603050405020304" pitchFamily="18" charset="0"/>
                <a:ea typeface="微软雅黑" pitchFamily="34" charset="-122"/>
              </a:rPr>
              <a:t>所以模型最多只有</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 </a:t>
            </a:r>
            <a:r>
              <a:rPr lang="zh-CN" altLang="en-US" b="1" dirty="0">
                <a:latin typeface="Times New Roman" panose="02020603050405020304" pitchFamily="18" charset="0"/>
                <a:ea typeface="微软雅黑" pitchFamily="34" charset="-122"/>
              </a:rPr>
              <a:t>个独立约束方程</a:t>
            </a:r>
            <a:endParaRPr lang="en-US" altLang="zh-CN" b="1" dirty="0">
              <a:latin typeface="Times New Roman" panose="02020603050405020304" pitchFamily="18" charset="0"/>
              <a:ea typeface="微软雅黑" pitchFamily="34" charset="-122"/>
            </a:endParaRPr>
          </a:p>
          <a:p>
            <a:pPr eaLnBrk="1" hangingPunct="1">
              <a:lnSpc>
                <a:spcPct val="200000"/>
              </a:lnSpc>
            </a:pPr>
            <a:r>
              <a:rPr lang="zh-CN" altLang="en-US" b="1" dirty="0">
                <a:latin typeface="Times New Roman" panose="02020603050405020304" pitchFamily="18" charset="0"/>
                <a:ea typeface="微软雅黑" pitchFamily="34" charset="-122"/>
              </a:rPr>
              <a:t>即系数矩阵</a:t>
            </a:r>
            <a:r>
              <a:rPr lang="en-US" altLang="zh-CN" b="1"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的秩≤</a:t>
            </a:r>
            <a:r>
              <a:rPr lang="zh-CN" altLang="en-US" b="1" i="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a:t>
            </a:r>
            <a:endParaRPr lang="zh-CN" altLang="en-US" b="1" dirty="0">
              <a:latin typeface="Times New Roman" panose="02020603050405020304" pitchFamily="18" charset="0"/>
              <a:ea typeface="微软雅黑" pitchFamily="34" charset="-122"/>
            </a:endParaRPr>
          </a:p>
        </p:txBody>
      </p:sp>
      <p:graphicFrame>
        <p:nvGraphicFramePr>
          <p:cNvPr id="10243" name="Object 2"/>
          <p:cNvGraphicFramePr>
            <a:graphicFrameLocks noChangeAspect="1"/>
          </p:cNvGraphicFramePr>
          <p:nvPr/>
        </p:nvGraphicFramePr>
        <p:xfrm>
          <a:off x="887413" y="2640013"/>
          <a:ext cx="7354887" cy="3883025"/>
        </p:xfrm>
        <a:graphic>
          <a:graphicData uri="http://schemas.openxmlformats.org/presentationml/2006/ole">
            <mc:AlternateContent xmlns:mc="http://schemas.openxmlformats.org/markup-compatibility/2006">
              <mc:Choice xmlns:v="urn:schemas-microsoft-com:vml" Requires="v">
                <p:oleObj spid="_x0000_s5147" r:id="rId3" imgW="3530600" imgH="2311400" progId="Equation.DSMT4">
                  <p:embed/>
                </p:oleObj>
              </mc:Choice>
              <mc:Fallback>
                <p:oleObj r:id="rId3" imgW="3530600" imgH="2311400" progId="Equation.DSMT4">
                  <p:embed/>
                  <p:pic>
                    <p:nvPicPr>
                      <p:cNvPr id="0" name="图片 3078"/>
                      <p:cNvPicPr/>
                      <p:nvPr/>
                    </p:nvPicPr>
                    <p:blipFill>
                      <a:blip r:embed="rId4"/>
                      <a:stretch>
                        <a:fillRect/>
                      </a:stretch>
                    </p:blipFill>
                    <p:spPr>
                      <a:xfrm>
                        <a:off x="887413" y="2640013"/>
                        <a:ext cx="7354887" cy="3883025"/>
                      </a:xfrm>
                      <a:prstGeom prst="rect">
                        <a:avLst/>
                      </a:prstGeom>
                      <a:solidFill>
                        <a:srgbClr val="FFFF99"/>
                      </a:solidFill>
                      <a:ln w="38100">
                        <a:noFill/>
                        <a:miter/>
                      </a:ln>
                    </p:spPr>
                  </p:pic>
                </p:oleObj>
              </mc:Fallback>
            </mc:AlternateContent>
          </a:graphicData>
        </a:graphic>
      </p:graphicFrame>
      <p:graphicFrame>
        <p:nvGraphicFramePr>
          <p:cNvPr id="5" name="Object 7"/>
          <p:cNvGraphicFramePr>
            <a:graphicFrameLocks noChangeAspect="1"/>
          </p:cNvGraphicFramePr>
          <p:nvPr/>
        </p:nvGraphicFramePr>
        <p:xfrm>
          <a:off x="354013" y="476250"/>
          <a:ext cx="7870825" cy="598488"/>
        </p:xfrm>
        <a:graphic>
          <a:graphicData uri="http://schemas.openxmlformats.org/presentationml/2006/ole">
            <mc:AlternateContent xmlns:mc="http://schemas.openxmlformats.org/markup-compatibility/2006">
              <mc:Choice xmlns:v="urn:schemas-microsoft-com:vml" Requires="v">
                <p:oleObj spid="_x0000_s5148" r:id="rId5" imgW="2425700" imgH="228600" progId="Equation.DSMT4">
                  <p:embed/>
                </p:oleObj>
              </mc:Choice>
              <mc:Fallback>
                <p:oleObj r:id="rId5" imgW="2425700" imgH="228600" progId="Equation.DSMT4">
                  <p:embed/>
                  <p:pic>
                    <p:nvPicPr>
                      <p:cNvPr id="0" name="图片 3079"/>
                      <p:cNvPicPr/>
                      <p:nvPr/>
                    </p:nvPicPr>
                    <p:blipFill>
                      <a:blip r:embed="rId6"/>
                      <a:stretch>
                        <a:fillRect/>
                      </a:stretch>
                    </p:blipFill>
                    <p:spPr>
                      <a:xfrm>
                        <a:off x="354013" y="476250"/>
                        <a:ext cx="7870825" cy="598488"/>
                      </a:xfrm>
                      <a:prstGeom prst="rect">
                        <a:avLst/>
                      </a:prstGeom>
                      <a:solidFill>
                        <a:srgbClr val="B3F1F7"/>
                      </a:solid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dissolve">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dissolve">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Grp="1" noChangeAspect="1"/>
          </p:cNvGraphicFramePr>
          <p:nvPr>
            <p:ph/>
          </p:nvPr>
        </p:nvGraphicFramePr>
        <p:xfrm>
          <a:off x="2224088" y="188913"/>
          <a:ext cx="4908550" cy="4032250"/>
        </p:xfrm>
        <a:graphic>
          <a:graphicData uri="http://schemas.openxmlformats.org/presentationml/2006/ole">
            <mc:AlternateContent xmlns:mc="http://schemas.openxmlformats.org/markup-compatibility/2006">
              <mc:Choice xmlns:v="urn:schemas-microsoft-com:vml" Requires="v">
                <p:oleObj spid="_x0000_s6171" r:id="rId3" imgW="2844800" imgH="2336800" progId="Equation.DSMT4">
                  <p:embed/>
                </p:oleObj>
              </mc:Choice>
              <mc:Fallback>
                <p:oleObj r:id="rId3" imgW="2844800" imgH="2336800" progId="Equation.DSMT4">
                  <p:embed/>
                  <p:pic>
                    <p:nvPicPr>
                      <p:cNvPr id="0" name="图片 3080"/>
                      <p:cNvPicPr/>
                      <p:nvPr/>
                    </p:nvPicPr>
                    <p:blipFill>
                      <a:blip r:embed="rId4"/>
                      <a:stretch>
                        <a:fillRect/>
                      </a:stretch>
                    </p:blipFill>
                    <p:spPr>
                      <a:xfrm>
                        <a:off x="2224088" y="188913"/>
                        <a:ext cx="4908550" cy="4032250"/>
                      </a:xfrm>
                      <a:prstGeom prst="rect">
                        <a:avLst/>
                      </a:prstGeom>
                      <a:solidFill>
                        <a:srgbClr val="B3F1F7"/>
                      </a:solidFill>
                      <a:ln w="38100">
                        <a:noFill/>
                        <a:miter/>
                      </a:ln>
                    </p:spPr>
                  </p:pic>
                </p:oleObj>
              </mc:Fallback>
            </mc:AlternateContent>
          </a:graphicData>
        </a:graphic>
      </p:graphicFrame>
      <p:sp>
        <p:nvSpPr>
          <p:cNvPr id="5" name="矩形 4"/>
          <p:cNvSpPr/>
          <p:nvPr/>
        </p:nvSpPr>
        <p:spPr>
          <a:xfrm>
            <a:off x="4140200" y="620713"/>
            <a:ext cx="1944688" cy="1944687"/>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6" name="矩形 5"/>
          <p:cNvSpPr/>
          <p:nvPr/>
        </p:nvSpPr>
        <p:spPr>
          <a:xfrm>
            <a:off x="2771775" y="2565400"/>
            <a:ext cx="1368425" cy="158432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graphicFrame>
        <p:nvGraphicFramePr>
          <p:cNvPr id="11269" name="Object 6"/>
          <p:cNvGraphicFramePr>
            <a:graphicFrameLocks noChangeAspect="1"/>
          </p:cNvGraphicFramePr>
          <p:nvPr/>
        </p:nvGraphicFramePr>
        <p:xfrm>
          <a:off x="550863" y="4149725"/>
          <a:ext cx="5129212" cy="2708275"/>
        </p:xfrm>
        <a:graphic>
          <a:graphicData uri="http://schemas.openxmlformats.org/presentationml/2006/ole">
            <mc:AlternateContent xmlns:mc="http://schemas.openxmlformats.org/markup-compatibility/2006">
              <mc:Choice xmlns:v="urn:schemas-microsoft-com:vml" Requires="v">
                <p:oleObj spid="_x0000_s6172" r:id="rId5" imgW="3530600" imgH="2311400" progId="Equation.DSMT4">
                  <p:embed/>
                </p:oleObj>
              </mc:Choice>
              <mc:Fallback>
                <p:oleObj r:id="rId5" imgW="3530600" imgH="2311400" progId="Equation.DSMT4">
                  <p:embed/>
                  <p:pic>
                    <p:nvPicPr>
                      <p:cNvPr id="0" name="图片 3081"/>
                      <p:cNvPicPr/>
                      <p:nvPr/>
                    </p:nvPicPr>
                    <p:blipFill>
                      <a:blip r:embed="rId6"/>
                      <a:stretch>
                        <a:fillRect/>
                      </a:stretch>
                    </p:blipFill>
                    <p:spPr>
                      <a:xfrm>
                        <a:off x="550863" y="4149725"/>
                        <a:ext cx="5129212" cy="2708275"/>
                      </a:xfrm>
                      <a:prstGeom prst="rect">
                        <a:avLst/>
                      </a:prstGeom>
                      <a:solidFill>
                        <a:srgbClr val="FFFF99"/>
                      </a:solidFill>
                      <a:ln w="38100">
                        <a:noFill/>
                        <a:miter/>
                      </a:ln>
                    </p:spPr>
                  </p:pic>
                </p:oleObj>
              </mc:Fallback>
            </mc:AlternateContent>
          </a:graphicData>
        </a:graphic>
      </p:graphicFrame>
      <p:sp>
        <p:nvSpPr>
          <p:cNvPr id="7" name="矩形 6"/>
          <p:cNvSpPr/>
          <p:nvPr/>
        </p:nvSpPr>
        <p:spPr>
          <a:xfrm>
            <a:off x="4140200" y="188913"/>
            <a:ext cx="1944688" cy="431800"/>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Grp="1" noChangeAspect="1"/>
          </p:cNvGraphicFramePr>
          <p:nvPr>
            <p:ph/>
            <p:extLst>
              <p:ext uri="{D42A27DB-BD31-4B8C-83A1-F6EECF244321}">
                <p14:modId xmlns:p14="http://schemas.microsoft.com/office/powerpoint/2010/main" val="3126683937"/>
              </p:ext>
            </p:extLst>
          </p:nvPr>
        </p:nvGraphicFramePr>
        <p:xfrm>
          <a:off x="539552" y="104299"/>
          <a:ext cx="4908550" cy="4032250"/>
        </p:xfrm>
        <a:graphic>
          <a:graphicData uri="http://schemas.openxmlformats.org/presentationml/2006/ole">
            <mc:AlternateContent xmlns:mc="http://schemas.openxmlformats.org/markup-compatibility/2006">
              <mc:Choice xmlns:v="urn:schemas-microsoft-com:vml" Requires="v">
                <p:oleObj spid="_x0000_s7197" r:id="rId3" imgW="2844800" imgH="2336800" progId="Equation.DSMT4">
                  <p:embed/>
                </p:oleObj>
              </mc:Choice>
              <mc:Fallback>
                <p:oleObj r:id="rId3" imgW="2844800" imgH="2336800" progId="Equation.DSMT4">
                  <p:embed/>
                  <p:pic>
                    <p:nvPicPr>
                      <p:cNvPr id="0" name="图片 3082"/>
                      <p:cNvPicPr/>
                      <p:nvPr/>
                    </p:nvPicPr>
                    <p:blipFill>
                      <a:blip r:embed="rId4"/>
                      <a:stretch>
                        <a:fillRect/>
                      </a:stretch>
                    </p:blipFill>
                    <p:spPr>
                      <a:xfrm>
                        <a:off x="539552" y="104299"/>
                        <a:ext cx="4908550" cy="4032250"/>
                      </a:xfrm>
                      <a:prstGeom prst="rect">
                        <a:avLst/>
                      </a:prstGeom>
                      <a:solidFill>
                        <a:srgbClr val="B3F1F7"/>
                      </a:solidFill>
                      <a:ln w="38100">
                        <a:noFill/>
                        <a:miter/>
                      </a:ln>
                    </p:spPr>
                  </p:pic>
                </p:oleObj>
              </mc:Fallback>
            </mc:AlternateContent>
          </a:graphicData>
        </a:graphic>
      </p:graphicFrame>
      <p:sp>
        <p:nvSpPr>
          <p:cNvPr id="4" name="矩形 3"/>
          <p:cNvSpPr/>
          <p:nvPr/>
        </p:nvSpPr>
        <p:spPr>
          <a:xfrm>
            <a:off x="395288" y="6021388"/>
            <a:ext cx="8569325" cy="457200"/>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所以上述矩阵为满秩的。从而系数矩阵</a:t>
            </a:r>
            <a:r>
              <a:rPr lang="en-US" altLang="zh-CN" b="1" i="1"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的秩</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a:t>
            </a:r>
            <a:endParaRPr lang="zh-CN" altLang="en-US" b="1" dirty="0">
              <a:latin typeface="Times New Roman" panose="02020603050405020304" pitchFamily="18" charset="0"/>
              <a:ea typeface="微软雅黑" pitchFamily="34" charset="-122"/>
            </a:endParaRPr>
          </a:p>
        </p:txBody>
      </p:sp>
      <p:sp>
        <p:nvSpPr>
          <p:cNvPr id="12292" name="矩形 4"/>
          <p:cNvSpPr/>
          <p:nvPr/>
        </p:nvSpPr>
        <p:spPr>
          <a:xfrm>
            <a:off x="1981002" y="161449"/>
            <a:ext cx="503238" cy="388937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12293" name="矩形 5"/>
          <p:cNvSpPr/>
          <p:nvPr/>
        </p:nvSpPr>
        <p:spPr>
          <a:xfrm>
            <a:off x="972940" y="194786"/>
            <a:ext cx="287337" cy="388937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12294" name="矩形 6"/>
          <p:cNvSpPr/>
          <p:nvPr/>
        </p:nvSpPr>
        <p:spPr>
          <a:xfrm>
            <a:off x="3932347" y="161449"/>
            <a:ext cx="406400" cy="3975100"/>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2" name="文本框 1"/>
          <p:cNvSpPr txBox="1"/>
          <p:nvPr/>
        </p:nvSpPr>
        <p:spPr>
          <a:xfrm>
            <a:off x="519111" y="4419162"/>
            <a:ext cx="678180" cy="460375"/>
          </a:xfrm>
          <a:prstGeom prst="rect">
            <a:avLst/>
          </a:prstGeom>
          <a:noFill/>
        </p:spPr>
        <p:txBody>
          <a:bodyPr wrap="none" rtlCol="0">
            <a:spAutoFit/>
          </a:bodyPr>
          <a:lstStyle/>
          <a:p>
            <a:r>
              <a:rPr lang="zh-CN" altLang="en-US" dirty="0"/>
              <a:t>若</a:t>
            </a:r>
            <a:r>
              <a:rPr lang="en-US" altLang="zh-CN" dirty="0"/>
              <a:t>  </a:t>
            </a:r>
          </a:p>
        </p:txBody>
      </p:sp>
      <p:sp>
        <p:nvSpPr>
          <p:cNvPr id="6" name="文本框 5"/>
          <p:cNvSpPr txBox="1"/>
          <p:nvPr/>
        </p:nvSpPr>
        <p:spPr>
          <a:xfrm>
            <a:off x="827405" y="5316855"/>
            <a:ext cx="678180" cy="460375"/>
          </a:xfrm>
          <a:prstGeom prst="rect">
            <a:avLst/>
          </a:prstGeom>
          <a:noFill/>
        </p:spPr>
        <p:txBody>
          <a:bodyPr wrap="none" rtlCol="0">
            <a:spAutoFit/>
          </a:bodyPr>
          <a:lstStyle/>
          <a:p>
            <a:r>
              <a:rPr lang="zh-CN" altLang="en-US" dirty="0"/>
              <a:t>则</a:t>
            </a:r>
            <a:r>
              <a:rPr lang="en-US" altLang="zh-CN" dirty="0"/>
              <a:t>  </a:t>
            </a:r>
          </a:p>
        </p:txBody>
      </p:sp>
      <p:pic>
        <p:nvPicPr>
          <p:cNvPr id="7" name="图片 6" descr="单行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20440" y="5454015"/>
            <a:ext cx="1082675" cy="352425"/>
          </a:xfrm>
          <a:prstGeom prst="rect">
            <a:avLst/>
          </a:prstGeom>
        </p:spPr>
      </p:pic>
      <p:graphicFrame>
        <p:nvGraphicFramePr>
          <p:cNvPr id="13" name="Object 2">
            <a:extLst>
              <a:ext uri="{FF2B5EF4-FFF2-40B4-BE49-F238E27FC236}">
                <a16:creationId xmlns:a16="http://schemas.microsoft.com/office/drawing/2014/main" id="{7E10DD66-BCAC-448D-8BA4-D4D57F3E98E2}"/>
              </a:ext>
            </a:extLst>
          </p:cNvPr>
          <p:cNvGraphicFramePr>
            <a:graphicFrameLocks noChangeAspect="1"/>
          </p:cNvGraphicFramePr>
          <p:nvPr>
            <p:extLst>
              <p:ext uri="{D42A27DB-BD31-4B8C-83A1-F6EECF244321}">
                <p14:modId xmlns:p14="http://schemas.microsoft.com/office/powerpoint/2010/main" val="3030457445"/>
              </p:ext>
            </p:extLst>
          </p:nvPr>
        </p:nvGraphicFramePr>
        <p:xfrm>
          <a:off x="1098745" y="4524314"/>
          <a:ext cx="6789737" cy="358775"/>
        </p:xfrm>
        <a:graphic>
          <a:graphicData uri="http://schemas.openxmlformats.org/presentationml/2006/ole">
            <mc:AlternateContent xmlns:mc="http://schemas.openxmlformats.org/markup-compatibility/2006">
              <mc:Choice xmlns:v="urn:schemas-microsoft-com:vml" Requires="v">
                <p:oleObj spid="_x0000_s7198" name="Equation" r:id="rId7" imgW="4317840" imgH="228600" progId="Equation.DSMT4">
                  <p:embed/>
                </p:oleObj>
              </mc:Choice>
              <mc:Fallback>
                <p:oleObj name="Equation" r:id="rId7" imgW="4317840" imgH="228600" progId="Equation.DSMT4">
                  <p:embed/>
                  <p:pic>
                    <p:nvPicPr>
                      <p:cNvPr id="14341" name="Object 2"/>
                      <p:cNvPicPr/>
                      <p:nvPr/>
                    </p:nvPicPr>
                    <p:blipFill>
                      <a:blip r:embed="rId8"/>
                      <a:stretch>
                        <a:fillRect/>
                      </a:stretch>
                    </p:blipFill>
                    <p:spPr>
                      <a:xfrm>
                        <a:off x="1098745" y="4524314"/>
                        <a:ext cx="6789737" cy="358775"/>
                      </a:xfrm>
                      <a:prstGeom prst="rect">
                        <a:avLst/>
                      </a:prstGeom>
                      <a:noFill/>
                      <a:ln w="38100">
                        <a:noFill/>
                        <a:miter/>
                      </a:ln>
                    </p:spPr>
                  </p:pic>
                </p:oleObj>
              </mc:Fallback>
            </mc:AlternateContent>
          </a:graphicData>
        </a:graphic>
      </p:graphicFrame>
      <p:graphicFrame>
        <p:nvGraphicFramePr>
          <p:cNvPr id="12" name="Object 2">
            <a:extLst>
              <a:ext uri="{FF2B5EF4-FFF2-40B4-BE49-F238E27FC236}">
                <a16:creationId xmlns:a16="http://schemas.microsoft.com/office/drawing/2014/main" id="{18A68CEC-DD71-4A8F-8971-5EBFE2B95CF5}"/>
              </a:ext>
            </a:extLst>
          </p:cNvPr>
          <p:cNvGraphicFramePr>
            <a:graphicFrameLocks noChangeAspect="1"/>
          </p:cNvGraphicFramePr>
          <p:nvPr>
            <p:extLst>
              <p:ext uri="{D42A27DB-BD31-4B8C-83A1-F6EECF244321}">
                <p14:modId xmlns:p14="http://schemas.microsoft.com/office/powerpoint/2010/main" val="3374439917"/>
              </p:ext>
            </p:extLst>
          </p:nvPr>
        </p:nvGraphicFramePr>
        <p:xfrm>
          <a:off x="6269733" y="232143"/>
          <a:ext cx="2855912" cy="3308350"/>
        </p:xfrm>
        <a:graphic>
          <a:graphicData uri="http://schemas.openxmlformats.org/presentationml/2006/ole">
            <mc:AlternateContent xmlns:mc="http://schemas.openxmlformats.org/markup-compatibility/2006">
              <mc:Choice xmlns:v="urn:schemas-microsoft-com:vml" Requires="v">
                <p:oleObj spid="_x0000_s7199" name="Equation" r:id="rId9" imgW="1815840" imgH="2108160" progId="Equation.DSMT4">
                  <p:embed/>
                </p:oleObj>
              </mc:Choice>
              <mc:Fallback>
                <p:oleObj name="Equation" r:id="rId9" imgW="1815840" imgH="2108160" progId="Equation.DSMT4">
                  <p:embed/>
                  <p:pic>
                    <p:nvPicPr>
                      <p:cNvPr id="13" name="Object 2">
                        <a:extLst>
                          <a:ext uri="{FF2B5EF4-FFF2-40B4-BE49-F238E27FC236}">
                            <a16:creationId xmlns:a16="http://schemas.microsoft.com/office/drawing/2014/main" id="{7E10DD66-BCAC-448D-8BA4-D4D57F3E98E2}"/>
                          </a:ext>
                        </a:extLst>
                      </p:cNvPr>
                      <p:cNvPicPr/>
                      <p:nvPr/>
                    </p:nvPicPr>
                    <p:blipFill>
                      <a:blip r:embed="rId10"/>
                      <a:stretch>
                        <a:fillRect/>
                      </a:stretch>
                    </p:blipFill>
                    <p:spPr>
                      <a:xfrm>
                        <a:off x="6269733" y="232143"/>
                        <a:ext cx="2855912" cy="330835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3764" name="Object 4"/>
          <p:cNvGraphicFramePr>
            <a:graphicFrameLocks noChangeAspect="1"/>
          </p:cNvGraphicFramePr>
          <p:nvPr/>
        </p:nvGraphicFramePr>
        <p:xfrm>
          <a:off x="61913" y="333375"/>
          <a:ext cx="5191125" cy="4094163"/>
        </p:xfrm>
        <a:graphic>
          <a:graphicData uri="http://schemas.openxmlformats.org/presentationml/2006/ole">
            <mc:AlternateContent xmlns:mc="http://schemas.openxmlformats.org/markup-compatibility/2006">
              <mc:Choice xmlns:v="urn:schemas-microsoft-com:vml" Requires="v">
                <p:oleObj spid="_x0000_s8219" r:id="rId3" imgW="2438400" imgH="2641600" progId="Equation.DSMT4">
                  <p:embed/>
                </p:oleObj>
              </mc:Choice>
              <mc:Fallback>
                <p:oleObj r:id="rId3" imgW="2438400" imgH="2641600" progId="Equation.DSMT4">
                  <p:embed/>
                  <p:pic>
                    <p:nvPicPr>
                      <p:cNvPr id="0" name="图片 3083"/>
                      <p:cNvPicPr/>
                      <p:nvPr/>
                    </p:nvPicPr>
                    <p:blipFill>
                      <a:blip r:embed="rId4"/>
                      <a:stretch>
                        <a:fillRect/>
                      </a:stretch>
                    </p:blipFill>
                    <p:spPr>
                      <a:xfrm>
                        <a:off x="61913" y="333375"/>
                        <a:ext cx="5191125" cy="4094163"/>
                      </a:xfrm>
                      <a:prstGeom prst="rect">
                        <a:avLst/>
                      </a:prstGeom>
                      <a:noFill/>
                      <a:ln w="38100">
                        <a:noFill/>
                        <a:miter/>
                      </a:ln>
                    </p:spPr>
                  </p:pic>
                </p:oleObj>
              </mc:Fallback>
            </mc:AlternateContent>
          </a:graphicData>
        </a:graphic>
      </p:graphicFrame>
      <p:graphicFrame>
        <p:nvGraphicFramePr>
          <p:cNvPr id="373769" name="Object 9"/>
          <p:cNvGraphicFramePr>
            <a:graphicFrameLocks noGrp="1" noChangeAspect="1"/>
          </p:cNvGraphicFramePr>
          <p:nvPr>
            <p:ph sz="half" idx="2"/>
          </p:nvPr>
        </p:nvGraphicFramePr>
        <p:xfrm>
          <a:off x="4454525" y="3248025"/>
          <a:ext cx="4525963" cy="3494088"/>
        </p:xfrm>
        <a:graphic>
          <a:graphicData uri="http://schemas.openxmlformats.org/presentationml/2006/ole">
            <mc:AlternateContent xmlns:mc="http://schemas.openxmlformats.org/markup-compatibility/2006">
              <mc:Choice xmlns:v="urn:schemas-microsoft-com:vml" Requires="v">
                <p:oleObj spid="_x0000_s8220" r:id="rId5" imgW="2451100" imgH="1892300" progId="Equation.DSMT4">
                  <p:embed/>
                </p:oleObj>
              </mc:Choice>
              <mc:Fallback>
                <p:oleObj r:id="rId5" imgW="2451100" imgH="1892300" progId="Equation.DSMT4">
                  <p:embed/>
                  <p:pic>
                    <p:nvPicPr>
                      <p:cNvPr id="0" name="图片 3084"/>
                      <p:cNvPicPr/>
                      <p:nvPr/>
                    </p:nvPicPr>
                    <p:blipFill>
                      <a:blip r:embed="rId6"/>
                      <a:stretch>
                        <a:fillRect/>
                      </a:stretch>
                    </p:blipFill>
                    <p:spPr>
                      <a:xfrm>
                        <a:off x="4454525" y="3248025"/>
                        <a:ext cx="4525963" cy="3494088"/>
                      </a:xfrm>
                      <a:prstGeom prst="rect">
                        <a:avLst/>
                      </a:prstGeom>
                      <a:noFill/>
                      <a:ln w="76200">
                        <a:solidFill>
                          <a:srgbClr val="CC99FF"/>
                        </a:solidFill>
                        <a:miter/>
                      </a:ln>
                    </p:spPr>
                  </p:pic>
                </p:oleObj>
              </mc:Fallback>
            </mc:AlternateContent>
          </a:graphicData>
        </a:graphic>
      </p:graphicFrame>
      <p:pic>
        <p:nvPicPr>
          <p:cNvPr id="13316" name="Picture 11"/>
          <p:cNvPicPr>
            <a:picLocks noChangeAspect="1"/>
          </p:cNvPicPr>
          <p:nvPr/>
        </p:nvPicPr>
        <p:blipFill>
          <a:blip r:embed="rId7"/>
          <a:stretch>
            <a:fillRect/>
          </a:stretch>
        </p:blipFill>
        <p:spPr>
          <a:xfrm>
            <a:off x="5568950" y="0"/>
            <a:ext cx="3575050" cy="25654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3764"/>
                                        </p:tgtEl>
                                        <p:attrNameLst>
                                          <p:attrName>style.visibility</p:attrName>
                                        </p:attrNameLst>
                                      </p:cBhvr>
                                      <p:to>
                                        <p:strVal val="visible"/>
                                      </p:to>
                                    </p:set>
                                    <p:animEffect transition="in" filter="blinds(horizontal)">
                                      <p:cBhvr>
                                        <p:cTn id="7" dur="500"/>
                                        <p:tgtEl>
                                          <p:spTgt spid="3737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3769"/>
                                        </p:tgtEl>
                                        <p:attrNameLst>
                                          <p:attrName>style.visibility</p:attrName>
                                        </p:attrNameLst>
                                      </p:cBhvr>
                                      <p:to>
                                        <p:strVal val="visible"/>
                                      </p:to>
                                    </p:set>
                                    <p:animEffect transition="in" filter="blinds(horizontal)">
                                      <p:cBhvr>
                                        <p:cTn id="12" dur="500"/>
                                        <p:tgtEl>
                                          <p:spTgt spid="373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p:cNvSpPr>
          <p:nvPr>
            <p:ph type="body" sz="half" idx="1"/>
          </p:nvPr>
        </p:nvSpPr>
        <p:spPr>
          <a:xfrm>
            <a:off x="0" y="0"/>
            <a:ext cx="9144000" cy="404813"/>
          </a:xfrm>
          <a:prstGeom prst="rect">
            <a:avLst/>
          </a:prstGeom>
          <a:solidFill>
            <a:srgbClr val="FFFFFF"/>
          </a:solidFill>
          <a:ln>
            <a:noFill/>
          </a:ln>
        </p:spPr>
        <p:txBody>
          <a:bodyPr/>
          <a:lstStyle/>
          <a:p>
            <a:pPr>
              <a:buClr>
                <a:schemeClr val="folHlink"/>
              </a:buClr>
              <a:buSzPct val="60000"/>
              <a:buFont typeface="Wingdings" panose="05000000000000000000" pitchFamily="2" charset="2"/>
              <a:buNone/>
            </a:pPr>
            <a:r>
              <a:rPr lang="zh-CN" altLang="en-US" sz="2400" b="1" dirty="0">
                <a:solidFill>
                  <a:schemeClr val="hlink"/>
                </a:solidFill>
                <a:latin typeface="微软雅黑" pitchFamily="34" charset="-122"/>
                <a:ea typeface="微软雅黑" pitchFamily="34" charset="-122"/>
              </a:rPr>
              <a:t>产销平衡的运输问题有最优解</a:t>
            </a:r>
            <a:r>
              <a:rPr lang="zh-CN" altLang="en-US" sz="2400" b="1" dirty="0">
                <a:latin typeface="微软雅黑" pitchFamily="34" charset="-122"/>
                <a:ea typeface="微软雅黑" pitchFamily="34" charset="-122"/>
              </a:rPr>
              <a:t> </a:t>
            </a:r>
          </a:p>
        </p:txBody>
      </p:sp>
      <p:graphicFrame>
        <p:nvGraphicFramePr>
          <p:cNvPr id="14339" name="Object 4"/>
          <p:cNvGraphicFramePr>
            <a:graphicFrameLocks noChangeAspect="1"/>
          </p:cNvGraphicFramePr>
          <p:nvPr/>
        </p:nvGraphicFramePr>
        <p:xfrm>
          <a:off x="498475" y="3429000"/>
          <a:ext cx="8145463" cy="641350"/>
        </p:xfrm>
        <a:graphic>
          <a:graphicData uri="http://schemas.openxmlformats.org/presentationml/2006/ole">
            <mc:AlternateContent xmlns:mc="http://schemas.openxmlformats.org/markup-compatibility/2006">
              <mc:Choice xmlns:v="urn:schemas-microsoft-com:vml" Requires="v">
                <p:oleObj spid="_x0000_s9245" r:id="rId3" imgW="2895600" imgH="241300" progId="Equation.DSMT4">
                  <p:embed/>
                </p:oleObj>
              </mc:Choice>
              <mc:Fallback>
                <p:oleObj r:id="rId3" imgW="2895600" imgH="241300" progId="Equation.DSMT4">
                  <p:embed/>
                  <p:pic>
                    <p:nvPicPr>
                      <p:cNvPr id="0" name="图片 3085"/>
                      <p:cNvPicPr/>
                      <p:nvPr/>
                    </p:nvPicPr>
                    <p:blipFill>
                      <a:blip r:embed="rId4"/>
                      <a:stretch>
                        <a:fillRect/>
                      </a:stretch>
                    </p:blipFill>
                    <p:spPr>
                      <a:xfrm>
                        <a:off x="498475" y="3429000"/>
                        <a:ext cx="8145463" cy="641350"/>
                      </a:xfrm>
                      <a:prstGeom prst="rect">
                        <a:avLst/>
                      </a:prstGeom>
                      <a:solidFill>
                        <a:srgbClr val="B3F1F7"/>
                      </a:solidFill>
                      <a:ln w="38100">
                        <a:noFill/>
                        <a:miter/>
                      </a:ln>
                    </p:spPr>
                  </p:pic>
                </p:oleObj>
              </mc:Fallback>
            </mc:AlternateContent>
          </a:graphicData>
        </a:graphic>
      </p:graphicFrame>
      <p:sp>
        <p:nvSpPr>
          <p:cNvPr id="4" name="矩形 3"/>
          <p:cNvSpPr/>
          <p:nvPr/>
        </p:nvSpPr>
        <p:spPr>
          <a:xfrm>
            <a:off x="0" y="4941888"/>
            <a:ext cx="9144000" cy="1135062"/>
          </a:xfrm>
          <a:prstGeom prst="rect">
            <a:avLst/>
          </a:prstGeom>
          <a:no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由于有以上特征</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所以求解运输问题时</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可用比较简便的计算方法</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习惯上称为</a:t>
            </a:r>
            <a:r>
              <a:rPr lang="zh-CN" altLang="en-US" b="1" dirty="0">
                <a:solidFill>
                  <a:srgbClr val="C00000"/>
                </a:solidFill>
                <a:latin typeface="Times New Roman" panose="02020603050405020304" pitchFamily="18" charset="0"/>
                <a:ea typeface="微软雅黑" pitchFamily="34" charset="-122"/>
              </a:rPr>
              <a:t>表上作业法</a:t>
            </a:r>
            <a:endParaRPr lang="zh-CN" altLang="en-US" b="1" dirty="0">
              <a:latin typeface="Times New Roman" panose="02020603050405020304" pitchFamily="18" charset="0"/>
              <a:ea typeface="微软雅黑" pitchFamily="34" charset="-122"/>
            </a:endParaRPr>
          </a:p>
        </p:txBody>
      </p:sp>
      <p:graphicFrame>
        <p:nvGraphicFramePr>
          <p:cNvPr id="14341" name="Object 2"/>
          <p:cNvGraphicFramePr>
            <a:graphicFrameLocks noGrp="1" noChangeAspect="1"/>
          </p:cNvGraphicFramePr>
          <p:nvPr>
            <p:ph sz="half" idx="2"/>
          </p:nvPr>
        </p:nvGraphicFramePr>
        <p:xfrm>
          <a:off x="2071688" y="482600"/>
          <a:ext cx="4135437" cy="2836863"/>
        </p:xfrm>
        <a:graphic>
          <a:graphicData uri="http://schemas.openxmlformats.org/presentationml/2006/ole">
            <mc:AlternateContent xmlns:mc="http://schemas.openxmlformats.org/markup-compatibility/2006">
              <mc:Choice xmlns:v="urn:schemas-microsoft-com:vml" Requires="v">
                <p:oleObj spid="_x0000_s9246" r:id="rId5" imgW="2628900" imgH="1803400" progId="Equation.DSMT4">
                  <p:embed/>
                </p:oleObj>
              </mc:Choice>
              <mc:Fallback>
                <p:oleObj r:id="rId5" imgW="2628900" imgH="1803400" progId="Equation.DSMT4">
                  <p:embed/>
                  <p:pic>
                    <p:nvPicPr>
                      <p:cNvPr id="0" name="图片 3086"/>
                      <p:cNvPicPr/>
                      <p:nvPr/>
                    </p:nvPicPr>
                    <p:blipFill>
                      <a:blip r:embed="rId6"/>
                      <a:stretch>
                        <a:fillRect/>
                      </a:stretch>
                    </p:blipFill>
                    <p:spPr>
                      <a:xfrm>
                        <a:off x="2071688" y="482600"/>
                        <a:ext cx="4135437" cy="2836863"/>
                      </a:xfrm>
                      <a:prstGeom prst="rect">
                        <a:avLst/>
                      </a:prstGeom>
                      <a:solidFill>
                        <a:srgbClr val="FFFF99"/>
                      </a:solidFill>
                      <a:ln w="38100">
                        <a:noFill/>
                        <a:miter/>
                      </a:ln>
                    </p:spPr>
                  </p:pic>
                </p:oleObj>
              </mc:Fallback>
            </mc:AlternateContent>
          </a:graphicData>
        </a:graphic>
      </p:graphicFrame>
      <p:sp>
        <p:nvSpPr>
          <p:cNvPr id="14342" name="Text Box 9"/>
          <p:cNvSpPr txBox="1"/>
          <p:nvPr/>
        </p:nvSpPr>
        <p:spPr>
          <a:xfrm>
            <a:off x="611188" y="4221163"/>
            <a:ext cx="6624637" cy="457200"/>
          </a:xfrm>
          <a:prstGeom prst="rect">
            <a:avLst/>
          </a:prstGeom>
          <a:solidFill>
            <a:srgbClr val="FFFF99"/>
          </a:solidFill>
          <a:ln w="9525">
            <a:noFill/>
          </a:ln>
        </p:spPr>
        <p:txBody>
          <a:bodyPr>
            <a:spAutoFit/>
          </a:bodyPr>
          <a:lstStyle/>
          <a:p>
            <a:pPr eaLnBrk="1" hangingPunct="1">
              <a:spcBef>
                <a:spcPct val="50000"/>
              </a:spcBef>
            </a:pPr>
            <a:r>
              <a:rPr lang="zh-CN" altLang="en-US" b="1" dirty="0">
                <a:latin typeface="Tahoma" panose="020B0604030504040204" pitchFamily="34" charset="0"/>
                <a:ea typeface="微软雅黑" pitchFamily="34" charset="-122"/>
              </a:rPr>
              <a:t>有界闭区间内的连续函数一定有最大和最小值</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ndParaRPr>
          </a:p>
        </p:txBody>
      </p:sp>
      <p:pic>
        <p:nvPicPr>
          <p:cNvPr id="4099"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4100" name="Text Box 4"/>
          <p:cNvSpPr txBox="1"/>
          <p:nvPr/>
        </p:nvSpPr>
        <p:spPr>
          <a:xfrm>
            <a:off x="2700338" y="549275"/>
            <a:ext cx="3600450"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itchFamily="34" charset="-122"/>
                <a:ea typeface="微软雅黑" pitchFamily="34" charset="-122"/>
              </a:rPr>
              <a:t>第</a:t>
            </a:r>
            <a:r>
              <a:rPr lang="en-US" altLang="zh-CN" sz="3200" b="1" dirty="0">
                <a:solidFill>
                  <a:srgbClr val="FF0000"/>
                </a:solidFill>
                <a:latin typeface="微软雅黑" pitchFamily="34" charset="-122"/>
                <a:ea typeface="微软雅黑" pitchFamily="34" charset="-122"/>
              </a:rPr>
              <a:t>5</a:t>
            </a:r>
            <a:r>
              <a:rPr lang="zh-CN" altLang="en-US" sz="3200" b="1" dirty="0">
                <a:solidFill>
                  <a:srgbClr val="FF0000"/>
                </a:solidFill>
                <a:latin typeface="微软雅黑" pitchFamily="34" charset="-122"/>
                <a:ea typeface="微软雅黑" pitchFamily="34" charset="-122"/>
              </a:rPr>
              <a:t>章  运输问题</a:t>
            </a:r>
          </a:p>
        </p:txBody>
      </p:sp>
      <p:sp>
        <p:nvSpPr>
          <p:cNvPr id="4101" name="Rectangle 3"/>
          <p:cNvSpPr txBox="1"/>
          <p:nvPr/>
        </p:nvSpPr>
        <p:spPr>
          <a:xfrm>
            <a:off x="611188" y="1844675"/>
            <a:ext cx="8280400" cy="46482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1</a:t>
            </a:r>
            <a:r>
              <a:rPr lang="zh-CN" altLang="en-US" sz="3200" b="1" dirty="0">
                <a:solidFill>
                  <a:srgbClr val="0000FF"/>
                </a:solidFill>
                <a:latin typeface="微软雅黑" pitchFamily="34" charset="-122"/>
                <a:ea typeface="微软雅黑" pitchFamily="34" charset="-122"/>
              </a:rPr>
              <a:t>节  运输问题的数学模型与基本性质</a:t>
            </a:r>
          </a:p>
          <a:p>
            <a:pPr marL="273050" indent="-273050" algn="just">
              <a:spcBef>
                <a:spcPts val="600"/>
              </a:spcBef>
              <a:buClr>
                <a:schemeClr val="accent1"/>
              </a:buClr>
              <a:buSzPct val="70000"/>
              <a:buFont typeface="Wingdings" panose="05000000000000000000" pitchFamily="2" charset="2"/>
            </a:pPr>
            <a:r>
              <a:rPr lang="zh-CN" altLang="en-US" sz="3200" b="1" dirty="0">
                <a:solidFill>
                  <a:schemeClr val="hlink"/>
                </a:solidFill>
                <a:latin typeface="微软雅黑" pitchFamily="34" charset="-122"/>
                <a:ea typeface="微软雅黑" pitchFamily="34" charset="-122"/>
              </a:rPr>
              <a:t>第</a:t>
            </a:r>
            <a:r>
              <a:rPr lang="en-US" altLang="zh-CN" sz="3200" b="1" dirty="0">
                <a:solidFill>
                  <a:schemeClr val="hlink"/>
                </a:solidFill>
                <a:latin typeface="微软雅黑" pitchFamily="34" charset="-122"/>
                <a:ea typeface="微软雅黑" pitchFamily="34" charset="-122"/>
              </a:rPr>
              <a:t>2</a:t>
            </a:r>
            <a:r>
              <a:rPr lang="zh-CN" altLang="en-US" sz="3200" b="1" dirty="0">
                <a:solidFill>
                  <a:schemeClr val="hlink"/>
                </a:solidFill>
                <a:latin typeface="微软雅黑" pitchFamily="34" charset="-122"/>
                <a:ea typeface="微软雅黑" pitchFamily="34" charset="-122"/>
              </a:rPr>
              <a:t>节  表上作业法</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3</a:t>
            </a:r>
            <a:r>
              <a:rPr lang="zh-CN" altLang="en-US" sz="3200" b="1" dirty="0">
                <a:solidFill>
                  <a:srgbClr val="0000FF"/>
                </a:solidFill>
                <a:latin typeface="微软雅黑" pitchFamily="34" charset="-122"/>
                <a:ea typeface="微软雅黑" pitchFamily="34" charset="-122"/>
              </a:rPr>
              <a:t>节  产销不平衡的运输问题</a:t>
            </a:r>
            <a:endParaRPr lang="en-US" altLang="zh-CN" sz="32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2830441462"/>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0" y="0"/>
            <a:ext cx="9144000" cy="3716338"/>
          </a:xfrm>
          <a:prstGeom prst="rect">
            <a:avLst/>
          </a:prstGeom>
          <a:noFill/>
          <a:ln w="9525">
            <a:noFill/>
            <a:miter lim="800000"/>
          </a:ln>
        </p:spPr>
        <p:txBody>
          <a:bodyPr/>
          <a:lstStyle/>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表上作业法</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是</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单纯形法</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在求解运输问题时的一种简化方法，其实质是单纯形法。但具体计算和术语有所不同。可归纳为：</a:t>
            </a:r>
          </a:p>
          <a:p>
            <a:pPr marL="457200" marR="0" indent="-457200" algn="just" defTabSz="914400">
              <a:lnSpc>
                <a:spcPct val="90000"/>
              </a:lnSpc>
              <a:spcBef>
                <a:spcPts val="600"/>
              </a:spcBef>
              <a:buClr>
                <a:schemeClr val="accent1"/>
              </a:buClr>
              <a:buSzPct val="70000"/>
              <a:buFontTx/>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找出初始基可行解。即在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产销平衡表上</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用最小元素法，</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Vogel</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法给出</a:t>
            </a:r>
            <a:r>
              <a:rPr kumimoji="0" lang="en-US" altLang="zh-CN" b="1" i="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-1</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个数字，称为数字格</a:t>
            </a:r>
            <a:endPar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endParaRPr>
          </a:p>
          <a:p>
            <a:pPr marL="457200" marR="0" indent="-457200" algn="just" defTabSz="914400">
              <a:lnSpc>
                <a:spcPct val="90000"/>
              </a:lnSpc>
              <a:spcBef>
                <a:spcPts val="600"/>
              </a:spcBef>
              <a:buClr>
                <a:schemeClr val="accent1"/>
              </a:buClr>
              <a:buSzPct val="70000"/>
              <a:buFontTx/>
              <a:buNone/>
              <a:defRPr/>
            </a:pP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      </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它们就是</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初始基变量</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的取值</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p>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求各</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非基变量</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的</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检验数</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，即在表上</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计算空格的检验数</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，判别是否达到最优解。如已是最优解，则停止计算，否则转到下一步</a:t>
            </a:r>
          </a:p>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确定</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换入变量</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和</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换出变量</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，找出新的基可行解。在表上用闭回路法调整</a:t>
            </a:r>
          </a:p>
          <a:p>
            <a:pPr marL="273050" marR="0" indent="-273050"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重复</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直到得到最优解为止</a:t>
            </a:r>
          </a:p>
        </p:txBody>
      </p:sp>
      <p:sp>
        <p:nvSpPr>
          <p:cNvPr id="2" name="Rectangle 2"/>
          <p:cNvSpPr txBox="1"/>
          <p:nvPr/>
        </p:nvSpPr>
        <p:spPr>
          <a:xfrm>
            <a:off x="0" y="3789363"/>
            <a:ext cx="9144000" cy="2232025"/>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a:t>
            </a:r>
            <a:r>
              <a:rPr lang="en-US" altLang="zh-CN" b="1" dirty="0">
                <a:solidFill>
                  <a:schemeClr val="hlink"/>
                </a:solidFill>
                <a:latin typeface="Times New Roman" panose="02020603050405020304" pitchFamily="18" charset="0"/>
                <a:ea typeface="微软雅黑" pitchFamily="34" charset="-122"/>
              </a:rPr>
              <a:t>4-1</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某公司经销甲产品。它下设三个加工厂。每日的产量分别是：</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7</a:t>
            </a:r>
            <a:r>
              <a:rPr lang="zh-CN" altLang="en-US" b="1" dirty="0">
                <a:latin typeface="Times New Roman" panose="02020603050405020304" pitchFamily="18" charset="0"/>
                <a:ea typeface="微软雅黑" pitchFamily="34" charset="-122"/>
              </a:rPr>
              <a:t>吨</a:t>
            </a:r>
            <a:r>
              <a:rPr lang="zh-CN" altLang="en-US" b="1" dirty="0">
                <a:latin typeface="宋体" pitchFamily="2" charset="-122"/>
                <a:ea typeface="微软雅黑" pitchFamily="34"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吨</a:t>
            </a:r>
            <a:r>
              <a:rPr lang="zh-CN" altLang="en-US" b="1" dirty="0">
                <a:latin typeface="宋体" pitchFamily="2" charset="-122"/>
                <a:ea typeface="微软雅黑" pitchFamily="34"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9</a:t>
            </a:r>
            <a:r>
              <a:rPr lang="zh-CN" altLang="en-US" b="1" dirty="0">
                <a:latin typeface="Times New Roman" panose="02020603050405020304" pitchFamily="18" charset="0"/>
                <a:ea typeface="微软雅黑" pitchFamily="34" charset="-122"/>
              </a:rPr>
              <a:t>吨。该公司把这些产品分别运往四个销售点。各销售点每日销量为：</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吨</a:t>
            </a:r>
            <a:r>
              <a:rPr lang="zh-CN" altLang="en-US" b="1" dirty="0">
                <a:latin typeface="宋体" pitchFamily="2" charset="-122"/>
                <a:ea typeface="微软雅黑" pitchFamily="34"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r>
              <a:rPr lang="zh-CN" altLang="en-US" b="1" dirty="0">
                <a:latin typeface="宋体" pitchFamily="2" charset="-122"/>
                <a:ea typeface="微软雅黑" pitchFamily="34"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吨</a:t>
            </a:r>
            <a:r>
              <a:rPr lang="zh-CN" altLang="en-US" b="1" dirty="0">
                <a:latin typeface="宋体" pitchFamily="2" charset="-122"/>
                <a:ea typeface="微软雅黑" pitchFamily="34"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p>
        </p:txBody>
      </p:sp>
      <p:sp>
        <p:nvSpPr>
          <p:cNvPr id="4" name="Rectangle 2"/>
          <p:cNvSpPr txBox="1"/>
          <p:nvPr/>
        </p:nvSpPr>
        <p:spPr>
          <a:xfrm>
            <a:off x="0" y="5300663"/>
            <a:ext cx="4932363" cy="1557337"/>
          </a:xfrm>
          <a:prstGeom prst="rect">
            <a:avLst/>
          </a:prstGeom>
          <a:solidFill>
            <a:srgbClr val="FFFF99"/>
          </a:solidFill>
          <a:ln w="9525">
            <a:noFill/>
          </a:ln>
        </p:spPr>
        <p:txBody>
          <a:bodyPr/>
          <a:lstStyle/>
          <a:p>
            <a:r>
              <a:rPr lang="zh-CN" altLang="en-US" b="1" dirty="0">
                <a:solidFill>
                  <a:schemeClr val="folHlink"/>
                </a:solidFill>
                <a:latin typeface="Times New Roman" panose="02020603050405020304" pitchFamily="18" charset="0"/>
                <a:ea typeface="微软雅黑" pitchFamily="34" charset="-122"/>
              </a:rPr>
              <a:t>已知从各工厂到各销售点的单位产品的运价为右表所示。问该公司应如何调运产品</a:t>
            </a:r>
            <a:r>
              <a:rPr lang="zh-CN" altLang="en-US" b="1" dirty="0">
                <a:solidFill>
                  <a:schemeClr val="folHlink"/>
                </a:solidFill>
                <a:latin typeface="仿宋" pitchFamily="49" charset="-122"/>
                <a:ea typeface="仿宋" pitchFamily="49" charset="-122"/>
              </a:rPr>
              <a:t>，</a:t>
            </a:r>
            <a:r>
              <a:rPr lang="zh-CN" altLang="en-US" b="1" dirty="0">
                <a:solidFill>
                  <a:schemeClr val="folHlink"/>
                </a:solidFill>
                <a:latin typeface="Times New Roman" panose="02020603050405020304" pitchFamily="18" charset="0"/>
                <a:ea typeface="微软雅黑" pitchFamily="34" charset="-122"/>
              </a:rPr>
              <a:t>在满足各销点的需要量的前提下</a:t>
            </a:r>
            <a:r>
              <a:rPr lang="zh-CN" altLang="en-US" b="1" dirty="0">
                <a:solidFill>
                  <a:schemeClr val="folHlink"/>
                </a:solidFill>
                <a:latin typeface="仿宋" pitchFamily="49" charset="-122"/>
                <a:ea typeface="仿宋" pitchFamily="49" charset="-122"/>
              </a:rPr>
              <a:t>，</a:t>
            </a:r>
            <a:r>
              <a:rPr lang="zh-CN" altLang="en-US" b="1" dirty="0">
                <a:solidFill>
                  <a:schemeClr val="folHlink"/>
                </a:solidFill>
                <a:latin typeface="Times New Roman" panose="02020603050405020304" pitchFamily="18" charset="0"/>
                <a:ea typeface="微软雅黑" pitchFamily="34" charset="-122"/>
              </a:rPr>
              <a:t>使总运费为最少。</a:t>
            </a:r>
            <a:r>
              <a:rPr lang="zh-CN" altLang="en-US" b="1" dirty="0">
                <a:latin typeface="Times New Roman" panose="02020603050405020304" pitchFamily="18" charset="0"/>
                <a:ea typeface="微软雅黑" pitchFamily="34" charset="-122"/>
              </a:rPr>
              <a:t> </a:t>
            </a:r>
          </a:p>
        </p:txBody>
      </p:sp>
      <p:pic>
        <p:nvPicPr>
          <p:cNvPr id="325637" name="Picture 5"/>
          <p:cNvPicPr>
            <a:picLocks noChangeAspect="1"/>
          </p:cNvPicPr>
          <p:nvPr/>
        </p:nvPicPr>
        <p:blipFill>
          <a:blip r:embed="rId2"/>
          <a:stretch>
            <a:fillRect/>
          </a:stretch>
        </p:blipFill>
        <p:spPr>
          <a:xfrm>
            <a:off x="4787900" y="5016500"/>
            <a:ext cx="4392613" cy="18415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par>
                                <p:cTn id="38" presetID="3" presetClass="entr" presetSubtype="10" fill="hold" nodeType="withEffect">
                                  <p:stCondLst>
                                    <p:cond delay="0"/>
                                  </p:stCondLst>
                                  <p:childTnLst>
                                    <p:set>
                                      <p:cBhvr>
                                        <p:cTn id="39" dur="1" fill="hold">
                                          <p:stCondLst>
                                            <p:cond delay="0"/>
                                          </p:stCondLst>
                                        </p:cTn>
                                        <p:tgtEl>
                                          <p:spTgt spid="325637"/>
                                        </p:tgtEl>
                                        <p:attrNameLst>
                                          <p:attrName>style.visibility</p:attrName>
                                        </p:attrNameLst>
                                      </p:cBhvr>
                                      <p:to>
                                        <p:strVal val="visible"/>
                                      </p:to>
                                    </p:set>
                                    <p:animEffect transition="in" filter="blinds(horizontal)">
                                      <p:cBhvr>
                                        <p:cTn id="40" dur="500"/>
                                        <p:tgtEl>
                                          <p:spTgt spid="325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p:nvPr/>
        </p:nvSpPr>
        <p:spPr>
          <a:xfrm>
            <a:off x="0" y="44450"/>
            <a:ext cx="9144000" cy="2232025"/>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a:t>
            </a:r>
            <a:r>
              <a:rPr lang="en-US" altLang="zh-CN" b="1" dirty="0">
                <a:solidFill>
                  <a:schemeClr val="hlink"/>
                </a:solidFill>
                <a:latin typeface="Times New Roman" panose="02020603050405020304" pitchFamily="18" charset="0"/>
                <a:ea typeface="微软雅黑" pitchFamily="34" charset="-122"/>
              </a:rPr>
              <a:t>4-1</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某公司经销甲产品。它下设三个加工厂。每日的产量分别是：</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7</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9</a:t>
            </a:r>
            <a:r>
              <a:rPr lang="zh-CN" altLang="en-US" b="1" dirty="0">
                <a:latin typeface="Times New Roman" panose="02020603050405020304" pitchFamily="18" charset="0"/>
                <a:ea typeface="微软雅黑" pitchFamily="34" charset="-122"/>
              </a:rPr>
              <a:t>吨。该公司把这些产品分别运往四个销售点。各销售点每日销量为：</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p>
        </p:txBody>
      </p:sp>
      <p:sp>
        <p:nvSpPr>
          <p:cNvPr id="6147" name="Rectangle 2"/>
          <p:cNvSpPr txBox="1"/>
          <p:nvPr/>
        </p:nvSpPr>
        <p:spPr>
          <a:xfrm>
            <a:off x="0" y="1555750"/>
            <a:ext cx="4859338" cy="1557338"/>
          </a:xfrm>
          <a:prstGeom prst="rect">
            <a:avLst/>
          </a:prstGeom>
          <a:solidFill>
            <a:srgbClr val="FFFF99"/>
          </a:solidFill>
          <a:ln w="9525">
            <a:noFill/>
          </a:ln>
        </p:spPr>
        <p:txBody>
          <a:bodyPr/>
          <a:lstStyle/>
          <a:p>
            <a:r>
              <a:rPr lang="zh-CN" altLang="en-US" b="1" dirty="0">
                <a:solidFill>
                  <a:schemeClr val="folHlink"/>
                </a:solidFill>
                <a:latin typeface="Times New Roman" panose="02020603050405020304" pitchFamily="18" charset="0"/>
                <a:ea typeface="微软雅黑" pitchFamily="34" charset="-122"/>
              </a:rPr>
              <a:t>已知从各工厂到各销售点的单位产品的运价为右表所示。问该公司应如何调运产品，在满足各销点的需要量的前提下，使总运费为最少</a:t>
            </a:r>
            <a:r>
              <a:rPr lang="zh-CN" altLang="en-US" b="1" dirty="0">
                <a:latin typeface="Times New Roman" panose="02020603050405020304" pitchFamily="18" charset="0"/>
                <a:ea typeface="微软雅黑" pitchFamily="34" charset="-122"/>
              </a:rPr>
              <a:t> </a:t>
            </a:r>
          </a:p>
        </p:txBody>
      </p:sp>
      <p:pic>
        <p:nvPicPr>
          <p:cNvPr id="6148" name="Picture 5"/>
          <p:cNvPicPr>
            <a:picLocks noChangeAspect="1"/>
          </p:cNvPicPr>
          <p:nvPr/>
        </p:nvPicPr>
        <p:blipFill>
          <a:blip r:embed="rId2"/>
          <a:stretch>
            <a:fillRect/>
          </a:stretch>
        </p:blipFill>
        <p:spPr>
          <a:xfrm>
            <a:off x="4715510" y="1340803"/>
            <a:ext cx="4392613" cy="1841500"/>
          </a:xfrm>
          <a:prstGeom prst="rect">
            <a:avLst/>
          </a:prstGeom>
          <a:noFill/>
          <a:ln w="9525">
            <a:noFill/>
          </a:ln>
        </p:spPr>
      </p:pic>
      <p:sp>
        <p:nvSpPr>
          <p:cNvPr id="6149" name="Rectangle 2"/>
          <p:cNvSpPr txBox="1"/>
          <p:nvPr/>
        </p:nvSpPr>
        <p:spPr>
          <a:xfrm>
            <a:off x="0" y="3860800"/>
            <a:ext cx="9144000" cy="503238"/>
          </a:xfrm>
          <a:prstGeom prst="rect">
            <a:avLst/>
          </a:prstGeom>
          <a:solidFill>
            <a:srgbClr val="B3F1F7"/>
          </a:solidFill>
          <a:ln w="9525">
            <a:noFill/>
          </a:ln>
        </p:spPr>
        <p:txBody>
          <a:bodyPr/>
          <a:lstStyle/>
          <a:p>
            <a:r>
              <a:rPr lang="zh-CN" altLang="en-US" b="1" dirty="0">
                <a:solidFill>
                  <a:schemeClr val="hlink"/>
                </a:solidFill>
                <a:latin typeface="微软雅黑" pitchFamily="34" charset="-122"/>
                <a:ea typeface="微软雅黑" pitchFamily="34" charset="-122"/>
              </a:rPr>
              <a:t>解  </a:t>
            </a:r>
            <a:r>
              <a:rPr lang="zh-CN" altLang="en-US" b="1" dirty="0">
                <a:latin typeface="微软雅黑" pitchFamily="34" charset="-122"/>
                <a:ea typeface="微软雅黑" pitchFamily="34" charset="-122"/>
              </a:rPr>
              <a:t>先作出这个问题的产销平衡表</a:t>
            </a:r>
            <a:endParaRPr lang="en-US" altLang="zh-CN" b="1" dirty="0">
              <a:latin typeface="微软雅黑" pitchFamily="34" charset="-122"/>
              <a:ea typeface="微软雅黑" pitchFamily="34" charset="-122"/>
            </a:endParaRPr>
          </a:p>
        </p:txBody>
      </p:sp>
      <p:pic>
        <p:nvPicPr>
          <p:cNvPr id="6150" name="Picture 7"/>
          <p:cNvPicPr>
            <a:picLocks noChangeAspect="1"/>
          </p:cNvPicPr>
          <p:nvPr/>
        </p:nvPicPr>
        <p:blipFill>
          <a:blip r:embed="rId3"/>
          <a:stretch>
            <a:fillRect/>
          </a:stretch>
        </p:blipFill>
        <p:spPr>
          <a:xfrm>
            <a:off x="2124075" y="4437063"/>
            <a:ext cx="4608513" cy="1912937"/>
          </a:xfrm>
          <a:prstGeom prst="rect">
            <a:avLst/>
          </a:prstGeom>
          <a:noFill/>
          <a:ln w="9525">
            <a:noFill/>
          </a:ln>
        </p:spPr>
      </p:pic>
      <p:sp>
        <p:nvSpPr>
          <p:cNvPr id="6151" name="矩形 4"/>
          <p:cNvSpPr/>
          <p:nvPr/>
        </p:nvSpPr>
        <p:spPr>
          <a:xfrm>
            <a:off x="6804248" y="3182303"/>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4-4</a:t>
            </a:r>
            <a:endParaRPr lang="zh-CN" altLang="en-US" dirty="0">
              <a:latin typeface="微软雅黑" pitchFamily="34" charset="-122"/>
              <a:ea typeface="微软雅黑" pitchFamily="34" charset="-122"/>
            </a:endParaRPr>
          </a:p>
        </p:txBody>
      </p:sp>
      <p:sp>
        <p:nvSpPr>
          <p:cNvPr id="6152" name="矩形 4"/>
          <p:cNvSpPr/>
          <p:nvPr/>
        </p:nvSpPr>
        <p:spPr>
          <a:xfrm>
            <a:off x="3851275" y="6400800"/>
            <a:ext cx="98777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4-5</a:t>
            </a:r>
            <a:endParaRPr lang="zh-CN" altLang="en-US" dirty="0">
              <a:latin typeface="微软雅黑" pitchFamily="34" charset="-122"/>
              <a:ea typeface="微软雅黑" pitchFamily="34"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620713"/>
            <a:ext cx="9144000" cy="836612"/>
          </a:xfrm>
          <a:prstGeom prst="rect">
            <a:avLst/>
          </a:prstGeom>
          <a:noFill/>
          <a:ln w="9525">
            <a:noFill/>
          </a:ln>
        </p:spPr>
        <p:txBody>
          <a:bodyPr/>
          <a:lstStyle/>
          <a:p>
            <a:r>
              <a:rPr lang="zh-CN" altLang="en-US" b="1" dirty="0">
                <a:latin typeface="Times New Roman" panose="02020603050405020304" pitchFamily="18" charset="0"/>
                <a:ea typeface="微软雅黑" pitchFamily="34" charset="-122"/>
              </a:rPr>
              <a:t>确定初始基可行解的方法很多</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有最小元素法和伏格尔</a:t>
            </a:r>
            <a:r>
              <a:rPr lang="en-US" altLang="zh-CN" b="1" dirty="0">
                <a:latin typeface="Times New Roman" panose="02020603050405020304" pitchFamily="18" charset="0"/>
                <a:ea typeface="微软雅黑" pitchFamily="34" charset="-122"/>
              </a:rPr>
              <a:t>(Vogel)</a:t>
            </a:r>
            <a:r>
              <a:rPr lang="zh-CN" altLang="en-US" b="1" dirty="0">
                <a:latin typeface="Times New Roman" panose="02020603050405020304" pitchFamily="18" charset="0"/>
                <a:ea typeface="微软雅黑" pitchFamily="34" charset="-122"/>
              </a:rPr>
              <a:t>法。一般希望方法既简便</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又尽可能接近最优解。下面介绍两种方法：</a:t>
            </a:r>
            <a:r>
              <a:rPr lang="zh-CN" altLang="en-US" sz="2800" dirty="0">
                <a:latin typeface="Times New Roman" panose="02020603050405020304" pitchFamily="18" charset="0"/>
                <a:ea typeface="华文楷体" panose="02010600040101010101" pitchFamily="2" charset="-122"/>
              </a:rPr>
              <a:t> </a:t>
            </a:r>
            <a:endParaRPr lang="zh-CN" altLang="en-US" sz="2800" dirty="0">
              <a:solidFill>
                <a:schemeClr val="tx2"/>
              </a:solidFill>
              <a:latin typeface="微软雅黑" pitchFamily="34" charset="-122"/>
              <a:ea typeface="华文楷体" panose="02010600040101010101" pitchFamily="2" charset="-122"/>
            </a:endParaRPr>
          </a:p>
        </p:txBody>
      </p:sp>
      <p:sp>
        <p:nvSpPr>
          <p:cNvPr id="3" name="Rectangle 3"/>
          <p:cNvSpPr txBox="1"/>
          <p:nvPr/>
        </p:nvSpPr>
        <p:spPr>
          <a:xfrm>
            <a:off x="0" y="1412875"/>
            <a:ext cx="9144000" cy="4318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en-US" altLang="zh-CN" sz="2800" b="1" dirty="0">
                <a:solidFill>
                  <a:schemeClr val="hlink"/>
                </a:solidFill>
                <a:latin typeface="微软雅黑" pitchFamily="34" charset="-122"/>
                <a:ea typeface="微软雅黑" pitchFamily="34" charset="-122"/>
              </a:rPr>
              <a:t>I.</a:t>
            </a:r>
            <a:r>
              <a:rPr lang="en-US" altLang="zh-CN" sz="2800" b="1" dirty="0">
                <a:solidFill>
                  <a:schemeClr val="hlink"/>
                </a:solidFill>
                <a:latin typeface="Times New Roman" panose="02020603050405020304" pitchFamily="18" charset="0"/>
                <a:ea typeface="微软雅黑" pitchFamily="34" charset="-122"/>
              </a:rPr>
              <a:t> </a:t>
            </a:r>
            <a:r>
              <a:rPr lang="en-US" altLang="zh-CN" sz="2800" b="1" dirty="0">
                <a:solidFill>
                  <a:schemeClr val="hlink"/>
                </a:solidFill>
                <a:latin typeface="华文楷体" panose="02010600040101010101" pitchFamily="2" charset="-122"/>
                <a:ea typeface="微软雅黑" pitchFamily="34" charset="-122"/>
              </a:rPr>
              <a:t> </a:t>
            </a:r>
            <a:r>
              <a:rPr lang="zh-CN" altLang="en-US" sz="2800" b="1" dirty="0">
                <a:solidFill>
                  <a:schemeClr val="hlink"/>
                </a:solidFill>
                <a:latin typeface="微软雅黑" pitchFamily="34" charset="-122"/>
                <a:ea typeface="微软雅黑" pitchFamily="34" charset="-122"/>
              </a:rPr>
              <a:t>最小元素法</a:t>
            </a:r>
          </a:p>
        </p:txBody>
      </p:sp>
      <p:sp>
        <p:nvSpPr>
          <p:cNvPr id="4" name="Rectangle 4"/>
          <p:cNvSpPr/>
          <p:nvPr/>
        </p:nvSpPr>
        <p:spPr>
          <a:xfrm>
            <a:off x="0" y="1916113"/>
            <a:ext cx="9144000" cy="2308225"/>
          </a:xfrm>
          <a:prstGeom prst="rect">
            <a:avLst/>
          </a:prstGeom>
          <a:noFill/>
          <a:ln w="9525">
            <a:noFill/>
          </a:ln>
        </p:spPr>
        <p:txBody>
          <a:bodyPr>
            <a:spAutoFit/>
          </a:bodyPr>
          <a:lstStyle/>
          <a:p>
            <a:pPr algn="just" eaLnBrk="1" hangingPunct="1"/>
            <a:r>
              <a:rPr lang="zh-CN" altLang="en-US" b="1" dirty="0">
                <a:latin typeface="Times New Roman" panose="02020603050405020304" pitchFamily="18" charset="0"/>
                <a:ea typeface="微软雅黑" pitchFamily="34" charset="-122"/>
              </a:rPr>
              <a:t>这方法的基本思想是就近供应</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即从单位运价表中最小的运价开始确定供销关系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然后次小。一直到给出初始基可行解为止</a:t>
            </a:r>
          </a:p>
          <a:p>
            <a:pPr algn="just"/>
            <a:r>
              <a:rPr lang="zh-CN" altLang="en-US" b="1" dirty="0">
                <a:solidFill>
                  <a:srgbClr val="C00000"/>
                </a:solidFill>
                <a:latin typeface="Times New Roman" panose="02020603050405020304" pitchFamily="18" charset="0"/>
                <a:ea typeface="微软雅黑" pitchFamily="34" charset="-122"/>
              </a:rPr>
              <a:t>第一步</a:t>
            </a:r>
            <a:r>
              <a:rPr lang="zh-CN" altLang="en-US" b="1" dirty="0">
                <a:latin typeface="Times New Roman" panose="02020603050405020304" pitchFamily="18" charset="0"/>
                <a:ea typeface="微软雅黑" pitchFamily="34" charset="-122"/>
              </a:rPr>
              <a:t>：</a:t>
            </a:r>
            <a:r>
              <a:rPr lang="zh-CN" altLang="en-US" b="1" dirty="0">
                <a:solidFill>
                  <a:schemeClr val="folHlink"/>
                </a:solidFill>
                <a:latin typeface="Times New Roman" panose="02020603050405020304" pitchFamily="18" charset="0"/>
                <a:ea typeface="微软雅黑" pitchFamily="34" charset="-122"/>
              </a:rPr>
              <a:t>从表</a:t>
            </a:r>
            <a:r>
              <a:rPr lang="en-US" altLang="zh-CN" b="1" dirty="0">
                <a:solidFill>
                  <a:schemeClr val="folHlink"/>
                </a:solidFill>
                <a:latin typeface="Times New Roman" panose="02020603050405020304" pitchFamily="18" charset="0"/>
                <a:ea typeface="微软雅黑" pitchFamily="34" charset="-122"/>
              </a:rPr>
              <a:t>4-4</a:t>
            </a:r>
            <a:r>
              <a:rPr lang="zh-CN" altLang="en-US" b="1" dirty="0">
                <a:solidFill>
                  <a:schemeClr val="folHlink"/>
                </a:solidFill>
                <a:latin typeface="Times New Roman" panose="02020603050405020304" pitchFamily="18" charset="0"/>
                <a:ea typeface="微软雅黑" pitchFamily="34" charset="-122"/>
              </a:rPr>
              <a:t>中找出最小运价为</a:t>
            </a:r>
            <a:r>
              <a:rPr lang="en-US" altLang="zh-CN" b="1" dirty="0">
                <a:solidFill>
                  <a:schemeClr val="folHlink"/>
                </a:solidFill>
                <a:latin typeface="Times New Roman" panose="02020603050405020304" pitchFamily="18" charset="0"/>
                <a:ea typeface="微软雅黑" pitchFamily="34" charset="-122"/>
              </a:rPr>
              <a:t>1</a:t>
            </a:r>
            <a:r>
              <a:rPr lang="zh-CN" altLang="en-US" b="1" dirty="0">
                <a:solidFill>
                  <a:schemeClr val="folHlink"/>
                </a:solidFill>
                <a:latin typeface="Times New Roman" panose="02020603050405020304" pitchFamily="18" charset="0"/>
                <a:ea typeface="微软雅黑" pitchFamily="34" charset="-122"/>
              </a:rPr>
              <a:t>，这表示先将</a:t>
            </a:r>
            <a:r>
              <a:rPr lang="en-US" altLang="zh-CN" b="1" dirty="0">
                <a:solidFill>
                  <a:schemeClr val="folHlink"/>
                </a:solidFill>
                <a:latin typeface="Times New Roman" panose="02020603050405020304" pitchFamily="18" charset="0"/>
                <a:ea typeface="微软雅黑" pitchFamily="34" charset="-122"/>
              </a:rPr>
              <a:t>A</a:t>
            </a:r>
            <a:r>
              <a:rPr lang="en-US" altLang="zh-CN" b="1" baseline="-30000" dirty="0">
                <a:solidFill>
                  <a:schemeClr val="folHlink"/>
                </a:solidFill>
                <a:latin typeface="Times New Roman" panose="02020603050405020304" pitchFamily="18" charset="0"/>
                <a:ea typeface="微软雅黑" pitchFamily="34" charset="-122"/>
              </a:rPr>
              <a:t>2</a:t>
            </a:r>
            <a:r>
              <a:rPr lang="zh-CN" altLang="en-US" b="1" dirty="0">
                <a:solidFill>
                  <a:schemeClr val="folHlink"/>
                </a:solidFill>
                <a:latin typeface="Times New Roman" panose="02020603050405020304" pitchFamily="18" charset="0"/>
                <a:ea typeface="微软雅黑" pitchFamily="34" charset="-122"/>
              </a:rPr>
              <a:t>的产品供应给</a:t>
            </a:r>
            <a:r>
              <a:rPr lang="en-US" altLang="zh-CN" b="1" dirty="0">
                <a:solidFill>
                  <a:schemeClr val="folHlink"/>
                </a:solidFill>
                <a:latin typeface="Times New Roman" panose="02020603050405020304" pitchFamily="18" charset="0"/>
                <a:ea typeface="微软雅黑" pitchFamily="34" charset="-122"/>
              </a:rPr>
              <a:t>B</a:t>
            </a:r>
            <a:r>
              <a:rPr lang="en-US" altLang="zh-CN" b="1" baseline="-30000" dirty="0">
                <a:solidFill>
                  <a:schemeClr val="folHlink"/>
                </a:solidFill>
                <a:latin typeface="Times New Roman" panose="02020603050405020304" pitchFamily="18" charset="0"/>
                <a:ea typeface="微软雅黑" pitchFamily="34" charset="-122"/>
              </a:rPr>
              <a:t>1</a:t>
            </a:r>
            <a:r>
              <a:rPr lang="zh-CN" altLang="en-US" b="1" dirty="0">
                <a:solidFill>
                  <a:schemeClr val="folHlink"/>
                </a:solidFill>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因</a:t>
            </a:r>
            <a:r>
              <a:rPr lang="en-US" altLang="zh-CN" b="1" i="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除满足</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的全部需要外</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还可多余</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吨产品。</a:t>
            </a:r>
            <a:r>
              <a:rPr lang="zh-CN" altLang="en-US" b="1" dirty="0">
                <a:solidFill>
                  <a:srgbClr val="009900"/>
                </a:solidFill>
                <a:latin typeface="Times New Roman" panose="02020603050405020304" pitchFamily="18" charset="0"/>
                <a:ea typeface="微软雅黑" pitchFamily="34" charset="-122"/>
              </a:rPr>
              <a:t>在表</a:t>
            </a:r>
            <a:r>
              <a:rPr lang="en-US" altLang="zh-CN" b="1" dirty="0">
                <a:solidFill>
                  <a:srgbClr val="009900"/>
                </a:solidFill>
                <a:latin typeface="Times New Roman" panose="02020603050405020304" pitchFamily="18" charset="0"/>
                <a:ea typeface="微软雅黑" pitchFamily="34" charset="-122"/>
              </a:rPr>
              <a:t>4-5</a:t>
            </a:r>
            <a:r>
              <a:rPr lang="zh-CN" altLang="en-US" b="1" dirty="0">
                <a:solidFill>
                  <a:srgbClr val="009900"/>
                </a:solidFill>
                <a:latin typeface="Times New Roman" panose="02020603050405020304" pitchFamily="18" charset="0"/>
                <a:ea typeface="微软雅黑" pitchFamily="34" charset="-122"/>
              </a:rPr>
              <a:t>的</a:t>
            </a:r>
            <a:r>
              <a:rPr lang="en-US" altLang="zh-CN" b="1" dirty="0">
                <a:solidFill>
                  <a:srgbClr val="009900"/>
                </a:solidFill>
                <a:latin typeface="Times New Roman" panose="02020603050405020304" pitchFamily="18" charset="0"/>
                <a:ea typeface="微软雅黑" pitchFamily="34" charset="-122"/>
              </a:rPr>
              <a:t>(A</a:t>
            </a:r>
            <a:r>
              <a:rPr lang="en-US" altLang="zh-CN" b="1" baseline="-30000" dirty="0">
                <a:solidFill>
                  <a:srgbClr val="009900"/>
                </a:solidFill>
                <a:latin typeface="Times New Roman" panose="02020603050405020304" pitchFamily="18" charset="0"/>
                <a:ea typeface="微软雅黑" pitchFamily="34" charset="-122"/>
              </a:rPr>
              <a:t>2</a:t>
            </a:r>
            <a:r>
              <a:rPr lang="zh-CN" altLang="en-US" b="1" dirty="0">
                <a:solidFill>
                  <a:srgbClr val="009900"/>
                </a:solidFill>
                <a:latin typeface="仿宋" pitchFamily="49" charset="-122"/>
                <a:ea typeface="仿宋" pitchFamily="49" charset="-122"/>
              </a:rPr>
              <a:t>，</a:t>
            </a:r>
            <a:r>
              <a:rPr lang="en-US" altLang="zh-CN" b="1" dirty="0">
                <a:solidFill>
                  <a:srgbClr val="009900"/>
                </a:solidFill>
                <a:latin typeface="Times New Roman" panose="02020603050405020304" pitchFamily="18" charset="0"/>
                <a:ea typeface="微软雅黑" pitchFamily="34" charset="-122"/>
              </a:rPr>
              <a:t>B</a:t>
            </a:r>
            <a:r>
              <a:rPr lang="en-US" altLang="zh-CN" b="1" baseline="-30000" dirty="0">
                <a:solidFill>
                  <a:srgbClr val="009900"/>
                </a:solidFill>
                <a:latin typeface="Times New Roman" panose="02020603050405020304" pitchFamily="18" charset="0"/>
                <a:ea typeface="微软雅黑" pitchFamily="34" charset="-122"/>
              </a:rPr>
              <a:t>1</a:t>
            </a:r>
            <a:r>
              <a:rPr lang="en-US" altLang="zh-CN" b="1" dirty="0">
                <a:solidFill>
                  <a:srgbClr val="009900"/>
                </a:solidFill>
                <a:latin typeface="Times New Roman" panose="02020603050405020304" pitchFamily="18" charset="0"/>
                <a:ea typeface="微软雅黑" pitchFamily="34" charset="-122"/>
              </a:rPr>
              <a:t>)</a:t>
            </a:r>
            <a:r>
              <a:rPr lang="zh-CN" altLang="en-US" b="1" dirty="0">
                <a:solidFill>
                  <a:srgbClr val="009900"/>
                </a:solidFill>
                <a:latin typeface="Times New Roman" panose="02020603050405020304" pitchFamily="18" charset="0"/>
                <a:ea typeface="微软雅黑" pitchFamily="34" charset="-122"/>
              </a:rPr>
              <a:t>的交叉格处填上</a:t>
            </a:r>
            <a:r>
              <a:rPr lang="en-US" altLang="zh-CN" b="1" dirty="0">
                <a:solidFill>
                  <a:srgbClr val="009900"/>
                </a:solidFill>
                <a:latin typeface="Times New Roman" panose="02020603050405020304" pitchFamily="18" charset="0"/>
                <a:ea typeface="微软雅黑" pitchFamily="34" charset="-122"/>
              </a:rPr>
              <a:t>3</a:t>
            </a:r>
            <a:r>
              <a:rPr lang="zh-CN" altLang="en-US" b="1" dirty="0">
                <a:solidFill>
                  <a:srgbClr val="009900"/>
                </a:solidFill>
                <a:latin typeface="仿宋" pitchFamily="49" charset="-122"/>
                <a:ea typeface="仿宋" pitchFamily="49" charset="-122"/>
              </a:rPr>
              <a:t>，</a:t>
            </a:r>
            <a:r>
              <a:rPr lang="zh-CN" altLang="en-US" b="1" dirty="0">
                <a:solidFill>
                  <a:srgbClr val="009900"/>
                </a:solidFill>
                <a:latin typeface="Times New Roman" panose="02020603050405020304" pitchFamily="18" charset="0"/>
                <a:ea typeface="微软雅黑" pitchFamily="34" charset="-122"/>
              </a:rPr>
              <a:t>得表</a:t>
            </a:r>
            <a:r>
              <a:rPr lang="en-US" altLang="zh-CN" b="1" dirty="0">
                <a:solidFill>
                  <a:srgbClr val="009900"/>
                </a:solidFill>
                <a:latin typeface="Times New Roman" panose="02020603050405020304" pitchFamily="18" charset="0"/>
                <a:ea typeface="微软雅黑" pitchFamily="34" charset="-122"/>
              </a:rPr>
              <a:t>4-6</a:t>
            </a:r>
          </a:p>
          <a:p>
            <a:pPr algn="just"/>
            <a:r>
              <a:rPr lang="zh-CN" altLang="en-US" b="1" dirty="0">
                <a:latin typeface="Times New Roman" panose="02020603050405020304" pitchFamily="18" charset="0"/>
                <a:ea typeface="微软雅黑" pitchFamily="34" charset="-122"/>
              </a:rPr>
              <a:t>并将表</a:t>
            </a:r>
            <a:r>
              <a:rPr lang="en-US" altLang="zh-CN" b="1" dirty="0">
                <a:latin typeface="Times New Roman" panose="02020603050405020304" pitchFamily="18" charset="0"/>
                <a:ea typeface="微软雅黑" pitchFamily="34" charset="-122"/>
              </a:rPr>
              <a:t>4-3</a:t>
            </a:r>
            <a:r>
              <a:rPr lang="zh-CN" altLang="en-US" b="1" dirty="0">
                <a:latin typeface="Times New Roman" panose="02020603050405020304" pitchFamily="18" charset="0"/>
                <a:ea typeface="微软雅黑" pitchFamily="34" charset="-122"/>
              </a:rPr>
              <a:t>的</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列运价划去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4-7</a:t>
            </a:r>
          </a:p>
        </p:txBody>
      </p:sp>
      <p:sp>
        <p:nvSpPr>
          <p:cNvPr id="7173"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5.2.1 </a:t>
            </a:r>
            <a:r>
              <a:rPr lang="zh-CN" altLang="en-US" sz="2800" b="1" dirty="0">
                <a:solidFill>
                  <a:schemeClr val="hlink"/>
                </a:solidFill>
                <a:latin typeface="微软雅黑" pitchFamily="34" charset="-122"/>
                <a:ea typeface="微软雅黑" pitchFamily="34" charset="-122"/>
              </a:rPr>
              <a:t>确定初始基可行解</a:t>
            </a:r>
          </a:p>
        </p:txBody>
      </p:sp>
      <p:pic>
        <p:nvPicPr>
          <p:cNvPr id="330759" name="Picture 7"/>
          <p:cNvPicPr>
            <a:picLocks noChangeAspect="1"/>
          </p:cNvPicPr>
          <p:nvPr/>
        </p:nvPicPr>
        <p:blipFill>
          <a:blip r:embed="rId2"/>
          <a:stretch>
            <a:fillRect/>
          </a:stretch>
        </p:blipFill>
        <p:spPr>
          <a:xfrm>
            <a:off x="0" y="4438650"/>
            <a:ext cx="4392613" cy="1841500"/>
          </a:xfrm>
          <a:prstGeom prst="rect">
            <a:avLst/>
          </a:prstGeom>
          <a:noFill/>
          <a:ln w="9525">
            <a:noFill/>
          </a:ln>
        </p:spPr>
      </p:pic>
      <p:sp>
        <p:nvSpPr>
          <p:cNvPr id="5" name="矩形 4"/>
          <p:cNvSpPr/>
          <p:nvPr/>
        </p:nvSpPr>
        <p:spPr>
          <a:xfrm>
            <a:off x="2016125" y="6308725"/>
            <a:ext cx="987425" cy="461963"/>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4-3</a:t>
            </a:r>
            <a:endParaRPr lang="zh-CN" altLang="en-US" dirty="0">
              <a:latin typeface="微软雅黑" pitchFamily="34" charset="-122"/>
              <a:ea typeface="微软雅黑" pitchFamily="34" charset="-122"/>
            </a:endParaRPr>
          </a:p>
        </p:txBody>
      </p:sp>
      <p:pic>
        <p:nvPicPr>
          <p:cNvPr id="330761" name="Picture 9"/>
          <p:cNvPicPr>
            <a:picLocks noChangeAspect="1"/>
          </p:cNvPicPr>
          <p:nvPr/>
        </p:nvPicPr>
        <p:blipFill>
          <a:blip r:embed="rId3"/>
          <a:stretch>
            <a:fillRect/>
          </a:stretch>
        </p:blipFill>
        <p:spPr>
          <a:xfrm>
            <a:off x="4535488" y="4468813"/>
            <a:ext cx="4608512" cy="1912937"/>
          </a:xfrm>
          <a:prstGeom prst="rect">
            <a:avLst/>
          </a:prstGeom>
          <a:noFill/>
          <a:ln w="9525">
            <a:noFill/>
          </a:ln>
        </p:spPr>
      </p:pic>
      <p:sp>
        <p:nvSpPr>
          <p:cNvPr id="7" name="矩形 4"/>
          <p:cNvSpPr/>
          <p:nvPr/>
        </p:nvSpPr>
        <p:spPr>
          <a:xfrm>
            <a:off x="6443663" y="6381750"/>
            <a:ext cx="987425" cy="461963"/>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4-4</a:t>
            </a:r>
            <a:endParaRPr lang="zh-CN" altLang="en-US" dirty="0">
              <a:latin typeface="微软雅黑" pitchFamily="34" charset="-122"/>
              <a:ea typeface="微软雅黑" pitchFamily="34" charset="-122"/>
            </a:endParaRPr>
          </a:p>
        </p:txBody>
      </p:sp>
      <p:pic>
        <p:nvPicPr>
          <p:cNvPr id="330763" name="Picture 11"/>
          <p:cNvPicPr>
            <a:picLocks noChangeAspect="1"/>
          </p:cNvPicPr>
          <p:nvPr/>
        </p:nvPicPr>
        <p:blipFill>
          <a:blip r:embed="rId4"/>
          <a:stretch>
            <a:fillRect/>
          </a:stretch>
        </p:blipFill>
        <p:spPr>
          <a:xfrm>
            <a:off x="4500563" y="4437063"/>
            <a:ext cx="4643437" cy="1943100"/>
          </a:xfrm>
          <a:prstGeom prst="rect">
            <a:avLst/>
          </a:prstGeom>
          <a:noFill/>
          <a:ln w="9525">
            <a:noFill/>
          </a:ln>
        </p:spPr>
      </p:pic>
      <p:sp>
        <p:nvSpPr>
          <p:cNvPr id="8" name="矩形 4"/>
          <p:cNvSpPr/>
          <p:nvPr/>
        </p:nvSpPr>
        <p:spPr>
          <a:xfrm>
            <a:off x="6372225" y="6381750"/>
            <a:ext cx="987425" cy="461963"/>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4-6</a:t>
            </a:r>
            <a:endParaRPr lang="zh-CN" altLang="en-US" dirty="0">
              <a:latin typeface="微软雅黑" pitchFamily="34" charset="-122"/>
              <a:ea typeface="微软雅黑" pitchFamily="34" charset="-122"/>
            </a:endParaRPr>
          </a:p>
        </p:txBody>
      </p:sp>
      <p:pic>
        <p:nvPicPr>
          <p:cNvPr id="330765" name="Picture 13"/>
          <p:cNvPicPr>
            <a:picLocks noChangeAspect="1"/>
          </p:cNvPicPr>
          <p:nvPr/>
        </p:nvPicPr>
        <p:blipFill>
          <a:blip r:embed="rId5"/>
          <a:stretch>
            <a:fillRect/>
          </a:stretch>
        </p:blipFill>
        <p:spPr>
          <a:xfrm>
            <a:off x="0" y="4437063"/>
            <a:ext cx="4427538" cy="2017712"/>
          </a:xfrm>
          <a:prstGeom prst="rect">
            <a:avLst/>
          </a:prstGeom>
          <a:noFill/>
          <a:ln w="9525">
            <a:noFill/>
          </a:ln>
        </p:spPr>
      </p:pic>
      <p:sp>
        <p:nvSpPr>
          <p:cNvPr id="9" name="矩形 4"/>
          <p:cNvSpPr/>
          <p:nvPr/>
        </p:nvSpPr>
        <p:spPr>
          <a:xfrm>
            <a:off x="1970088" y="6454775"/>
            <a:ext cx="987425" cy="461963"/>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4-7</a:t>
            </a:r>
            <a:endParaRPr lang="zh-CN" altLang="en-US" dirty="0">
              <a:latin typeface="微软雅黑" pitchFamily="34" charset="-122"/>
              <a:ea typeface="微软雅黑"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0759"/>
                                        </p:tgtEl>
                                        <p:attrNameLst>
                                          <p:attrName>style.visibility</p:attrName>
                                        </p:attrNameLst>
                                      </p:cBhvr>
                                      <p:to>
                                        <p:strVal val="visible"/>
                                      </p:to>
                                    </p:set>
                                    <p:animEffect transition="in" filter="blinds(horizontal)">
                                      <p:cBhvr>
                                        <p:cTn id="22" dur="500"/>
                                        <p:tgtEl>
                                          <p:spTgt spid="33075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30761"/>
                                        </p:tgtEl>
                                        <p:attrNameLst>
                                          <p:attrName>style.visibility</p:attrName>
                                        </p:attrNameLst>
                                      </p:cBhvr>
                                      <p:to>
                                        <p:strVal val="visible"/>
                                      </p:to>
                                    </p:set>
                                    <p:animEffect transition="in" filter="blinds(horizontal)">
                                      <p:cBhvr>
                                        <p:cTn id="30" dur="500"/>
                                        <p:tgtEl>
                                          <p:spTgt spid="33076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dissolve">
                                      <p:cBhvr>
                                        <p:cTn id="38" dur="500"/>
                                        <p:tgtEl>
                                          <p:spTgt spid="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30763"/>
                                        </p:tgtEl>
                                        <p:attrNameLst>
                                          <p:attrName>style.visibility</p:attrName>
                                        </p:attrNameLst>
                                      </p:cBhvr>
                                      <p:to>
                                        <p:strVal val="visible"/>
                                      </p:to>
                                    </p:set>
                                    <p:animEffect transition="in" filter="blinds(horizontal)">
                                      <p:cBhvr>
                                        <p:cTn id="43" dur="500"/>
                                        <p:tgtEl>
                                          <p:spTgt spid="33076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linds(horizontal)">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Effect transition="in" filter="dissolve">
                                      <p:cBhvr>
                                        <p:cTn id="51" dur="500"/>
                                        <p:tgtEl>
                                          <p:spTgt spid="4">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blinds(horizontal)">
                                      <p:cBhvr>
                                        <p:cTn id="56" dur="500"/>
                                        <p:tgtEl>
                                          <p:spTgt spid="9"/>
                                        </p:tgtEl>
                                      </p:cBhvr>
                                    </p:animEffect>
                                  </p:childTnLst>
                                </p:cTn>
                              </p:par>
                              <p:par>
                                <p:cTn id="57" presetID="3" presetClass="entr" presetSubtype="10" fill="hold" nodeType="withEffect">
                                  <p:stCondLst>
                                    <p:cond delay="0"/>
                                  </p:stCondLst>
                                  <p:childTnLst>
                                    <p:set>
                                      <p:cBhvr>
                                        <p:cTn id="58" dur="1" fill="hold">
                                          <p:stCondLst>
                                            <p:cond delay="0"/>
                                          </p:stCondLst>
                                        </p:cTn>
                                        <p:tgtEl>
                                          <p:spTgt spid="330765"/>
                                        </p:tgtEl>
                                        <p:attrNameLst>
                                          <p:attrName>style.visibility</p:attrName>
                                        </p:attrNameLst>
                                      </p:cBhvr>
                                      <p:to>
                                        <p:strVal val="visible"/>
                                      </p:to>
                                    </p:set>
                                    <p:animEffect transition="in" filter="blinds(horizontal)">
                                      <p:cBhvr>
                                        <p:cTn id="59" dur="500"/>
                                        <p:tgtEl>
                                          <p:spTgt spid="330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3213100"/>
            <a:ext cx="9144000" cy="792163"/>
          </a:xfrm>
          <a:prstGeom prst="rect">
            <a:avLst/>
          </a:prstGeom>
          <a:solidFill>
            <a:srgbClr val="FFCCFF"/>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4-7</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确定</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多余的</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吨供应</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并给出表</a:t>
            </a:r>
            <a:r>
              <a:rPr lang="en-US" altLang="zh-CN" b="1" dirty="0">
                <a:latin typeface="Times New Roman" panose="02020603050405020304" pitchFamily="18" charset="0"/>
                <a:ea typeface="微软雅黑" pitchFamily="34" charset="-122"/>
              </a:rPr>
              <a:t>4-8</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a:t>
            </a:r>
            <a:r>
              <a:rPr lang="en-US" altLang="zh-CN" b="1" dirty="0">
                <a:latin typeface="Times New Roman" panose="02020603050405020304" pitchFamily="18" charset="0"/>
                <a:ea typeface="微软雅黑" pitchFamily="34" charset="-122"/>
              </a:rPr>
              <a:t>4-9</a:t>
            </a:r>
            <a:endParaRPr lang="zh-CN" altLang="en-US" b="1" dirty="0">
              <a:solidFill>
                <a:schemeClr val="tx2"/>
              </a:solidFill>
              <a:latin typeface="Times New Roman" panose="02020603050405020304" pitchFamily="18" charset="0"/>
              <a:ea typeface="微软雅黑" pitchFamily="34" charset="-122"/>
            </a:endParaRPr>
          </a:p>
        </p:txBody>
      </p:sp>
      <p:pic>
        <p:nvPicPr>
          <p:cNvPr id="8195" name="Picture 7"/>
          <p:cNvPicPr>
            <a:picLocks noChangeAspect="1"/>
          </p:cNvPicPr>
          <p:nvPr/>
        </p:nvPicPr>
        <p:blipFill>
          <a:blip r:embed="rId2"/>
          <a:stretch>
            <a:fillRect/>
          </a:stretch>
        </p:blipFill>
        <p:spPr>
          <a:xfrm>
            <a:off x="4500563" y="46038"/>
            <a:ext cx="4643437" cy="1943100"/>
          </a:xfrm>
          <a:prstGeom prst="rect">
            <a:avLst/>
          </a:prstGeom>
          <a:noFill/>
          <a:ln w="9525">
            <a:noFill/>
          </a:ln>
        </p:spPr>
      </p:pic>
      <p:sp>
        <p:nvSpPr>
          <p:cNvPr id="8196" name="矩形 4"/>
          <p:cNvSpPr/>
          <p:nvPr/>
        </p:nvSpPr>
        <p:spPr>
          <a:xfrm>
            <a:off x="6372225" y="1989138"/>
            <a:ext cx="98777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4-6</a:t>
            </a:r>
            <a:endParaRPr lang="zh-CN" altLang="en-US" dirty="0">
              <a:latin typeface="微软雅黑" pitchFamily="34" charset="-122"/>
              <a:ea typeface="微软雅黑" pitchFamily="34" charset="-122"/>
            </a:endParaRPr>
          </a:p>
        </p:txBody>
      </p:sp>
      <p:pic>
        <p:nvPicPr>
          <p:cNvPr id="8197" name="Picture 9"/>
          <p:cNvPicPr>
            <a:picLocks noChangeAspect="1"/>
          </p:cNvPicPr>
          <p:nvPr/>
        </p:nvPicPr>
        <p:blipFill>
          <a:blip r:embed="rId3"/>
          <a:stretch>
            <a:fillRect/>
          </a:stretch>
        </p:blipFill>
        <p:spPr>
          <a:xfrm>
            <a:off x="0" y="44450"/>
            <a:ext cx="4427538" cy="2017713"/>
          </a:xfrm>
          <a:prstGeom prst="rect">
            <a:avLst/>
          </a:prstGeom>
          <a:noFill/>
          <a:ln w="9525">
            <a:noFill/>
          </a:ln>
        </p:spPr>
      </p:pic>
      <p:sp>
        <p:nvSpPr>
          <p:cNvPr id="8198" name="矩形 4"/>
          <p:cNvSpPr/>
          <p:nvPr/>
        </p:nvSpPr>
        <p:spPr>
          <a:xfrm>
            <a:off x="1970088" y="2062163"/>
            <a:ext cx="987425" cy="461962"/>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4-7</a:t>
            </a:r>
            <a:endParaRPr lang="zh-CN" altLang="en-US" dirty="0">
              <a:latin typeface="微软雅黑" pitchFamily="34" charset="-122"/>
              <a:ea typeface="微软雅黑" pitchFamily="34" charset="-122"/>
            </a:endParaRPr>
          </a:p>
        </p:txBody>
      </p:sp>
      <p:pic>
        <p:nvPicPr>
          <p:cNvPr id="331787" name="Picture 11"/>
          <p:cNvPicPr>
            <a:picLocks noChangeAspect="1"/>
          </p:cNvPicPr>
          <p:nvPr/>
        </p:nvPicPr>
        <p:blipFill>
          <a:blip r:embed="rId4"/>
          <a:stretch>
            <a:fillRect/>
          </a:stretch>
        </p:blipFill>
        <p:spPr>
          <a:xfrm>
            <a:off x="0" y="4340225"/>
            <a:ext cx="4537075" cy="1903413"/>
          </a:xfrm>
          <a:prstGeom prst="rect">
            <a:avLst/>
          </a:prstGeom>
          <a:noFill/>
          <a:ln w="9525">
            <a:noFill/>
          </a:ln>
        </p:spPr>
      </p:pic>
      <p:pic>
        <p:nvPicPr>
          <p:cNvPr id="331788" name="Picture 12"/>
          <p:cNvPicPr>
            <a:picLocks noChangeAspect="1"/>
          </p:cNvPicPr>
          <p:nvPr/>
        </p:nvPicPr>
        <p:blipFill>
          <a:blip r:embed="rId5"/>
          <a:stretch>
            <a:fillRect/>
          </a:stretch>
        </p:blipFill>
        <p:spPr>
          <a:xfrm>
            <a:off x="4643438" y="4340225"/>
            <a:ext cx="4500562" cy="1833563"/>
          </a:xfrm>
          <a:prstGeom prst="rect">
            <a:avLst/>
          </a:prstGeom>
          <a:noFill/>
          <a:ln w="9525">
            <a:noFill/>
          </a:ln>
        </p:spPr>
      </p:pic>
      <p:sp>
        <p:nvSpPr>
          <p:cNvPr id="4" name="矩形 4"/>
          <p:cNvSpPr/>
          <p:nvPr/>
        </p:nvSpPr>
        <p:spPr>
          <a:xfrm>
            <a:off x="1835150" y="6284913"/>
            <a:ext cx="98777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4-8</a:t>
            </a:r>
            <a:endParaRPr lang="zh-CN" altLang="en-US" dirty="0">
              <a:latin typeface="微软雅黑" pitchFamily="34" charset="-122"/>
              <a:ea typeface="微软雅黑" pitchFamily="34" charset="-122"/>
            </a:endParaRPr>
          </a:p>
        </p:txBody>
      </p:sp>
      <p:sp>
        <p:nvSpPr>
          <p:cNvPr id="6" name="矩形 4"/>
          <p:cNvSpPr/>
          <p:nvPr/>
        </p:nvSpPr>
        <p:spPr>
          <a:xfrm>
            <a:off x="6516688" y="6211888"/>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4-9</a:t>
            </a:r>
            <a:endParaRPr lang="zh-CN" altLang="en-US" dirty="0">
              <a:latin typeface="微软雅黑" pitchFamily="34" charset="-122"/>
              <a:ea typeface="微软雅黑" pitchFamily="34" charset="-122"/>
            </a:endParaRPr>
          </a:p>
        </p:txBody>
      </p:sp>
      <p:sp>
        <p:nvSpPr>
          <p:cNvPr id="8203" name="Text Box 18"/>
          <p:cNvSpPr txBox="1"/>
          <p:nvPr/>
        </p:nvSpPr>
        <p:spPr>
          <a:xfrm>
            <a:off x="0" y="2565400"/>
            <a:ext cx="9144000" cy="457200"/>
          </a:xfrm>
          <a:prstGeom prst="rect">
            <a:avLst/>
          </a:prstGeom>
          <a:solidFill>
            <a:srgbClr val="99FF99"/>
          </a:solidFill>
          <a:ln w="9525">
            <a:noFill/>
          </a:ln>
        </p:spPr>
        <p:txBody>
          <a:bodyPr>
            <a:spAutoFit/>
          </a:bodyPr>
          <a:lstStyle/>
          <a:p>
            <a:pPr eaLnBrk="1" hangingPunct="1">
              <a:spcBef>
                <a:spcPct val="50000"/>
              </a:spcBef>
            </a:pPr>
            <a:r>
              <a:rPr lang="zh-CN" altLang="en-US" b="1" dirty="0">
                <a:solidFill>
                  <a:schemeClr val="folHlink"/>
                </a:solidFill>
                <a:latin typeface="Times New Roman" panose="02020603050405020304" pitchFamily="18" charset="0"/>
                <a:ea typeface="微软雅黑" pitchFamily="34" charset="-122"/>
              </a:rPr>
              <a:t>为什么划去列，而不是划去行？</a:t>
            </a:r>
          </a:p>
        </p:txBody>
      </p:sp>
      <p:sp>
        <p:nvSpPr>
          <p:cNvPr id="331795" name="Line 19"/>
          <p:cNvSpPr/>
          <p:nvPr/>
        </p:nvSpPr>
        <p:spPr>
          <a:xfrm>
            <a:off x="6732588" y="4221163"/>
            <a:ext cx="0" cy="2016125"/>
          </a:xfrm>
          <a:prstGeom prst="line">
            <a:avLst/>
          </a:prstGeom>
          <a:ln w="9525" cap="flat" cmpd="sng">
            <a:solidFill>
              <a:schemeClr val="tx1"/>
            </a:solidFill>
            <a:prstDash val="solid"/>
            <a:headEnd type="none" w="med" len="med"/>
            <a:tailEnd type="non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1795"/>
                                        </p:tgtEl>
                                        <p:attrNameLst>
                                          <p:attrName>style.visibility</p:attrName>
                                        </p:attrNameLst>
                                      </p:cBhvr>
                                      <p:to>
                                        <p:strVal val="visible"/>
                                      </p:to>
                                    </p:set>
                                    <p:animEffect transition="in" filter="blinds(horizontal)">
                                      <p:cBhvr>
                                        <p:cTn id="12" dur="500"/>
                                        <p:tgtEl>
                                          <p:spTgt spid="331795"/>
                                        </p:tgtEl>
                                      </p:cBhvr>
                                    </p:animEffect>
                                  </p:childTnLst>
                                </p:cTn>
                              </p:par>
                              <p:par>
                                <p:cTn id="13" presetID="3" presetClass="entr" presetSubtype="10" fill="hold" nodeType="withEffect">
                                  <p:stCondLst>
                                    <p:cond delay="0"/>
                                  </p:stCondLst>
                                  <p:childTnLst>
                                    <p:set>
                                      <p:cBhvr>
                                        <p:cTn id="14" dur="1" fill="hold">
                                          <p:stCondLst>
                                            <p:cond delay="0"/>
                                          </p:stCondLst>
                                        </p:cTn>
                                        <p:tgtEl>
                                          <p:spTgt spid="331788"/>
                                        </p:tgtEl>
                                        <p:attrNameLst>
                                          <p:attrName>style.visibility</p:attrName>
                                        </p:attrNameLst>
                                      </p:cBhvr>
                                      <p:to>
                                        <p:strVal val="visible"/>
                                      </p:to>
                                    </p:set>
                                    <p:animEffect transition="in" filter="blinds(horizontal)">
                                      <p:cBhvr>
                                        <p:cTn id="15" dur="500"/>
                                        <p:tgtEl>
                                          <p:spTgt spid="33178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331787"/>
                                        </p:tgtEl>
                                        <p:attrNameLst>
                                          <p:attrName>style.visibility</p:attrName>
                                        </p:attrNameLst>
                                      </p:cBhvr>
                                      <p:to>
                                        <p:strVal val="visible"/>
                                      </p:to>
                                    </p:set>
                                    <p:animEffect transition="in" filter="blinds(horizontal)">
                                      <p:cBhvr>
                                        <p:cTn id="21" dur="500"/>
                                        <p:tgtEl>
                                          <p:spTgt spid="33178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2636838"/>
            <a:ext cx="9144000" cy="1196975"/>
          </a:xfrm>
          <a:prstGeom prst="rect">
            <a:avLst/>
          </a:prstGeom>
          <a:no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4-9</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这样一步步地进行下去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直到单位运价表上的所有元素划去为止</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最后在产销平衡表上得到一个调运方案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4-10</a:t>
            </a:r>
          </a:p>
          <a:p>
            <a:r>
              <a:rPr lang="zh-CN" altLang="en-US" sz="2800" dirty="0">
                <a:latin typeface="Times New Roman" panose="02020603050405020304" pitchFamily="18" charset="0"/>
                <a:ea typeface="华文楷体" panose="02010600040101010101" pitchFamily="2" charset="-122"/>
              </a:rPr>
              <a:t> </a:t>
            </a:r>
          </a:p>
        </p:txBody>
      </p:sp>
      <p:pic>
        <p:nvPicPr>
          <p:cNvPr id="380931" name="Picture 3"/>
          <p:cNvPicPr>
            <a:picLocks noChangeAspect="1"/>
          </p:cNvPicPr>
          <p:nvPr/>
        </p:nvPicPr>
        <p:blipFill>
          <a:blip r:embed="rId2"/>
          <a:stretch>
            <a:fillRect/>
          </a:stretch>
        </p:blipFill>
        <p:spPr>
          <a:xfrm>
            <a:off x="1763713" y="4005263"/>
            <a:ext cx="5327650" cy="2235200"/>
          </a:xfrm>
          <a:prstGeom prst="rect">
            <a:avLst/>
          </a:prstGeom>
          <a:noFill/>
          <a:ln w="9525">
            <a:noFill/>
          </a:ln>
        </p:spPr>
      </p:pic>
      <p:pic>
        <p:nvPicPr>
          <p:cNvPr id="9220" name="Picture 4"/>
          <p:cNvPicPr>
            <a:picLocks noChangeAspect="1"/>
          </p:cNvPicPr>
          <p:nvPr/>
        </p:nvPicPr>
        <p:blipFill>
          <a:blip r:embed="rId3"/>
          <a:stretch>
            <a:fillRect/>
          </a:stretch>
        </p:blipFill>
        <p:spPr>
          <a:xfrm>
            <a:off x="0" y="44450"/>
            <a:ext cx="4537075" cy="1903413"/>
          </a:xfrm>
          <a:prstGeom prst="rect">
            <a:avLst/>
          </a:prstGeom>
          <a:noFill/>
          <a:ln w="9525">
            <a:noFill/>
          </a:ln>
        </p:spPr>
      </p:pic>
      <p:pic>
        <p:nvPicPr>
          <p:cNvPr id="9221" name="Picture 5"/>
          <p:cNvPicPr>
            <a:picLocks noChangeAspect="1"/>
          </p:cNvPicPr>
          <p:nvPr/>
        </p:nvPicPr>
        <p:blipFill>
          <a:blip r:embed="rId4"/>
          <a:stretch>
            <a:fillRect/>
          </a:stretch>
        </p:blipFill>
        <p:spPr>
          <a:xfrm>
            <a:off x="4643438" y="44450"/>
            <a:ext cx="4500562" cy="1833563"/>
          </a:xfrm>
          <a:prstGeom prst="rect">
            <a:avLst/>
          </a:prstGeom>
          <a:noFill/>
          <a:ln w="9525">
            <a:noFill/>
          </a:ln>
        </p:spPr>
      </p:pic>
      <p:sp>
        <p:nvSpPr>
          <p:cNvPr id="9222" name="矩形 4"/>
          <p:cNvSpPr/>
          <p:nvPr/>
        </p:nvSpPr>
        <p:spPr>
          <a:xfrm>
            <a:off x="1835150" y="1989138"/>
            <a:ext cx="98777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4-8</a:t>
            </a:r>
            <a:endParaRPr lang="zh-CN" altLang="en-US" dirty="0">
              <a:latin typeface="微软雅黑" pitchFamily="34" charset="-122"/>
              <a:ea typeface="微软雅黑" pitchFamily="34" charset="-122"/>
            </a:endParaRPr>
          </a:p>
        </p:txBody>
      </p:sp>
      <p:sp>
        <p:nvSpPr>
          <p:cNvPr id="9223" name="矩形 4"/>
          <p:cNvSpPr/>
          <p:nvPr/>
        </p:nvSpPr>
        <p:spPr>
          <a:xfrm>
            <a:off x="6516688" y="1916113"/>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4-9</a:t>
            </a:r>
            <a:endParaRPr lang="zh-CN" altLang="en-US" dirty="0">
              <a:latin typeface="微软雅黑" pitchFamily="34" charset="-122"/>
              <a:ea typeface="微软雅黑" pitchFamily="34" charset="-122"/>
            </a:endParaRPr>
          </a:p>
        </p:txBody>
      </p:sp>
      <p:sp>
        <p:nvSpPr>
          <p:cNvPr id="4" name="矩形 4"/>
          <p:cNvSpPr/>
          <p:nvPr/>
        </p:nvSpPr>
        <p:spPr>
          <a:xfrm>
            <a:off x="4067175" y="6237288"/>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4-10</a:t>
            </a:r>
            <a:endParaRPr lang="zh-CN" altLang="en-US" dirty="0">
              <a:latin typeface="微软雅黑" pitchFamily="34" charset="-122"/>
              <a:ea typeface="微软雅黑" pitchFamily="34" charset="-122"/>
            </a:endParaRPr>
          </a:p>
        </p:txBody>
      </p:sp>
      <p:sp>
        <p:nvSpPr>
          <p:cNvPr id="9225" name="Line 9"/>
          <p:cNvSpPr/>
          <p:nvPr/>
        </p:nvSpPr>
        <p:spPr>
          <a:xfrm>
            <a:off x="6732588" y="0"/>
            <a:ext cx="0" cy="1844675"/>
          </a:xfrm>
          <a:prstGeom prst="line">
            <a:avLst/>
          </a:prstGeom>
          <a:ln w="57150" cap="flat" cmpd="sng">
            <a:solidFill>
              <a:schemeClr val="hlink"/>
            </a:solidFill>
            <a:prstDash val="solid"/>
            <a:headEnd type="none" w="med" len="med"/>
            <a:tailEnd type="none" w="med" len="med"/>
          </a:ln>
        </p:spPr>
      </p:sp>
      <p:sp>
        <p:nvSpPr>
          <p:cNvPr id="380938" name="Oval 10"/>
          <p:cNvSpPr/>
          <p:nvPr/>
        </p:nvSpPr>
        <p:spPr>
          <a:xfrm>
            <a:off x="7956550" y="836613"/>
            <a:ext cx="3603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39" name="Rectangle 11"/>
          <p:cNvSpPr/>
          <p:nvPr/>
        </p:nvSpPr>
        <p:spPr>
          <a:xfrm>
            <a:off x="4356100" y="54451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0" name="Rectangle 12"/>
          <p:cNvSpPr/>
          <p:nvPr/>
        </p:nvSpPr>
        <p:spPr>
          <a:xfrm>
            <a:off x="5724525" y="54451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1" name="Rectangle 13"/>
          <p:cNvSpPr/>
          <p:nvPr/>
        </p:nvSpPr>
        <p:spPr>
          <a:xfrm>
            <a:off x="5724525" y="47974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2" name="Line 14"/>
          <p:cNvSpPr/>
          <p:nvPr/>
        </p:nvSpPr>
        <p:spPr>
          <a:xfrm>
            <a:off x="8101013" y="0"/>
            <a:ext cx="0" cy="1844675"/>
          </a:xfrm>
          <a:prstGeom prst="line">
            <a:avLst/>
          </a:prstGeom>
          <a:ln w="57150" cap="flat" cmpd="sng">
            <a:solidFill>
              <a:schemeClr val="hlink"/>
            </a:solidFill>
            <a:prstDash val="solid"/>
            <a:headEnd type="none" w="med" len="med"/>
            <a:tailEnd type="none" w="med" len="med"/>
          </a:ln>
        </p:spPr>
      </p:sp>
      <p:sp>
        <p:nvSpPr>
          <p:cNvPr id="380943" name="Oval 15"/>
          <p:cNvSpPr/>
          <p:nvPr/>
        </p:nvSpPr>
        <p:spPr>
          <a:xfrm>
            <a:off x="7235825" y="15557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4" name="Rectangle 16"/>
          <p:cNvSpPr/>
          <p:nvPr/>
        </p:nvSpPr>
        <p:spPr>
          <a:xfrm>
            <a:off x="5076825" y="47974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5" name="Line 17"/>
          <p:cNvSpPr/>
          <p:nvPr/>
        </p:nvSpPr>
        <p:spPr>
          <a:xfrm>
            <a:off x="7380288" y="0"/>
            <a:ext cx="0" cy="1844675"/>
          </a:xfrm>
          <a:prstGeom prst="line">
            <a:avLst/>
          </a:prstGeom>
          <a:ln w="57150" cap="flat" cmpd="sng">
            <a:solidFill>
              <a:schemeClr val="hlink"/>
            </a:solidFill>
            <a:prstDash val="solid"/>
            <a:headEnd type="none" w="med" len="med"/>
            <a:tailEnd type="none" w="med" len="med"/>
          </a:ln>
        </p:spPr>
      </p:sp>
      <p:sp>
        <p:nvSpPr>
          <p:cNvPr id="380946" name="Oval 18"/>
          <p:cNvSpPr/>
          <p:nvPr/>
        </p:nvSpPr>
        <p:spPr>
          <a:xfrm>
            <a:off x="8604250" y="15557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7" name="Line 19"/>
          <p:cNvSpPr/>
          <p:nvPr/>
        </p:nvSpPr>
        <p:spPr>
          <a:xfrm>
            <a:off x="5292725" y="1628775"/>
            <a:ext cx="3851275" cy="0"/>
          </a:xfrm>
          <a:prstGeom prst="line">
            <a:avLst/>
          </a:prstGeom>
          <a:ln w="38100" cap="flat" cmpd="sng">
            <a:solidFill>
              <a:schemeClr val="hlink"/>
            </a:solidFill>
            <a:prstDash val="solid"/>
            <a:headEnd type="none" w="med" len="med"/>
            <a:tailEnd type="none" w="med" len="med"/>
          </a:ln>
        </p:spPr>
      </p:sp>
      <p:sp>
        <p:nvSpPr>
          <p:cNvPr id="380948" name="Oval 20"/>
          <p:cNvSpPr/>
          <p:nvPr/>
        </p:nvSpPr>
        <p:spPr>
          <a:xfrm>
            <a:off x="8604250"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0938"/>
                                        </p:tgtEl>
                                        <p:attrNameLst>
                                          <p:attrName>style.visibility</p:attrName>
                                        </p:attrNameLst>
                                      </p:cBhvr>
                                      <p:to>
                                        <p:strVal val="visible"/>
                                      </p:to>
                                    </p:set>
                                    <p:animEffect transition="in" filter="blinds(horizontal)">
                                      <p:cBhvr>
                                        <p:cTn id="12" dur="500"/>
                                        <p:tgtEl>
                                          <p:spTgt spid="3809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0931"/>
                                        </p:tgtEl>
                                        <p:attrNameLst>
                                          <p:attrName>style.visibility</p:attrName>
                                        </p:attrNameLst>
                                      </p:cBhvr>
                                      <p:to>
                                        <p:strVal val="visible"/>
                                      </p:to>
                                    </p:set>
                                    <p:animEffect transition="in" filter="blinds(horizontal)">
                                      <p:cBhvr>
                                        <p:cTn id="17" dur="500"/>
                                        <p:tgtEl>
                                          <p:spTgt spid="3809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380944"/>
                                        </p:tgtEl>
                                      </p:cBhvr>
                                    </p:animEffect>
                                    <p:set>
                                      <p:cBhvr>
                                        <p:cTn id="22" dur="1" fill="hold">
                                          <p:stCondLst>
                                            <p:cond delay="499"/>
                                          </p:stCondLst>
                                        </p:cTn>
                                        <p:tgtEl>
                                          <p:spTgt spid="38094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0942"/>
                                        </p:tgtEl>
                                        <p:attrNameLst>
                                          <p:attrName>style.visibility</p:attrName>
                                        </p:attrNameLst>
                                      </p:cBhvr>
                                      <p:to>
                                        <p:strVal val="visible"/>
                                      </p:to>
                                    </p:set>
                                    <p:animEffect transition="in" filter="blinds(horizontal)">
                                      <p:cBhvr>
                                        <p:cTn id="27" dur="500"/>
                                        <p:tgtEl>
                                          <p:spTgt spid="38094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0943"/>
                                        </p:tgtEl>
                                        <p:attrNameLst>
                                          <p:attrName>style.visibility</p:attrName>
                                        </p:attrNameLst>
                                      </p:cBhvr>
                                      <p:to>
                                        <p:strVal val="visible"/>
                                      </p:to>
                                    </p:set>
                                    <p:animEffect transition="in" filter="blinds(horizontal)">
                                      <p:cBhvr>
                                        <p:cTn id="32" dur="500"/>
                                        <p:tgtEl>
                                          <p:spTgt spid="38094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380939"/>
                                        </p:tgtEl>
                                      </p:cBhvr>
                                    </p:animEffect>
                                    <p:set>
                                      <p:cBhvr>
                                        <p:cTn id="37" dur="1" fill="hold">
                                          <p:stCondLst>
                                            <p:cond delay="499"/>
                                          </p:stCondLst>
                                        </p:cTn>
                                        <p:tgtEl>
                                          <p:spTgt spid="38093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0945"/>
                                        </p:tgtEl>
                                        <p:attrNameLst>
                                          <p:attrName>style.visibility</p:attrName>
                                        </p:attrNameLst>
                                      </p:cBhvr>
                                      <p:to>
                                        <p:strVal val="visible"/>
                                      </p:to>
                                    </p:set>
                                    <p:animEffect transition="in" filter="blinds(horizontal)">
                                      <p:cBhvr>
                                        <p:cTn id="42" dur="500"/>
                                        <p:tgtEl>
                                          <p:spTgt spid="3809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0946"/>
                                        </p:tgtEl>
                                        <p:attrNameLst>
                                          <p:attrName>style.visibility</p:attrName>
                                        </p:attrNameLst>
                                      </p:cBhvr>
                                      <p:to>
                                        <p:strVal val="visible"/>
                                      </p:to>
                                    </p:set>
                                    <p:animEffect transition="in" filter="blinds(horizontal)">
                                      <p:cBhvr>
                                        <p:cTn id="47" dur="500"/>
                                        <p:tgtEl>
                                          <p:spTgt spid="38094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380940"/>
                                        </p:tgtEl>
                                      </p:cBhvr>
                                    </p:animEffect>
                                    <p:set>
                                      <p:cBhvr>
                                        <p:cTn id="52" dur="1" fill="hold">
                                          <p:stCondLst>
                                            <p:cond delay="499"/>
                                          </p:stCondLst>
                                        </p:cTn>
                                        <p:tgtEl>
                                          <p:spTgt spid="38094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80947"/>
                                        </p:tgtEl>
                                        <p:attrNameLst>
                                          <p:attrName>style.visibility</p:attrName>
                                        </p:attrNameLst>
                                      </p:cBhvr>
                                      <p:to>
                                        <p:strVal val="visible"/>
                                      </p:to>
                                    </p:set>
                                    <p:animEffect transition="in" filter="blinds(horizontal)">
                                      <p:cBhvr>
                                        <p:cTn id="57" dur="500"/>
                                        <p:tgtEl>
                                          <p:spTgt spid="38094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80948"/>
                                        </p:tgtEl>
                                        <p:attrNameLst>
                                          <p:attrName>style.visibility</p:attrName>
                                        </p:attrNameLst>
                                      </p:cBhvr>
                                      <p:to>
                                        <p:strVal val="visible"/>
                                      </p:to>
                                    </p:set>
                                    <p:animEffect transition="in" filter="blinds(horizontal)">
                                      <p:cBhvr>
                                        <p:cTn id="62" dur="500"/>
                                        <p:tgtEl>
                                          <p:spTgt spid="38094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380941"/>
                                        </p:tgtEl>
                                      </p:cBhvr>
                                    </p:animEffect>
                                    <p:set>
                                      <p:cBhvr>
                                        <p:cTn id="67" dur="1" fill="hold">
                                          <p:stCondLst>
                                            <p:cond delay="499"/>
                                          </p:stCondLst>
                                        </p:cTn>
                                        <p:tgtEl>
                                          <p:spTgt spid="38094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
                                            <p:txEl>
                                              <p:pRg st="1" end="1"/>
                                            </p:txEl>
                                          </p:spTgt>
                                        </p:tgtEl>
                                        <p:attrNameLst>
                                          <p:attrName>style.visibility</p:attrName>
                                        </p:attrNameLst>
                                      </p:cBhvr>
                                      <p:to>
                                        <p:strVal val="visible"/>
                                      </p:to>
                                    </p:set>
                                    <p:animEffect transition="in" filter="blinds(horizontal)">
                                      <p:cBhvr>
                                        <p:cTn id="72" dur="500"/>
                                        <p:tgtEl>
                                          <p:spTgt spid="2">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blinds(horizontal)">
                                      <p:cBhvr>
                                        <p:cTn id="7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80938" grpId="0" animBg="1"/>
      <p:bldP spid="380939" grpId="0" animBg="1"/>
      <p:bldP spid="380940" grpId="0" animBg="1"/>
      <p:bldP spid="380941" grpId="0" animBg="1"/>
      <p:bldP spid="380943" grpId="0" animBg="1"/>
      <p:bldP spid="380944" grpId="0" animBg="1"/>
      <p:bldP spid="380946" grpId="0" animBg="1"/>
      <p:bldP spid="3809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p:cNvSpPr/>
          <p:nvPr/>
        </p:nvSpPr>
        <p:spPr>
          <a:xfrm>
            <a:off x="6516688" y="1819275"/>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4-9</a:t>
            </a:r>
            <a:endParaRPr lang="zh-CN" altLang="en-US" dirty="0">
              <a:latin typeface="微软雅黑" pitchFamily="34" charset="-122"/>
              <a:ea typeface="微软雅黑" pitchFamily="34" charset="-122"/>
            </a:endParaRPr>
          </a:p>
        </p:txBody>
      </p:sp>
      <p:sp>
        <p:nvSpPr>
          <p:cNvPr id="10243" name="矩形 4"/>
          <p:cNvSpPr/>
          <p:nvPr/>
        </p:nvSpPr>
        <p:spPr>
          <a:xfrm>
            <a:off x="4356100" y="587692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4-10</a:t>
            </a:r>
            <a:endParaRPr lang="zh-CN" altLang="en-US" dirty="0">
              <a:latin typeface="微软雅黑" pitchFamily="34" charset="-122"/>
              <a:ea typeface="微软雅黑" pitchFamily="34" charset="-122"/>
            </a:endParaRPr>
          </a:p>
        </p:txBody>
      </p:sp>
      <p:sp>
        <p:nvSpPr>
          <p:cNvPr id="10244" name="矩形 4"/>
          <p:cNvSpPr/>
          <p:nvPr/>
        </p:nvSpPr>
        <p:spPr>
          <a:xfrm>
            <a:off x="1835150" y="1916113"/>
            <a:ext cx="98777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4-8</a:t>
            </a:r>
            <a:endParaRPr lang="zh-CN" altLang="en-US" dirty="0">
              <a:latin typeface="微软雅黑" pitchFamily="34" charset="-122"/>
              <a:ea typeface="微软雅黑" pitchFamily="34" charset="-122"/>
            </a:endParaRPr>
          </a:p>
        </p:txBody>
      </p:sp>
      <p:sp>
        <p:nvSpPr>
          <p:cNvPr id="2" name="Rectangle 2"/>
          <p:cNvSpPr txBox="1"/>
          <p:nvPr/>
        </p:nvSpPr>
        <p:spPr>
          <a:xfrm>
            <a:off x="0" y="2250699"/>
            <a:ext cx="9144000" cy="1800225"/>
          </a:xfrm>
          <a:prstGeom prst="rect">
            <a:avLst/>
          </a:prstGeom>
          <a:no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4-9</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这样一步步地进行下去，直到单位运价表上的所有元素划去为止</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最后在产销平衡表上得到一个调运方案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4-10</a:t>
            </a:r>
          </a:p>
          <a:p>
            <a:r>
              <a:rPr lang="zh-CN" altLang="en-US" b="1" dirty="0">
                <a:latin typeface="Times New Roman" panose="02020603050405020304" pitchFamily="18" charset="0"/>
                <a:ea typeface="微软雅黑" pitchFamily="34" charset="-122"/>
              </a:rPr>
              <a:t>这方案的总运费为</a:t>
            </a:r>
            <a:r>
              <a:rPr lang="en-US" altLang="zh-CN" b="1" dirty="0">
                <a:latin typeface="Times New Roman" panose="02020603050405020304" pitchFamily="18" charset="0"/>
                <a:ea typeface="微软雅黑" pitchFamily="34" charset="-122"/>
              </a:rPr>
              <a:t>86</a:t>
            </a:r>
            <a:r>
              <a:rPr lang="zh-CN" altLang="en-US" b="1" dirty="0">
                <a:latin typeface="Times New Roman" panose="02020603050405020304" pitchFamily="18" charset="0"/>
                <a:ea typeface="微软雅黑" pitchFamily="34" charset="-122"/>
              </a:rPr>
              <a:t>元</a:t>
            </a:r>
            <a:endParaRPr lang="zh-CN" altLang="en-US" sz="2800" dirty="0">
              <a:latin typeface="Times New Roman" panose="02020603050405020304" pitchFamily="18" charset="0"/>
              <a:ea typeface="华文楷体" panose="02010600040101010101" pitchFamily="2" charset="-122"/>
            </a:endParaRPr>
          </a:p>
        </p:txBody>
      </p:sp>
      <p:pic>
        <p:nvPicPr>
          <p:cNvPr id="10246" name="Picture 4"/>
          <p:cNvPicPr>
            <a:picLocks noChangeAspect="1"/>
          </p:cNvPicPr>
          <p:nvPr/>
        </p:nvPicPr>
        <p:blipFill>
          <a:blip r:embed="rId2"/>
          <a:stretch>
            <a:fillRect/>
          </a:stretch>
        </p:blipFill>
        <p:spPr>
          <a:xfrm>
            <a:off x="2051050" y="3716338"/>
            <a:ext cx="5327650" cy="2235200"/>
          </a:xfrm>
          <a:prstGeom prst="rect">
            <a:avLst/>
          </a:prstGeom>
          <a:noFill/>
          <a:ln w="9525">
            <a:noFill/>
          </a:ln>
        </p:spPr>
      </p:pic>
      <p:pic>
        <p:nvPicPr>
          <p:cNvPr id="10247" name="Picture 5"/>
          <p:cNvPicPr>
            <a:picLocks noChangeAspect="1"/>
          </p:cNvPicPr>
          <p:nvPr/>
        </p:nvPicPr>
        <p:blipFill>
          <a:blip r:embed="rId3"/>
          <a:stretch>
            <a:fillRect/>
          </a:stretch>
        </p:blipFill>
        <p:spPr>
          <a:xfrm>
            <a:off x="0" y="44450"/>
            <a:ext cx="4537075" cy="1903413"/>
          </a:xfrm>
          <a:prstGeom prst="rect">
            <a:avLst/>
          </a:prstGeom>
          <a:noFill/>
          <a:ln w="9525">
            <a:noFill/>
          </a:ln>
        </p:spPr>
      </p:pic>
      <p:pic>
        <p:nvPicPr>
          <p:cNvPr id="10248" name="Picture 6"/>
          <p:cNvPicPr>
            <a:picLocks noChangeAspect="1"/>
          </p:cNvPicPr>
          <p:nvPr/>
        </p:nvPicPr>
        <p:blipFill>
          <a:blip r:embed="rId4"/>
          <a:stretch>
            <a:fillRect/>
          </a:stretch>
        </p:blipFill>
        <p:spPr>
          <a:xfrm>
            <a:off x="4643438" y="44450"/>
            <a:ext cx="4500562" cy="1833563"/>
          </a:xfrm>
          <a:prstGeom prst="rect">
            <a:avLst/>
          </a:prstGeom>
          <a:noFill/>
          <a:ln w="9525">
            <a:noFill/>
          </a:ln>
        </p:spPr>
      </p:pic>
      <p:sp>
        <p:nvSpPr>
          <p:cNvPr id="19465" name="Text Box 10"/>
          <p:cNvSpPr txBox="1"/>
          <p:nvPr/>
        </p:nvSpPr>
        <p:spPr>
          <a:xfrm>
            <a:off x="0" y="6284913"/>
            <a:ext cx="9144000" cy="523875"/>
          </a:xfrm>
          <a:prstGeom prst="rect">
            <a:avLst/>
          </a:prstGeom>
          <a:solidFill>
            <a:srgbClr val="FFFF99"/>
          </a:solidFill>
          <a:ln w="9525">
            <a:noFill/>
          </a:ln>
        </p:spPr>
        <p:txBody>
          <a:bodyPr>
            <a:spAutoFit/>
          </a:bodyPr>
          <a:lstStyle/>
          <a:p>
            <a:pPr algn="ctr" eaLnBrk="1" hangingPunct="1"/>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4</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4</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6</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3=86</a:t>
            </a:r>
          </a:p>
        </p:txBody>
      </p:sp>
      <p:sp>
        <p:nvSpPr>
          <p:cNvPr id="10" name="Oval 20"/>
          <p:cNvSpPr/>
          <p:nvPr/>
        </p:nvSpPr>
        <p:spPr>
          <a:xfrm>
            <a:off x="7885113"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0"/>
          <p:cNvSpPr/>
          <p:nvPr/>
        </p:nvSpPr>
        <p:spPr>
          <a:xfrm>
            <a:off x="5364163" y="45085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0"/>
          <p:cNvSpPr/>
          <p:nvPr/>
        </p:nvSpPr>
        <p:spPr>
          <a:xfrm>
            <a:off x="8604250"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Oval 20"/>
          <p:cNvSpPr/>
          <p:nvPr/>
        </p:nvSpPr>
        <p:spPr>
          <a:xfrm>
            <a:off x="6084888" y="45085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4" name="Oval 20"/>
          <p:cNvSpPr/>
          <p:nvPr/>
        </p:nvSpPr>
        <p:spPr>
          <a:xfrm>
            <a:off x="6516688" y="11239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5" name="Oval 20"/>
          <p:cNvSpPr/>
          <p:nvPr/>
        </p:nvSpPr>
        <p:spPr>
          <a:xfrm>
            <a:off x="3995738" y="486886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6" name="Oval 20"/>
          <p:cNvSpPr/>
          <p:nvPr/>
        </p:nvSpPr>
        <p:spPr>
          <a:xfrm>
            <a:off x="7885113" y="1125538"/>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7" name="Oval 20"/>
          <p:cNvSpPr/>
          <p:nvPr/>
        </p:nvSpPr>
        <p:spPr>
          <a:xfrm>
            <a:off x="5364163" y="486886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8" name="Oval 20"/>
          <p:cNvSpPr/>
          <p:nvPr/>
        </p:nvSpPr>
        <p:spPr>
          <a:xfrm>
            <a:off x="7164388" y="14843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9" name="Oval 20"/>
          <p:cNvSpPr/>
          <p:nvPr/>
        </p:nvSpPr>
        <p:spPr>
          <a:xfrm>
            <a:off x="4643438" y="51562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0" name="Oval 20"/>
          <p:cNvSpPr/>
          <p:nvPr/>
        </p:nvSpPr>
        <p:spPr>
          <a:xfrm>
            <a:off x="8532813" y="14843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1" name="Oval 20"/>
          <p:cNvSpPr/>
          <p:nvPr/>
        </p:nvSpPr>
        <p:spPr>
          <a:xfrm>
            <a:off x="6011863" y="5227638"/>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linds(horizontal)">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linds(horizontal)">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blinds(horizontal)">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9465"/>
                                        </p:tgtEl>
                                        <p:attrNameLst>
                                          <p:attrName>style.visibility</p:attrName>
                                        </p:attrNameLst>
                                      </p:cBhvr>
                                      <p:to>
                                        <p:strVal val="visible"/>
                                      </p:to>
                                    </p:set>
                                    <p:animEffect transition="in" filter="blinds(horizontal)">
                                      <p:cBhvr>
                                        <p:cTn id="67" dur="500"/>
                                        <p:tgtEl>
                                          <p:spTgt spid="1946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
                                            <p:txEl>
                                              <p:pRg st="2" end="2"/>
                                            </p:txEl>
                                          </p:spTgt>
                                        </p:tgtEl>
                                        <p:attrNameLst>
                                          <p:attrName>style.visibility</p:attrName>
                                        </p:attrNameLst>
                                      </p:cBhvr>
                                      <p:to>
                                        <p:strVal val="visible"/>
                                      </p:to>
                                    </p:set>
                                    <p:animEffect transition="in" filter="blinds(horizontal)">
                                      <p:cBhvr>
                                        <p:cTn id="7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5"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txBox="1"/>
          <p:nvPr/>
        </p:nvSpPr>
        <p:spPr>
          <a:xfrm>
            <a:off x="0" y="0"/>
            <a:ext cx="9144000" cy="404813"/>
          </a:xfrm>
          <a:prstGeom prst="rect">
            <a:avLst/>
          </a:prstGeom>
          <a:solidFill>
            <a:srgbClr val="B0FAFE"/>
          </a:solidFill>
          <a:ln w="9525">
            <a:noFill/>
          </a:ln>
        </p:spPr>
        <p:txBody>
          <a:bodyPr/>
          <a:lstStyle/>
          <a:p>
            <a:r>
              <a:rPr lang="zh-CN" altLang="en-US" b="1" dirty="0">
                <a:latin typeface="微软雅黑" pitchFamily="34" charset="-122"/>
                <a:ea typeface="微软雅黑" pitchFamily="34" charset="-122"/>
              </a:rPr>
              <a:t>用最小元素法给出的初始解是运输问题的基可行解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其理由为：</a:t>
            </a:r>
          </a:p>
        </p:txBody>
      </p:sp>
      <p:sp>
        <p:nvSpPr>
          <p:cNvPr id="3" name="Rectangle 3"/>
          <p:cNvSpPr txBox="1"/>
          <p:nvPr/>
        </p:nvSpPr>
        <p:spPr>
          <a:xfrm>
            <a:off x="0" y="476250"/>
            <a:ext cx="9144000" cy="3600450"/>
          </a:xfrm>
          <a:prstGeom prst="rect">
            <a:avLst/>
          </a:prstGeom>
          <a:noFill/>
          <a:ln w="9525">
            <a:noFill/>
          </a:ln>
        </p:spPr>
        <p:txBody>
          <a:bodyPr/>
          <a:lstStyle/>
          <a:p>
            <a:pPr marL="273050" indent="-273050" algn="just">
              <a:lnSpc>
                <a:spcPct val="90000"/>
              </a:lnSpc>
              <a:spcBef>
                <a:spcPts val="600"/>
              </a:spcBef>
              <a:buClr>
                <a:schemeClr val="accent1"/>
              </a:buClr>
              <a:buSzPct val="70000"/>
              <a:buFont typeface="Wingdings" panose="05000000000000000000" pitchFamily="2" charset="2"/>
            </a:pPr>
            <a:r>
              <a:rPr lang="en-US" altLang="zh-CN" b="1" dirty="0">
                <a:latin typeface="Times New Roman" panose="02020603050405020304" pitchFamily="18" charset="0"/>
                <a:ea typeface="微软雅黑" pitchFamily="34" charset="-122"/>
              </a:rPr>
              <a:t>(1) </a:t>
            </a:r>
            <a:r>
              <a:rPr lang="zh-CN" altLang="en-US" b="1" dirty="0">
                <a:latin typeface="Times New Roman" panose="02020603050405020304" pitchFamily="18" charset="0"/>
                <a:ea typeface="微软雅黑" pitchFamily="34" charset="-122"/>
              </a:rPr>
              <a:t>用最小元素法给出的初始解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是从单位运价表中逐次地挑选最小元素</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并比较产量和销量</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solidFill>
                  <a:schemeClr val="hlink"/>
                </a:solidFill>
                <a:latin typeface="Times New Roman" panose="02020603050405020304" pitchFamily="18" charset="0"/>
                <a:ea typeface="微软雅黑" pitchFamily="34" charset="-122"/>
              </a:rPr>
              <a:t>当产大于销，划去该元素所在列</a:t>
            </a:r>
            <a:r>
              <a:rPr lang="zh-CN" altLang="en-US" b="1" dirty="0">
                <a:latin typeface="Times New Roman" panose="02020603050405020304" pitchFamily="18" charset="0"/>
                <a:ea typeface="微软雅黑" pitchFamily="34" charset="-122"/>
              </a:rPr>
              <a:t>。</a:t>
            </a:r>
            <a:r>
              <a:rPr lang="zh-CN" altLang="en-US" b="1" dirty="0">
                <a:solidFill>
                  <a:schemeClr val="folHlink"/>
                </a:solidFill>
                <a:latin typeface="Times New Roman" panose="02020603050405020304" pitchFamily="18" charset="0"/>
                <a:ea typeface="微软雅黑" pitchFamily="34" charset="-122"/>
              </a:rPr>
              <a:t>当产小于销，划去该元素所在行</a:t>
            </a:r>
            <a:r>
              <a:rPr lang="zh-CN" altLang="en-US" b="1" dirty="0">
                <a:latin typeface="Times New Roman" panose="02020603050405020304" pitchFamily="18" charset="0"/>
                <a:ea typeface="微软雅黑" pitchFamily="34" charset="-122"/>
              </a:rPr>
              <a:t>然后在未划去的元素中再找最小元素</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再确定供应关系</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这样在产销平衡表上每填入一个数字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在运价表上就划去一行或一列。表中共有</a:t>
            </a:r>
            <a:r>
              <a:rPr lang="en-US" altLang="zh-CN" b="1" i="1" dirty="0">
                <a:latin typeface="Times New Roman" panose="02020603050405020304" pitchFamily="18" charset="0"/>
                <a:ea typeface="微软雅黑" pitchFamily="34" charset="-122"/>
              </a:rPr>
              <a:t>m</a:t>
            </a:r>
            <a:r>
              <a:rPr lang="zh-CN" altLang="en-US" b="1" dirty="0">
                <a:latin typeface="Times New Roman" panose="02020603050405020304" pitchFamily="18" charset="0"/>
                <a:ea typeface="微软雅黑" pitchFamily="34" charset="-122"/>
              </a:rPr>
              <a:t>行</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总共可划</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条直线。但当表中只剩一个元素时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这时当在产销平衡表上填这个数字时，应在运价表上同时划去一行和一列</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此时把单价表上所有元素都划去了</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相应地在产销平衡表上填了</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个数字。即给出了</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个可行解变量的值</a:t>
            </a:r>
            <a:endParaRPr lang="en-US" altLang="zh-CN" b="1" dirty="0">
              <a:latin typeface="Times New Roman" panose="02020603050405020304" pitchFamily="18" charset="0"/>
              <a:ea typeface="微软雅黑" pitchFamily="34" charset="-122"/>
            </a:endParaRPr>
          </a:p>
        </p:txBody>
      </p:sp>
      <p:sp>
        <p:nvSpPr>
          <p:cNvPr id="5" name="Rectangle 2"/>
          <p:cNvSpPr txBox="1"/>
          <p:nvPr/>
        </p:nvSpPr>
        <p:spPr>
          <a:xfrm>
            <a:off x="0" y="4076700"/>
            <a:ext cx="9144000" cy="431800"/>
          </a:xfrm>
          <a:prstGeom prst="rect">
            <a:avLst/>
          </a:prstGeom>
          <a:solidFill>
            <a:srgbClr val="B0FAFE"/>
          </a:solidFill>
          <a:ln w="9525">
            <a:noFill/>
          </a:ln>
        </p:spPr>
        <p:txBody>
          <a:bodyPr/>
          <a:lstStyle/>
          <a:p>
            <a:r>
              <a:rPr lang="en-US" altLang="zh-CN" b="1" dirty="0">
                <a:latin typeface="Times New Roman" panose="02020603050405020304" pitchFamily="18" charset="0"/>
                <a:ea typeface="微软雅黑" pitchFamily="34" charset="-122"/>
              </a:rPr>
              <a:t>(2) </a:t>
            </a:r>
            <a:r>
              <a:rPr lang="zh-CN" altLang="en-US" b="1" dirty="0">
                <a:latin typeface="Times New Roman" panose="02020603050405020304" pitchFamily="18" charset="0"/>
                <a:ea typeface="微软雅黑" pitchFamily="34" charset="-122"/>
              </a:rPr>
              <a:t>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个变量对应的系数列向量是线性独立的</a:t>
            </a:r>
          </a:p>
        </p:txBody>
      </p:sp>
      <p:graphicFrame>
        <p:nvGraphicFramePr>
          <p:cNvPr id="6" name="Object 2"/>
          <p:cNvGraphicFramePr>
            <a:graphicFrameLocks noChangeAspect="1"/>
          </p:cNvGraphicFramePr>
          <p:nvPr/>
        </p:nvGraphicFramePr>
        <p:xfrm>
          <a:off x="2843213" y="4941888"/>
          <a:ext cx="2592387" cy="592137"/>
        </p:xfrm>
        <a:graphic>
          <a:graphicData uri="http://schemas.openxmlformats.org/presentationml/2006/ole">
            <mc:AlternateContent xmlns:mc="http://schemas.openxmlformats.org/markup-compatibility/2006">
              <mc:Choice xmlns:v="urn:schemas-microsoft-com:vml" Requires="v">
                <p:oleObj spid="_x0000_s10250" r:id="rId3" imgW="1167765" imgH="266700" progId="Equation.3">
                  <p:embed/>
                </p:oleObj>
              </mc:Choice>
              <mc:Fallback>
                <p:oleObj r:id="rId3" imgW="1167765" imgH="266700" progId="Equation.3">
                  <p:embed/>
                  <p:pic>
                    <p:nvPicPr>
                      <p:cNvPr id="6" name="Object 2"/>
                      <p:cNvPicPr/>
                      <p:nvPr/>
                    </p:nvPicPr>
                    <p:blipFill>
                      <a:blip r:embed="rId4"/>
                      <a:stretch>
                        <a:fillRect/>
                      </a:stretch>
                    </p:blipFill>
                    <p:spPr>
                      <a:xfrm>
                        <a:off x="2843213" y="4941888"/>
                        <a:ext cx="2592387" cy="592137"/>
                      </a:xfrm>
                      <a:prstGeom prst="rect">
                        <a:avLst/>
                      </a:prstGeom>
                      <a:solidFill>
                        <a:srgbClr val="FFFF99"/>
                      </a:solidFill>
                      <a:ln w="38100">
                        <a:noFill/>
                        <a:miter/>
                      </a:ln>
                    </p:spPr>
                  </p:pic>
                </p:oleObj>
              </mc:Fallback>
            </mc:AlternateContent>
          </a:graphicData>
        </a:graphic>
      </p:graphicFrame>
      <p:sp>
        <p:nvSpPr>
          <p:cNvPr id="7" name="Rectangle 2"/>
          <p:cNvSpPr txBox="1"/>
          <p:nvPr/>
        </p:nvSpPr>
        <p:spPr>
          <a:xfrm>
            <a:off x="0" y="4508500"/>
            <a:ext cx="9144000" cy="431800"/>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证   </a:t>
            </a:r>
            <a:r>
              <a:rPr lang="zh-CN" altLang="en-US" b="1" dirty="0">
                <a:latin typeface="Times New Roman" panose="02020603050405020304" pitchFamily="18" charset="0"/>
                <a:ea typeface="微软雅黑" pitchFamily="34" charset="-122"/>
              </a:rPr>
              <a:t>若表中确定的第一个变量为</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 它对应的系数列向量为</a:t>
            </a:r>
            <a:r>
              <a:rPr lang="en-US" altLang="zh-CN" b="1" dirty="0">
                <a:latin typeface="Times New Roman" panose="02020603050405020304" pitchFamily="18" charset="0"/>
                <a:ea typeface="微软雅黑" pitchFamily="34" charset="-122"/>
              </a:rPr>
              <a:t>:</a:t>
            </a:r>
          </a:p>
        </p:txBody>
      </p:sp>
      <p:sp>
        <p:nvSpPr>
          <p:cNvPr id="4" name="Rectangle 7"/>
          <p:cNvSpPr/>
          <p:nvPr/>
        </p:nvSpPr>
        <p:spPr>
          <a:xfrm>
            <a:off x="0" y="5589588"/>
            <a:ext cx="9144000" cy="1768475"/>
          </a:xfrm>
          <a:prstGeom prst="rect">
            <a:avLst/>
          </a:prstGeom>
          <a:solidFill>
            <a:srgbClr val="A0E4A2"/>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当给定</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的值后，将划去第</a:t>
            </a:r>
            <a:r>
              <a:rPr lang="en-US" altLang="zh-CN" b="1" i="1" dirty="0">
                <a:latin typeface="Times New Roman" panose="02020603050405020304" pitchFamily="18" charset="0"/>
                <a:ea typeface="微软雅黑" pitchFamily="34" charset="-122"/>
              </a:rPr>
              <a:t>i</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行或第</a:t>
            </a:r>
            <a:r>
              <a:rPr lang="en-US" altLang="zh-CN" b="1" i="1"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列，即其后的系数列向量中再不出现</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或</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，因而不可能用解中的其他向量的线性组合表示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endParaRPr lang="zh-CN" altLang="en-US" sz="2800" dirty="0">
              <a:latin typeface="Times New Roman" panose="02020603050405020304" pitchFamily="18" charset="0"/>
              <a:ea typeface="华文楷体" panose="02010600040101010101" pitchFamily="2" charset="-122"/>
            </a:endParaRPr>
          </a:p>
        </p:txBody>
      </p:sp>
      <p:graphicFrame>
        <p:nvGraphicFramePr>
          <p:cNvPr id="8" name="Object 10"/>
          <p:cNvGraphicFramePr>
            <a:graphicFrameLocks noChangeAspect="1"/>
          </p:cNvGraphicFramePr>
          <p:nvPr/>
        </p:nvGraphicFramePr>
        <p:xfrm>
          <a:off x="4429125" y="4437063"/>
          <a:ext cx="534988" cy="534987"/>
        </p:xfrm>
        <a:graphic>
          <a:graphicData uri="http://schemas.openxmlformats.org/presentationml/2006/ole">
            <mc:AlternateContent xmlns:mc="http://schemas.openxmlformats.org/markup-compatibility/2006">
              <mc:Choice xmlns:v="urn:schemas-microsoft-com:vml" Requires="v">
                <p:oleObj spid="_x0000_s10251" r:id="rId5" imgW="241300" imgH="241300" progId="Equation.DSMT4">
                  <p:embed/>
                </p:oleObj>
              </mc:Choice>
              <mc:Fallback>
                <p:oleObj r:id="rId5" imgW="241300" imgH="241300" progId="Equation.DSMT4">
                  <p:embed/>
                  <p:pic>
                    <p:nvPicPr>
                      <p:cNvPr id="8" name="Object 10"/>
                      <p:cNvPicPr/>
                      <p:nvPr/>
                    </p:nvPicPr>
                    <p:blipFill>
                      <a:blip r:embed="rId6"/>
                      <a:stretch>
                        <a:fillRect/>
                      </a:stretch>
                    </p:blipFill>
                    <p:spPr>
                      <a:xfrm>
                        <a:off x="4429125" y="4437063"/>
                        <a:ext cx="534988" cy="534987"/>
                      </a:xfrm>
                      <a:prstGeom prst="rect">
                        <a:avLst/>
                      </a:prstGeom>
                      <a:solidFill>
                        <a:srgbClr val="FFFF99"/>
                      </a:solidFill>
                      <a:ln w="38100">
                        <a:noFill/>
                        <a:miter/>
                      </a:ln>
                    </p:spPr>
                  </p:pic>
                </p:oleObj>
              </mc:Fallback>
            </mc:AlternateContent>
          </a:graphicData>
        </a:graphic>
      </p:graphicFrame>
      <p:pic>
        <p:nvPicPr>
          <p:cNvPr id="10" name="Picture 8"/>
          <p:cNvPicPr>
            <a:picLocks noChangeAspect="1"/>
          </p:cNvPicPr>
          <p:nvPr/>
        </p:nvPicPr>
        <p:blipFill>
          <a:blip r:embed="rId7"/>
          <a:stretch>
            <a:fillRect/>
          </a:stretch>
        </p:blipFill>
        <p:spPr>
          <a:xfrm>
            <a:off x="2591594" y="4192588"/>
            <a:ext cx="3960812" cy="2794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nodeType="clickEffect">
                                  <p:stCondLst>
                                    <p:cond delay="0"/>
                                  </p:stCondLst>
                                  <p:childTnLst>
                                    <p:animEffect transition="out" filter="blinds(horizontal)">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linds(horizontal)">
                                      <p:cBhvr>
                                        <p:cTn id="42" dur="500"/>
                                        <p:tgtEl>
                                          <p:spTgt spid="8"/>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1000"/>
                                        <p:tgtEl>
                                          <p:spTgt spid="6"/>
                                        </p:tgtEl>
                                      </p:cBhvr>
                                    </p:animEffect>
                                    <p:anim calcmode="lin" valueType="num">
                                      <p:cBhvr>
                                        <p:cTn id="51" dur="1000" fill="hold"/>
                                        <p:tgtEl>
                                          <p:spTgt spid="6"/>
                                        </p:tgtEl>
                                        <p:attrNameLst>
                                          <p:attrName>ppt_x</p:attrName>
                                        </p:attrNameLst>
                                      </p:cBhvr>
                                      <p:tavLst>
                                        <p:tav tm="0">
                                          <p:val>
                                            <p:strVal val="#ppt_x"/>
                                          </p:val>
                                        </p:tav>
                                        <p:tav tm="100000">
                                          <p:val>
                                            <p:strVal val="#ppt_x"/>
                                          </p:val>
                                        </p:tav>
                                      </p:tavLst>
                                    </p:anim>
                                    <p:anim calcmode="lin" valueType="num">
                                      <p:cBhvr>
                                        <p:cTn id="5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dissolve">
                                      <p:cBhvr>
                                        <p:cTn id="5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p:nvPr/>
        </p:nvSpPr>
        <p:spPr>
          <a:xfrm>
            <a:off x="0" y="1196975"/>
            <a:ext cx="9144000" cy="1846263"/>
          </a:xfrm>
          <a:prstGeom prst="rect">
            <a:avLst/>
          </a:prstGeom>
          <a:solidFill>
            <a:srgbClr val="A0E4A2"/>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当给定</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的值后</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将划去第</a:t>
            </a:r>
            <a:r>
              <a:rPr lang="en-US" altLang="zh-CN" b="1" i="1" dirty="0">
                <a:latin typeface="Times New Roman" panose="02020603050405020304" pitchFamily="18" charset="0"/>
                <a:ea typeface="微软雅黑" pitchFamily="34" charset="-122"/>
              </a:rPr>
              <a:t>i</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行或第</a:t>
            </a:r>
            <a:r>
              <a:rPr lang="en-US" altLang="zh-CN" b="1" i="1"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即其后的系数列向量中再不出现</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或</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en-US" altLang="zh-CN" b="1" baseline="-45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因而不可能用解中的其他向量的线性组合表示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endParaRPr lang="zh-CN" altLang="en-US" sz="2800" dirty="0">
              <a:latin typeface="Times New Roman" panose="02020603050405020304" pitchFamily="18" charset="0"/>
              <a:ea typeface="华文楷体" panose="02010600040101010101" pitchFamily="2" charset="-122"/>
            </a:endParaRPr>
          </a:p>
        </p:txBody>
      </p:sp>
      <p:sp>
        <p:nvSpPr>
          <p:cNvPr id="4" name="Rectangle 7"/>
          <p:cNvSpPr/>
          <p:nvPr/>
        </p:nvSpPr>
        <p:spPr>
          <a:xfrm>
            <a:off x="0" y="2565400"/>
            <a:ext cx="9144000" cy="1846263"/>
          </a:xfrm>
          <a:prstGeom prst="rect">
            <a:avLst/>
          </a:prstGeom>
          <a:solidFill>
            <a:srgbClr val="FFFF99"/>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类似地给出第二个</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第</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a:t>
            </a:r>
            <a:endParaRPr lang="en-US" altLang="zh-CN" b="1" dirty="0">
              <a:latin typeface="Times New Roman" panose="02020603050405020304" pitchFamily="18" charset="0"/>
              <a:ea typeface="微软雅黑" pitchFamily="34" charset="-122"/>
            </a:endParaRPr>
          </a:p>
          <a:p>
            <a:pPr eaLnBrk="1" hangingPunct="1">
              <a:lnSpc>
                <a:spcPct val="150000"/>
              </a:lnSpc>
            </a:pPr>
            <a:r>
              <a:rPr lang="zh-CN" altLang="en-US" b="1" dirty="0">
                <a:latin typeface="Times New Roman" panose="02020603050405020304" pitchFamily="18" charset="0"/>
                <a:ea typeface="微软雅黑" pitchFamily="34" charset="-122"/>
              </a:rPr>
              <a:t>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个向量都不可能用解中的其他向量的线性组合表示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r>
              <a:rPr lang="zh-CN" altLang="en-US" b="1" dirty="0">
                <a:latin typeface="Times New Roman" panose="02020603050405020304" pitchFamily="18" charset="0"/>
                <a:ea typeface="微软雅黑" pitchFamily="34" charset="-122"/>
              </a:rPr>
              <a:t>故这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个向量是线性独立的</a:t>
            </a:r>
            <a:r>
              <a:rPr lang="zh-CN" altLang="en-US" sz="2800" dirty="0">
                <a:latin typeface="Times New Roman" panose="02020603050405020304" pitchFamily="18" charset="0"/>
                <a:ea typeface="华文楷体" panose="02010600040101010101" pitchFamily="2" charset="-122"/>
              </a:rPr>
              <a:t> </a:t>
            </a:r>
          </a:p>
        </p:txBody>
      </p:sp>
      <p:graphicFrame>
        <p:nvGraphicFramePr>
          <p:cNvPr id="12292" name="Object 2"/>
          <p:cNvGraphicFramePr>
            <a:graphicFrameLocks noChangeAspect="1"/>
          </p:cNvGraphicFramePr>
          <p:nvPr/>
        </p:nvGraphicFramePr>
        <p:xfrm>
          <a:off x="2843213" y="477838"/>
          <a:ext cx="2592387" cy="592137"/>
        </p:xfrm>
        <a:graphic>
          <a:graphicData uri="http://schemas.openxmlformats.org/presentationml/2006/ole">
            <mc:AlternateContent xmlns:mc="http://schemas.openxmlformats.org/markup-compatibility/2006">
              <mc:Choice xmlns:v="urn:schemas-microsoft-com:vml" Requires="v">
                <p:oleObj spid="_x0000_s11270" r:id="rId3" imgW="1167765" imgH="266700" progId="Equation.3">
                  <p:embed/>
                </p:oleObj>
              </mc:Choice>
              <mc:Fallback>
                <p:oleObj r:id="rId3" imgW="1167765" imgH="266700" progId="Equation.3">
                  <p:embed/>
                  <p:pic>
                    <p:nvPicPr>
                      <p:cNvPr id="12292" name="Object 2"/>
                      <p:cNvPicPr/>
                      <p:nvPr/>
                    </p:nvPicPr>
                    <p:blipFill>
                      <a:blip r:embed="rId4"/>
                      <a:stretch>
                        <a:fillRect/>
                      </a:stretch>
                    </p:blipFill>
                    <p:spPr>
                      <a:xfrm>
                        <a:off x="2843213" y="477838"/>
                        <a:ext cx="2592387" cy="592137"/>
                      </a:xfrm>
                      <a:prstGeom prst="rect">
                        <a:avLst/>
                      </a:prstGeom>
                      <a:solidFill>
                        <a:srgbClr val="FFFF99"/>
                      </a:solidFill>
                      <a:ln w="38100">
                        <a:noFill/>
                        <a:miter/>
                      </a:ln>
                    </p:spPr>
                  </p:pic>
                </p:oleObj>
              </mc:Fallback>
            </mc:AlternateContent>
          </a:graphicData>
        </a:graphic>
      </p:graphicFrame>
      <p:sp>
        <p:nvSpPr>
          <p:cNvPr id="12293" name="Rectangle 2"/>
          <p:cNvSpPr txBox="1"/>
          <p:nvPr/>
        </p:nvSpPr>
        <p:spPr>
          <a:xfrm>
            <a:off x="0" y="44450"/>
            <a:ext cx="9144000" cy="431800"/>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证   </a:t>
            </a:r>
            <a:r>
              <a:rPr lang="zh-CN" altLang="en-US" b="1" dirty="0">
                <a:latin typeface="Times New Roman" panose="02020603050405020304" pitchFamily="18" charset="0"/>
                <a:ea typeface="微软雅黑" pitchFamily="34" charset="-122"/>
              </a:rPr>
              <a:t>若表中确定的第一个变量为</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它对应的系数列向量为</a:t>
            </a:r>
            <a:r>
              <a:rPr lang="en-US" altLang="zh-CN" b="1" dirty="0">
                <a:latin typeface="Times New Roman" panose="02020603050405020304" pitchFamily="18" charset="0"/>
                <a:ea typeface="微软雅黑" pitchFamily="34" charset="-122"/>
              </a:rPr>
              <a:t>:</a:t>
            </a:r>
          </a:p>
        </p:txBody>
      </p:sp>
      <p:sp>
        <p:nvSpPr>
          <p:cNvPr id="6" name="Rectangle 3"/>
          <p:cNvSpPr txBox="1"/>
          <p:nvPr/>
        </p:nvSpPr>
        <p:spPr>
          <a:xfrm>
            <a:off x="106363" y="4941888"/>
            <a:ext cx="9037637" cy="1727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b="1" dirty="0">
                <a:latin typeface="微软雅黑" pitchFamily="34" charset="-122"/>
                <a:ea typeface="微软雅黑" pitchFamily="34" charset="-122"/>
              </a:rPr>
              <a:t>用最小元素法给出初始解时，有可能在产销平衡表上填入一个数字后，在单位运价表上同时划去一行和一列。这时就出现退化。关于退化时的处理将在</a:t>
            </a:r>
            <a:r>
              <a:rPr lang="en-US" altLang="zh-CN" b="1" dirty="0">
                <a:latin typeface="微软雅黑" pitchFamily="34" charset="-122"/>
                <a:ea typeface="微软雅黑" pitchFamily="34" charset="-122"/>
              </a:rPr>
              <a:t>4.2.4</a:t>
            </a:r>
            <a:r>
              <a:rPr lang="zh-CN" altLang="en-US" b="1" dirty="0">
                <a:latin typeface="微软雅黑" pitchFamily="34" charset="-122"/>
                <a:ea typeface="微软雅黑" pitchFamily="34" charset="-122"/>
              </a:rPr>
              <a:t>节中讲述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伏格尔法</a:t>
            </a:r>
            <a:endParaRPr lang="zh-CN" altLang="en-US" sz="2800" b="1" dirty="0">
              <a:latin typeface="微软雅黑" pitchFamily="34" charset="-122"/>
              <a:ea typeface="微软雅黑" pitchFamily="34" charset="-122"/>
            </a:endParaRPr>
          </a:p>
        </p:txBody>
      </p:sp>
      <p:sp>
        <p:nvSpPr>
          <p:cNvPr id="3" name="Rectangle 3"/>
          <p:cNvSpPr txBox="1"/>
          <p:nvPr/>
        </p:nvSpPr>
        <p:spPr>
          <a:xfrm>
            <a:off x="0" y="549275"/>
            <a:ext cx="9144000" cy="2519363"/>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最小元素法的缺点是：为了节省一处的费用，有时造成在其他处要多花几倍的运费</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伏格尔法考虑到，一产地的产品假如不能按最小运费就近供应，就考虑次小运费，这就有一个差额。差额越大，说明不能按最小运费调运时，运费增加越多</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因而对差额最大处，就应当采用最小运费调运</a:t>
            </a:r>
            <a:r>
              <a:rPr lang="zh-CN" altLang="en-US" sz="3200" dirty="0">
                <a:latin typeface="华文楷体" panose="02010600040101010101" pitchFamily="2" charset="-122"/>
                <a:ea typeface="华文楷体" panose="02010600040101010101" pitchFamily="2" charset="-122"/>
              </a:rPr>
              <a:t> </a:t>
            </a:r>
          </a:p>
          <a:p>
            <a:pPr marL="273050" indent="-273050">
              <a:spcBef>
                <a:spcPts val="600"/>
              </a:spcBef>
              <a:buClr>
                <a:schemeClr val="accent1"/>
              </a:buClr>
              <a:buSzPct val="70000"/>
              <a:buFont typeface="Wingdings" panose="05000000000000000000" pitchFamily="2" charset="2"/>
              <a:buChar char=""/>
            </a:pPr>
            <a:endParaRPr lang="en-US" altLang="zh-CN" b="1" dirty="0">
              <a:latin typeface="微软雅黑" pitchFamily="34" charset="-122"/>
              <a:ea typeface="微软雅黑" pitchFamily="34" charset="-122"/>
            </a:endParaRPr>
          </a:p>
        </p:txBody>
      </p:sp>
      <p:pic>
        <p:nvPicPr>
          <p:cNvPr id="4" name="图片 3"/>
          <p:cNvPicPr>
            <a:picLocks noChangeAspect="1"/>
          </p:cNvPicPr>
          <p:nvPr/>
        </p:nvPicPr>
        <p:blipFill>
          <a:blip r:embed="rId2"/>
          <a:stretch>
            <a:fillRect/>
          </a:stretch>
        </p:blipFill>
        <p:spPr>
          <a:xfrm>
            <a:off x="864235" y="4932680"/>
            <a:ext cx="2932430" cy="1661795"/>
          </a:xfrm>
          <a:prstGeom prst="rect">
            <a:avLst/>
          </a:prstGeom>
        </p:spPr>
      </p:pic>
      <p:pic>
        <p:nvPicPr>
          <p:cNvPr id="6" name="图片 5"/>
          <p:cNvPicPr>
            <a:picLocks noChangeAspect="1"/>
          </p:cNvPicPr>
          <p:nvPr/>
        </p:nvPicPr>
        <p:blipFill>
          <a:blip r:embed="rId3"/>
          <a:stretch>
            <a:fillRect/>
          </a:stretch>
        </p:blipFill>
        <p:spPr>
          <a:xfrm>
            <a:off x="899795" y="3141980"/>
            <a:ext cx="2904490" cy="1618615"/>
          </a:xfrm>
          <a:prstGeom prst="rect">
            <a:avLst/>
          </a:prstGeom>
        </p:spPr>
      </p:pic>
      <p:pic>
        <p:nvPicPr>
          <p:cNvPr id="7" name="图片 6"/>
          <p:cNvPicPr>
            <a:picLocks noChangeAspect="1"/>
          </p:cNvPicPr>
          <p:nvPr/>
        </p:nvPicPr>
        <p:blipFill>
          <a:blip r:embed="rId4"/>
          <a:stretch>
            <a:fillRect/>
          </a:stretch>
        </p:blipFill>
        <p:spPr>
          <a:xfrm>
            <a:off x="5328920" y="3077210"/>
            <a:ext cx="2952750" cy="1739265"/>
          </a:xfrm>
          <a:prstGeom prst="rect">
            <a:avLst/>
          </a:prstGeom>
        </p:spPr>
      </p:pic>
      <p:pic>
        <p:nvPicPr>
          <p:cNvPr id="11" name="图片 10"/>
          <p:cNvPicPr>
            <a:picLocks noChangeAspect="1"/>
          </p:cNvPicPr>
          <p:nvPr/>
        </p:nvPicPr>
        <p:blipFill>
          <a:blip r:embed="rId5"/>
          <a:stretch>
            <a:fillRect/>
          </a:stretch>
        </p:blipFill>
        <p:spPr>
          <a:xfrm>
            <a:off x="5328920" y="4940935"/>
            <a:ext cx="2947035" cy="173482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伏格尔法</a:t>
            </a:r>
            <a:endParaRPr lang="zh-CN" altLang="en-US" sz="2800" b="1" dirty="0">
              <a:latin typeface="微软雅黑" pitchFamily="34" charset="-122"/>
              <a:ea typeface="微软雅黑" pitchFamily="34" charset="-122"/>
            </a:endParaRPr>
          </a:p>
        </p:txBody>
      </p:sp>
      <p:sp>
        <p:nvSpPr>
          <p:cNvPr id="3" name="Rectangle 3"/>
          <p:cNvSpPr txBox="1"/>
          <p:nvPr/>
        </p:nvSpPr>
        <p:spPr>
          <a:xfrm>
            <a:off x="0" y="549275"/>
            <a:ext cx="9144000" cy="2519363"/>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最小元素法的缺点是：为了节省一处的费用，有时造成在其他处要多花几倍的运费</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伏格尔法考虑到，一产地的产品假如不能按最小运费就近供应，就考虑次小运费，这就有一个差额。差额越大，说明不能按最小运费调运时，运费增加越多</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因而对差额最大处，就应当采用最小运费调运</a:t>
            </a:r>
            <a:r>
              <a:rPr lang="zh-CN" altLang="en-US" sz="3200" dirty="0">
                <a:latin typeface="华文楷体" panose="02010600040101010101" pitchFamily="2" charset="-122"/>
                <a:ea typeface="华文楷体" panose="02010600040101010101" pitchFamily="2" charset="-122"/>
              </a:rPr>
              <a:t> </a:t>
            </a:r>
          </a:p>
          <a:p>
            <a:pPr marL="273050" indent="-273050">
              <a:spcBef>
                <a:spcPts val="600"/>
              </a:spcBef>
              <a:buClr>
                <a:schemeClr val="accent1"/>
              </a:buClr>
              <a:buSzPct val="70000"/>
              <a:buFont typeface="Wingdings" panose="05000000000000000000" pitchFamily="2" charset="2"/>
              <a:buChar char=""/>
            </a:pPr>
            <a:endParaRPr lang="en-US" altLang="zh-CN" b="1" dirty="0">
              <a:latin typeface="微软雅黑" pitchFamily="34" charset="-122"/>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伏格尔法</a:t>
            </a:r>
            <a:endParaRPr lang="zh-CN" altLang="en-US" sz="2800" b="1" dirty="0">
              <a:latin typeface="微软雅黑" pitchFamily="34" charset="-122"/>
              <a:ea typeface="微软雅黑" pitchFamily="34" charset="-122"/>
            </a:endParaRPr>
          </a:p>
        </p:txBody>
      </p:sp>
      <p:sp>
        <p:nvSpPr>
          <p:cNvPr id="14339" name="Rectangle 3"/>
          <p:cNvSpPr txBox="1"/>
          <p:nvPr/>
        </p:nvSpPr>
        <p:spPr>
          <a:xfrm>
            <a:off x="0" y="549275"/>
            <a:ext cx="9144000" cy="2519363"/>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最小元素法的缺点是：为了节省一处的费用，有时造成在其他处要多花几倍的运费</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伏格尔法考虑到，一产地的产品假如不能按最小运费就近供应，就考虑次小运费，这就有一个差额。差额越大，说明不能按最小运费调运时，运费增加越多</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因而对差额最大处，就应当采用最小运费调运</a:t>
            </a:r>
            <a:r>
              <a:rPr lang="zh-CN" altLang="en-US" sz="3200" dirty="0">
                <a:latin typeface="华文楷体" panose="02010600040101010101" pitchFamily="2" charset="-122"/>
                <a:ea typeface="华文楷体" panose="02010600040101010101" pitchFamily="2" charset="-122"/>
              </a:rPr>
              <a:t> </a:t>
            </a:r>
          </a:p>
        </p:txBody>
      </p:sp>
      <p:sp>
        <p:nvSpPr>
          <p:cNvPr id="14340" name="Rectangle 2"/>
          <p:cNvSpPr txBox="1"/>
          <p:nvPr/>
        </p:nvSpPr>
        <p:spPr>
          <a:xfrm>
            <a:off x="0" y="3068638"/>
            <a:ext cx="9144000" cy="431800"/>
          </a:xfrm>
          <a:prstGeom prst="rect">
            <a:avLst/>
          </a:prstGeom>
          <a:solidFill>
            <a:srgbClr val="FFFF99"/>
          </a:solidFill>
          <a:ln w="9525">
            <a:noFill/>
          </a:ln>
        </p:spPr>
        <p:txBody>
          <a:bodyPr/>
          <a:lstStyle/>
          <a:p>
            <a:r>
              <a:rPr lang="zh-CN" altLang="en-US" b="1" dirty="0">
                <a:latin typeface="微软雅黑" pitchFamily="34" charset="-122"/>
                <a:ea typeface="微软雅黑" pitchFamily="34" charset="-122"/>
              </a:rPr>
              <a:t>伏格尔法的步骤是：</a:t>
            </a:r>
          </a:p>
        </p:txBody>
      </p:sp>
      <p:sp>
        <p:nvSpPr>
          <p:cNvPr id="6" name="Rectangle 3"/>
          <p:cNvSpPr txBox="1"/>
          <p:nvPr/>
        </p:nvSpPr>
        <p:spPr>
          <a:xfrm>
            <a:off x="0" y="3500438"/>
            <a:ext cx="9144000" cy="792162"/>
          </a:xfrm>
          <a:prstGeom prst="rect">
            <a:avLst/>
          </a:prstGeom>
          <a:solidFill>
            <a:srgbClr val="B3F1F7"/>
          </a:solid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b="1" dirty="0">
                <a:solidFill>
                  <a:srgbClr val="C00000"/>
                </a:solidFill>
                <a:latin typeface="微软雅黑" pitchFamily="34" charset="-122"/>
                <a:ea typeface="微软雅黑" pitchFamily="34" charset="-122"/>
              </a:rPr>
              <a:t>第一步</a:t>
            </a:r>
            <a:r>
              <a:rPr lang="zh-CN" altLang="en-US" b="1" dirty="0">
                <a:latin typeface="微软雅黑" pitchFamily="34" charset="-122"/>
                <a:ea typeface="微软雅黑" pitchFamily="34" charset="-122"/>
              </a:rPr>
              <a:t>：在表</a:t>
            </a:r>
            <a:r>
              <a:rPr lang="en-US" altLang="zh-CN" b="1" dirty="0">
                <a:latin typeface="微软雅黑" pitchFamily="34" charset="-122"/>
                <a:ea typeface="微软雅黑" pitchFamily="34" charset="-122"/>
              </a:rPr>
              <a:t>4-4</a:t>
            </a:r>
            <a:r>
              <a:rPr lang="zh-CN" altLang="en-US" b="1" dirty="0">
                <a:latin typeface="微软雅黑" pitchFamily="34" charset="-122"/>
                <a:ea typeface="微软雅黑" pitchFamily="34" charset="-122"/>
              </a:rPr>
              <a:t>中分别计算出各行和各列的最小运费和次最小运费的差额，并填入该表的最右列和最下行，见表</a:t>
            </a:r>
            <a:r>
              <a:rPr lang="en-US" altLang="zh-CN" b="1" dirty="0">
                <a:latin typeface="微软雅黑" pitchFamily="34" charset="-122"/>
                <a:ea typeface="微软雅黑" pitchFamily="34" charset="-122"/>
              </a:rPr>
              <a:t>4-11</a:t>
            </a:r>
            <a:endParaRPr lang="zh-CN" altLang="en-US" dirty="0">
              <a:latin typeface="Century Schoolbook" pitchFamily="18" charset="0"/>
              <a:ea typeface="华文楷体" panose="02010600040101010101" pitchFamily="2" charset="-122"/>
            </a:endParaRPr>
          </a:p>
        </p:txBody>
      </p:sp>
      <p:pic>
        <p:nvPicPr>
          <p:cNvPr id="337926" name="Picture 6"/>
          <p:cNvPicPr>
            <a:picLocks noChangeAspect="1"/>
          </p:cNvPicPr>
          <p:nvPr/>
        </p:nvPicPr>
        <p:blipFill>
          <a:blip r:embed="rId2"/>
          <a:stretch>
            <a:fillRect/>
          </a:stretch>
        </p:blipFill>
        <p:spPr>
          <a:xfrm>
            <a:off x="34925" y="4414838"/>
            <a:ext cx="4392613" cy="1841500"/>
          </a:xfrm>
          <a:prstGeom prst="rect">
            <a:avLst/>
          </a:prstGeom>
          <a:noFill/>
          <a:ln w="9525">
            <a:noFill/>
          </a:ln>
        </p:spPr>
      </p:pic>
      <p:sp>
        <p:nvSpPr>
          <p:cNvPr id="5" name="矩形 4"/>
          <p:cNvSpPr/>
          <p:nvPr/>
        </p:nvSpPr>
        <p:spPr>
          <a:xfrm>
            <a:off x="2051050" y="6284913"/>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4-4</a:t>
            </a:r>
            <a:endParaRPr lang="zh-CN" altLang="en-US" dirty="0">
              <a:latin typeface="微软雅黑" pitchFamily="34" charset="-122"/>
              <a:ea typeface="微软雅黑" pitchFamily="34" charset="-122"/>
            </a:endParaRPr>
          </a:p>
        </p:txBody>
      </p:sp>
      <p:pic>
        <p:nvPicPr>
          <p:cNvPr id="337928" name="Picture 8"/>
          <p:cNvPicPr>
            <a:picLocks noChangeAspect="1"/>
          </p:cNvPicPr>
          <p:nvPr/>
        </p:nvPicPr>
        <p:blipFill>
          <a:blip r:embed="rId3"/>
          <a:stretch>
            <a:fillRect/>
          </a:stretch>
        </p:blipFill>
        <p:spPr>
          <a:xfrm>
            <a:off x="4640263" y="4437063"/>
            <a:ext cx="4503737" cy="1876425"/>
          </a:xfrm>
          <a:prstGeom prst="rect">
            <a:avLst/>
          </a:prstGeom>
          <a:noFill/>
          <a:ln w="9525">
            <a:noFill/>
          </a:ln>
        </p:spPr>
      </p:pic>
      <p:sp>
        <p:nvSpPr>
          <p:cNvPr id="7" name="矩形 4"/>
          <p:cNvSpPr/>
          <p:nvPr/>
        </p:nvSpPr>
        <p:spPr>
          <a:xfrm>
            <a:off x="6227763" y="6381750"/>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4-11</a:t>
            </a:r>
            <a:endParaRPr lang="zh-CN" altLang="en-US" dirty="0">
              <a:latin typeface="微软雅黑" pitchFamily="34" charset="-122"/>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26"/>
                                        </p:tgtEl>
                                        <p:attrNameLst>
                                          <p:attrName>style.visibility</p:attrName>
                                        </p:attrNameLst>
                                      </p:cBhvr>
                                      <p:to>
                                        <p:strVal val="visible"/>
                                      </p:to>
                                    </p:set>
                                    <p:animEffect transition="in" filter="blinds(horizontal)">
                                      <p:cBhvr>
                                        <p:cTn id="7" dur="500"/>
                                        <p:tgtEl>
                                          <p:spTgt spid="3379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37928"/>
                                        </p:tgtEl>
                                        <p:attrNameLst>
                                          <p:attrName>style.visibility</p:attrName>
                                        </p:attrNameLst>
                                      </p:cBhvr>
                                      <p:to>
                                        <p:strVal val="visible"/>
                                      </p:to>
                                    </p:set>
                                    <p:animEffect transition="in" filter="blinds(horizontal)">
                                      <p:cBhvr>
                                        <p:cTn id="20" dur="500"/>
                                        <p:tgtEl>
                                          <p:spTgt spid="33792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4"/>
          <p:cNvSpPr/>
          <p:nvPr/>
        </p:nvSpPr>
        <p:spPr>
          <a:xfrm>
            <a:off x="6353175" y="184467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4-11</a:t>
            </a:r>
            <a:endParaRPr lang="zh-CN" altLang="en-US" dirty="0">
              <a:latin typeface="微软雅黑" pitchFamily="34" charset="-122"/>
              <a:ea typeface="微软雅黑" pitchFamily="34" charset="-122"/>
            </a:endParaRPr>
          </a:p>
        </p:txBody>
      </p:sp>
      <p:pic>
        <p:nvPicPr>
          <p:cNvPr id="15363" name="Picture 6"/>
          <p:cNvPicPr>
            <a:picLocks noChangeAspect="1"/>
          </p:cNvPicPr>
          <p:nvPr/>
        </p:nvPicPr>
        <p:blipFill>
          <a:blip r:embed="rId2"/>
          <a:stretch>
            <a:fillRect/>
          </a:stretch>
        </p:blipFill>
        <p:spPr>
          <a:xfrm>
            <a:off x="34925" y="-26987"/>
            <a:ext cx="4392613" cy="1841500"/>
          </a:xfrm>
          <a:prstGeom prst="rect">
            <a:avLst/>
          </a:prstGeom>
          <a:noFill/>
          <a:ln w="9525">
            <a:noFill/>
          </a:ln>
        </p:spPr>
      </p:pic>
      <p:sp>
        <p:nvSpPr>
          <p:cNvPr id="15364" name="矩形 4"/>
          <p:cNvSpPr/>
          <p:nvPr/>
        </p:nvSpPr>
        <p:spPr>
          <a:xfrm>
            <a:off x="2051050" y="1843088"/>
            <a:ext cx="98777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4-4</a:t>
            </a:r>
            <a:endParaRPr lang="zh-CN" altLang="en-US" dirty="0">
              <a:latin typeface="微软雅黑" pitchFamily="34" charset="-122"/>
              <a:ea typeface="微软雅黑" pitchFamily="34" charset="-122"/>
            </a:endParaRPr>
          </a:p>
        </p:txBody>
      </p:sp>
      <p:pic>
        <p:nvPicPr>
          <p:cNvPr id="15365" name="Picture 8"/>
          <p:cNvPicPr>
            <a:picLocks noChangeAspect="1"/>
          </p:cNvPicPr>
          <p:nvPr/>
        </p:nvPicPr>
        <p:blipFill>
          <a:blip r:embed="rId3"/>
          <a:stretch>
            <a:fillRect/>
          </a:stretch>
        </p:blipFill>
        <p:spPr>
          <a:xfrm>
            <a:off x="4640263" y="-4762"/>
            <a:ext cx="4503737" cy="1876425"/>
          </a:xfrm>
          <a:prstGeom prst="rect">
            <a:avLst/>
          </a:prstGeom>
          <a:noFill/>
          <a:ln w="9525">
            <a:noFill/>
          </a:ln>
        </p:spPr>
      </p:pic>
      <p:sp>
        <p:nvSpPr>
          <p:cNvPr id="2" name="Rectangle 2"/>
          <p:cNvSpPr txBox="1"/>
          <p:nvPr/>
        </p:nvSpPr>
        <p:spPr>
          <a:xfrm>
            <a:off x="0" y="2276475"/>
            <a:ext cx="9144000" cy="1296988"/>
          </a:xfrm>
          <a:prstGeom prst="rect">
            <a:avLst/>
          </a:prstGeom>
          <a:solidFill>
            <a:srgbClr val="FFCCFF"/>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：从行或列差额中选出最大者，选择它所在行或列中的最小元素。在表</a:t>
            </a:r>
            <a:r>
              <a:rPr lang="en-US" altLang="zh-CN" b="1" dirty="0">
                <a:latin typeface="Times New Roman" panose="02020603050405020304" pitchFamily="18" charset="0"/>
                <a:ea typeface="微软雅黑" pitchFamily="34" charset="-122"/>
              </a:rPr>
              <a:t>4-11</a:t>
            </a:r>
            <a:r>
              <a:rPr lang="zh-CN" altLang="en-US" b="1" dirty="0">
                <a:latin typeface="Times New Roman" panose="02020603050405020304" pitchFamily="18" charset="0"/>
                <a:ea typeface="微软雅黑" pitchFamily="34" charset="-122"/>
              </a:rPr>
              <a:t>中</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列是最大差额所在列。</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列中最小元素为</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，可确定</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的产品先供应</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的需要。得表</a:t>
            </a:r>
            <a:r>
              <a:rPr lang="en-US" altLang="zh-CN" b="1" dirty="0">
                <a:latin typeface="Times New Roman" panose="02020603050405020304" pitchFamily="18" charset="0"/>
                <a:ea typeface="微软雅黑" pitchFamily="34" charset="-122"/>
              </a:rPr>
              <a:t>4-12</a:t>
            </a:r>
            <a:endParaRPr lang="zh-CN" altLang="en-US" sz="3200" dirty="0">
              <a:latin typeface="Times New Roman" panose="02020603050405020304" pitchFamily="18" charset="0"/>
              <a:ea typeface="华文楷体" panose="02010600040101010101" pitchFamily="2" charset="-122"/>
            </a:endParaRPr>
          </a:p>
        </p:txBody>
      </p:sp>
      <p:pic>
        <p:nvPicPr>
          <p:cNvPr id="338955" name="Picture 11"/>
          <p:cNvPicPr>
            <a:picLocks noChangeAspect="1"/>
          </p:cNvPicPr>
          <p:nvPr/>
        </p:nvPicPr>
        <p:blipFill>
          <a:blip r:embed="rId4"/>
          <a:stretch>
            <a:fillRect/>
          </a:stretch>
        </p:blipFill>
        <p:spPr>
          <a:xfrm>
            <a:off x="0" y="4395788"/>
            <a:ext cx="4211638" cy="1849437"/>
          </a:xfrm>
          <a:prstGeom prst="rect">
            <a:avLst/>
          </a:prstGeom>
          <a:noFill/>
          <a:ln w="9525">
            <a:noFill/>
          </a:ln>
        </p:spPr>
      </p:pic>
      <p:sp>
        <p:nvSpPr>
          <p:cNvPr id="4" name="矩形 4"/>
          <p:cNvSpPr/>
          <p:nvPr/>
        </p:nvSpPr>
        <p:spPr>
          <a:xfrm>
            <a:off x="1403350" y="6308725"/>
            <a:ext cx="116891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4-12</a:t>
            </a:r>
            <a:endParaRPr lang="zh-CN" altLang="en-US" dirty="0">
              <a:latin typeface="微软雅黑" pitchFamily="34" charset="-122"/>
              <a:ea typeface="微软雅黑" pitchFamily="34" charset="-122"/>
            </a:endParaRPr>
          </a:p>
        </p:txBody>
      </p:sp>
      <p:sp>
        <p:nvSpPr>
          <p:cNvPr id="6" name="Rectangle 2"/>
          <p:cNvSpPr txBox="1"/>
          <p:nvPr/>
        </p:nvSpPr>
        <p:spPr>
          <a:xfrm>
            <a:off x="0" y="3573463"/>
            <a:ext cx="9144000" cy="431800"/>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同时将运价表中的</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列数字划去。如表</a:t>
            </a:r>
            <a:r>
              <a:rPr lang="en-US" altLang="zh-CN" b="1" dirty="0">
                <a:latin typeface="Times New Roman" panose="02020603050405020304" pitchFamily="18" charset="0"/>
                <a:ea typeface="微软雅黑" pitchFamily="34" charset="-122"/>
              </a:rPr>
              <a:t>4-13</a:t>
            </a:r>
            <a:r>
              <a:rPr lang="zh-CN" altLang="en-US" b="1" dirty="0">
                <a:latin typeface="Times New Roman" panose="02020603050405020304" pitchFamily="18" charset="0"/>
                <a:ea typeface="微软雅黑" pitchFamily="34" charset="-122"/>
              </a:rPr>
              <a:t>所示</a:t>
            </a:r>
          </a:p>
        </p:txBody>
      </p:sp>
      <p:pic>
        <p:nvPicPr>
          <p:cNvPr id="338958" name="Picture 14"/>
          <p:cNvPicPr>
            <a:picLocks noChangeAspect="1"/>
          </p:cNvPicPr>
          <p:nvPr/>
        </p:nvPicPr>
        <p:blipFill>
          <a:blip r:embed="rId5"/>
          <a:stretch>
            <a:fillRect/>
          </a:stretch>
        </p:blipFill>
        <p:spPr>
          <a:xfrm>
            <a:off x="4427538" y="4381500"/>
            <a:ext cx="4716462" cy="1827213"/>
          </a:xfrm>
          <a:prstGeom prst="rect">
            <a:avLst/>
          </a:prstGeom>
          <a:noFill/>
          <a:ln w="9525">
            <a:noFill/>
          </a:ln>
        </p:spPr>
      </p:pic>
      <p:sp>
        <p:nvSpPr>
          <p:cNvPr id="7" name="矩形 4"/>
          <p:cNvSpPr/>
          <p:nvPr/>
        </p:nvSpPr>
        <p:spPr>
          <a:xfrm>
            <a:off x="6300788" y="6237288"/>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4-13</a:t>
            </a:r>
            <a:endParaRPr lang="zh-CN" altLang="en-US" dirty="0">
              <a:latin typeface="微软雅黑" pitchFamily="34" charset="-122"/>
              <a:ea typeface="微软雅黑" pitchFamily="34" charset="-122"/>
            </a:endParaRPr>
          </a:p>
        </p:txBody>
      </p:sp>
      <p:sp>
        <p:nvSpPr>
          <p:cNvPr id="12" name="椭圆 11"/>
          <p:cNvSpPr/>
          <p:nvPr/>
        </p:nvSpPr>
        <p:spPr>
          <a:xfrm>
            <a:off x="6516688" y="1196975"/>
            <a:ext cx="576262" cy="360363"/>
          </a:xfrm>
          <a:prstGeom prst="ellipse">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3" name="椭圆 12"/>
          <p:cNvSpPr/>
          <p:nvPr/>
        </p:nvSpPr>
        <p:spPr>
          <a:xfrm>
            <a:off x="1835150" y="5516563"/>
            <a:ext cx="576263" cy="360362"/>
          </a:xfrm>
          <a:prstGeom prst="ellipse">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8955"/>
                                        </p:tgtEl>
                                        <p:attrNameLst>
                                          <p:attrName>style.visibility</p:attrName>
                                        </p:attrNameLst>
                                      </p:cBhvr>
                                      <p:to>
                                        <p:strVal val="visible"/>
                                      </p:to>
                                    </p:set>
                                    <p:animEffect transition="in" filter="blinds(horizontal)">
                                      <p:cBhvr>
                                        <p:cTn id="17" dur="500"/>
                                        <p:tgtEl>
                                          <p:spTgt spid="33895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38958"/>
                                        </p:tgtEl>
                                        <p:attrNameLst>
                                          <p:attrName>style.visibility</p:attrName>
                                        </p:attrNameLst>
                                      </p:cBhvr>
                                      <p:to>
                                        <p:strVal val="visible"/>
                                      </p:to>
                                    </p:set>
                                    <p:animEffect transition="in" filter="blinds(horizontal)">
                                      <p:cBhvr>
                                        <p:cTn id="35" dur="500"/>
                                        <p:tgtEl>
                                          <p:spTgt spid="33895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linds(horizontal)">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4"/>
          <p:cNvSpPr/>
          <p:nvPr/>
        </p:nvSpPr>
        <p:spPr>
          <a:xfrm>
            <a:off x="6300788" y="181927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4-13</a:t>
            </a:r>
            <a:endParaRPr lang="zh-CN" altLang="en-US" dirty="0">
              <a:latin typeface="微软雅黑" pitchFamily="34" charset="-122"/>
              <a:ea typeface="微软雅黑" pitchFamily="34" charset="-122"/>
            </a:endParaRPr>
          </a:p>
        </p:txBody>
      </p:sp>
      <p:sp>
        <p:nvSpPr>
          <p:cNvPr id="16387" name="矩形 4"/>
          <p:cNvSpPr/>
          <p:nvPr/>
        </p:nvSpPr>
        <p:spPr>
          <a:xfrm>
            <a:off x="1403350" y="1844675"/>
            <a:ext cx="116891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4-12</a:t>
            </a:r>
            <a:endParaRPr lang="zh-CN" altLang="en-US" dirty="0">
              <a:latin typeface="微软雅黑" pitchFamily="34" charset="-122"/>
              <a:ea typeface="微软雅黑" pitchFamily="34" charset="-122"/>
            </a:endParaRPr>
          </a:p>
        </p:txBody>
      </p:sp>
      <p:sp>
        <p:nvSpPr>
          <p:cNvPr id="3" name="Rectangle 5"/>
          <p:cNvSpPr txBox="1"/>
          <p:nvPr/>
        </p:nvSpPr>
        <p:spPr>
          <a:xfrm>
            <a:off x="0" y="2205038"/>
            <a:ext cx="9144000" cy="1728787"/>
          </a:xfrm>
          <a:prstGeom prst="rect">
            <a:avLst/>
          </a:prstGeom>
          <a:noFill/>
          <a:ln w="9525">
            <a:noFill/>
          </a:ln>
        </p:spPr>
        <p:txBody>
          <a:bodyPr/>
          <a:lstStyle/>
          <a:p>
            <a:r>
              <a:rPr lang="zh-CN" altLang="en-US" b="1" dirty="0">
                <a:solidFill>
                  <a:srgbClr val="C00000"/>
                </a:solidFill>
                <a:latin typeface="微软雅黑" pitchFamily="34" charset="-122"/>
                <a:ea typeface="微软雅黑" pitchFamily="34" charset="-122"/>
              </a:rPr>
              <a:t>第三步</a:t>
            </a:r>
            <a:r>
              <a:rPr lang="zh-CN" altLang="en-US" b="1" dirty="0">
                <a:latin typeface="微软雅黑" pitchFamily="34" charset="-122"/>
                <a:ea typeface="微软雅黑" pitchFamily="34" charset="-122"/>
              </a:rPr>
              <a:t>：对表</a:t>
            </a:r>
            <a:r>
              <a:rPr lang="en-US" altLang="zh-CN" b="1" dirty="0">
                <a:latin typeface="微软雅黑" pitchFamily="34" charset="-122"/>
                <a:ea typeface="微软雅黑" pitchFamily="34" charset="-122"/>
              </a:rPr>
              <a:t>4-13</a:t>
            </a:r>
            <a:r>
              <a:rPr lang="zh-CN" altLang="en-US" b="1" dirty="0">
                <a:latin typeface="微软雅黑" pitchFamily="34" charset="-122"/>
                <a:ea typeface="微软雅黑" pitchFamily="34" charset="-122"/>
              </a:rPr>
              <a:t>中未划去的元素再分别计算出各行、各列的最小运费和次最小运费的差额，并填入该表的最右列和最下行。重复第一、二步。直到给出初始解为止</a:t>
            </a:r>
            <a:endParaRPr lang="en-US" altLang="zh-CN" b="1" dirty="0">
              <a:latin typeface="微软雅黑" pitchFamily="34" charset="-122"/>
              <a:ea typeface="微软雅黑" pitchFamily="34" charset="-122"/>
            </a:endParaRPr>
          </a:p>
          <a:p>
            <a:r>
              <a:rPr lang="zh-CN" altLang="en-US" b="1" dirty="0">
                <a:latin typeface="微软雅黑" pitchFamily="34" charset="-122"/>
                <a:ea typeface="微软雅黑" pitchFamily="34" charset="-122"/>
              </a:rPr>
              <a:t>用此法给出例</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的初始解列于表</a:t>
            </a:r>
            <a:r>
              <a:rPr lang="en-US" altLang="zh-CN" b="1" dirty="0">
                <a:latin typeface="微软雅黑" pitchFamily="34" charset="-122"/>
                <a:ea typeface="微软雅黑" pitchFamily="34" charset="-122"/>
              </a:rPr>
              <a:t>4-14</a:t>
            </a:r>
            <a:endParaRPr lang="zh-CN" altLang="en-US" b="1" dirty="0">
              <a:latin typeface="微软雅黑" pitchFamily="34" charset="-122"/>
              <a:ea typeface="微软雅黑" pitchFamily="34" charset="-122"/>
            </a:endParaRPr>
          </a:p>
        </p:txBody>
      </p:sp>
      <p:pic>
        <p:nvPicPr>
          <p:cNvPr id="16389" name="Picture 5"/>
          <p:cNvPicPr>
            <a:picLocks noChangeAspect="1"/>
          </p:cNvPicPr>
          <p:nvPr/>
        </p:nvPicPr>
        <p:blipFill>
          <a:blip r:embed="rId2"/>
          <a:stretch>
            <a:fillRect/>
          </a:stretch>
        </p:blipFill>
        <p:spPr>
          <a:xfrm>
            <a:off x="0" y="58738"/>
            <a:ext cx="4211638" cy="1849437"/>
          </a:xfrm>
          <a:prstGeom prst="rect">
            <a:avLst/>
          </a:prstGeom>
          <a:noFill/>
          <a:ln w="9525">
            <a:noFill/>
          </a:ln>
        </p:spPr>
      </p:pic>
      <p:pic>
        <p:nvPicPr>
          <p:cNvPr id="16390" name="Picture 7"/>
          <p:cNvPicPr>
            <a:picLocks noChangeAspect="1"/>
          </p:cNvPicPr>
          <p:nvPr/>
        </p:nvPicPr>
        <p:blipFill>
          <a:blip r:embed="rId3"/>
          <a:stretch>
            <a:fillRect/>
          </a:stretch>
        </p:blipFill>
        <p:spPr>
          <a:xfrm>
            <a:off x="4427538" y="44450"/>
            <a:ext cx="4716462" cy="1827213"/>
          </a:xfrm>
          <a:prstGeom prst="rect">
            <a:avLst/>
          </a:prstGeom>
          <a:noFill/>
          <a:ln w="9525">
            <a:noFill/>
          </a:ln>
        </p:spPr>
      </p:pic>
      <p:pic>
        <p:nvPicPr>
          <p:cNvPr id="342025" name="Picture 9"/>
          <p:cNvPicPr>
            <a:picLocks noChangeAspect="1"/>
          </p:cNvPicPr>
          <p:nvPr/>
        </p:nvPicPr>
        <p:blipFill>
          <a:blip r:embed="rId4"/>
          <a:stretch>
            <a:fillRect/>
          </a:stretch>
        </p:blipFill>
        <p:spPr>
          <a:xfrm>
            <a:off x="1042988" y="3860800"/>
            <a:ext cx="6264275" cy="2622550"/>
          </a:xfrm>
          <a:prstGeom prst="rect">
            <a:avLst/>
          </a:prstGeom>
          <a:noFill/>
          <a:ln w="9525">
            <a:noFill/>
          </a:ln>
        </p:spPr>
      </p:pic>
      <p:sp>
        <p:nvSpPr>
          <p:cNvPr id="4" name="矩形 4"/>
          <p:cNvSpPr/>
          <p:nvPr/>
        </p:nvSpPr>
        <p:spPr>
          <a:xfrm>
            <a:off x="7667625" y="5516563"/>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4-14</a:t>
            </a:r>
            <a:endParaRPr lang="zh-CN" altLang="en-US" dirty="0">
              <a:latin typeface="微软雅黑" pitchFamily="34" charset="-122"/>
              <a:ea typeface="微软雅黑" pitchFamily="34" charset="-122"/>
            </a:endParaRPr>
          </a:p>
        </p:txBody>
      </p:sp>
      <p:sp>
        <p:nvSpPr>
          <p:cNvPr id="342028" name="Rectangle 12"/>
          <p:cNvSpPr/>
          <p:nvPr/>
        </p:nvSpPr>
        <p:spPr>
          <a:xfrm>
            <a:off x="5580063" y="55895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29" name="Rectangle 13"/>
          <p:cNvSpPr/>
          <p:nvPr/>
        </p:nvSpPr>
        <p:spPr>
          <a:xfrm>
            <a:off x="5580063" y="51577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0" name="Rectangle 14"/>
          <p:cNvSpPr/>
          <p:nvPr/>
        </p:nvSpPr>
        <p:spPr>
          <a:xfrm>
            <a:off x="5651500" y="4797425"/>
            <a:ext cx="504825" cy="360363"/>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1" name="Rectangle 15"/>
          <p:cNvSpPr/>
          <p:nvPr/>
        </p:nvSpPr>
        <p:spPr>
          <a:xfrm>
            <a:off x="4787900" y="4797425"/>
            <a:ext cx="504825" cy="360363"/>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2" name="Rectangle 16"/>
          <p:cNvSpPr/>
          <p:nvPr/>
        </p:nvSpPr>
        <p:spPr>
          <a:xfrm>
            <a:off x="3203575" y="51577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3" name="Oval 17"/>
          <p:cNvSpPr/>
          <p:nvPr/>
        </p:nvSpPr>
        <p:spPr>
          <a:xfrm>
            <a:off x="7667625" y="1557338"/>
            <a:ext cx="433388"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4" name="Line 18"/>
          <p:cNvSpPr/>
          <p:nvPr/>
        </p:nvSpPr>
        <p:spPr>
          <a:xfrm>
            <a:off x="4787900" y="1412875"/>
            <a:ext cx="4105275" cy="0"/>
          </a:xfrm>
          <a:prstGeom prst="line">
            <a:avLst/>
          </a:prstGeom>
          <a:ln w="38100" cap="flat" cmpd="sng">
            <a:solidFill>
              <a:schemeClr val="hlink"/>
            </a:solidFill>
            <a:prstDash val="solid"/>
            <a:headEnd type="none" w="med" len="med"/>
            <a:tailEnd type="none" w="med" len="med"/>
          </a:ln>
        </p:spPr>
      </p:sp>
      <p:sp>
        <p:nvSpPr>
          <p:cNvPr id="342035" name="Oval 19"/>
          <p:cNvSpPr/>
          <p:nvPr/>
        </p:nvSpPr>
        <p:spPr>
          <a:xfrm>
            <a:off x="5940425" y="1557338"/>
            <a:ext cx="433388"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6" name="Line 20"/>
          <p:cNvSpPr/>
          <p:nvPr/>
        </p:nvSpPr>
        <p:spPr>
          <a:xfrm>
            <a:off x="6156325" y="0"/>
            <a:ext cx="0" cy="1916113"/>
          </a:xfrm>
          <a:prstGeom prst="line">
            <a:avLst/>
          </a:prstGeom>
          <a:ln w="38100" cap="flat" cmpd="sng">
            <a:solidFill>
              <a:schemeClr val="hlink"/>
            </a:solidFill>
            <a:prstDash val="solid"/>
            <a:headEnd type="none" w="med" len="med"/>
            <a:tailEnd type="none" w="med" len="med"/>
          </a:ln>
        </p:spPr>
      </p:sp>
      <p:sp>
        <p:nvSpPr>
          <p:cNvPr id="342037" name="Text Box 21"/>
          <p:cNvSpPr txBox="1"/>
          <p:nvPr/>
        </p:nvSpPr>
        <p:spPr>
          <a:xfrm>
            <a:off x="7667625" y="1519238"/>
            <a:ext cx="433388" cy="396875"/>
          </a:xfrm>
          <a:prstGeom prst="rect">
            <a:avLst/>
          </a:prstGeom>
          <a:solidFill>
            <a:srgbClr val="B3F1F7"/>
          </a:solidFill>
          <a:ln w="9525">
            <a:noFill/>
          </a:ln>
        </p:spPr>
        <p:txBody>
          <a:bodyPr>
            <a:spAutoFit/>
          </a:bodyPr>
          <a:lstStyle/>
          <a:p>
            <a:pPr eaLnBrk="1" hangingPunct="1">
              <a:spcBef>
                <a:spcPct val="50000"/>
              </a:spcBef>
            </a:pPr>
            <a:r>
              <a:rPr lang="en-US" altLang="zh-CN" sz="2000" dirty="0">
                <a:latin typeface="Times New Roman" panose="02020603050405020304" pitchFamily="18" charset="0"/>
                <a:ea typeface="微软雅黑" pitchFamily="34" charset="-122"/>
              </a:rPr>
              <a:t>2</a:t>
            </a:r>
          </a:p>
        </p:txBody>
      </p:sp>
      <p:sp>
        <p:nvSpPr>
          <p:cNvPr id="342038" name="Text Box 22"/>
          <p:cNvSpPr txBox="1"/>
          <p:nvPr/>
        </p:nvSpPr>
        <p:spPr>
          <a:xfrm>
            <a:off x="8459788" y="692150"/>
            <a:ext cx="433387" cy="581025"/>
          </a:xfrm>
          <a:prstGeom prst="rect">
            <a:avLst/>
          </a:prstGeom>
          <a:solidFill>
            <a:srgbClr val="B3F1F7"/>
          </a:solidFill>
          <a:ln w="9525">
            <a:noFill/>
          </a:ln>
        </p:spPr>
        <p:txBody>
          <a:bodyPr>
            <a:spAutoFit/>
          </a:bodyPr>
          <a:lstStyle/>
          <a:p>
            <a:pPr eaLnBrk="1" hangingPunct="1">
              <a:lnSpc>
                <a:spcPct val="80000"/>
              </a:lnSpc>
            </a:pPr>
            <a:r>
              <a:rPr lang="en-US" altLang="zh-CN" sz="2000" dirty="0">
                <a:latin typeface="Times New Roman" panose="02020603050405020304" pitchFamily="18" charset="0"/>
                <a:ea typeface="微软雅黑" pitchFamily="34" charset="-122"/>
              </a:rPr>
              <a:t>7</a:t>
            </a:r>
          </a:p>
          <a:p>
            <a:pPr eaLnBrk="1" hangingPunct="1">
              <a:lnSpc>
                <a:spcPct val="80000"/>
              </a:lnSpc>
            </a:pPr>
            <a:r>
              <a:rPr lang="en-US" altLang="zh-CN" sz="2000" dirty="0">
                <a:latin typeface="Times New Roman" panose="02020603050405020304" pitchFamily="18" charset="0"/>
                <a:ea typeface="微软雅黑" pitchFamily="34" charset="-122"/>
              </a:rPr>
              <a:t>6</a:t>
            </a:r>
          </a:p>
        </p:txBody>
      </p:sp>
      <p:sp>
        <p:nvSpPr>
          <p:cNvPr id="342039" name="Oval 23"/>
          <p:cNvSpPr/>
          <p:nvPr/>
        </p:nvSpPr>
        <p:spPr>
          <a:xfrm>
            <a:off x="8388350" y="692150"/>
            <a:ext cx="433388"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40" name="Line 24"/>
          <p:cNvSpPr/>
          <p:nvPr/>
        </p:nvSpPr>
        <p:spPr>
          <a:xfrm>
            <a:off x="7308850" y="0"/>
            <a:ext cx="0" cy="1916113"/>
          </a:xfrm>
          <a:prstGeom prst="line">
            <a:avLst/>
          </a:prstGeom>
          <a:ln w="38100" cap="flat" cmpd="sng">
            <a:solidFill>
              <a:schemeClr val="hlink"/>
            </a:solidFill>
            <a:prstDash val="solid"/>
            <a:headEnd type="none" w="med" len="med"/>
            <a:tailEnd type="none" w="med" len="med"/>
          </a:ln>
        </p:spPr>
      </p:sp>
      <p:sp>
        <p:nvSpPr>
          <p:cNvPr id="342041" name="Line 25"/>
          <p:cNvSpPr/>
          <p:nvPr/>
        </p:nvSpPr>
        <p:spPr>
          <a:xfrm>
            <a:off x="5038725" y="1125538"/>
            <a:ext cx="4105275" cy="0"/>
          </a:xfrm>
          <a:prstGeom prst="line">
            <a:avLst/>
          </a:prstGeom>
          <a:ln w="38100" cap="flat" cmpd="sng">
            <a:solidFill>
              <a:schemeClr val="hlink"/>
            </a:solidFill>
            <a:prstDash val="solid"/>
            <a:headEnd type="none" w="med" len="med"/>
            <a:tailEnd type="non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2032"/>
                                        </p:tgtEl>
                                        <p:attrNameLst>
                                          <p:attrName>style.visibility</p:attrName>
                                        </p:attrNameLst>
                                      </p:cBhvr>
                                      <p:to>
                                        <p:strVal val="visible"/>
                                      </p:to>
                                    </p:set>
                                    <p:animEffect transition="in" filter="blinds(horizontal)">
                                      <p:cBhvr>
                                        <p:cTn id="12" dur="500"/>
                                        <p:tgtEl>
                                          <p:spTgt spid="34203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42031"/>
                                        </p:tgtEl>
                                        <p:attrNameLst>
                                          <p:attrName>style.visibility</p:attrName>
                                        </p:attrNameLst>
                                      </p:cBhvr>
                                      <p:to>
                                        <p:strVal val="visible"/>
                                      </p:to>
                                    </p:set>
                                    <p:animEffect transition="in" filter="blinds(horizontal)">
                                      <p:cBhvr>
                                        <p:cTn id="15" dur="500"/>
                                        <p:tgtEl>
                                          <p:spTgt spid="34203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42030"/>
                                        </p:tgtEl>
                                        <p:attrNameLst>
                                          <p:attrName>style.visibility</p:attrName>
                                        </p:attrNameLst>
                                      </p:cBhvr>
                                      <p:to>
                                        <p:strVal val="visible"/>
                                      </p:to>
                                    </p:set>
                                    <p:animEffect transition="in" filter="blinds(horizontal)">
                                      <p:cBhvr>
                                        <p:cTn id="18" dur="500"/>
                                        <p:tgtEl>
                                          <p:spTgt spid="34203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42029"/>
                                        </p:tgtEl>
                                        <p:attrNameLst>
                                          <p:attrName>style.visibility</p:attrName>
                                        </p:attrNameLst>
                                      </p:cBhvr>
                                      <p:to>
                                        <p:strVal val="visible"/>
                                      </p:to>
                                    </p:set>
                                    <p:animEffect transition="in" filter="blinds(horizontal)">
                                      <p:cBhvr>
                                        <p:cTn id="21" dur="500"/>
                                        <p:tgtEl>
                                          <p:spTgt spid="34202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42028"/>
                                        </p:tgtEl>
                                        <p:attrNameLst>
                                          <p:attrName>style.visibility</p:attrName>
                                        </p:attrNameLst>
                                      </p:cBhvr>
                                      <p:to>
                                        <p:strVal val="visible"/>
                                      </p:to>
                                    </p:set>
                                    <p:animEffect transition="in" filter="blinds(horizontal)">
                                      <p:cBhvr>
                                        <p:cTn id="24" dur="500"/>
                                        <p:tgtEl>
                                          <p:spTgt spid="342028"/>
                                        </p:tgtEl>
                                      </p:cBhvr>
                                    </p:animEffect>
                                  </p:childTnLst>
                                </p:cTn>
                              </p:par>
                              <p:par>
                                <p:cTn id="25" presetID="3" presetClass="entr" presetSubtype="10" fill="hold" nodeType="withEffect">
                                  <p:stCondLst>
                                    <p:cond delay="0"/>
                                  </p:stCondLst>
                                  <p:childTnLst>
                                    <p:set>
                                      <p:cBhvr>
                                        <p:cTn id="26" dur="1" fill="hold">
                                          <p:stCondLst>
                                            <p:cond delay="0"/>
                                          </p:stCondLst>
                                        </p:cTn>
                                        <p:tgtEl>
                                          <p:spTgt spid="342025"/>
                                        </p:tgtEl>
                                        <p:attrNameLst>
                                          <p:attrName>style.visibility</p:attrName>
                                        </p:attrNameLst>
                                      </p:cBhvr>
                                      <p:to>
                                        <p:strVal val="visible"/>
                                      </p:to>
                                    </p:set>
                                    <p:animEffect transition="in" filter="blinds(horizontal)">
                                      <p:cBhvr>
                                        <p:cTn id="27" dur="500"/>
                                        <p:tgtEl>
                                          <p:spTgt spid="34202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42033"/>
                                        </p:tgtEl>
                                        <p:attrNameLst>
                                          <p:attrName>style.visibility</p:attrName>
                                        </p:attrNameLst>
                                      </p:cBhvr>
                                      <p:to>
                                        <p:strVal val="visible"/>
                                      </p:to>
                                    </p:set>
                                    <p:animEffect transition="in" filter="blinds(horizontal)">
                                      <p:cBhvr>
                                        <p:cTn id="35" dur="500"/>
                                        <p:tgtEl>
                                          <p:spTgt spid="34203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1" nodeType="clickEffect">
                                  <p:stCondLst>
                                    <p:cond delay="0"/>
                                  </p:stCondLst>
                                  <p:childTnLst>
                                    <p:animEffect transition="out" filter="blinds(horizontal)">
                                      <p:cBhvr>
                                        <p:cTn id="39" dur="500"/>
                                        <p:tgtEl>
                                          <p:spTgt spid="342028"/>
                                        </p:tgtEl>
                                      </p:cBhvr>
                                    </p:animEffect>
                                    <p:set>
                                      <p:cBhvr>
                                        <p:cTn id="40" dur="1" fill="hold">
                                          <p:stCondLst>
                                            <p:cond delay="499"/>
                                          </p:stCondLst>
                                        </p:cTn>
                                        <p:tgtEl>
                                          <p:spTgt spid="34202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42034"/>
                                        </p:tgtEl>
                                        <p:attrNameLst>
                                          <p:attrName>style.visibility</p:attrName>
                                        </p:attrNameLst>
                                      </p:cBhvr>
                                      <p:to>
                                        <p:strVal val="visible"/>
                                      </p:to>
                                    </p:set>
                                    <p:animEffect transition="in" filter="blinds(horizontal)">
                                      <p:cBhvr>
                                        <p:cTn id="45" dur="500"/>
                                        <p:tgtEl>
                                          <p:spTgt spid="34203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42037"/>
                                        </p:tgtEl>
                                        <p:attrNameLst>
                                          <p:attrName>style.visibility</p:attrName>
                                        </p:attrNameLst>
                                      </p:cBhvr>
                                      <p:to>
                                        <p:strVal val="visible"/>
                                      </p:to>
                                    </p:set>
                                    <p:animEffect transition="in" filter="blinds(horizontal)">
                                      <p:cBhvr>
                                        <p:cTn id="50" dur="500"/>
                                        <p:tgtEl>
                                          <p:spTgt spid="342037"/>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42035"/>
                                        </p:tgtEl>
                                        <p:attrNameLst>
                                          <p:attrName>style.visibility</p:attrName>
                                        </p:attrNameLst>
                                      </p:cBhvr>
                                      <p:to>
                                        <p:strVal val="visible"/>
                                      </p:to>
                                    </p:set>
                                    <p:animEffect transition="in" filter="blinds(horizontal)">
                                      <p:cBhvr>
                                        <p:cTn id="55" dur="500"/>
                                        <p:tgtEl>
                                          <p:spTgt spid="34203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1" nodeType="clickEffect">
                                  <p:stCondLst>
                                    <p:cond delay="0"/>
                                  </p:stCondLst>
                                  <p:childTnLst>
                                    <p:animEffect transition="out" filter="blinds(horizontal)">
                                      <p:cBhvr>
                                        <p:cTn id="59" dur="500"/>
                                        <p:tgtEl>
                                          <p:spTgt spid="342032"/>
                                        </p:tgtEl>
                                      </p:cBhvr>
                                    </p:animEffect>
                                    <p:set>
                                      <p:cBhvr>
                                        <p:cTn id="60" dur="1" fill="hold">
                                          <p:stCondLst>
                                            <p:cond delay="499"/>
                                          </p:stCondLst>
                                        </p:cTn>
                                        <p:tgtEl>
                                          <p:spTgt spid="34203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42036"/>
                                        </p:tgtEl>
                                        <p:attrNameLst>
                                          <p:attrName>style.visibility</p:attrName>
                                        </p:attrNameLst>
                                      </p:cBhvr>
                                      <p:to>
                                        <p:strVal val="visible"/>
                                      </p:to>
                                    </p:set>
                                    <p:animEffect transition="in" filter="blinds(horizontal)">
                                      <p:cBhvr>
                                        <p:cTn id="65" dur="500"/>
                                        <p:tgtEl>
                                          <p:spTgt spid="342036"/>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42038"/>
                                        </p:tgtEl>
                                        <p:attrNameLst>
                                          <p:attrName>style.visibility</p:attrName>
                                        </p:attrNameLst>
                                      </p:cBhvr>
                                      <p:to>
                                        <p:strVal val="visible"/>
                                      </p:to>
                                    </p:set>
                                    <p:animEffect transition="in" filter="blinds(horizontal)">
                                      <p:cBhvr>
                                        <p:cTn id="70" dur="500"/>
                                        <p:tgtEl>
                                          <p:spTgt spid="34203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42039"/>
                                        </p:tgtEl>
                                        <p:attrNameLst>
                                          <p:attrName>style.visibility</p:attrName>
                                        </p:attrNameLst>
                                      </p:cBhvr>
                                      <p:to>
                                        <p:strVal val="visible"/>
                                      </p:to>
                                    </p:set>
                                    <p:animEffect transition="in" filter="blinds(horizontal)">
                                      <p:cBhvr>
                                        <p:cTn id="75" dur="500"/>
                                        <p:tgtEl>
                                          <p:spTgt spid="342039"/>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342031"/>
                                        </p:tgtEl>
                                      </p:cBhvr>
                                    </p:animEffect>
                                    <p:set>
                                      <p:cBhvr>
                                        <p:cTn id="80" dur="1" fill="hold">
                                          <p:stCondLst>
                                            <p:cond delay="499"/>
                                          </p:stCondLst>
                                        </p:cTn>
                                        <p:tgtEl>
                                          <p:spTgt spid="34203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42040"/>
                                        </p:tgtEl>
                                        <p:attrNameLst>
                                          <p:attrName>style.visibility</p:attrName>
                                        </p:attrNameLst>
                                      </p:cBhvr>
                                      <p:to>
                                        <p:strVal val="visible"/>
                                      </p:to>
                                    </p:set>
                                    <p:animEffect transition="in" filter="blinds(horizontal)">
                                      <p:cBhvr>
                                        <p:cTn id="85" dur="500"/>
                                        <p:tgtEl>
                                          <p:spTgt spid="342040"/>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xit" presetSubtype="10" fill="hold" grpId="1" nodeType="clickEffect">
                                  <p:stCondLst>
                                    <p:cond delay="0"/>
                                  </p:stCondLst>
                                  <p:childTnLst>
                                    <p:animEffect transition="out" filter="blinds(horizontal)">
                                      <p:cBhvr>
                                        <p:cTn id="89" dur="500"/>
                                        <p:tgtEl>
                                          <p:spTgt spid="342029"/>
                                        </p:tgtEl>
                                      </p:cBhvr>
                                    </p:animEffect>
                                    <p:set>
                                      <p:cBhvr>
                                        <p:cTn id="90" dur="1" fill="hold">
                                          <p:stCondLst>
                                            <p:cond delay="499"/>
                                          </p:stCondLst>
                                        </p:cTn>
                                        <p:tgtEl>
                                          <p:spTgt spid="34202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42041"/>
                                        </p:tgtEl>
                                        <p:attrNameLst>
                                          <p:attrName>style.visibility</p:attrName>
                                        </p:attrNameLst>
                                      </p:cBhvr>
                                      <p:to>
                                        <p:strVal val="visible"/>
                                      </p:to>
                                    </p:set>
                                    <p:animEffect transition="in" filter="blinds(horizontal)">
                                      <p:cBhvr>
                                        <p:cTn id="95" dur="500"/>
                                        <p:tgtEl>
                                          <p:spTgt spid="342041"/>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xit" presetSubtype="10" fill="hold" grpId="1" nodeType="clickEffect">
                                  <p:stCondLst>
                                    <p:cond delay="0"/>
                                  </p:stCondLst>
                                  <p:childTnLst>
                                    <p:animEffect transition="out" filter="blinds(horizontal)">
                                      <p:cBhvr>
                                        <p:cTn id="99" dur="500"/>
                                        <p:tgtEl>
                                          <p:spTgt spid="342030"/>
                                        </p:tgtEl>
                                      </p:cBhvr>
                                    </p:animEffect>
                                    <p:set>
                                      <p:cBhvr>
                                        <p:cTn id="100" dur="1" fill="hold">
                                          <p:stCondLst>
                                            <p:cond delay="499"/>
                                          </p:stCondLst>
                                        </p:cTn>
                                        <p:tgtEl>
                                          <p:spTgt spid="342030"/>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3">
                                            <p:txEl>
                                              <p:pRg st="1" end="1"/>
                                            </p:txEl>
                                          </p:spTgt>
                                        </p:tgtEl>
                                        <p:attrNameLst>
                                          <p:attrName>style.visibility</p:attrName>
                                        </p:attrNameLst>
                                      </p:cBhvr>
                                      <p:to>
                                        <p:strVal val="visible"/>
                                      </p:to>
                                    </p:set>
                                    <p:animEffect transition="in" filter="blinds(horizontal)">
                                      <p:cBhvr>
                                        <p:cTn id="10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2028" grpId="0" animBg="1"/>
      <p:bldP spid="342028" grpId="1" animBg="1"/>
      <p:bldP spid="342029" grpId="0" animBg="1"/>
      <p:bldP spid="342029" grpId="1" animBg="1"/>
      <p:bldP spid="342030" grpId="0" animBg="1"/>
      <p:bldP spid="342030" grpId="1" animBg="1"/>
      <p:bldP spid="342031" grpId="0" animBg="1"/>
      <p:bldP spid="342031" grpId="1" animBg="1"/>
      <p:bldP spid="342032" grpId="0" animBg="1"/>
      <p:bldP spid="342032" grpId="1" animBg="1"/>
      <p:bldP spid="342033" grpId="0" animBg="1"/>
      <p:bldP spid="342035" grpId="0" animBg="1"/>
      <p:bldP spid="342037" grpId="0" animBg="1"/>
      <p:bldP spid="342038" grpId="0" animBg="1"/>
      <p:bldP spid="34203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p:nvPr/>
        </p:nvSpPr>
        <p:spPr>
          <a:xfrm>
            <a:off x="108744" y="5233490"/>
            <a:ext cx="9144000" cy="584775"/>
          </a:xfrm>
          <a:prstGeom prst="rect">
            <a:avLst/>
          </a:prstGeom>
          <a:solidFill>
            <a:srgbClr val="FFFF99"/>
          </a:solidFill>
          <a:ln w="9525">
            <a:noFill/>
          </a:ln>
        </p:spPr>
        <p:txBody>
          <a:bodyPr>
            <a:spAutoFit/>
          </a:bodyPr>
          <a:lstStyle/>
          <a:p>
            <a:pPr algn="ctr" eaLnBrk="1" hangingPunct="1"/>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32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4</a:t>
            </a:r>
            <a:r>
              <a:rPr lang="en-US" altLang="zh-CN" sz="2800" b="1" dirty="0">
                <a:solidFill>
                  <a:schemeClr val="hlink"/>
                </a:solidFill>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6</a:t>
            </a:r>
            <a:r>
              <a:rPr lang="en-US" altLang="zh-CN" sz="28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3</a:t>
            </a:r>
            <a:r>
              <a:rPr lang="en-US" altLang="zh-CN" sz="2800" b="1" dirty="0">
                <a:solidFill>
                  <a:schemeClr val="hlink"/>
                </a:solidFill>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8</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3=85</a:t>
            </a:r>
          </a:p>
        </p:txBody>
      </p:sp>
      <p:sp>
        <p:nvSpPr>
          <p:cNvPr id="17410" name="矩形 4"/>
          <p:cNvSpPr/>
          <p:nvPr/>
        </p:nvSpPr>
        <p:spPr>
          <a:xfrm>
            <a:off x="6300788" y="181927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4-13</a:t>
            </a:r>
            <a:endParaRPr lang="zh-CN" altLang="en-US" dirty="0">
              <a:latin typeface="微软雅黑" pitchFamily="34" charset="-122"/>
              <a:ea typeface="微软雅黑" pitchFamily="34" charset="-122"/>
            </a:endParaRPr>
          </a:p>
        </p:txBody>
      </p:sp>
      <p:sp>
        <p:nvSpPr>
          <p:cNvPr id="17411" name="矩形 4"/>
          <p:cNvSpPr/>
          <p:nvPr/>
        </p:nvSpPr>
        <p:spPr>
          <a:xfrm>
            <a:off x="1403350" y="1844675"/>
            <a:ext cx="116891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4-12</a:t>
            </a:r>
            <a:endParaRPr lang="zh-CN" altLang="en-US" dirty="0">
              <a:latin typeface="微软雅黑" pitchFamily="34" charset="-122"/>
              <a:ea typeface="微软雅黑" pitchFamily="34" charset="-122"/>
            </a:endParaRPr>
          </a:p>
        </p:txBody>
      </p:sp>
      <p:sp>
        <p:nvSpPr>
          <p:cNvPr id="17412" name="Rectangle 5"/>
          <p:cNvSpPr txBox="1"/>
          <p:nvPr/>
        </p:nvSpPr>
        <p:spPr>
          <a:xfrm>
            <a:off x="0" y="2205038"/>
            <a:ext cx="9144000" cy="1728787"/>
          </a:xfrm>
          <a:prstGeom prst="rect">
            <a:avLst/>
          </a:prstGeom>
          <a:noFill/>
          <a:ln w="9525">
            <a:noFill/>
          </a:ln>
        </p:spPr>
        <p:txBody>
          <a:bodyPr/>
          <a:lstStyle/>
          <a:p>
            <a:r>
              <a:rPr lang="zh-CN" altLang="en-US" b="1" dirty="0">
                <a:solidFill>
                  <a:srgbClr val="C00000"/>
                </a:solidFill>
                <a:latin typeface="微软雅黑" pitchFamily="34" charset="-122"/>
                <a:ea typeface="微软雅黑" pitchFamily="34" charset="-122"/>
              </a:rPr>
              <a:t>第三步</a:t>
            </a:r>
            <a:r>
              <a:rPr lang="zh-CN" altLang="en-US" b="1" dirty="0">
                <a:latin typeface="微软雅黑" pitchFamily="34" charset="-122"/>
                <a:ea typeface="微软雅黑" pitchFamily="34" charset="-122"/>
              </a:rPr>
              <a:t>：对表</a:t>
            </a:r>
            <a:r>
              <a:rPr lang="en-US" altLang="zh-CN" b="1" dirty="0">
                <a:latin typeface="微软雅黑" pitchFamily="34" charset="-122"/>
                <a:ea typeface="微软雅黑" pitchFamily="34" charset="-122"/>
              </a:rPr>
              <a:t>4-13</a:t>
            </a:r>
            <a:r>
              <a:rPr lang="zh-CN" altLang="en-US" b="1" dirty="0">
                <a:latin typeface="微软雅黑" pitchFamily="34" charset="-122"/>
                <a:ea typeface="微软雅黑" pitchFamily="34" charset="-122"/>
              </a:rPr>
              <a:t>中未划去的元素再分别计算出各行、各列的最小运费和次最小运费的差额，并填入该表的最右列和最下行。重复第一、二步。直到给出初始解为止。用此法给出例</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的初始解列于表</a:t>
            </a:r>
            <a:r>
              <a:rPr lang="en-US" altLang="zh-CN" b="1" dirty="0">
                <a:latin typeface="微软雅黑" pitchFamily="34" charset="-122"/>
                <a:ea typeface="微软雅黑" pitchFamily="34" charset="-122"/>
              </a:rPr>
              <a:t>4-14</a:t>
            </a:r>
            <a:endParaRPr lang="zh-CN" altLang="en-US" b="1" dirty="0">
              <a:latin typeface="微软雅黑" pitchFamily="34" charset="-122"/>
              <a:ea typeface="微软雅黑" pitchFamily="34" charset="-122"/>
            </a:endParaRPr>
          </a:p>
        </p:txBody>
      </p:sp>
      <p:pic>
        <p:nvPicPr>
          <p:cNvPr id="17413" name="Picture 5"/>
          <p:cNvPicPr>
            <a:picLocks noChangeAspect="1"/>
          </p:cNvPicPr>
          <p:nvPr/>
        </p:nvPicPr>
        <p:blipFill>
          <a:blip r:embed="rId2"/>
          <a:stretch>
            <a:fillRect/>
          </a:stretch>
        </p:blipFill>
        <p:spPr>
          <a:xfrm>
            <a:off x="0" y="58738"/>
            <a:ext cx="4211638" cy="1849437"/>
          </a:xfrm>
          <a:prstGeom prst="rect">
            <a:avLst/>
          </a:prstGeom>
          <a:noFill/>
          <a:ln w="9525">
            <a:noFill/>
          </a:ln>
        </p:spPr>
      </p:pic>
      <p:pic>
        <p:nvPicPr>
          <p:cNvPr id="17414" name="Picture 6"/>
          <p:cNvPicPr>
            <a:picLocks noChangeAspect="1"/>
          </p:cNvPicPr>
          <p:nvPr/>
        </p:nvPicPr>
        <p:blipFill>
          <a:blip r:embed="rId3"/>
          <a:stretch>
            <a:fillRect/>
          </a:stretch>
        </p:blipFill>
        <p:spPr>
          <a:xfrm>
            <a:off x="4427538" y="44450"/>
            <a:ext cx="4716462" cy="1827213"/>
          </a:xfrm>
          <a:prstGeom prst="rect">
            <a:avLst/>
          </a:prstGeom>
          <a:noFill/>
          <a:ln w="9525">
            <a:noFill/>
          </a:ln>
        </p:spPr>
      </p:pic>
      <p:pic>
        <p:nvPicPr>
          <p:cNvPr id="17415" name="Picture 7"/>
          <p:cNvPicPr>
            <a:picLocks noChangeAspect="1"/>
          </p:cNvPicPr>
          <p:nvPr/>
        </p:nvPicPr>
        <p:blipFill>
          <a:blip r:embed="rId4"/>
          <a:stretch>
            <a:fillRect/>
          </a:stretch>
        </p:blipFill>
        <p:spPr>
          <a:xfrm>
            <a:off x="2484438" y="3429000"/>
            <a:ext cx="4392612" cy="1838325"/>
          </a:xfrm>
          <a:prstGeom prst="rect">
            <a:avLst/>
          </a:prstGeom>
          <a:noFill/>
          <a:ln w="9525">
            <a:noFill/>
          </a:ln>
        </p:spPr>
      </p:pic>
      <p:sp>
        <p:nvSpPr>
          <p:cNvPr id="17416" name="矩形 4"/>
          <p:cNvSpPr/>
          <p:nvPr/>
        </p:nvSpPr>
        <p:spPr>
          <a:xfrm>
            <a:off x="6948488" y="4076700"/>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4-14</a:t>
            </a:r>
            <a:endParaRPr lang="zh-CN" altLang="en-US" dirty="0">
              <a:latin typeface="微软雅黑" pitchFamily="34" charset="-122"/>
              <a:ea typeface="微软雅黑" pitchFamily="34" charset="-122"/>
            </a:endParaRPr>
          </a:p>
        </p:txBody>
      </p:sp>
      <p:sp>
        <p:nvSpPr>
          <p:cNvPr id="2" name="Rectangle 3"/>
          <p:cNvSpPr txBox="1"/>
          <p:nvPr/>
        </p:nvSpPr>
        <p:spPr>
          <a:xfrm>
            <a:off x="-144462" y="5706468"/>
            <a:ext cx="9144000" cy="1151532"/>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由以上可见：伏格尔法同最小元素法除在确定供求关系的原则上不同外，其余步骤相同。一般地，伏格尔法给出的初始解比用最小元素法给出的初始解更接近最优解。</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txBox="1"/>
          <p:nvPr/>
        </p:nvSpPr>
        <p:spPr>
          <a:xfrm>
            <a:off x="0" y="0"/>
            <a:ext cx="9144000" cy="549275"/>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5.2.2  </a:t>
            </a:r>
            <a:r>
              <a:rPr lang="zh-CN" altLang="en-US" sz="2800" b="1" dirty="0">
                <a:solidFill>
                  <a:schemeClr val="hlink"/>
                </a:solidFill>
                <a:latin typeface="微软雅黑" pitchFamily="34" charset="-122"/>
                <a:ea typeface="微软雅黑" pitchFamily="34" charset="-122"/>
              </a:rPr>
              <a:t>最优解的判别</a:t>
            </a:r>
          </a:p>
        </p:txBody>
      </p:sp>
      <p:sp>
        <p:nvSpPr>
          <p:cNvPr id="3" name="Rectangle 3"/>
          <p:cNvSpPr txBox="1"/>
          <p:nvPr/>
        </p:nvSpPr>
        <p:spPr>
          <a:xfrm>
            <a:off x="0" y="476250"/>
            <a:ext cx="9144000" cy="1728788"/>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判别的方法是计算空格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的检验数</a:t>
            </a:r>
            <a:r>
              <a:rPr lang="en-US" altLang="zh-CN"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因运输问题的目标函数是要求实现最小化，故当所有的</a:t>
            </a:r>
          </a:p>
        </p:txBody>
      </p:sp>
      <p:sp>
        <p:nvSpPr>
          <p:cNvPr id="5" name="Rectangle 2"/>
          <p:cNvSpPr txBox="1"/>
          <p:nvPr/>
        </p:nvSpPr>
        <p:spPr>
          <a:xfrm>
            <a:off x="0" y="2276475"/>
            <a:ext cx="9144000" cy="576263"/>
          </a:xfrm>
          <a:prstGeom prst="rect">
            <a:avLst/>
          </a:prstGeom>
          <a:solidFill>
            <a:srgbClr val="B3F1F7"/>
          </a:solidFill>
          <a:ln w="9525">
            <a:noFill/>
          </a:ln>
        </p:spPr>
        <p:txBody>
          <a:bodyPr/>
          <a:lstStyle/>
          <a:p>
            <a:r>
              <a:rPr lang="en-US" altLang="zh-CN" sz="2800" b="1" dirty="0">
                <a:solidFill>
                  <a:schemeClr val="hlink"/>
                </a:solidFill>
                <a:latin typeface="微软雅黑" pitchFamily="34" charset="-122"/>
                <a:ea typeface="微软雅黑" pitchFamily="34" charset="-122"/>
              </a:rPr>
              <a:t>I. </a:t>
            </a:r>
            <a:r>
              <a:rPr lang="zh-CN" altLang="en-US" sz="2800" b="1" dirty="0">
                <a:solidFill>
                  <a:schemeClr val="hlink"/>
                </a:solidFill>
                <a:latin typeface="微软雅黑" pitchFamily="34" charset="-122"/>
                <a:ea typeface="微软雅黑" pitchFamily="34" charset="-122"/>
              </a:rPr>
              <a:t>闭回路法</a:t>
            </a:r>
          </a:p>
        </p:txBody>
      </p:sp>
      <p:sp>
        <p:nvSpPr>
          <p:cNvPr id="6" name="Rectangle 3"/>
          <p:cNvSpPr txBox="1"/>
          <p:nvPr/>
        </p:nvSpPr>
        <p:spPr>
          <a:xfrm>
            <a:off x="0" y="2852738"/>
            <a:ext cx="9144000" cy="2016125"/>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在给出调运方案的计算表上，如下表，从每一空格出发找一条闭回路</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闭回路是以某空格为起点。用水平或垂直线向前划，当碰到一数字格时</a:t>
            </a:r>
            <a:r>
              <a:rPr lang="zh-CN" altLang="en-US" b="1" dirty="0">
                <a:solidFill>
                  <a:srgbClr val="FF0000"/>
                </a:solidFill>
                <a:latin typeface="微软雅黑" pitchFamily="34" charset="-122"/>
                <a:ea typeface="微软雅黑" pitchFamily="34" charset="-122"/>
              </a:rPr>
              <a:t>可以</a:t>
            </a:r>
            <a:r>
              <a:rPr lang="zh-CN" altLang="en-US" b="1" dirty="0">
                <a:latin typeface="Times New Roman" panose="02020603050405020304" pitchFamily="18" charset="0"/>
                <a:ea typeface="微软雅黑" pitchFamily="34" charset="-122"/>
              </a:rPr>
              <a:t>转</a:t>
            </a:r>
            <a:r>
              <a:rPr lang="en-US" altLang="zh-CN" b="1" dirty="0">
                <a:latin typeface="Times New Roman" panose="02020603050405020304" pitchFamily="18" charset="0"/>
                <a:ea typeface="微软雅黑" pitchFamily="34" charset="-122"/>
              </a:rPr>
              <a:t>90°</a:t>
            </a:r>
            <a:r>
              <a:rPr lang="zh-CN" altLang="en-US" b="1" dirty="0">
                <a:latin typeface="Times New Roman" panose="02020603050405020304" pitchFamily="18" charset="0"/>
                <a:ea typeface="微软雅黑" pitchFamily="34" charset="-122"/>
              </a:rPr>
              <a:t>后，继续前进，直到回到起始空格为止</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闭回路如图</a:t>
            </a:r>
            <a:r>
              <a:rPr lang="en-US" altLang="zh-CN" b="1" dirty="0">
                <a:latin typeface="Times New Roman" panose="02020603050405020304" pitchFamily="18" charset="0"/>
                <a:ea typeface="微软雅黑" pitchFamily="34" charset="-122"/>
              </a:rPr>
              <a:t>4-2</a:t>
            </a:r>
            <a:r>
              <a:rPr lang="zh-CN" altLang="en-US" b="1" dirty="0">
                <a:latin typeface="Times New Roman" panose="02020603050405020304" pitchFamily="18" charset="0"/>
                <a:ea typeface="微软雅黑" pitchFamily="34" charset="-122"/>
              </a:rPr>
              <a:t>的</a:t>
            </a:r>
            <a:r>
              <a:rPr lang="en-US" altLang="zh-CN" b="1" dirty="0">
                <a:latin typeface="Times New Roman" panose="02020603050405020304" pitchFamily="18" charset="0"/>
                <a:ea typeface="微软雅黑" pitchFamily="34" charset="-122"/>
              </a:rPr>
              <a:t>(a),(b),(c)</a:t>
            </a:r>
            <a:r>
              <a:rPr lang="zh-CN" altLang="en-US" b="1" dirty="0">
                <a:latin typeface="Times New Roman" panose="02020603050405020304" pitchFamily="18" charset="0"/>
                <a:ea typeface="微软雅黑" pitchFamily="34" charset="-122"/>
              </a:rPr>
              <a:t>等所示 </a:t>
            </a:r>
          </a:p>
        </p:txBody>
      </p:sp>
      <p:pic>
        <p:nvPicPr>
          <p:cNvPr id="344070" name="Picture 6"/>
          <p:cNvPicPr>
            <a:picLocks noChangeAspect="1"/>
          </p:cNvPicPr>
          <p:nvPr/>
        </p:nvPicPr>
        <p:blipFill>
          <a:blip r:embed="rId3"/>
          <a:stretch>
            <a:fillRect/>
          </a:stretch>
        </p:blipFill>
        <p:spPr>
          <a:xfrm>
            <a:off x="0" y="4868863"/>
            <a:ext cx="4716463" cy="1938337"/>
          </a:xfrm>
          <a:prstGeom prst="rect">
            <a:avLst/>
          </a:prstGeom>
          <a:noFill/>
          <a:ln w="9525">
            <a:noFill/>
          </a:ln>
        </p:spPr>
      </p:pic>
      <p:pic>
        <p:nvPicPr>
          <p:cNvPr id="4" name="Picture 4"/>
          <p:cNvPicPr>
            <a:picLocks noChangeAspect="1"/>
          </p:cNvPicPr>
          <p:nvPr/>
        </p:nvPicPr>
        <p:blipFill>
          <a:blip r:embed="rId4"/>
          <a:stretch>
            <a:fillRect/>
          </a:stretch>
        </p:blipFill>
        <p:spPr>
          <a:xfrm>
            <a:off x="4787900" y="5135563"/>
            <a:ext cx="4356100" cy="1030287"/>
          </a:xfrm>
          <a:prstGeom prst="rect">
            <a:avLst/>
          </a:prstGeom>
          <a:solidFill>
            <a:srgbClr val="FFCCFF"/>
          </a:solidFill>
          <a:ln w="9525">
            <a:noFill/>
          </a:ln>
        </p:spPr>
      </p:pic>
      <p:sp>
        <p:nvSpPr>
          <p:cNvPr id="11" name="矩形 10"/>
          <p:cNvSpPr/>
          <p:nvPr/>
        </p:nvSpPr>
        <p:spPr>
          <a:xfrm>
            <a:off x="6804025" y="6165850"/>
            <a:ext cx="98777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图</a:t>
            </a:r>
            <a:r>
              <a:rPr lang="en-US" altLang="zh-CN" dirty="0">
                <a:latin typeface="微软雅黑" pitchFamily="34" charset="-122"/>
                <a:ea typeface="微软雅黑" pitchFamily="34" charset="-122"/>
              </a:rPr>
              <a:t>4-2</a:t>
            </a:r>
            <a:endParaRPr lang="zh-CN" altLang="en-US" dirty="0">
              <a:latin typeface="微软雅黑" pitchFamily="34" charset="-122"/>
              <a:ea typeface="微软雅黑" pitchFamily="34" charset="-122"/>
            </a:endParaRPr>
          </a:p>
        </p:txBody>
      </p:sp>
      <p:graphicFrame>
        <p:nvGraphicFramePr>
          <p:cNvPr id="18441" name="Object 2"/>
          <p:cNvGraphicFramePr>
            <a:graphicFrameLocks noChangeAspect="1"/>
          </p:cNvGraphicFramePr>
          <p:nvPr/>
        </p:nvGraphicFramePr>
        <p:xfrm>
          <a:off x="6084888" y="404813"/>
          <a:ext cx="1774825" cy="565150"/>
        </p:xfrm>
        <a:graphic>
          <a:graphicData uri="http://schemas.openxmlformats.org/presentationml/2006/ole">
            <mc:AlternateContent xmlns:mc="http://schemas.openxmlformats.org/markup-compatibility/2006">
              <mc:Choice xmlns:v="urn:schemas-microsoft-com:vml" Requires="v">
                <p:oleObj spid="_x0000_s12298" r:id="rId5" imgW="799465" imgH="254000" progId="Equation.DSMT4">
                  <p:embed/>
                </p:oleObj>
              </mc:Choice>
              <mc:Fallback>
                <p:oleObj r:id="rId5" imgW="799465" imgH="254000" progId="Equation.DSMT4">
                  <p:embed/>
                  <p:pic>
                    <p:nvPicPr>
                      <p:cNvPr id="18441" name="Object 2"/>
                      <p:cNvPicPr/>
                      <p:nvPr/>
                    </p:nvPicPr>
                    <p:blipFill>
                      <a:blip r:embed="rId6"/>
                      <a:stretch>
                        <a:fillRect/>
                      </a:stretch>
                    </p:blipFill>
                    <p:spPr>
                      <a:xfrm>
                        <a:off x="6084888" y="404813"/>
                        <a:ext cx="1774825" cy="565150"/>
                      </a:xfrm>
                      <a:prstGeom prst="rect">
                        <a:avLst/>
                      </a:prstGeom>
                      <a:solidFill>
                        <a:srgbClr val="FFFF99"/>
                      </a:solidFill>
                      <a:ln w="38100">
                        <a:noFill/>
                        <a:miter/>
                      </a:ln>
                    </p:spPr>
                  </p:pic>
                </p:oleObj>
              </mc:Fallback>
            </mc:AlternateContent>
          </a:graphicData>
        </a:graphic>
      </p:graphicFrame>
      <p:sp>
        <p:nvSpPr>
          <p:cNvPr id="12" name="Rectangle 3"/>
          <p:cNvSpPr txBox="1"/>
          <p:nvPr/>
        </p:nvSpPr>
        <p:spPr>
          <a:xfrm>
            <a:off x="71438" y="1341438"/>
            <a:ext cx="9072562" cy="431800"/>
          </a:xfrm>
          <a:prstGeom prst="rect">
            <a:avLst/>
          </a:prstGeom>
          <a:noFill/>
          <a:ln w="9525">
            <a:noFill/>
          </a:ln>
        </p:spPr>
        <p:txBody>
          <a:bodyPr/>
          <a:lstStyle/>
          <a:p>
            <a:pPr marL="273050" indent="-273050">
              <a:spcBef>
                <a:spcPts val="600"/>
              </a:spcBef>
              <a:buClr>
                <a:schemeClr val="accent1"/>
              </a:buClr>
              <a:buSzPct val="70000"/>
            </a:pPr>
            <a:r>
              <a:rPr lang="zh-CN" altLang="en-US" b="1" dirty="0">
                <a:latin typeface="Times New Roman" panose="02020603050405020304" pitchFamily="18" charset="0"/>
                <a:ea typeface="微软雅黑" pitchFamily="34" charset="-122"/>
              </a:rPr>
              <a:t>                                    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为最优解</a:t>
            </a:r>
            <a:endParaRPr lang="en-US" altLang="zh-CN" b="1" dirty="0">
              <a:latin typeface="Times New Roman" panose="02020603050405020304" pitchFamily="18" charset="0"/>
              <a:ea typeface="微软雅黑" pitchFamily="34" charset="-122"/>
            </a:endParaRPr>
          </a:p>
        </p:txBody>
      </p:sp>
      <p:sp>
        <p:nvSpPr>
          <p:cNvPr id="13" name="Rectangle 3"/>
          <p:cNvSpPr txBox="1"/>
          <p:nvPr/>
        </p:nvSpPr>
        <p:spPr>
          <a:xfrm>
            <a:off x="0" y="1773238"/>
            <a:ext cx="9145588" cy="503237"/>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下面介绍两种求空格检验数的方法： </a:t>
            </a:r>
            <a:r>
              <a:rPr lang="en-US" altLang="zh-CN" b="1" dirty="0">
                <a:solidFill>
                  <a:schemeClr val="hlink"/>
                </a:solidFill>
                <a:latin typeface="Times New Roman" panose="02020603050405020304" pitchFamily="18" charset="0"/>
                <a:ea typeface="微软雅黑" pitchFamily="34" charset="-122"/>
              </a:rPr>
              <a:t>I. </a:t>
            </a:r>
            <a:r>
              <a:rPr lang="zh-CN" altLang="en-US" b="1" dirty="0">
                <a:solidFill>
                  <a:schemeClr val="hlink"/>
                </a:solidFill>
                <a:latin typeface="Times New Roman" panose="02020603050405020304" pitchFamily="18" charset="0"/>
                <a:ea typeface="微软雅黑" pitchFamily="34" charset="-122"/>
              </a:rPr>
              <a:t>闭回路法</a:t>
            </a:r>
            <a:r>
              <a:rPr lang="zh-CN" altLang="en-US" b="1" dirty="0">
                <a:solidFill>
                  <a:schemeClr val="hlink"/>
                </a:solidFill>
                <a:latin typeface="仿宋" pitchFamily="49" charset="-122"/>
                <a:ea typeface="仿宋" pitchFamily="49" charset="-122"/>
              </a:rPr>
              <a:t>；</a:t>
            </a:r>
            <a:r>
              <a:rPr lang="en-US" altLang="zh-CN" b="1" dirty="0">
                <a:solidFill>
                  <a:schemeClr val="hlink"/>
                </a:solidFill>
                <a:latin typeface="Times New Roman" panose="02020603050405020304" pitchFamily="18" charset="0"/>
                <a:ea typeface="微软雅黑" pitchFamily="34" charset="-122"/>
              </a:rPr>
              <a:t>II. </a:t>
            </a:r>
            <a:r>
              <a:rPr lang="zh-CN" altLang="en-US" b="1" dirty="0">
                <a:solidFill>
                  <a:schemeClr val="hlink"/>
                </a:solidFill>
                <a:latin typeface="Times New Roman" panose="02020603050405020304" pitchFamily="18" charset="0"/>
                <a:ea typeface="微软雅黑" pitchFamily="34" charset="-122"/>
              </a:rPr>
              <a:t>位势法</a:t>
            </a:r>
          </a:p>
        </p:txBody>
      </p:sp>
      <p:graphicFrame>
        <p:nvGraphicFramePr>
          <p:cNvPr id="9" name="Object 11"/>
          <p:cNvGraphicFramePr>
            <a:graphicFrameLocks noChangeAspect="1"/>
          </p:cNvGraphicFramePr>
          <p:nvPr/>
        </p:nvGraphicFramePr>
        <p:xfrm>
          <a:off x="683568" y="1315221"/>
          <a:ext cx="2087637" cy="510789"/>
        </p:xfrm>
        <a:graphic>
          <a:graphicData uri="http://schemas.openxmlformats.org/presentationml/2006/ole">
            <mc:AlternateContent xmlns:mc="http://schemas.openxmlformats.org/markup-compatibility/2006">
              <mc:Choice xmlns:v="urn:schemas-microsoft-com:vml" Requires="v">
                <p:oleObj spid="_x0000_s12299" r:id="rId7" imgW="1040765" imgH="254000" progId="Equation.DSMT4">
                  <p:embed/>
                </p:oleObj>
              </mc:Choice>
              <mc:Fallback>
                <p:oleObj r:id="rId7" imgW="1040765" imgH="254000" progId="Equation.DSMT4">
                  <p:embed/>
                  <p:pic>
                    <p:nvPicPr>
                      <p:cNvPr id="9" name="Object 11"/>
                      <p:cNvPicPr/>
                      <p:nvPr/>
                    </p:nvPicPr>
                    <p:blipFill>
                      <a:blip r:embed="rId8"/>
                      <a:stretch>
                        <a:fillRect/>
                      </a:stretch>
                    </p:blipFill>
                    <p:spPr>
                      <a:xfrm>
                        <a:off x="683568" y="1315221"/>
                        <a:ext cx="2087637" cy="510789"/>
                      </a:xfrm>
                      <a:prstGeom prst="rect">
                        <a:avLst/>
                      </a:prstGeom>
                      <a:solidFill>
                        <a:srgbClr val="FFFF99"/>
                      </a:solidFill>
                      <a:ln w="38100">
                        <a:noFill/>
                        <a:miter/>
                      </a:ln>
                    </p:spPr>
                  </p:pic>
                </p:oleObj>
              </mc:Fallback>
            </mc:AlternateContent>
          </a:graphicData>
        </a:graphic>
      </p:graphicFrame>
      <p:sp>
        <p:nvSpPr>
          <p:cNvPr id="14" name="矩形 13"/>
          <p:cNvSpPr/>
          <p:nvPr/>
        </p:nvSpPr>
        <p:spPr>
          <a:xfrm>
            <a:off x="1906588" y="3716338"/>
            <a:ext cx="1846262" cy="360362"/>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5" name="矩形 14"/>
          <p:cNvSpPr/>
          <p:nvPr/>
        </p:nvSpPr>
        <p:spPr>
          <a:xfrm>
            <a:off x="8539163" y="3716338"/>
            <a:ext cx="433387" cy="360362"/>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6" name="矩形 15"/>
          <p:cNvSpPr/>
          <p:nvPr/>
        </p:nvSpPr>
        <p:spPr>
          <a:xfrm>
            <a:off x="323850" y="4076700"/>
            <a:ext cx="647700" cy="43180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7" name="矩形 16"/>
          <p:cNvSpPr/>
          <p:nvPr/>
        </p:nvSpPr>
        <p:spPr>
          <a:xfrm>
            <a:off x="5364163" y="4076700"/>
            <a:ext cx="1871662"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8" name="矩形 17"/>
          <p:cNvSpPr/>
          <p:nvPr/>
        </p:nvSpPr>
        <p:spPr>
          <a:xfrm>
            <a:off x="1835150" y="4076700"/>
            <a:ext cx="1081088"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9" name="椭圆 18"/>
          <p:cNvSpPr/>
          <p:nvPr/>
        </p:nvSpPr>
        <p:spPr>
          <a:xfrm>
            <a:off x="4859338" y="5373688"/>
            <a:ext cx="144462" cy="142875"/>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0" name="椭圆 19"/>
          <p:cNvSpPr/>
          <p:nvPr/>
        </p:nvSpPr>
        <p:spPr>
          <a:xfrm>
            <a:off x="6372225" y="5589588"/>
            <a:ext cx="144463" cy="142875"/>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1" name="椭圆 20"/>
          <p:cNvSpPr/>
          <p:nvPr/>
        </p:nvSpPr>
        <p:spPr>
          <a:xfrm>
            <a:off x="7956550" y="5084763"/>
            <a:ext cx="144463" cy="144462"/>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2" name="TextBox 21"/>
          <p:cNvSpPr txBox="1"/>
          <p:nvPr/>
        </p:nvSpPr>
        <p:spPr>
          <a:xfrm>
            <a:off x="5651500" y="4941888"/>
            <a:ext cx="1223963" cy="460375"/>
          </a:xfrm>
          <a:prstGeom prst="rect">
            <a:avLst/>
          </a:prstGeom>
          <a:noFill/>
          <a:ln w="9525">
            <a:noFill/>
          </a:ln>
        </p:spPr>
        <p:txBody>
          <a:bodyPr>
            <a:spAutoFit/>
          </a:bodyPr>
          <a:lstStyle/>
          <a:p>
            <a:pPr eaLnBrk="1" hangingPunct="1"/>
            <a:r>
              <a:rPr lang="zh-CN" altLang="en-US" b="1" dirty="0">
                <a:solidFill>
                  <a:srgbClr val="FF0000"/>
                </a:solidFill>
                <a:latin typeface="微软雅黑" pitchFamily="34" charset="-122"/>
                <a:ea typeface="微软雅黑" pitchFamily="34" charset="-122"/>
              </a:rPr>
              <a:t>空格</a:t>
            </a:r>
          </a:p>
        </p:txBody>
      </p:sp>
      <p:sp>
        <p:nvSpPr>
          <p:cNvPr id="23" name="矩形 22"/>
          <p:cNvSpPr/>
          <p:nvPr/>
        </p:nvSpPr>
        <p:spPr>
          <a:xfrm>
            <a:off x="1908175" y="5661025"/>
            <a:ext cx="1511300"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par>
                                <p:cTn id="13" presetID="3"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dissolve">
                                      <p:cBhvr>
                                        <p:cTn id="20" dur="500"/>
                                        <p:tgtEl>
                                          <p:spTgt spid="1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dissolv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44070"/>
                                        </p:tgtEl>
                                        <p:attrNameLst>
                                          <p:attrName>style.visibility</p:attrName>
                                        </p:attrNameLst>
                                      </p:cBhvr>
                                      <p:to>
                                        <p:strVal val="visible"/>
                                      </p:to>
                                    </p:set>
                                    <p:animEffect transition="in" filter="blinds(horizontal)">
                                      <p:cBhvr>
                                        <p:cTn id="35" dur="500"/>
                                        <p:tgtEl>
                                          <p:spTgt spid="344070"/>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animEffect transition="in" filter="dissolve">
                                      <p:cBhvr>
                                        <p:cTn id="40" dur="500"/>
                                        <p:tgtEl>
                                          <p:spTgt spid="6">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blinds(horizontal)">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linds(horizontal)">
                                      <p:cBhvr>
                                        <p:cTn id="55" dur="500"/>
                                        <p:tgtEl>
                                          <p:spTgt spid="16"/>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linds(horizontal)">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linds(horizontal)">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blinds(horizontal)">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animEffect transition="in" filter="dissolve">
                                      <p:cBhvr>
                                        <p:cTn id="73" dur="500"/>
                                        <p:tgtEl>
                                          <p:spTgt spid="6">
                                            <p:txEl>
                                              <p:pRg st="2" end="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blinds(horizontal)">
                                      <p:cBhvr>
                                        <p:cTn id="78" dur="500"/>
                                        <p:tgtEl>
                                          <p:spTgt spid="4"/>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blinds(horizontal)">
                                      <p:cBhvr>
                                        <p:cTn id="81" dur="500"/>
                                        <p:tgtEl>
                                          <p:spTgt spid="11"/>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blinds(horizontal)">
                                      <p:cBhvr>
                                        <p:cTn id="86" dur="500"/>
                                        <p:tgtEl>
                                          <p:spTgt spid="21"/>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linds(horizontal)">
                                      <p:cBhvr>
                                        <p:cTn id="89" dur="500"/>
                                        <p:tgtEl>
                                          <p:spTgt spid="20"/>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blinds(horizontal)">
                                      <p:cBhvr>
                                        <p:cTn id="92" dur="500"/>
                                        <p:tgtEl>
                                          <p:spTgt spid="19"/>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blinds(horizontal)">
                                      <p:cBhvr>
                                        <p:cTn id="9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P spid="14" grpId="0" bldLvl="0" animBg="1"/>
      <p:bldP spid="15" grpId="0" bldLvl="0" animBg="1"/>
      <p:bldP spid="16" grpId="0" animBg="1"/>
      <p:bldP spid="17" grpId="0" bldLvl="0" animBg="1"/>
      <p:bldP spid="18" grpId="0" bldLvl="0" animBg="1"/>
      <p:bldP spid="19" grpId="0" animBg="1"/>
      <p:bldP spid="20" grpId="0" animBg="1"/>
      <p:bldP spid="21" grpId="0" animBg="1"/>
      <p:bldP spid="22" grpId="0"/>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p:cNvPicPr>
          <p:nvPr/>
        </p:nvPicPr>
        <p:blipFill>
          <a:blip r:embed="rId3"/>
          <a:stretch>
            <a:fillRect/>
          </a:stretch>
        </p:blipFill>
        <p:spPr>
          <a:xfrm>
            <a:off x="3348038" y="3887788"/>
            <a:ext cx="5113337" cy="2970212"/>
          </a:xfrm>
          <a:prstGeom prst="rect">
            <a:avLst/>
          </a:prstGeom>
          <a:solidFill>
            <a:srgbClr val="B3F1F7"/>
          </a:solidFill>
          <a:ln w="9525">
            <a:noFill/>
          </a:ln>
        </p:spPr>
      </p:pic>
      <p:sp>
        <p:nvSpPr>
          <p:cNvPr id="4101" name="Rectangle 2"/>
          <p:cNvSpPr txBox="1"/>
          <p:nvPr/>
        </p:nvSpPr>
        <p:spPr>
          <a:xfrm>
            <a:off x="0" y="0"/>
            <a:ext cx="9324975" cy="1125538"/>
          </a:xfrm>
          <a:prstGeom prst="rect">
            <a:avLst/>
          </a:prstGeom>
          <a:noFill/>
          <a:ln w="9525">
            <a:noFill/>
          </a:ln>
        </p:spPr>
        <p:txBody>
          <a:bodyPr/>
          <a:lstStyle/>
          <a:p>
            <a:r>
              <a:rPr lang="zh-CN" altLang="en-US" b="1" dirty="0">
                <a:latin typeface="Times New Roman" panose="02020603050405020304" pitchFamily="18" charset="0"/>
                <a:ea typeface="微软雅黑" pitchFamily="34" charset="-122"/>
              </a:rPr>
              <a:t>从每一空格出发</a:t>
            </a:r>
            <a:r>
              <a:rPr lang="zh-CN" altLang="en-US" b="1" dirty="0">
                <a:solidFill>
                  <a:schemeClr val="hlink"/>
                </a:solidFill>
                <a:latin typeface="Times New Roman" panose="02020603050405020304" pitchFamily="18" charset="0"/>
                <a:ea typeface="微软雅黑" pitchFamily="34" charset="-122"/>
              </a:rPr>
              <a:t>一定存在</a:t>
            </a:r>
            <a:r>
              <a:rPr lang="zh-CN" altLang="en-US" b="1" dirty="0">
                <a:latin typeface="Times New Roman" panose="02020603050405020304" pitchFamily="18" charset="0"/>
                <a:ea typeface="微软雅黑" pitchFamily="34" charset="-122"/>
              </a:rPr>
              <a:t>和</a:t>
            </a:r>
            <a:r>
              <a:rPr lang="zh-CN" altLang="en-US" b="1" dirty="0">
                <a:solidFill>
                  <a:schemeClr val="hlink"/>
                </a:solidFill>
                <a:latin typeface="Times New Roman" panose="02020603050405020304" pitchFamily="18" charset="0"/>
                <a:ea typeface="微软雅黑" pitchFamily="34" charset="-122"/>
              </a:rPr>
              <a:t>可以找到唯一</a:t>
            </a:r>
            <a:r>
              <a:rPr lang="zh-CN" altLang="en-US" b="1" dirty="0">
                <a:latin typeface="Times New Roman" panose="02020603050405020304" pitchFamily="18" charset="0"/>
                <a:ea typeface="微软雅黑" pitchFamily="34" charset="-122"/>
              </a:rPr>
              <a:t>的闭回路。</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因</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个数字格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对应的系数向量是一个基。任一空格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对应的系数向量是这个基的线性组合。</a:t>
            </a:r>
            <a:endParaRPr lang="zh-CN" altLang="en-US" b="1" dirty="0">
              <a:solidFill>
                <a:schemeClr val="tx2"/>
              </a:solidFill>
              <a:latin typeface="Times New Roman" panose="02020603050405020304" pitchFamily="18" charset="0"/>
              <a:ea typeface="微软雅黑" pitchFamily="34" charset="-122"/>
            </a:endParaRPr>
          </a:p>
        </p:txBody>
      </p:sp>
      <p:graphicFrame>
        <p:nvGraphicFramePr>
          <p:cNvPr id="5" name="Object 2"/>
          <p:cNvGraphicFramePr>
            <a:graphicFrameLocks noChangeAspect="1"/>
          </p:cNvGraphicFramePr>
          <p:nvPr/>
        </p:nvGraphicFramePr>
        <p:xfrm>
          <a:off x="1403350" y="1209675"/>
          <a:ext cx="6769100" cy="2290763"/>
        </p:xfrm>
        <a:graphic>
          <a:graphicData uri="http://schemas.openxmlformats.org/presentationml/2006/ole">
            <mc:AlternateContent xmlns:mc="http://schemas.openxmlformats.org/markup-compatibility/2006">
              <mc:Choice xmlns:v="urn:schemas-microsoft-com:vml" Requires="v">
                <p:oleObj spid="_x0000_s13322" r:id="rId4" imgW="4241800" imgH="1435100" progId="Equation.DSMT4">
                  <p:embed/>
                </p:oleObj>
              </mc:Choice>
              <mc:Fallback>
                <p:oleObj r:id="rId4" imgW="4241800" imgH="1435100" progId="Equation.DSMT4">
                  <p:embed/>
                  <p:pic>
                    <p:nvPicPr>
                      <p:cNvPr id="5" name="Object 2"/>
                      <p:cNvPicPr/>
                      <p:nvPr/>
                    </p:nvPicPr>
                    <p:blipFill>
                      <a:blip r:embed="rId5"/>
                      <a:stretch>
                        <a:fillRect/>
                      </a:stretch>
                    </p:blipFill>
                    <p:spPr>
                      <a:xfrm>
                        <a:off x="1403350" y="1209675"/>
                        <a:ext cx="6769100" cy="2290763"/>
                      </a:xfrm>
                      <a:prstGeom prst="rect">
                        <a:avLst/>
                      </a:prstGeom>
                      <a:solidFill>
                        <a:srgbClr val="FFCCFF"/>
                      </a:solidFill>
                      <a:ln w="38100">
                        <a:noFill/>
                        <a:miter/>
                      </a:ln>
                    </p:spPr>
                  </p:pic>
                </p:oleObj>
              </mc:Fallback>
            </mc:AlternateContent>
          </a:graphicData>
        </a:graphic>
      </p:graphicFrame>
      <p:sp>
        <p:nvSpPr>
          <p:cNvPr id="6" name="Rectangle 2"/>
          <p:cNvSpPr txBox="1"/>
          <p:nvPr/>
        </p:nvSpPr>
        <p:spPr>
          <a:xfrm>
            <a:off x="0" y="3500438"/>
            <a:ext cx="9144000" cy="433387"/>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其中</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ik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lk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ls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us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uj</a:t>
            </a:r>
            <a:r>
              <a:rPr lang="en-US" altLang="zh-CN" b="1" baseline="-30000"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。而这些向量构成了闭回路</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见图</a:t>
            </a:r>
            <a:r>
              <a:rPr lang="en-US" altLang="zh-CN" b="1" dirty="0">
                <a:latin typeface="Times New Roman" panose="02020603050405020304" pitchFamily="18" charset="0"/>
                <a:ea typeface="微软雅黑" pitchFamily="34" charset="-122"/>
              </a:rPr>
              <a:t>4-3)</a:t>
            </a:r>
            <a:endParaRPr lang="zh-CN" altLang="en-US" sz="2800" dirty="0">
              <a:solidFill>
                <a:schemeClr val="tx2"/>
              </a:solidFill>
              <a:latin typeface="微软雅黑" pitchFamily="34" charset="-122"/>
              <a:ea typeface="华文楷体" panose="02010600040101010101" pitchFamily="2" charset="-122"/>
            </a:endParaRPr>
          </a:p>
        </p:txBody>
      </p:sp>
      <p:sp>
        <p:nvSpPr>
          <p:cNvPr id="4" name="矩形 3"/>
          <p:cNvSpPr/>
          <p:nvPr/>
        </p:nvSpPr>
        <p:spPr>
          <a:xfrm>
            <a:off x="8197850" y="5949950"/>
            <a:ext cx="98777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图</a:t>
            </a:r>
            <a:r>
              <a:rPr lang="en-US" altLang="zh-CN" dirty="0">
                <a:latin typeface="微软雅黑" pitchFamily="34" charset="-122"/>
                <a:ea typeface="微软雅黑" pitchFamily="34" charset="-122"/>
              </a:rPr>
              <a:t>4-3</a:t>
            </a:r>
            <a:endParaRPr lang="zh-CN" altLang="en-US" dirty="0">
              <a:latin typeface="微软雅黑" pitchFamily="34" charset="-122"/>
              <a:ea typeface="微软雅黑" pitchFamily="34" charset="-122"/>
            </a:endParaRPr>
          </a:p>
        </p:txBody>
      </p:sp>
      <p:sp>
        <p:nvSpPr>
          <p:cNvPr id="346119" name="Text Box 7"/>
          <p:cNvSpPr txBox="1"/>
          <p:nvPr/>
        </p:nvSpPr>
        <p:spPr>
          <a:xfrm>
            <a:off x="0" y="4027488"/>
            <a:ext cx="3492500" cy="2862262"/>
          </a:xfrm>
          <a:prstGeom prst="rect">
            <a:avLst/>
          </a:prstGeom>
          <a:solidFill>
            <a:srgbClr val="FFFF99"/>
          </a:solidFill>
          <a:ln w="9525">
            <a:noFill/>
          </a:ln>
        </p:spPr>
        <p:txBody>
          <a:bodyPr>
            <a:spAutoFit/>
          </a:bodyPr>
          <a:lstStyle/>
          <a:p>
            <a:pPr eaLnBrk="1" hangingPunct="1">
              <a:spcBef>
                <a:spcPct val="50000"/>
              </a:spcBef>
            </a:pPr>
            <a:r>
              <a:rPr lang="zh-CN" altLang="en-US" b="1" dirty="0">
                <a:solidFill>
                  <a:schemeClr val="hlink"/>
                </a:solidFill>
                <a:latin typeface="Tahoma" panose="020B0604030504040204" pitchFamily="34" charset="0"/>
                <a:ea typeface="微软雅黑" pitchFamily="34" charset="-122"/>
              </a:rPr>
              <a:t>存在性的证明</a:t>
            </a:r>
            <a:r>
              <a:rPr lang="zh-CN" altLang="en-US" b="1" dirty="0">
                <a:latin typeface="Tahoma" panose="020B0604030504040204" pitchFamily="34" charset="0"/>
                <a:ea typeface="微软雅黑" pitchFamily="34" charset="-122"/>
              </a:rPr>
              <a:t>：因为数字格为基。</a:t>
            </a:r>
          </a:p>
          <a:p>
            <a:pPr eaLnBrk="1" hangingPunct="1">
              <a:spcBef>
                <a:spcPct val="50000"/>
              </a:spcBef>
            </a:pPr>
            <a:r>
              <a:rPr lang="zh-CN" altLang="en-US" b="1" dirty="0">
                <a:solidFill>
                  <a:schemeClr val="hlink"/>
                </a:solidFill>
                <a:latin typeface="Tahoma" panose="020B0604030504040204" pitchFamily="34" charset="0"/>
                <a:ea typeface="微软雅黑" pitchFamily="34" charset="-122"/>
              </a:rPr>
              <a:t>唯一性的证明</a:t>
            </a:r>
            <a:r>
              <a:rPr lang="zh-CN" altLang="en-US" b="1" dirty="0">
                <a:latin typeface="Tahoma" panose="020B0604030504040204" pitchFamily="34" charset="0"/>
                <a:ea typeface="微软雅黑" pitchFamily="34" charset="-122"/>
              </a:rPr>
              <a:t>：反证法，若还存在另一个闭回路，则两种表示作差后，数字格对应的系数向量线性相关，矛盾！</a:t>
            </a:r>
          </a:p>
        </p:txBody>
      </p:sp>
      <p:grpSp>
        <p:nvGrpSpPr>
          <p:cNvPr id="8" name="组合 7"/>
          <p:cNvGrpSpPr/>
          <p:nvPr/>
        </p:nvGrpSpPr>
        <p:grpSpPr>
          <a:xfrm>
            <a:off x="6078538" y="715963"/>
            <a:ext cx="3092450" cy="461962"/>
            <a:chOff x="7701774" y="894705"/>
            <a:chExt cx="3092513" cy="461665"/>
          </a:xfrm>
        </p:grpSpPr>
        <p:graphicFrame>
          <p:nvGraphicFramePr>
            <p:cNvPr id="19465" name="Object 8"/>
            <p:cNvGraphicFramePr>
              <a:graphicFrameLocks noChangeAspect="1"/>
            </p:cNvGraphicFramePr>
            <p:nvPr/>
          </p:nvGraphicFramePr>
          <p:xfrm>
            <a:off x="8231982" y="933449"/>
            <a:ext cx="284162" cy="384175"/>
          </p:xfrm>
          <a:graphic>
            <a:graphicData uri="http://schemas.openxmlformats.org/presentationml/2006/ole">
              <mc:AlternateContent xmlns:mc="http://schemas.openxmlformats.org/markup-compatibility/2006">
                <mc:Choice xmlns:v="urn:schemas-microsoft-com:vml" Requires="v">
                  <p:oleObj spid="_x0000_s13323" r:id="rId6" imgW="177800" imgH="241300" progId="Equation.DSMT4">
                    <p:embed/>
                  </p:oleObj>
                </mc:Choice>
                <mc:Fallback>
                  <p:oleObj r:id="rId6" imgW="177800" imgH="241300" progId="Equation.DSMT4">
                    <p:embed/>
                    <p:pic>
                      <p:nvPicPr>
                        <p:cNvPr id="19465" name="Object 8"/>
                        <p:cNvPicPr/>
                        <p:nvPr/>
                      </p:nvPicPr>
                      <p:blipFill>
                        <a:blip r:embed="rId7"/>
                        <a:stretch>
                          <a:fillRect/>
                        </a:stretch>
                      </p:blipFill>
                      <p:spPr>
                        <a:xfrm>
                          <a:off x="8231982" y="933449"/>
                          <a:ext cx="284162" cy="384175"/>
                        </a:xfrm>
                        <a:prstGeom prst="rect">
                          <a:avLst/>
                        </a:prstGeom>
                        <a:solidFill>
                          <a:srgbClr val="FFCCFF"/>
                        </a:solidFill>
                        <a:ln w="38100">
                          <a:noFill/>
                          <a:miter/>
                        </a:ln>
                      </p:spPr>
                    </p:pic>
                  </p:oleObj>
                </mc:Fallback>
              </mc:AlternateContent>
            </a:graphicData>
          </a:graphic>
        </p:graphicFrame>
        <p:sp>
          <p:nvSpPr>
            <p:cNvPr id="19466" name="矩形 6"/>
            <p:cNvSpPr/>
            <p:nvPr/>
          </p:nvSpPr>
          <p:spPr>
            <a:xfrm>
              <a:off x="7701774" y="894705"/>
              <a:ext cx="3092513" cy="461665"/>
            </a:xfrm>
            <a:prstGeom prst="rect">
              <a:avLst/>
            </a:prstGeom>
            <a:noFill/>
            <a:ln w="9525">
              <a:noFill/>
            </a:ln>
          </p:spPr>
          <p:txBody>
            <a:bodyPr wrap="none">
              <a:spAutoFit/>
            </a:bodyPr>
            <a:lstStyle/>
            <a:p>
              <a:pPr eaLnBrk="1" hangingPunct="1"/>
              <a:r>
                <a:rPr lang="zh-CN" altLang="en-US" b="1" dirty="0">
                  <a:latin typeface="Times New Roman" panose="02020603050405020304" pitchFamily="18" charset="0"/>
                  <a:ea typeface="微软雅黑" pitchFamily="34" charset="-122"/>
                </a:rPr>
                <a:t>如</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可表示为</a:t>
              </a:r>
              <a:endParaRPr lang="zh-CN" altLang="en-US" dirty="0">
                <a:latin typeface="Tahoma" panose="020B0604030504040204" pitchFamily="34" charset="0"/>
                <a:ea typeface="微软雅黑"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1">
                                            <p:txEl>
                                              <p:pRg st="1" end="1"/>
                                            </p:txEl>
                                          </p:spTgt>
                                        </p:tgtEl>
                                        <p:attrNameLst>
                                          <p:attrName>style.visibility</p:attrName>
                                        </p:attrNameLst>
                                      </p:cBhvr>
                                      <p:to>
                                        <p:strVal val="visible"/>
                                      </p:to>
                                    </p:set>
                                    <p:animEffect transition="in" filter="blinds(horizontal)">
                                      <p:cBhvr>
                                        <p:cTn id="7" dur="500"/>
                                        <p:tgtEl>
                                          <p:spTgt spid="410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46119">
                                            <p:txEl>
                                              <p:pRg st="0" end="0"/>
                                            </p:txEl>
                                          </p:spTgt>
                                        </p:tgtEl>
                                        <p:attrNameLst>
                                          <p:attrName>style.visibility</p:attrName>
                                        </p:attrNameLst>
                                      </p:cBhvr>
                                      <p:to>
                                        <p:strVal val="visible"/>
                                      </p:to>
                                    </p:set>
                                    <p:animEffect transition="in" filter="blinds(horizontal)">
                                      <p:cBhvr>
                                        <p:cTn id="40" dur="500"/>
                                        <p:tgtEl>
                                          <p:spTgt spid="34611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46119">
                                            <p:txEl>
                                              <p:pRg st="1" end="1"/>
                                            </p:txEl>
                                          </p:spTgt>
                                        </p:tgtEl>
                                        <p:attrNameLst>
                                          <p:attrName>style.visibility</p:attrName>
                                        </p:attrNameLst>
                                      </p:cBhvr>
                                      <p:to>
                                        <p:strVal val="visible"/>
                                      </p:to>
                                    </p:set>
                                    <p:animEffect transition="in" filter="blinds(horizontal)">
                                      <p:cBhvr>
                                        <p:cTn id="45" dur="500"/>
                                        <p:tgtEl>
                                          <p:spTgt spid="3461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62213" y="6308725"/>
            <a:ext cx="1223962"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4-15</a:t>
            </a:r>
            <a:endParaRPr lang="zh-CN" altLang="en-US" dirty="0">
              <a:latin typeface="微软雅黑" pitchFamily="34" charset="-122"/>
              <a:ea typeface="微软雅黑" pitchFamily="34" charset="-122"/>
            </a:endParaRPr>
          </a:p>
        </p:txBody>
      </p:sp>
      <p:sp>
        <p:nvSpPr>
          <p:cNvPr id="2" name="Rectangle 2"/>
          <p:cNvSpPr txBox="1"/>
          <p:nvPr/>
        </p:nvSpPr>
        <p:spPr>
          <a:xfrm>
            <a:off x="0" y="2205038"/>
            <a:ext cx="9144000" cy="1871662"/>
          </a:xfrm>
          <a:prstGeom prst="rect">
            <a:avLst/>
          </a:prstGeom>
          <a:solidFill>
            <a:srgbClr val="FFFF99"/>
          </a:solidFill>
          <a:ln w="9525">
            <a:noFill/>
          </a:ln>
        </p:spPr>
        <p:txBody>
          <a:bodyPr/>
          <a:lstStyle/>
          <a:p>
            <a:pPr>
              <a:buFont typeface="Wingdings" panose="05000000000000000000" pitchFamily="2" charset="2"/>
            </a:pPr>
            <a:r>
              <a:rPr lang="zh-CN" altLang="en-US" b="1" dirty="0">
                <a:latin typeface="Times New Roman" panose="02020603050405020304" pitchFamily="18" charset="0"/>
                <a:ea typeface="微软雅黑" pitchFamily="34" charset="-122"/>
              </a:rPr>
              <a:t>闭回路法计算检验数的经济解释：</a:t>
            </a:r>
            <a:endParaRPr lang="en-US" altLang="zh-CN" b="1" dirty="0">
              <a:latin typeface="Times New Roman" panose="02020603050405020304" pitchFamily="18" charset="0"/>
              <a:ea typeface="微软雅黑" pitchFamily="34"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在已给出初始解的表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中， 从任一空格出发</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endParaRPr lang="en-US" altLang="zh-CN" b="1" dirty="0">
              <a:latin typeface="仿宋" pitchFamily="49" charset="-122"/>
              <a:ea typeface="仿宋" pitchFamily="49"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若让</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的产品调运</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吨给</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。为保持产销平衡</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就要依次作调整：在</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处增加</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吨即构成了以</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空格为起点</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其他为数字格的闭回路</a:t>
            </a:r>
          </a:p>
        </p:txBody>
      </p:sp>
      <p:pic>
        <p:nvPicPr>
          <p:cNvPr id="20484" name="Picture 3"/>
          <p:cNvPicPr>
            <a:picLocks noChangeAspect="1"/>
          </p:cNvPicPr>
          <p:nvPr/>
        </p:nvPicPr>
        <p:blipFill>
          <a:blip r:embed="rId3"/>
          <a:stretch>
            <a:fillRect/>
          </a:stretch>
        </p:blipFill>
        <p:spPr>
          <a:xfrm>
            <a:off x="1547813" y="0"/>
            <a:ext cx="5327650" cy="2235200"/>
          </a:xfrm>
          <a:prstGeom prst="rect">
            <a:avLst/>
          </a:prstGeom>
          <a:noFill/>
          <a:ln w="9525">
            <a:noFill/>
          </a:ln>
        </p:spPr>
      </p:pic>
      <p:sp>
        <p:nvSpPr>
          <p:cNvPr id="20485" name="矩形 4"/>
          <p:cNvSpPr/>
          <p:nvPr/>
        </p:nvSpPr>
        <p:spPr>
          <a:xfrm>
            <a:off x="6877050" y="98107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4-10</a:t>
            </a:r>
            <a:endParaRPr lang="zh-CN" altLang="en-US" dirty="0">
              <a:latin typeface="微软雅黑" pitchFamily="34" charset="-122"/>
              <a:ea typeface="微软雅黑" pitchFamily="34" charset="-122"/>
            </a:endParaRPr>
          </a:p>
        </p:txBody>
      </p:sp>
      <p:sp>
        <p:nvSpPr>
          <p:cNvPr id="6" name="Rectangle 2"/>
          <p:cNvSpPr txBox="1"/>
          <p:nvPr/>
        </p:nvSpPr>
        <p:spPr>
          <a:xfrm>
            <a:off x="0" y="4365625"/>
            <a:ext cx="3635375" cy="1574800"/>
          </a:xfrm>
          <a:prstGeom prst="rect">
            <a:avLst/>
          </a:prstGeom>
          <a:solidFill>
            <a:srgbClr val="B3F1F7"/>
          </a:solidFill>
          <a:ln w="9525">
            <a:noFill/>
          </a:ln>
        </p:spPr>
        <p:txBody>
          <a:bodyPr/>
          <a:lstStyle/>
          <a:p>
            <a:r>
              <a:rPr lang="zh-CN" altLang="en-US" b="1" dirty="0">
                <a:latin typeface="微软雅黑" pitchFamily="34" charset="-122"/>
                <a:ea typeface="微软雅黑" pitchFamily="34" charset="-122"/>
              </a:rPr>
              <a:t>如表</a:t>
            </a:r>
            <a:r>
              <a:rPr lang="en-US" altLang="zh-CN" b="1" dirty="0">
                <a:latin typeface="微软雅黑" pitchFamily="34" charset="-122"/>
                <a:ea typeface="微软雅黑" pitchFamily="34" charset="-122"/>
              </a:rPr>
              <a:t>4-15</a:t>
            </a:r>
            <a:r>
              <a:rPr lang="zh-CN" altLang="en-US" b="1" dirty="0">
                <a:latin typeface="微软雅黑" pitchFamily="34" charset="-122"/>
                <a:ea typeface="微软雅黑" pitchFamily="34" charset="-122"/>
              </a:rPr>
              <a:t>中的虚线所示。在这表中闭回路各顶点所在格的右上角数字是单位运价。</a:t>
            </a:r>
            <a:endParaRPr lang="zh-CN" altLang="en-US" b="1" dirty="0">
              <a:solidFill>
                <a:schemeClr val="tx2"/>
              </a:solidFill>
              <a:latin typeface="微软雅黑" pitchFamily="34" charset="-122"/>
              <a:ea typeface="微软雅黑" pitchFamily="34" charset="-122"/>
            </a:endParaRPr>
          </a:p>
        </p:txBody>
      </p:sp>
      <p:sp>
        <p:nvSpPr>
          <p:cNvPr id="348168" name="Line 8"/>
          <p:cNvSpPr/>
          <p:nvPr/>
        </p:nvSpPr>
        <p:spPr>
          <a:xfrm>
            <a:off x="3635375" y="908050"/>
            <a:ext cx="1296988" cy="0"/>
          </a:xfrm>
          <a:prstGeom prst="line">
            <a:avLst/>
          </a:prstGeom>
          <a:ln w="38100" cap="flat" cmpd="sng">
            <a:solidFill>
              <a:schemeClr val="hlink"/>
            </a:solidFill>
            <a:prstDash val="solid"/>
            <a:headEnd type="none" w="med" len="med"/>
            <a:tailEnd type="triangle" w="med" len="med"/>
          </a:ln>
        </p:spPr>
      </p:sp>
      <p:sp>
        <p:nvSpPr>
          <p:cNvPr id="348169" name="Line 9"/>
          <p:cNvSpPr/>
          <p:nvPr/>
        </p:nvSpPr>
        <p:spPr>
          <a:xfrm>
            <a:off x="4859338" y="981075"/>
            <a:ext cx="0" cy="360363"/>
          </a:xfrm>
          <a:prstGeom prst="line">
            <a:avLst/>
          </a:prstGeom>
          <a:ln w="38100" cap="flat" cmpd="sng">
            <a:solidFill>
              <a:schemeClr val="hlink"/>
            </a:solidFill>
            <a:prstDash val="solid"/>
            <a:headEnd type="none" w="med" len="med"/>
            <a:tailEnd type="triangle" w="med" len="med"/>
          </a:ln>
        </p:spPr>
      </p:sp>
      <p:sp>
        <p:nvSpPr>
          <p:cNvPr id="348171" name="Line 11"/>
          <p:cNvSpPr/>
          <p:nvPr/>
        </p:nvSpPr>
        <p:spPr>
          <a:xfrm flipH="1" flipV="1">
            <a:off x="3851275" y="1341438"/>
            <a:ext cx="936625" cy="0"/>
          </a:xfrm>
          <a:prstGeom prst="line">
            <a:avLst/>
          </a:prstGeom>
          <a:ln w="38100" cap="flat" cmpd="sng">
            <a:solidFill>
              <a:schemeClr val="hlink"/>
            </a:solidFill>
            <a:prstDash val="solid"/>
            <a:headEnd type="none" w="med" len="med"/>
            <a:tailEnd type="triangle" w="med" len="med"/>
          </a:ln>
        </p:spPr>
      </p:sp>
      <p:sp>
        <p:nvSpPr>
          <p:cNvPr id="348172" name="Line 12"/>
          <p:cNvSpPr/>
          <p:nvPr/>
        </p:nvSpPr>
        <p:spPr>
          <a:xfrm flipV="1">
            <a:off x="3779838" y="981075"/>
            <a:ext cx="0" cy="287338"/>
          </a:xfrm>
          <a:prstGeom prst="line">
            <a:avLst/>
          </a:prstGeom>
          <a:ln w="38100" cap="flat" cmpd="sng">
            <a:solidFill>
              <a:schemeClr val="hlink"/>
            </a:solidFill>
            <a:prstDash val="solid"/>
            <a:headEnd type="none" w="med" len="med"/>
            <a:tailEnd type="triangle" w="med" len="med"/>
          </a:ln>
        </p:spPr>
      </p:sp>
      <p:graphicFrame>
        <p:nvGraphicFramePr>
          <p:cNvPr id="3" name="Object 2"/>
          <p:cNvGraphicFramePr>
            <a:graphicFrameLocks noChangeAspect="1"/>
          </p:cNvGraphicFramePr>
          <p:nvPr/>
        </p:nvGraphicFramePr>
        <p:xfrm>
          <a:off x="250825" y="4221163"/>
          <a:ext cx="8637588" cy="1208087"/>
        </p:xfrm>
        <a:graphic>
          <a:graphicData uri="http://schemas.openxmlformats.org/presentationml/2006/ole">
            <mc:AlternateContent xmlns:mc="http://schemas.openxmlformats.org/markup-compatibility/2006">
              <mc:Choice xmlns:v="urn:schemas-microsoft-com:vml" Requires="v">
                <p:oleObj spid="_x0000_s14346" r:id="rId4" imgW="3263900" imgH="457200" progId="Equation.DSMT4">
                  <p:embed/>
                </p:oleObj>
              </mc:Choice>
              <mc:Fallback>
                <p:oleObj r:id="rId4" imgW="3263900" imgH="457200" progId="Equation.DSMT4">
                  <p:embed/>
                  <p:pic>
                    <p:nvPicPr>
                      <p:cNvPr id="3" name="Object 2"/>
                      <p:cNvPicPr/>
                      <p:nvPr/>
                    </p:nvPicPr>
                    <p:blipFill>
                      <a:blip r:embed="rId5"/>
                      <a:stretch>
                        <a:fillRect/>
                      </a:stretch>
                    </p:blipFill>
                    <p:spPr>
                      <a:xfrm>
                        <a:off x="250825" y="4221163"/>
                        <a:ext cx="8637588" cy="1208087"/>
                      </a:xfrm>
                      <a:prstGeom prst="rect">
                        <a:avLst/>
                      </a:prstGeom>
                      <a:solidFill>
                        <a:srgbClr val="FFCCFF"/>
                      </a:solidFill>
                      <a:ln w="38100">
                        <a:noFill/>
                        <a:miter/>
                      </a:ln>
                    </p:spPr>
                  </p:pic>
                </p:oleObj>
              </mc:Fallback>
            </mc:AlternateContent>
          </a:graphicData>
        </a:graphic>
      </p:graphicFrame>
      <p:sp>
        <p:nvSpPr>
          <p:cNvPr id="13" name="矩形 12"/>
          <p:cNvSpPr/>
          <p:nvPr/>
        </p:nvSpPr>
        <p:spPr>
          <a:xfrm>
            <a:off x="3851275" y="836613"/>
            <a:ext cx="1081088" cy="504825"/>
          </a:xfrm>
          <a:prstGeom prst="rect">
            <a:avLst/>
          </a:prstGeom>
          <a:noFill/>
          <a:ln w="762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graphicFrame>
        <p:nvGraphicFramePr>
          <p:cNvPr id="5" name="Object 13"/>
          <p:cNvGraphicFramePr>
            <a:graphicFrameLocks noChangeAspect="1"/>
          </p:cNvGraphicFramePr>
          <p:nvPr/>
        </p:nvGraphicFramePr>
        <p:xfrm>
          <a:off x="246063" y="5649913"/>
          <a:ext cx="7931150" cy="1208087"/>
        </p:xfrm>
        <a:graphic>
          <a:graphicData uri="http://schemas.openxmlformats.org/presentationml/2006/ole">
            <mc:AlternateContent xmlns:mc="http://schemas.openxmlformats.org/markup-compatibility/2006">
              <mc:Choice xmlns:v="urn:schemas-microsoft-com:vml" Requires="v">
                <p:oleObj spid="_x0000_s14347" r:id="rId6" imgW="2997200" imgH="457200" progId="Equation.DSMT4">
                  <p:embed/>
                </p:oleObj>
              </mc:Choice>
              <mc:Fallback>
                <p:oleObj r:id="rId6" imgW="2997200" imgH="457200" progId="Equation.DSMT4">
                  <p:embed/>
                  <p:pic>
                    <p:nvPicPr>
                      <p:cNvPr id="5" name="Object 13"/>
                      <p:cNvPicPr/>
                      <p:nvPr/>
                    </p:nvPicPr>
                    <p:blipFill>
                      <a:blip r:embed="rId7"/>
                      <a:stretch>
                        <a:fillRect/>
                      </a:stretch>
                    </p:blipFill>
                    <p:spPr>
                      <a:xfrm>
                        <a:off x="246063" y="5649913"/>
                        <a:ext cx="7931150" cy="1208087"/>
                      </a:xfrm>
                      <a:prstGeom prst="rect">
                        <a:avLst/>
                      </a:prstGeom>
                      <a:solidFill>
                        <a:srgbClr val="FFCCFF"/>
                      </a:solidFill>
                      <a:ln w="38100">
                        <a:noFill/>
                        <a:miter/>
                      </a:ln>
                    </p:spPr>
                  </p:pic>
                </p:oleObj>
              </mc:Fallback>
            </mc:AlternateContent>
          </a:graphicData>
        </a:graphic>
      </p:graphicFrame>
      <p:grpSp>
        <p:nvGrpSpPr>
          <p:cNvPr id="30" name="组合 29"/>
          <p:cNvGrpSpPr/>
          <p:nvPr/>
        </p:nvGrpSpPr>
        <p:grpSpPr>
          <a:xfrm>
            <a:off x="3686175" y="4199890"/>
            <a:ext cx="5457190" cy="2658110"/>
            <a:chOff x="5805" y="2234"/>
            <a:chExt cx="8594" cy="4186"/>
          </a:xfrm>
        </p:grpSpPr>
        <p:pic>
          <p:nvPicPr>
            <p:cNvPr id="28" name="图片 27"/>
            <p:cNvPicPr>
              <a:picLocks noChangeAspect="1"/>
            </p:cNvPicPr>
            <p:nvPr/>
          </p:nvPicPr>
          <p:blipFill>
            <a:blip r:embed="rId8"/>
            <a:stretch>
              <a:fillRect/>
            </a:stretch>
          </p:blipFill>
          <p:spPr>
            <a:xfrm>
              <a:off x="5805" y="2234"/>
              <a:ext cx="8595" cy="4186"/>
            </a:xfrm>
            <a:prstGeom prst="rect">
              <a:avLst/>
            </a:prstGeom>
          </p:spPr>
        </p:pic>
        <p:grpSp>
          <p:nvGrpSpPr>
            <p:cNvPr id="29" name="组合 28"/>
            <p:cNvGrpSpPr/>
            <p:nvPr/>
          </p:nvGrpSpPr>
          <p:grpSpPr>
            <a:xfrm>
              <a:off x="8447" y="3057"/>
              <a:ext cx="4660" cy="2088"/>
              <a:chOff x="8447" y="2944"/>
              <a:chExt cx="4660" cy="2088"/>
            </a:xfrm>
          </p:grpSpPr>
          <p:cxnSp>
            <p:nvCxnSpPr>
              <p:cNvPr id="8" name="直接连接符 7"/>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0" name="直接连接符 9"/>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1" name="直接连接符 10"/>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2" name="直接连接符 11"/>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16" name="矩形 15"/>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7" name="矩形 16"/>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8" name="矩形 17"/>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9" name="矩形 18"/>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0" name="矩形 19"/>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1" name="矩形 20"/>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2" name="矩形 21"/>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3" name="矩形 22"/>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4" name="矩形 23"/>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5" name="矩形 24"/>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6" name="矩形 25"/>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7" name="矩形 26"/>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dissolve">
                                      <p:cBhvr>
                                        <p:cTn id="27" dur="500"/>
                                        <p:tgtEl>
                                          <p:spTgt spid="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48168"/>
                                        </p:tgtEl>
                                        <p:attrNameLst>
                                          <p:attrName>style.visibility</p:attrName>
                                        </p:attrNameLst>
                                      </p:cBhvr>
                                      <p:to>
                                        <p:strVal val="visible"/>
                                      </p:to>
                                    </p:set>
                                    <p:animEffect transition="in" filter="blinds(horizontal)">
                                      <p:cBhvr>
                                        <p:cTn id="32" dur="500"/>
                                        <p:tgtEl>
                                          <p:spTgt spid="34816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48169"/>
                                        </p:tgtEl>
                                        <p:attrNameLst>
                                          <p:attrName>style.visibility</p:attrName>
                                        </p:attrNameLst>
                                      </p:cBhvr>
                                      <p:to>
                                        <p:strVal val="visible"/>
                                      </p:to>
                                    </p:set>
                                    <p:animEffect transition="in" filter="blinds(horizontal)">
                                      <p:cBhvr>
                                        <p:cTn id="37" dur="500"/>
                                        <p:tgtEl>
                                          <p:spTgt spid="34816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48171"/>
                                        </p:tgtEl>
                                        <p:attrNameLst>
                                          <p:attrName>style.visibility</p:attrName>
                                        </p:attrNameLst>
                                      </p:cBhvr>
                                      <p:to>
                                        <p:strVal val="visible"/>
                                      </p:to>
                                    </p:set>
                                    <p:animEffect transition="in" filter="blinds(horizontal)">
                                      <p:cBhvr>
                                        <p:cTn id="42" dur="500"/>
                                        <p:tgtEl>
                                          <p:spTgt spid="34817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48172"/>
                                        </p:tgtEl>
                                        <p:attrNameLst>
                                          <p:attrName>style.visibility</p:attrName>
                                        </p:attrNameLst>
                                      </p:cBhvr>
                                      <p:to>
                                        <p:strVal val="visible"/>
                                      </p:to>
                                    </p:set>
                                    <p:animEffect transition="in" filter="blinds(horizontal)">
                                      <p:cBhvr>
                                        <p:cTn id="47" dur="500"/>
                                        <p:tgtEl>
                                          <p:spTgt spid="348172"/>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anim calcmode="lin" valueType="num">
                                      <p:cBhvr>
                                        <p:cTn id="53" dur="1000" fill="hold"/>
                                        <p:tgtEl>
                                          <p:spTgt spid="3"/>
                                        </p:tgtEl>
                                        <p:attrNameLst>
                                          <p:attrName>ppt_x</p:attrName>
                                        </p:attrNameLst>
                                      </p:cBhvr>
                                      <p:tavLst>
                                        <p:tav tm="0">
                                          <p:val>
                                            <p:strVal val="#ppt_x"/>
                                          </p:val>
                                        </p:tav>
                                        <p:tav tm="100000">
                                          <p:val>
                                            <p:strVal val="#ppt_x"/>
                                          </p:val>
                                        </p:tav>
                                      </p:tavLst>
                                    </p:anim>
                                    <p:anim calcmode="lin" valueType="num">
                                      <p:cBhvr>
                                        <p:cTn id="5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1000"/>
                                        <p:tgtEl>
                                          <p:spTgt spid="5"/>
                                        </p:tgtEl>
                                      </p:cBhvr>
                                    </p:animEffect>
                                    <p:anim calcmode="lin" valueType="num">
                                      <p:cBhvr>
                                        <p:cTn id="60" dur="1000" fill="hold"/>
                                        <p:tgtEl>
                                          <p:spTgt spid="5"/>
                                        </p:tgtEl>
                                        <p:attrNameLst>
                                          <p:attrName>ppt_x</p:attrName>
                                        </p:attrNameLst>
                                      </p:cBhvr>
                                      <p:tavLst>
                                        <p:tav tm="0">
                                          <p:val>
                                            <p:strVal val="#ppt_x"/>
                                          </p:val>
                                        </p:tav>
                                        <p:tav tm="100000">
                                          <p:val>
                                            <p:strVal val="#ppt_x"/>
                                          </p:val>
                                        </p:tav>
                                      </p:tavLst>
                                    </p:anim>
                                    <p:anim calcmode="lin" valueType="num">
                                      <p:cBhvr>
                                        <p:cTn id="6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 presetClass="exit" presetSubtype="10" fill="hold" nodeType="clickEffect">
                                  <p:stCondLst>
                                    <p:cond delay="0"/>
                                  </p:stCondLst>
                                  <p:childTnLst>
                                    <p:animEffect transition="out" filter="blinds(horizontal)">
                                      <p:cBhvr>
                                        <p:cTn id="65" dur="500"/>
                                        <p:tgtEl>
                                          <p:spTgt spid="3"/>
                                        </p:tgtEl>
                                      </p:cBhvr>
                                    </p:animEffect>
                                    <p:set>
                                      <p:cBhvr>
                                        <p:cTn id="66" dur="1" fill="hold">
                                          <p:stCondLst>
                                            <p:cond delay="499"/>
                                          </p:stCondLst>
                                        </p:cTn>
                                        <p:tgtEl>
                                          <p:spTgt spid="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3" presetClass="exit" presetSubtype="10" fill="hold" nodeType="clickEffect">
                                  <p:stCondLst>
                                    <p:cond delay="0"/>
                                  </p:stCondLst>
                                  <p:childTnLst>
                                    <p:animEffect transition="out" filter="blinds(horizontal)">
                                      <p:cBhvr>
                                        <p:cTn id="70" dur="500"/>
                                        <p:tgtEl>
                                          <p:spTgt spid="5"/>
                                        </p:tgtEl>
                                      </p:cBhvr>
                                    </p:animEffect>
                                    <p:set>
                                      <p:cBhvr>
                                        <p:cTn id="71" dur="1" fill="hold">
                                          <p:stCondLst>
                                            <p:cond delay="499"/>
                                          </p:stCondLst>
                                        </p:cTn>
                                        <p:tgtEl>
                                          <p:spTgt spid="5"/>
                                        </p:tgtEl>
                                        <p:attrNameLst>
                                          <p:attrName>style.visibility</p:attrName>
                                        </p:attrNameLst>
                                      </p:cBhvr>
                                      <p:to>
                                        <p:strVal val="hidden"/>
                                      </p:to>
                                    </p:set>
                                  </p:childTnLst>
                                </p:cTn>
                              </p:par>
                              <p:par>
                                <p:cTn id="72" presetID="3" presetClass="entr" presetSubtype="10" fill="hold" grpId="0" nodeType="with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blinds(horizontal)">
                                      <p:cBhvr>
                                        <p:cTn id="74" dur="500"/>
                                        <p:tgtEl>
                                          <p:spTgt spid="6"/>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1000"/>
                                        <p:tgtEl>
                                          <p:spTgt spid="4"/>
                                        </p:tgtEl>
                                      </p:cBhvr>
                                    </p:animEffect>
                                    <p:anim calcmode="lin" valueType="num">
                                      <p:cBhvr>
                                        <p:cTn id="78" dur="1000" fill="hold"/>
                                        <p:tgtEl>
                                          <p:spTgt spid="4"/>
                                        </p:tgtEl>
                                        <p:attrNameLst>
                                          <p:attrName>ppt_x</p:attrName>
                                        </p:attrNameLst>
                                      </p:cBhvr>
                                      <p:tavLst>
                                        <p:tav tm="0">
                                          <p:val>
                                            <p:strVal val="#ppt_x"/>
                                          </p:val>
                                        </p:tav>
                                        <p:tav tm="100000">
                                          <p:val>
                                            <p:strVal val="#ppt_x"/>
                                          </p:val>
                                        </p:tav>
                                      </p:tavLst>
                                    </p:anim>
                                    <p:anim calcmode="lin" valueType="num">
                                      <p:cBhvr>
                                        <p:cTn id="7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blinds(horizontal)">
                                      <p:cBhvr>
                                        <p:cTn id="8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animBg="1"/>
      <p:bldP spid="13" grpId="0" animBg="1"/>
      <p:bldP spid="1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8514" name="Picture 2"/>
          <p:cNvPicPr>
            <a:picLocks noChangeAspect="1"/>
          </p:cNvPicPr>
          <p:nvPr/>
        </p:nvPicPr>
        <p:blipFill>
          <a:blip r:embed="rId2"/>
          <a:stretch>
            <a:fillRect/>
          </a:stretch>
        </p:blipFill>
        <p:spPr>
          <a:xfrm>
            <a:off x="0" y="3716338"/>
            <a:ext cx="9144000" cy="2316162"/>
          </a:xfrm>
          <a:prstGeom prst="rect">
            <a:avLst/>
          </a:prstGeom>
          <a:noFill/>
          <a:ln w="9525">
            <a:noFill/>
          </a:ln>
        </p:spPr>
      </p:pic>
      <p:sp>
        <p:nvSpPr>
          <p:cNvPr id="2" name="Rectangle 2"/>
          <p:cNvSpPr txBox="1"/>
          <p:nvPr/>
        </p:nvSpPr>
        <p:spPr>
          <a:xfrm>
            <a:off x="0" y="2159000"/>
            <a:ext cx="9144000" cy="1557338"/>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可见这调整的方案使运费增加</a:t>
            </a:r>
          </a:p>
          <a:p>
            <a:pPr>
              <a:buFont typeface="Wingdings" panose="05000000000000000000" pitchFamily="2" charset="2"/>
            </a:pPr>
            <a:r>
              <a:rPr lang="en-US" altLang="zh-CN" b="1" dirty="0">
                <a:latin typeface="Times New Roman" panose="02020603050405020304" pitchFamily="18" charset="0"/>
                <a:ea typeface="微软雅黑" pitchFamily="34" charset="-122"/>
              </a:rPr>
              <a:t>                  (+1)×3+(-1)×3+(+1)×2+(-1)×</a:t>
            </a:r>
            <a:r>
              <a:rPr lang="zh-CN" altLang="en-US" b="1" dirty="0">
                <a:latin typeface="Times New Roman" panose="02020603050405020304" pitchFamily="18" charset="0"/>
                <a:ea typeface="微软雅黑" pitchFamily="34" charset="-122"/>
              </a:rPr>
              <a:t>１</a:t>
            </a:r>
            <a:r>
              <a:rPr lang="en-US" altLang="zh-CN" b="1" dirty="0">
                <a:latin typeface="Times New Roman" panose="02020603050405020304" pitchFamily="18" charset="0"/>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a:p>
            <a:pPr>
              <a:buFont typeface="Wingdings" panose="05000000000000000000" pitchFamily="2" charset="2"/>
              <a:buChar char="l"/>
            </a:pPr>
            <a:r>
              <a:rPr lang="zh-CN" altLang="en-US" b="1" dirty="0">
                <a:latin typeface="微软雅黑" pitchFamily="34" charset="-122"/>
                <a:ea typeface="微软雅黑" pitchFamily="34" charset="-122"/>
              </a:rPr>
              <a:t>这表明若这样调整运量将增加运费。将“</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”这个数填入</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微软雅黑" pitchFamily="34" charset="-122"/>
                <a:ea typeface="微软雅黑" pitchFamily="34" charset="-122"/>
              </a:rPr>
              <a:t>格</a:t>
            </a:r>
            <a:r>
              <a:rPr lang="zh-CN" altLang="en-US" b="1" dirty="0">
                <a:solidFill>
                  <a:srgbClr val="FF0000"/>
                </a:solidFill>
                <a:latin typeface="微软雅黑" pitchFamily="34" charset="-122"/>
                <a:ea typeface="微软雅黑" pitchFamily="34" charset="-122"/>
              </a:rPr>
              <a:t>这就是检验数</a:t>
            </a:r>
            <a:r>
              <a:rPr lang="zh-CN" altLang="en-US" b="1" dirty="0">
                <a:latin typeface="微软雅黑" pitchFamily="34" charset="-122"/>
                <a:ea typeface="微软雅黑" pitchFamily="34" charset="-122"/>
              </a:rPr>
              <a:t>。</a:t>
            </a:r>
          </a:p>
        </p:txBody>
      </p:sp>
      <p:sp>
        <p:nvSpPr>
          <p:cNvPr id="21509" name="矩形 3"/>
          <p:cNvSpPr/>
          <p:nvPr/>
        </p:nvSpPr>
        <p:spPr>
          <a:xfrm>
            <a:off x="3276600" y="1052513"/>
            <a:ext cx="1223963" cy="461665"/>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4-15</a:t>
            </a:r>
            <a:endParaRPr lang="zh-CN" altLang="en-US" dirty="0">
              <a:latin typeface="微软雅黑" pitchFamily="34" charset="-122"/>
              <a:ea typeface="微软雅黑" pitchFamily="34" charset="-122"/>
            </a:endParaRPr>
          </a:p>
        </p:txBody>
      </p:sp>
      <p:sp>
        <p:nvSpPr>
          <p:cNvPr id="3" name="Rectangle 2"/>
          <p:cNvSpPr txBox="1"/>
          <p:nvPr/>
        </p:nvSpPr>
        <p:spPr>
          <a:xfrm>
            <a:off x="0" y="6078538"/>
            <a:ext cx="9144000" cy="779462"/>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a:t>
            </a:r>
            <a:r>
              <a:rPr lang="en-US" altLang="zh-CN" b="1" dirty="0">
                <a:latin typeface="微软雅黑" pitchFamily="34" charset="-122"/>
                <a:ea typeface="微软雅黑" pitchFamily="34" charset="-122"/>
              </a:rPr>
              <a:t>(12)</a:t>
            </a:r>
            <a:r>
              <a:rPr lang="zh-CN" altLang="en-US" b="1" dirty="0">
                <a:latin typeface="微软雅黑" pitchFamily="34" charset="-122"/>
                <a:ea typeface="微软雅黑" pitchFamily="34" charset="-122"/>
              </a:rPr>
              <a:t>调整的方案使运费增加</a:t>
            </a:r>
          </a:p>
          <a:p>
            <a:pPr>
              <a:buFont typeface="Wingdings" panose="05000000000000000000" pitchFamily="2" charset="2"/>
            </a:pPr>
            <a:r>
              <a:rPr lang="en-US" altLang="zh-CN" b="1" dirty="0">
                <a:latin typeface="微软雅黑" pitchFamily="34" charset="-122"/>
                <a:ea typeface="微软雅黑" pitchFamily="34" charset="-122"/>
              </a:rPr>
              <a:t>                  </a:t>
            </a:r>
            <a:r>
              <a:rPr lang="en-US" altLang="zh-CN" b="1" dirty="0">
                <a:latin typeface="Times New Roman" panose="02020603050405020304" pitchFamily="18" charset="0"/>
                <a:ea typeface="微软雅黑" pitchFamily="34" charset="-122"/>
              </a:rPr>
              <a:t>(+1)×11+(-1)×10+(+1)×5+(-1)×4=2</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p:txBody>
      </p:sp>
      <p:sp>
        <p:nvSpPr>
          <p:cNvPr id="13" name="矩形 12"/>
          <p:cNvSpPr/>
          <p:nvPr/>
        </p:nvSpPr>
        <p:spPr>
          <a:xfrm>
            <a:off x="2374900" y="3255963"/>
            <a:ext cx="6769100" cy="460375"/>
          </a:xfrm>
          <a:prstGeom prst="rect">
            <a:avLst/>
          </a:prstGeom>
          <a:noFill/>
          <a:ln w="9525">
            <a:noFill/>
          </a:ln>
        </p:spPr>
        <p:txBody>
          <a:bodyPr>
            <a:spAutoFit/>
          </a:bodyPr>
          <a:lstStyle/>
          <a:p>
            <a:pPr eaLnBrk="1" hangingPunct="1"/>
            <a:r>
              <a:rPr lang="zh-CN" altLang="en-US" b="1" dirty="0">
                <a:latin typeface="微软雅黑" pitchFamily="34" charset="-122"/>
                <a:ea typeface="微软雅黑" pitchFamily="34" charset="-122"/>
              </a:rPr>
              <a:t>按以上所述，可找出所有空格的检验数，见下表</a:t>
            </a:r>
            <a:endParaRPr lang="zh-CN" altLang="en-US" dirty="0">
              <a:latin typeface="Tahoma" panose="020B0604030504040204" pitchFamily="34" charset="0"/>
              <a:ea typeface="微软雅黑" pitchFamily="34" charset="-122"/>
            </a:endParaRPr>
          </a:p>
        </p:txBody>
      </p:sp>
      <p:grpSp>
        <p:nvGrpSpPr>
          <p:cNvPr id="5" name="组合 4"/>
          <p:cNvGrpSpPr/>
          <p:nvPr/>
        </p:nvGrpSpPr>
        <p:grpSpPr>
          <a:xfrm>
            <a:off x="4378325" y="26035"/>
            <a:ext cx="4765675" cy="2520315"/>
            <a:chOff x="5805" y="2234"/>
            <a:chExt cx="8594" cy="4186"/>
          </a:xfrm>
        </p:grpSpPr>
        <p:pic>
          <p:nvPicPr>
            <p:cNvPr id="6" name="图片 5"/>
            <p:cNvPicPr>
              <a:picLocks noChangeAspect="1"/>
            </p:cNvPicPr>
            <p:nvPr/>
          </p:nvPicPr>
          <p:blipFill>
            <a:blip r:embed="rId3"/>
            <a:stretch>
              <a:fillRect/>
            </a:stretch>
          </p:blipFill>
          <p:spPr>
            <a:xfrm>
              <a:off x="5805" y="2234"/>
              <a:ext cx="8595" cy="4186"/>
            </a:xfrm>
            <a:prstGeom prst="rect">
              <a:avLst/>
            </a:prstGeom>
          </p:spPr>
        </p:pic>
        <p:grpSp>
          <p:nvGrpSpPr>
            <p:cNvPr id="7" name="组合 6"/>
            <p:cNvGrpSpPr/>
            <p:nvPr/>
          </p:nvGrpSpPr>
          <p:grpSpPr>
            <a:xfrm>
              <a:off x="8447" y="3057"/>
              <a:ext cx="4660" cy="2088"/>
              <a:chOff x="8447" y="2944"/>
              <a:chExt cx="4660" cy="2088"/>
            </a:xfrm>
          </p:grpSpPr>
          <p:cxnSp>
            <p:nvCxnSpPr>
              <p:cNvPr id="9" name="直接连接符 8"/>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4" name="直接连接符 13"/>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5" name="直接连接符 14"/>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31" name="直接连接符 30"/>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32" name="矩形 31"/>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3" name="矩形 32"/>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4" name="矩形 33"/>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5" name="矩形 34"/>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6" name="矩形 35"/>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7" name="矩形 36"/>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8" name="矩形 37"/>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39" name="矩形 38"/>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40" name="矩形 39"/>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41" name="矩形 40"/>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42" name="矩形 41"/>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43" name="矩形 42"/>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grpSp>
      </p:grpSp>
      <p:sp>
        <p:nvSpPr>
          <p:cNvPr id="448519" name="Line 7"/>
          <p:cNvSpPr/>
          <p:nvPr/>
        </p:nvSpPr>
        <p:spPr>
          <a:xfrm>
            <a:off x="6732270" y="764540"/>
            <a:ext cx="1296988" cy="0"/>
          </a:xfrm>
          <a:prstGeom prst="line">
            <a:avLst/>
          </a:prstGeom>
          <a:ln w="38100" cap="flat" cmpd="sng">
            <a:solidFill>
              <a:schemeClr val="hlink"/>
            </a:solidFill>
            <a:prstDash val="solid"/>
            <a:headEnd type="none" w="med" len="med"/>
            <a:tailEnd type="triangle" w="med" len="med"/>
          </a:ln>
        </p:spPr>
      </p:sp>
      <p:sp>
        <p:nvSpPr>
          <p:cNvPr id="448520" name="Line 8"/>
          <p:cNvSpPr/>
          <p:nvPr/>
        </p:nvSpPr>
        <p:spPr>
          <a:xfrm>
            <a:off x="7956233" y="837565"/>
            <a:ext cx="0" cy="1008063"/>
          </a:xfrm>
          <a:prstGeom prst="line">
            <a:avLst/>
          </a:prstGeom>
          <a:ln w="38100" cap="flat" cmpd="sng">
            <a:solidFill>
              <a:schemeClr val="hlink"/>
            </a:solidFill>
            <a:prstDash val="solid"/>
            <a:headEnd type="none" w="med" len="med"/>
            <a:tailEnd type="triangle" w="med" len="med"/>
          </a:ln>
        </p:spPr>
      </p:sp>
      <p:sp>
        <p:nvSpPr>
          <p:cNvPr id="448521" name="Line 9"/>
          <p:cNvSpPr/>
          <p:nvPr/>
        </p:nvSpPr>
        <p:spPr>
          <a:xfrm flipH="1" flipV="1">
            <a:off x="6444933" y="1845628"/>
            <a:ext cx="1439862" cy="0"/>
          </a:xfrm>
          <a:prstGeom prst="line">
            <a:avLst/>
          </a:prstGeom>
          <a:ln w="38100" cap="flat" cmpd="sng">
            <a:solidFill>
              <a:schemeClr val="hlink"/>
            </a:solidFill>
            <a:prstDash val="solid"/>
            <a:headEnd type="none" w="med" len="med"/>
            <a:tailEnd type="triangle" w="med" len="med"/>
          </a:ln>
        </p:spPr>
      </p:sp>
      <p:sp>
        <p:nvSpPr>
          <p:cNvPr id="448522" name="Line 10"/>
          <p:cNvSpPr/>
          <p:nvPr/>
        </p:nvSpPr>
        <p:spPr>
          <a:xfrm flipV="1">
            <a:off x="6516370" y="764540"/>
            <a:ext cx="0" cy="1008063"/>
          </a:xfrm>
          <a:prstGeom prst="line">
            <a:avLst/>
          </a:prstGeom>
          <a:ln w="38100" cap="flat" cmpd="sng">
            <a:solidFill>
              <a:schemeClr val="hlink"/>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8514"/>
                                        </p:tgtEl>
                                        <p:attrNameLst>
                                          <p:attrName>style.visibility</p:attrName>
                                        </p:attrNameLst>
                                      </p:cBhvr>
                                      <p:to>
                                        <p:strVal val="visible"/>
                                      </p:to>
                                    </p:set>
                                    <p:animEffect transition="in" filter="blinds(horizontal)">
                                      <p:cBhvr>
                                        <p:cTn id="27" dur="500"/>
                                        <p:tgtEl>
                                          <p:spTgt spid="4485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48519"/>
                                        </p:tgtEl>
                                        <p:attrNameLst>
                                          <p:attrName>style.visibility</p:attrName>
                                        </p:attrNameLst>
                                      </p:cBhvr>
                                      <p:to>
                                        <p:strVal val="visible"/>
                                      </p:to>
                                    </p:set>
                                    <p:animEffect transition="in" filter="blinds(horizontal)">
                                      <p:cBhvr>
                                        <p:cTn id="32" dur="500"/>
                                        <p:tgtEl>
                                          <p:spTgt spid="4485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48520"/>
                                        </p:tgtEl>
                                        <p:attrNameLst>
                                          <p:attrName>style.visibility</p:attrName>
                                        </p:attrNameLst>
                                      </p:cBhvr>
                                      <p:to>
                                        <p:strVal val="visible"/>
                                      </p:to>
                                    </p:set>
                                    <p:animEffect transition="in" filter="blinds(horizontal)">
                                      <p:cBhvr>
                                        <p:cTn id="37" dur="500"/>
                                        <p:tgtEl>
                                          <p:spTgt spid="44852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48521"/>
                                        </p:tgtEl>
                                        <p:attrNameLst>
                                          <p:attrName>style.visibility</p:attrName>
                                        </p:attrNameLst>
                                      </p:cBhvr>
                                      <p:to>
                                        <p:strVal val="visible"/>
                                      </p:to>
                                    </p:set>
                                    <p:animEffect transition="in" filter="blinds(horizontal)">
                                      <p:cBhvr>
                                        <p:cTn id="42" dur="500"/>
                                        <p:tgtEl>
                                          <p:spTgt spid="44852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48522"/>
                                        </p:tgtEl>
                                        <p:attrNameLst>
                                          <p:attrName>style.visibility</p:attrName>
                                        </p:attrNameLst>
                                      </p:cBhvr>
                                      <p:to>
                                        <p:strVal val="visible"/>
                                      </p:to>
                                    </p:set>
                                    <p:animEffect transition="in" filter="blinds(horizontal)">
                                      <p:cBhvr>
                                        <p:cTn id="47" dur="500"/>
                                        <p:tgtEl>
                                          <p:spTgt spid="4485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Effect transition="in" filter="dissolve">
                                      <p:cBhvr>
                                        <p:cTn id="52" dur="500"/>
                                        <p:tgtEl>
                                          <p:spTgt spid="3">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
                                            <p:txEl>
                                              <p:pRg st="0" end="0"/>
                                            </p:txEl>
                                          </p:spTgt>
                                        </p:tgtEl>
                                        <p:attrNameLst>
                                          <p:attrName>style.visibility</p:attrName>
                                        </p:attrNameLst>
                                      </p:cBhvr>
                                      <p:to>
                                        <p:strVal val="visible"/>
                                      </p:to>
                                    </p:set>
                                    <p:animEffect transition="in" filter="dissolve">
                                      <p:cBhvr>
                                        <p:cTn id="5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2"/>
          <p:cNvGraphicFramePr>
            <a:graphicFrameLocks noChangeAspect="1"/>
          </p:cNvGraphicFramePr>
          <p:nvPr/>
        </p:nvGraphicFramePr>
        <p:xfrm>
          <a:off x="-14287" y="3143250"/>
          <a:ext cx="4248150" cy="2359025"/>
        </p:xfrm>
        <a:graphic>
          <a:graphicData uri="http://schemas.openxmlformats.org/presentationml/2006/ole">
            <mc:AlternateContent xmlns:mc="http://schemas.openxmlformats.org/markup-compatibility/2006">
              <mc:Choice xmlns:v="urn:schemas-microsoft-com:vml" Requires="v">
                <p:oleObj spid="_x0000_s15366" r:id="rId3" imgW="2082800" imgH="1155700" progId="Equation.DSMT4">
                  <p:embed/>
                </p:oleObj>
              </mc:Choice>
              <mc:Fallback>
                <p:oleObj r:id="rId3" imgW="2082800" imgH="1155700" progId="Equation.DSMT4">
                  <p:embed/>
                  <p:pic>
                    <p:nvPicPr>
                      <p:cNvPr id="22530" name="Object 2"/>
                      <p:cNvPicPr/>
                      <p:nvPr/>
                    </p:nvPicPr>
                    <p:blipFill>
                      <a:blip r:embed="rId4"/>
                      <a:stretch>
                        <a:fillRect/>
                      </a:stretch>
                    </p:blipFill>
                    <p:spPr>
                      <a:xfrm>
                        <a:off x="-14287" y="3143250"/>
                        <a:ext cx="4248150" cy="2359025"/>
                      </a:xfrm>
                      <a:prstGeom prst="rect">
                        <a:avLst/>
                      </a:prstGeom>
                      <a:solidFill>
                        <a:schemeClr val="accent1"/>
                      </a:solidFill>
                      <a:ln w="38100">
                        <a:noFill/>
                        <a:miter/>
                      </a:ln>
                    </p:spPr>
                  </p:pic>
                </p:oleObj>
              </mc:Fallback>
            </mc:AlternateContent>
          </a:graphicData>
        </a:graphic>
      </p:graphicFrame>
      <p:sp>
        <p:nvSpPr>
          <p:cNvPr id="22532" name="Rectangle 3"/>
          <p:cNvSpPr txBox="1"/>
          <p:nvPr/>
        </p:nvSpPr>
        <p:spPr>
          <a:xfrm>
            <a:off x="0" y="0"/>
            <a:ext cx="9361805" cy="426085"/>
          </a:xfrm>
          <a:prstGeom prst="rect">
            <a:avLst/>
          </a:prstGeom>
          <a:noFill/>
          <a:ln w="9525">
            <a:noFill/>
          </a:ln>
        </p:spPr>
        <p:txBody>
          <a:bodyPr/>
          <a:lstStyle/>
          <a:p>
            <a:pPr marL="273050" indent="-273050">
              <a:spcBef>
                <a:spcPts val="600"/>
              </a:spcBef>
              <a:buClr>
                <a:schemeClr val="accent1"/>
              </a:buClr>
              <a:buSzPct val="70000"/>
            </a:pPr>
            <a:r>
              <a:rPr lang="zh-CN" altLang="en-US" b="1" dirty="0">
                <a:latin typeface="Times New Roman" panose="02020603050405020304" pitchFamily="18" charset="0"/>
                <a:ea typeface="微软雅黑" pitchFamily="34" charset="-122"/>
              </a:rPr>
              <a:t>闭回路法计算检验数的理论解释：</a:t>
            </a:r>
          </a:p>
        </p:txBody>
      </p:sp>
      <p:sp>
        <p:nvSpPr>
          <p:cNvPr id="24583" name="Rectangle 2"/>
          <p:cNvSpPr txBox="1"/>
          <p:nvPr/>
        </p:nvSpPr>
        <p:spPr>
          <a:xfrm>
            <a:off x="179705" y="2542540"/>
            <a:ext cx="9109075" cy="576263"/>
          </a:xfrm>
          <a:prstGeom prst="rect">
            <a:avLst/>
          </a:prstGeom>
          <a:noFill/>
          <a:ln w="9525">
            <a:noFill/>
          </a:ln>
        </p:spPr>
        <p:txBody>
          <a:bodyPr/>
          <a:lstStyle/>
          <a:p>
            <a:r>
              <a:rPr lang="zh-CN" altLang="en-US" b="1" dirty="0">
                <a:solidFill>
                  <a:srgbClr val="0000FF"/>
                </a:solidFill>
                <a:latin typeface="Times New Roman" panose="02020603050405020304" pitchFamily="18" charset="0"/>
                <a:ea typeface="微软雅黑" pitchFamily="34" charset="-122"/>
              </a:rPr>
              <a:t>将                                                    代入目标函数</a:t>
            </a:r>
            <a:r>
              <a:rPr lang="en-US" altLang="zh-CN" b="1" dirty="0">
                <a:solidFill>
                  <a:srgbClr val="0000FF"/>
                </a:solidFill>
                <a:latin typeface="Times New Roman" panose="02020603050405020304" pitchFamily="18" charset="0"/>
                <a:ea typeface="微软雅黑" pitchFamily="34" charset="-122"/>
              </a:rPr>
              <a:t>(2-20)</a:t>
            </a:r>
            <a:r>
              <a:rPr lang="zh-CN" altLang="en-US" b="1" dirty="0">
                <a:solidFill>
                  <a:srgbClr val="0000FF"/>
                </a:solidFill>
                <a:latin typeface="Times New Roman" panose="02020603050405020304" pitchFamily="18" charset="0"/>
                <a:ea typeface="微软雅黑" pitchFamily="34" charset="-122"/>
              </a:rPr>
              <a:t>式，整理后得</a:t>
            </a:r>
            <a:br>
              <a:rPr lang="zh-CN" altLang="en-US" b="1" dirty="0">
                <a:solidFill>
                  <a:schemeClr val="tx2"/>
                </a:solidFill>
                <a:latin typeface="Times New Roman" panose="02020603050405020304" pitchFamily="18" charset="0"/>
                <a:ea typeface="微软雅黑" pitchFamily="34" charset="-122"/>
              </a:rPr>
            </a:br>
            <a:endParaRPr lang="zh-CN" altLang="en-US" b="1" dirty="0">
              <a:solidFill>
                <a:schemeClr val="tx2"/>
              </a:solidFill>
              <a:latin typeface="Times New Roman" panose="02020603050405020304" pitchFamily="18" charset="0"/>
              <a:ea typeface="微软雅黑" pitchFamily="34" charset="-122"/>
            </a:endParaRPr>
          </a:p>
        </p:txBody>
      </p:sp>
      <p:sp>
        <p:nvSpPr>
          <p:cNvPr id="10" name="Rectangle 2"/>
          <p:cNvSpPr txBox="1"/>
          <p:nvPr/>
        </p:nvSpPr>
        <p:spPr>
          <a:xfrm>
            <a:off x="0" y="6321678"/>
            <a:ext cx="9050783" cy="457200"/>
          </a:xfrm>
          <a:prstGeom prst="rect">
            <a:avLst/>
          </a:prstGeom>
          <a:noFill/>
          <a:ln w="9525">
            <a:noFill/>
          </a:ln>
        </p:spPr>
        <p:txBody>
          <a:bodyPr/>
          <a:lstStyle/>
          <a:p>
            <a:r>
              <a:rPr lang="zh-CN" altLang="en-US" b="1" dirty="0">
                <a:solidFill>
                  <a:srgbClr val="0000FF"/>
                </a:solidFill>
                <a:latin typeface="Times New Roman" panose="02020603050405020304" pitchFamily="18" charset="0"/>
                <a:ea typeface="微软雅黑" pitchFamily="34" charset="-122"/>
              </a:rPr>
              <a:t>非基变量取值从</a:t>
            </a:r>
            <a:r>
              <a:rPr lang="en-US" altLang="zh-CN" b="1" dirty="0">
                <a:solidFill>
                  <a:srgbClr val="0000FF"/>
                </a:solidFill>
                <a:latin typeface="Times New Roman" panose="02020603050405020304" pitchFamily="18" charset="0"/>
                <a:ea typeface="微软雅黑" pitchFamily="34" charset="-122"/>
              </a:rPr>
              <a:t>0</a:t>
            </a:r>
            <a:r>
              <a:rPr lang="zh-CN" altLang="en-US" b="1" dirty="0">
                <a:solidFill>
                  <a:srgbClr val="0000FF"/>
                </a:solidFill>
                <a:latin typeface="Times New Roman" panose="02020603050405020304" pitchFamily="18" charset="0"/>
                <a:ea typeface="微软雅黑" pitchFamily="34" charset="-122"/>
              </a:rPr>
              <a:t>变到 </a:t>
            </a:r>
            <a:r>
              <a:rPr lang="en-US" altLang="zh-CN" b="1" dirty="0">
                <a:solidFill>
                  <a:srgbClr val="0000FF"/>
                </a:solidFill>
                <a:latin typeface="Times New Roman" panose="02020603050405020304" pitchFamily="18" charset="0"/>
                <a:ea typeface="微软雅黑" pitchFamily="34" charset="-122"/>
              </a:rPr>
              <a:t>1</a:t>
            </a:r>
            <a:r>
              <a:rPr lang="zh-CN" altLang="en-US" b="1" dirty="0">
                <a:solidFill>
                  <a:srgbClr val="0000FF"/>
                </a:solidFill>
                <a:latin typeface="Times New Roman" panose="02020603050405020304" pitchFamily="18" charset="0"/>
                <a:ea typeface="微软雅黑" pitchFamily="34" charset="-122"/>
              </a:rPr>
              <a:t>时，目标函数的改变量正好是其系数</a:t>
            </a:r>
            <a:endParaRPr lang="zh-CN" altLang="en-US" b="1" dirty="0">
              <a:solidFill>
                <a:schemeClr val="tx2"/>
              </a:solidFill>
              <a:latin typeface="Times New Roman" panose="02020603050405020304" pitchFamily="18" charset="0"/>
              <a:ea typeface="微软雅黑" pitchFamily="34" charset="-122"/>
            </a:endParaRPr>
          </a:p>
        </p:txBody>
      </p:sp>
      <p:pic>
        <p:nvPicPr>
          <p:cNvPr id="8" name="图片 7" descr="多行公式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3260" y="423545"/>
            <a:ext cx="6978015" cy="2094865"/>
          </a:xfrm>
          <a:prstGeom prst="rect">
            <a:avLst/>
          </a:prstGeom>
        </p:spPr>
      </p:pic>
      <p:pic>
        <p:nvPicPr>
          <p:cNvPr id="9" name="图片 8" descr="多行公式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0899" y="3079051"/>
            <a:ext cx="7796530" cy="3218180"/>
          </a:xfrm>
          <a:prstGeom prst="rect">
            <a:avLst/>
          </a:prstGeom>
        </p:spPr>
      </p:pic>
      <p:sp>
        <p:nvSpPr>
          <p:cNvPr id="24588" name="Rectangle 12"/>
          <p:cNvSpPr/>
          <p:nvPr/>
        </p:nvSpPr>
        <p:spPr>
          <a:xfrm>
            <a:off x="3495675" y="5495290"/>
            <a:ext cx="1511300" cy="745490"/>
          </a:xfrm>
          <a:prstGeom prst="rect">
            <a:avLst/>
          </a:prstGeom>
          <a:noFill/>
          <a:ln w="5715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pic>
        <p:nvPicPr>
          <p:cNvPr id="11" name="图片 10" descr="单行公式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160" y="2455545"/>
            <a:ext cx="3511550" cy="62928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83"/>
                                        </p:tgtEl>
                                        <p:attrNameLst>
                                          <p:attrName>style.visibility</p:attrName>
                                        </p:attrNameLst>
                                      </p:cBhvr>
                                      <p:to>
                                        <p:strVal val="visible"/>
                                      </p:to>
                                    </p:set>
                                    <p:animEffect transition="in" filter="blinds(horizontal)">
                                      <p:cBhvr>
                                        <p:cTn id="10" dur="500"/>
                                        <p:tgtEl>
                                          <p:spTgt spid="2458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58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3" grpId="1"/>
      <p:bldP spid="10" grpId="0"/>
      <p:bldP spid="2458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2385" y="188595"/>
            <a:ext cx="9079230" cy="4510405"/>
          </a:xfrm>
          <a:prstGeom prst="rect">
            <a:avLst/>
          </a:prstGeom>
        </p:spPr>
      </p:pic>
      <p:sp>
        <p:nvSpPr>
          <p:cNvPr id="23555" name="Line 5"/>
          <p:cNvSpPr/>
          <p:nvPr/>
        </p:nvSpPr>
        <p:spPr>
          <a:xfrm>
            <a:off x="4211638" y="2851150"/>
            <a:ext cx="1296987" cy="0"/>
          </a:xfrm>
          <a:prstGeom prst="line">
            <a:avLst/>
          </a:prstGeom>
          <a:ln w="76200" cap="flat" cmpd="sng">
            <a:solidFill>
              <a:schemeClr val="hlink"/>
            </a:solidFill>
            <a:prstDash val="solid"/>
            <a:headEnd type="none" w="med" len="med"/>
            <a:tailEnd type="triangle" w="med" len="med"/>
          </a:ln>
        </p:spPr>
      </p:sp>
      <p:sp>
        <p:nvSpPr>
          <p:cNvPr id="447495" name="Line 7"/>
          <p:cNvSpPr/>
          <p:nvPr/>
        </p:nvSpPr>
        <p:spPr>
          <a:xfrm flipH="1" flipV="1">
            <a:off x="4067175" y="3859213"/>
            <a:ext cx="2449513" cy="0"/>
          </a:xfrm>
          <a:prstGeom prst="line">
            <a:avLst/>
          </a:prstGeom>
          <a:ln w="76200" cap="flat" cmpd="sng">
            <a:solidFill>
              <a:schemeClr val="hlink"/>
            </a:solidFill>
            <a:prstDash val="solid"/>
            <a:headEnd type="none" w="med" len="med"/>
            <a:tailEnd type="triangle" w="med" len="med"/>
          </a:ln>
        </p:spPr>
      </p:sp>
      <p:sp>
        <p:nvSpPr>
          <p:cNvPr id="447496" name="Line 8"/>
          <p:cNvSpPr/>
          <p:nvPr/>
        </p:nvSpPr>
        <p:spPr>
          <a:xfrm flipV="1">
            <a:off x="5364163" y="1843088"/>
            <a:ext cx="0" cy="1008062"/>
          </a:xfrm>
          <a:prstGeom prst="line">
            <a:avLst/>
          </a:prstGeom>
          <a:ln w="76200" cap="flat" cmpd="sng">
            <a:solidFill>
              <a:schemeClr val="hlink"/>
            </a:solidFill>
            <a:prstDash val="solid"/>
            <a:headEnd type="none" w="med" len="med"/>
            <a:tailEnd type="triangle" w="med" len="med"/>
          </a:ln>
        </p:spPr>
      </p:sp>
      <p:sp>
        <p:nvSpPr>
          <p:cNvPr id="447497" name="Line 9"/>
          <p:cNvSpPr/>
          <p:nvPr/>
        </p:nvSpPr>
        <p:spPr>
          <a:xfrm>
            <a:off x="5435600" y="1770063"/>
            <a:ext cx="1296988" cy="0"/>
          </a:xfrm>
          <a:prstGeom prst="line">
            <a:avLst/>
          </a:prstGeom>
          <a:ln w="76200" cap="flat" cmpd="sng">
            <a:solidFill>
              <a:schemeClr val="hlink"/>
            </a:solidFill>
            <a:prstDash val="solid"/>
            <a:headEnd type="none" w="med" len="med"/>
            <a:tailEnd type="triangle" w="med" len="med"/>
          </a:ln>
        </p:spPr>
      </p:sp>
      <p:pic>
        <p:nvPicPr>
          <p:cNvPr id="23561" name="Picture 11"/>
          <p:cNvPicPr>
            <a:picLocks noChangeAspect="1"/>
          </p:cNvPicPr>
          <p:nvPr/>
        </p:nvPicPr>
        <p:blipFill>
          <a:blip r:embed="rId3"/>
          <a:stretch>
            <a:fillRect/>
          </a:stretch>
        </p:blipFill>
        <p:spPr>
          <a:xfrm>
            <a:off x="0" y="4941888"/>
            <a:ext cx="9144000" cy="1916112"/>
          </a:xfrm>
          <a:prstGeom prst="rect">
            <a:avLst/>
          </a:prstGeom>
          <a:noFill/>
          <a:ln w="9525">
            <a:noFill/>
          </a:ln>
        </p:spPr>
      </p:pic>
      <p:sp>
        <p:nvSpPr>
          <p:cNvPr id="2" name="Rectangle 2"/>
          <p:cNvSpPr txBox="1"/>
          <p:nvPr/>
        </p:nvSpPr>
        <p:spPr>
          <a:xfrm>
            <a:off x="0" y="6078538"/>
            <a:ext cx="9144000" cy="779462"/>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a:t>
            </a:r>
            <a:r>
              <a:rPr lang="en-US" altLang="zh-CN" b="1" dirty="0">
                <a:latin typeface="微软雅黑" pitchFamily="34" charset="-122"/>
                <a:ea typeface="微软雅黑" pitchFamily="34" charset="-122"/>
              </a:rPr>
              <a:t>(22)</a:t>
            </a:r>
            <a:r>
              <a:rPr lang="zh-CN" altLang="en-US" b="1" dirty="0">
                <a:latin typeface="微软雅黑" pitchFamily="34" charset="-122"/>
                <a:ea typeface="微软雅黑" pitchFamily="34" charset="-122"/>
              </a:rPr>
              <a:t>调整的方案使运费增加</a:t>
            </a:r>
          </a:p>
          <a:p>
            <a:pPr algn="ctr">
              <a:buFont typeface="Wingdings" panose="05000000000000000000" pitchFamily="2" charset="2"/>
            </a:pPr>
            <a:r>
              <a:rPr lang="en-US" altLang="zh-CN" b="1" dirty="0">
                <a:latin typeface="Times New Roman" panose="02020603050405020304" pitchFamily="18" charset="0"/>
                <a:ea typeface="微软雅黑" pitchFamily="34" charset="-122"/>
              </a:rPr>
              <a:t>(+1)×9+(-1)×2+(+1)×3+(-1)×10 +(+1)×5+(-1)×4=1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p:txBody>
      </p:sp>
      <p:cxnSp>
        <p:nvCxnSpPr>
          <p:cNvPr id="3" name="直接连接符 2"/>
          <p:cNvCxnSpPr/>
          <p:nvPr/>
        </p:nvCxnSpPr>
        <p:spPr>
          <a:xfrm>
            <a:off x="3131820" y="1921510"/>
            <a:ext cx="1944370"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4" name="直接连接符 3"/>
          <p:cNvCxnSpPr/>
          <p:nvPr/>
        </p:nvCxnSpPr>
        <p:spPr>
          <a:xfrm>
            <a:off x="3131820" y="2924810"/>
            <a:ext cx="1944370"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6" name="直接连接符 5"/>
          <p:cNvCxnSpPr/>
          <p:nvPr/>
        </p:nvCxnSpPr>
        <p:spPr>
          <a:xfrm>
            <a:off x="2411730" y="1917065"/>
            <a:ext cx="0" cy="94615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7" name="直接连接符 6"/>
          <p:cNvCxnSpPr/>
          <p:nvPr/>
        </p:nvCxnSpPr>
        <p:spPr>
          <a:xfrm>
            <a:off x="5220335" y="1905000"/>
            <a:ext cx="0" cy="94615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8" name="矩形 7"/>
          <p:cNvSpPr/>
          <p:nvPr/>
        </p:nvSpPr>
        <p:spPr>
          <a:xfrm>
            <a:off x="3924300" y="1196975"/>
            <a:ext cx="942975"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9" name="矩形 8"/>
          <p:cNvSpPr/>
          <p:nvPr/>
        </p:nvSpPr>
        <p:spPr>
          <a:xfrm>
            <a:off x="2555875" y="119697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0" name="矩形 9"/>
          <p:cNvSpPr/>
          <p:nvPr/>
        </p:nvSpPr>
        <p:spPr>
          <a:xfrm>
            <a:off x="2555875" y="220154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1" name="矩形 10"/>
          <p:cNvSpPr/>
          <p:nvPr/>
        </p:nvSpPr>
        <p:spPr>
          <a:xfrm>
            <a:off x="2555875" y="320611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2" name="矩形 11"/>
          <p:cNvSpPr/>
          <p:nvPr/>
        </p:nvSpPr>
        <p:spPr>
          <a:xfrm>
            <a:off x="3952240" y="2181860"/>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3" name="矩形 12"/>
          <p:cNvSpPr/>
          <p:nvPr/>
        </p:nvSpPr>
        <p:spPr>
          <a:xfrm>
            <a:off x="3947795"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4" name="矩形 13"/>
          <p:cNvSpPr/>
          <p:nvPr/>
        </p:nvSpPr>
        <p:spPr>
          <a:xfrm>
            <a:off x="5339715"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5" name="矩形 14"/>
          <p:cNvSpPr/>
          <p:nvPr/>
        </p:nvSpPr>
        <p:spPr>
          <a:xfrm>
            <a:off x="6757670"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6" name="矩形 15"/>
          <p:cNvSpPr/>
          <p:nvPr/>
        </p:nvSpPr>
        <p:spPr>
          <a:xfrm>
            <a:off x="6757670" y="220154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7" name="矩形 16"/>
          <p:cNvSpPr/>
          <p:nvPr/>
        </p:nvSpPr>
        <p:spPr>
          <a:xfrm>
            <a:off x="6757670" y="1212850"/>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8" name="矩形 17"/>
          <p:cNvSpPr/>
          <p:nvPr/>
        </p:nvSpPr>
        <p:spPr>
          <a:xfrm>
            <a:off x="5341620" y="122110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447498" name="Line 10"/>
          <p:cNvSpPr/>
          <p:nvPr/>
        </p:nvSpPr>
        <p:spPr>
          <a:xfrm flipV="1">
            <a:off x="4140200" y="2922588"/>
            <a:ext cx="0" cy="792162"/>
          </a:xfrm>
          <a:prstGeom prst="line">
            <a:avLst/>
          </a:prstGeom>
          <a:ln w="76200" cap="flat" cmpd="sng">
            <a:solidFill>
              <a:schemeClr val="hlink"/>
            </a:solidFill>
            <a:prstDash val="solid"/>
            <a:headEnd type="none" w="med" len="med"/>
            <a:tailEnd type="triangle" w="med" len="med"/>
          </a:ln>
        </p:spPr>
      </p:sp>
      <p:sp>
        <p:nvSpPr>
          <p:cNvPr id="447494" name="Line 6"/>
          <p:cNvSpPr/>
          <p:nvPr/>
        </p:nvSpPr>
        <p:spPr>
          <a:xfrm>
            <a:off x="6732588" y="1843088"/>
            <a:ext cx="0" cy="2016125"/>
          </a:xfrm>
          <a:prstGeom prst="line">
            <a:avLst/>
          </a:prstGeom>
          <a:ln w="76200" cap="flat" cmpd="sng">
            <a:solidFill>
              <a:schemeClr val="hlink"/>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7496"/>
                                        </p:tgtEl>
                                        <p:attrNameLst>
                                          <p:attrName>style.visibility</p:attrName>
                                        </p:attrNameLst>
                                      </p:cBhvr>
                                      <p:to>
                                        <p:strVal val="visible"/>
                                      </p:to>
                                    </p:set>
                                    <p:animEffect transition="in" filter="blinds(horizontal)">
                                      <p:cBhvr>
                                        <p:cTn id="7" dur="500"/>
                                        <p:tgtEl>
                                          <p:spTgt spid="4474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7497"/>
                                        </p:tgtEl>
                                        <p:attrNameLst>
                                          <p:attrName>style.visibility</p:attrName>
                                        </p:attrNameLst>
                                      </p:cBhvr>
                                      <p:to>
                                        <p:strVal val="visible"/>
                                      </p:to>
                                    </p:set>
                                    <p:animEffect transition="in" filter="blinds(horizontal)">
                                      <p:cBhvr>
                                        <p:cTn id="12" dur="500"/>
                                        <p:tgtEl>
                                          <p:spTgt spid="4474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7494"/>
                                        </p:tgtEl>
                                        <p:attrNameLst>
                                          <p:attrName>style.visibility</p:attrName>
                                        </p:attrNameLst>
                                      </p:cBhvr>
                                      <p:to>
                                        <p:strVal val="visible"/>
                                      </p:to>
                                    </p:set>
                                    <p:animEffect transition="in" filter="blinds(horizontal)">
                                      <p:cBhvr>
                                        <p:cTn id="17" dur="500"/>
                                        <p:tgtEl>
                                          <p:spTgt spid="4474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7495"/>
                                        </p:tgtEl>
                                        <p:attrNameLst>
                                          <p:attrName>style.visibility</p:attrName>
                                        </p:attrNameLst>
                                      </p:cBhvr>
                                      <p:to>
                                        <p:strVal val="visible"/>
                                      </p:to>
                                    </p:set>
                                    <p:animEffect transition="in" filter="blinds(horizontal)">
                                      <p:cBhvr>
                                        <p:cTn id="22" dur="500"/>
                                        <p:tgtEl>
                                          <p:spTgt spid="44749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7498"/>
                                        </p:tgtEl>
                                        <p:attrNameLst>
                                          <p:attrName>style.visibility</p:attrName>
                                        </p:attrNameLst>
                                      </p:cBhvr>
                                      <p:to>
                                        <p:strVal val="visible"/>
                                      </p:to>
                                    </p:set>
                                    <p:animEffect transition="in" filter="blinds(horizontal)">
                                      <p:cBhvr>
                                        <p:cTn id="27" dur="500"/>
                                        <p:tgtEl>
                                          <p:spTgt spid="44749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dissolve">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dissolve">
                                      <p:cBhvr>
                                        <p:cTn id="3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p:cNvPicPr>
            <a:picLocks noChangeAspect="1"/>
          </p:cNvPicPr>
          <p:nvPr/>
        </p:nvPicPr>
        <p:blipFill>
          <a:blip r:embed="rId2"/>
          <a:stretch>
            <a:fillRect/>
          </a:stretch>
        </p:blipFill>
        <p:spPr>
          <a:xfrm>
            <a:off x="0" y="3716338"/>
            <a:ext cx="9144000" cy="2316162"/>
          </a:xfrm>
          <a:prstGeom prst="rect">
            <a:avLst/>
          </a:prstGeom>
          <a:noFill/>
          <a:ln w="9525">
            <a:noFill/>
          </a:ln>
        </p:spPr>
      </p:pic>
      <p:sp>
        <p:nvSpPr>
          <p:cNvPr id="24579" name="Rectangle 2"/>
          <p:cNvSpPr txBox="1"/>
          <p:nvPr/>
        </p:nvSpPr>
        <p:spPr>
          <a:xfrm>
            <a:off x="0" y="2159000"/>
            <a:ext cx="9144000" cy="1557338"/>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可见这调整的方案使运费增加</a:t>
            </a:r>
          </a:p>
          <a:p>
            <a:pPr>
              <a:buFont typeface="Wingdings" panose="05000000000000000000" pitchFamily="2" charset="2"/>
            </a:pPr>
            <a:r>
              <a:rPr lang="en-US" altLang="zh-CN" b="1" dirty="0">
                <a:latin typeface="微软雅黑" pitchFamily="34" charset="-122"/>
                <a:ea typeface="微软雅黑" pitchFamily="34" charset="-122"/>
              </a:rPr>
              <a:t>                  (+1)×3+(-1)×3+(+1)×2+(-1)×</a:t>
            </a:r>
            <a:r>
              <a:rPr lang="zh-CN" altLang="en-US" b="1" dirty="0">
                <a:latin typeface="微软雅黑" pitchFamily="34" charset="-122"/>
                <a:ea typeface="微软雅黑" pitchFamily="34" charset="-122"/>
              </a:rPr>
              <a:t>１</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a:p>
            <a:pPr>
              <a:buFont typeface="Wingdings" panose="05000000000000000000" pitchFamily="2" charset="2"/>
              <a:buChar char="l"/>
            </a:pPr>
            <a:r>
              <a:rPr lang="zh-CN" altLang="en-US" b="1" dirty="0">
                <a:latin typeface="微软雅黑" pitchFamily="34" charset="-122"/>
                <a:ea typeface="微软雅黑" pitchFamily="34" charset="-122"/>
              </a:rPr>
              <a:t>这表明若这样调整运量将增加运费。将</a:t>
            </a:r>
            <a:r>
              <a:rPr lang="zh-CN" altLang="en-US" b="1" dirty="0">
                <a:latin typeface="Times New Roman" panose="02020603050405020304" pitchFamily="18" charset="0"/>
                <a:ea typeface="微软雅黑" pitchFamily="34" charset="-122"/>
              </a:rPr>
              <a:t>“</a:t>
            </a:r>
            <a:r>
              <a:rPr lang="en-US" altLang="zh-CN" b="1" dirty="0">
                <a:latin typeface="微软雅黑" pitchFamily="34" charset="-122"/>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微软雅黑" pitchFamily="34" charset="-122"/>
                <a:ea typeface="微软雅黑" pitchFamily="34" charset="-122"/>
              </a:rPr>
              <a:t>这个数填入</a:t>
            </a:r>
            <a:r>
              <a:rPr lang="en-US" altLang="zh-CN" b="1" dirty="0">
                <a:latin typeface="微软雅黑" pitchFamily="34" charset="-122"/>
                <a:ea typeface="微软雅黑" pitchFamily="34" charset="-122"/>
              </a:rPr>
              <a:t>(</a:t>
            </a:r>
            <a:r>
              <a:rPr lang="en-US" altLang="zh-CN" b="1" i="1" dirty="0">
                <a:latin typeface="微软雅黑" pitchFamily="34" charset="-122"/>
                <a:ea typeface="微软雅黑" pitchFamily="34" charset="-122"/>
              </a:rPr>
              <a:t>A</a:t>
            </a:r>
            <a:r>
              <a:rPr lang="en-US" altLang="zh-CN" b="1" baseline="-25000" dirty="0">
                <a:latin typeface="微软雅黑" pitchFamily="34" charset="-122"/>
                <a:ea typeface="微软雅黑" pitchFamily="34" charset="-122"/>
              </a:rPr>
              <a:t>1</a:t>
            </a:r>
            <a:r>
              <a:rPr lang="zh-CN" altLang="en-US" b="1" dirty="0">
                <a:latin typeface="仿宋" pitchFamily="49" charset="-122"/>
                <a:ea typeface="仿宋" pitchFamily="49" charset="-122"/>
              </a:rPr>
              <a:t>，</a:t>
            </a:r>
            <a:r>
              <a:rPr lang="en-US" altLang="zh-CN" b="1" i="1" dirty="0">
                <a:latin typeface="微软雅黑" pitchFamily="34" charset="-122"/>
                <a:ea typeface="微软雅黑" pitchFamily="34" charset="-122"/>
              </a:rPr>
              <a:t>B</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格这就是检验数。按以上所述，可找出所有空格的检验数，见下表</a:t>
            </a:r>
          </a:p>
        </p:txBody>
      </p:sp>
      <p:sp>
        <p:nvSpPr>
          <p:cNvPr id="24580" name="Rectangle 4"/>
          <p:cNvSpPr/>
          <p:nvPr/>
        </p:nvSpPr>
        <p:spPr>
          <a:xfrm>
            <a:off x="0" y="6035675"/>
            <a:ext cx="9144000" cy="461963"/>
          </a:xfrm>
          <a:prstGeom prst="rect">
            <a:avLst/>
          </a:prstGeom>
          <a:solidFill>
            <a:srgbClr val="FFCCFF"/>
          </a:solidFill>
          <a:ln w="9525">
            <a:noFill/>
          </a:ln>
        </p:spPr>
        <p:txBody>
          <a:bodyPr>
            <a:spAutoFit/>
          </a:bodyPr>
          <a:lstStyle/>
          <a:p>
            <a:pPr algn="just" eaLnBrk="1" hangingPunct="1"/>
            <a:r>
              <a:rPr lang="zh-CN" altLang="en-US" b="1" dirty="0">
                <a:latin typeface="微软雅黑" pitchFamily="34" charset="-122"/>
                <a:ea typeface="微软雅黑" pitchFamily="34" charset="-122"/>
              </a:rPr>
              <a:t>当检验数还存在负数时，说明原方案不是最优解，要继续改进</a:t>
            </a:r>
            <a:endParaRPr lang="en-US" altLang="zh-CN" sz="4400" dirty="0">
              <a:latin typeface="Verdana" panose="020B0804030504040204" pitchFamily="34" charset="0"/>
              <a:ea typeface="华文楷体" panose="02010600040101010101" pitchFamily="2" charset="-122"/>
            </a:endParaRPr>
          </a:p>
        </p:txBody>
      </p:sp>
      <p:sp>
        <p:nvSpPr>
          <p:cNvPr id="24581" name="矩形 3"/>
          <p:cNvSpPr/>
          <p:nvPr/>
        </p:nvSpPr>
        <p:spPr>
          <a:xfrm>
            <a:off x="3348038" y="1052513"/>
            <a:ext cx="1223962" cy="461665"/>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4-15</a:t>
            </a:r>
            <a:endParaRPr lang="zh-CN" altLang="en-US" dirty="0">
              <a:latin typeface="微软雅黑" pitchFamily="34" charset="-122"/>
              <a:ea typeface="微软雅黑" pitchFamily="34" charset="-122"/>
            </a:endParaRPr>
          </a:p>
        </p:txBody>
      </p:sp>
      <p:grpSp>
        <p:nvGrpSpPr>
          <p:cNvPr id="30" name="组合 29"/>
          <p:cNvGrpSpPr/>
          <p:nvPr/>
        </p:nvGrpSpPr>
        <p:grpSpPr>
          <a:xfrm>
            <a:off x="4572000" y="27940"/>
            <a:ext cx="4570730" cy="2315210"/>
            <a:chOff x="5805" y="2234"/>
            <a:chExt cx="8594" cy="4186"/>
          </a:xfrm>
        </p:grpSpPr>
        <p:pic>
          <p:nvPicPr>
            <p:cNvPr id="28" name="图片 27"/>
            <p:cNvPicPr>
              <a:picLocks noChangeAspect="1"/>
            </p:cNvPicPr>
            <p:nvPr/>
          </p:nvPicPr>
          <p:blipFill>
            <a:blip r:embed="rId3"/>
            <a:stretch>
              <a:fillRect/>
            </a:stretch>
          </p:blipFill>
          <p:spPr>
            <a:xfrm>
              <a:off x="5805" y="2234"/>
              <a:ext cx="8595" cy="4186"/>
            </a:xfrm>
            <a:prstGeom prst="rect">
              <a:avLst/>
            </a:prstGeom>
          </p:spPr>
        </p:pic>
        <p:grpSp>
          <p:nvGrpSpPr>
            <p:cNvPr id="29" name="组合 28"/>
            <p:cNvGrpSpPr/>
            <p:nvPr/>
          </p:nvGrpSpPr>
          <p:grpSpPr>
            <a:xfrm>
              <a:off x="8447" y="3057"/>
              <a:ext cx="4660" cy="2088"/>
              <a:chOff x="8447" y="2944"/>
              <a:chExt cx="4660" cy="2088"/>
            </a:xfrm>
          </p:grpSpPr>
          <p:cxnSp>
            <p:nvCxnSpPr>
              <p:cNvPr id="8" name="直接连接符 7"/>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0" name="直接连接符 9"/>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1" name="直接连接符 10"/>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2" name="直接连接符 11"/>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16" name="矩形 15"/>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7" name="矩形 16"/>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8" name="矩形 17"/>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19" name="矩形 18"/>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0" name="矩形 19"/>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1" name="矩形 20"/>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2" name="矩形 21"/>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3" name="矩形 22"/>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4" name="矩形 23"/>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5" name="矩形 24"/>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6" name="矩形 25"/>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sp>
            <p:nvSpPr>
              <p:cNvPr id="27" name="矩形 26"/>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itchFamily="2" charset="-122"/>
                </a:endParaRPr>
              </a:p>
            </p:txBody>
          </p:sp>
        </p:grpSp>
      </p:gr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p:cNvGraphicFramePr>
            <a:graphicFrameLocks noChangeAspect="1"/>
          </p:cNvGraphicFramePr>
          <p:nvPr/>
        </p:nvGraphicFramePr>
        <p:xfrm>
          <a:off x="1516063" y="3860800"/>
          <a:ext cx="5610225" cy="615950"/>
        </p:xfrm>
        <a:graphic>
          <a:graphicData uri="http://schemas.openxmlformats.org/presentationml/2006/ole">
            <mc:AlternateContent xmlns:mc="http://schemas.openxmlformats.org/markup-compatibility/2006">
              <mc:Choice xmlns:v="urn:schemas-microsoft-com:vml" Requires="v">
                <p:oleObj spid="_x0000_s16402" r:id="rId3" imgW="2197100" imgH="241300" progId="Equation.DSMT4">
                  <p:embed/>
                </p:oleObj>
              </mc:Choice>
              <mc:Fallback>
                <p:oleObj r:id="rId3" imgW="2197100" imgH="241300" progId="Equation.DSMT4">
                  <p:embed/>
                  <p:pic>
                    <p:nvPicPr>
                      <p:cNvPr id="7" name="Object 2"/>
                      <p:cNvPicPr/>
                      <p:nvPr/>
                    </p:nvPicPr>
                    <p:blipFill>
                      <a:blip r:embed="rId4"/>
                      <a:stretch>
                        <a:fillRect/>
                      </a:stretch>
                    </p:blipFill>
                    <p:spPr>
                      <a:xfrm>
                        <a:off x="1516063" y="3860800"/>
                        <a:ext cx="5610225" cy="615950"/>
                      </a:xfrm>
                      <a:prstGeom prst="rect">
                        <a:avLst/>
                      </a:prstGeom>
                      <a:solidFill>
                        <a:srgbClr val="FFFF99"/>
                      </a:solidFill>
                      <a:ln w="38100">
                        <a:noFill/>
                        <a:miter/>
                      </a:ln>
                    </p:spPr>
                  </p:pic>
                </p:oleObj>
              </mc:Fallback>
            </mc:AlternateContent>
          </a:graphicData>
        </a:graphic>
      </p:graphicFrame>
      <p:sp>
        <p:nvSpPr>
          <p:cNvPr id="25603" name="Rectangle 2"/>
          <p:cNvSpPr txBox="1"/>
          <p:nvPr/>
        </p:nvSpPr>
        <p:spPr>
          <a:xfrm>
            <a:off x="0" y="0"/>
            <a:ext cx="9144000" cy="549275"/>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位势法</a:t>
            </a:r>
          </a:p>
        </p:txBody>
      </p:sp>
      <p:sp>
        <p:nvSpPr>
          <p:cNvPr id="3" name="Rectangle 3"/>
          <p:cNvSpPr txBox="1"/>
          <p:nvPr/>
        </p:nvSpPr>
        <p:spPr>
          <a:xfrm>
            <a:off x="0" y="476250"/>
            <a:ext cx="9144000" cy="3240088"/>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用闭回路法求检验数时，需给每一空格找一条闭回路</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当产销点很多时，这种计算很繁</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下面介绍较为简便的方法</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位势法</a:t>
            </a: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设</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是对应运输问题的</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个约束条件的对偶变量</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从线性规划的对偶理论可知</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 </a:t>
            </a:r>
          </a:p>
        </p:txBody>
      </p:sp>
      <p:sp>
        <p:nvSpPr>
          <p:cNvPr id="8" name="Rectangle 3"/>
          <p:cNvSpPr txBox="1"/>
          <p:nvPr/>
        </p:nvSpPr>
        <p:spPr>
          <a:xfrm>
            <a:off x="0" y="4437063"/>
            <a:ext cx="9144000" cy="792162"/>
          </a:xfrm>
          <a:prstGeom prst="rect">
            <a:avLst/>
          </a:prstGeom>
          <a:solidFill>
            <a:srgbClr val="B3F1F7"/>
          </a:solidFill>
          <a:ln w="9525">
            <a:noFill/>
          </a:ln>
        </p:spPr>
        <p:txBody>
          <a:bodyPr/>
          <a:lstStyle/>
          <a:p>
            <a:pPr marL="273050" indent="-273050" algn="just">
              <a:lnSpc>
                <a:spcPct val="15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而每个决策变量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ij</a:t>
            </a:r>
            <a:r>
              <a:rPr lang="zh-CN" altLang="en-US" b="1" dirty="0">
                <a:latin typeface="Times New Roman" panose="02020603050405020304" pitchFamily="18" charset="0"/>
                <a:ea typeface="微软雅黑" pitchFamily="34" charset="-122"/>
              </a:rPr>
              <a:t>的系数向量</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所以</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B</a:t>
            </a:r>
            <a:r>
              <a:rPr lang="en-US" altLang="zh-CN" b="1" i="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endParaRPr lang="en-US" altLang="zh-CN" b="1" dirty="0">
              <a:latin typeface="Times New Roman" panose="02020603050405020304" pitchFamily="18" charset="0"/>
              <a:ea typeface="微软雅黑" pitchFamily="34" charset="-122"/>
            </a:endParaRPr>
          </a:p>
          <a:p>
            <a:pPr marL="273050" indent="-273050" algn="just">
              <a:lnSpc>
                <a:spcPct val="15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于是检验数</a:t>
            </a:r>
          </a:p>
        </p:txBody>
      </p:sp>
      <p:graphicFrame>
        <p:nvGraphicFramePr>
          <p:cNvPr id="4" name="Object 3"/>
          <p:cNvGraphicFramePr>
            <a:graphicFrameLocks noChangeAspect="1"/>
          </p:cNvGraphicFramePr>
          <p:nvPr/>
        </p:nvGraphicFramePr>
        <p:xfrm>
          <a:off x="2195513" y="5070475"/>
          <a:ext cx="4679950" cy="576263"/>
        </p:xfrm>
        <a:graphic>
          <a:graphicData uri="http://schemas.openxmlformats.org/presentationml/2006/ole">
            <mc:AlternateContent xmlns:mc="http://schemas.openxmlformats.org/markup-compatibility/2006">
              <mc:Choice xmlns:v="urn:schemas-microsoft-com:vml" Requires="v">
                <p:oleObj spid="_x0000_s16403" r:id="rId5" imgW="2057400" imgH="254000" progId="Equation.3">
                  <p:embed/>
                </p:oleObj>
              </mc:Choice>
              <mc:Fallback>
                <p:oleObj r:id="rId5" imgW="2057400" imgH="254000" progId="Equation.3">
                  <p:embed/>
                  <p:pic>
                    <p:nvPicPr>
                      <p:cNvPr id="4" name="Object 3"/>
                      <p:cNvPicPr/>
                      <p:nvPr/>
                    </p:nvPicPr>
                    <p:blipFill>
                      <a:blip r:embed="rId6"/>
                      <a:stretch>
                        <a:fillRect/>
                      </a:stretch>
                    </p:blipFill>
                    <p:spPr>
                      <a:xfrm>
                        <a:off x="2195513" y="5070475"/>
                        <a:ext cx="4679950" cy="576263"/>
                      </a:xfrm>
                      <a:prstGeom prst="rect">
                        <a:avLst/>
                      </a:prstGeom>
                      <a:solidFill>
                        <a:srgbClr val="FFCCFF"/>
                      </a:solidFill>
                      <a:ln w="38100">
                        <a:noFill/>
                        <a:miter/>
                      </a:ln>
                    </p:spPr>
                  </p:pic>
                </p:oleObj>
              </mc:Fallback>
            </mc:AlternateContent>
          </a:graphicData>
        </a:graphic>
      </p:graphicFrame>
      <p:graphicFrame>
        <p:nvGraphicFramePr>
          <p:cNvPr id="9" name="Object 4"/>
          <p:cNvGraphicFramePr>
            <a:graphicFrameLocks noChangeAspect="1"/>
          </p:cNvGraphicFramePr>
          <p:nvPr/>
        </p:nvGraphicFramePr>
        <p:xfrm>
          <a:off x="1889125" y="6061075"/>
          <a:ext cx="4791075" cy="752475"/>
        </p:xfrm>
        <a:graphic>
          <a:graphicData uri="http://schemas.openxmlformats.org/presentationml/2006/ole">
            <mc:AlternateContent xmlns:mc="http://schemas.openxmlformats.org/markup-compatibility/2006">
              <mc:Choice xmlns:v="urn:schemas-microsoft-com:vml" Requires="v">
                <p:oleObj spid="_x0000_s16404" r:id="rId7" imgW="1536700" imgH="241300" progId="Equation.DSMT4">
                  <p:embed/>
                </p:oleObj>
              </mc:Choice>
              <mc:Fallback>
                <p:oleObj r:id="rId7" imgW="1536700" imgH="241300" progId="Equation.DSMT4">
                  <p:embed/>
                  <p:pic>
                    <p:nvPicPr>
                      <p:cNvPr id="9" name="Object 4"/>
                      <p:cNvPicPr/>
                      <p:nvPr/>
                    </p:nvPicPr>
                    <p:blipFill>
                      <a:blip r:embed="rId8"/>
                      <a:stretch>
                        <a:fillRect/>
                      </a:stretch>
                    </p:blipFill>
                    <p:spPr>
                      <a:xfrm>
                        <a:off x="1889125" y="6061075"/>
                        <a:ext cx="4791075" cy="752475"/>
                      </a:xfrm>
                      <a:prstGeom prst="rect">
                        <a:avLst/>
                      </a:prstGeom>
                      <a:solidFill>
                        <a:srgbClr val="FFCCFF"/>
                      </a:solidFill>
                      <a:ln w="38100">
                        <a:noFill/>
                        <a:miter/>
                      </a:ln>
                    </p:spPr>
                  </p:pic>
                </p:oleObj>
              </mc:Fallback>
            </mc:AlternateContent>
          </a:graphicData>
        </a:graphic>
      </p:graphicFrame>
      <p:sp>
        <p:nvSpPr>
          <p:cNvPr id="10" name="Rectangle 7"/>
          <p:cNvSpPr/>
          <p:nvPr/>
        </p:nvSpPr>
        <p:spPr>
          <a:xfrm>
            <a:off x="0" y="5661025"/>
            <a:ext cx="8526463" cy="461963"/>
          </a:xfrm>
          <a:prstGeom prst="rect">
            <a:avLst/>
          </a:prstGeom>
          <a:solidFill>
            <a:srgbClr val="B3F1F7"/>
          </a:solidFill>
          <a:ln w="9525">
            <a:noFill/>
          </a:ln>
        </p:spPr>
        <p:txBody>
          <a:bodyPr>
            <a:spAutoFit/>
          </a:bodyPr>
          <a:lstStyle/>
          <a:p>
            <a:r>
              <a:rPr lang="zh-CN" altLang="en-US" b="1" dirty="0">
                <a:latin typeface="微软雅黑" pitchFamily="34" charset="-122"/>
                <a:ea typeface="微软雅黑" pitchFamily="34" charset="-122"/>
              </a:rPr>
              <a:t>由单纯形法得知所有基变量的检验数等于</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。即 </a:t>
            </a:r>
          </a:p>
        </p:txBody>
      </p:sp>
      <p:graphicFrame>
        <p:nvGraphicFramePr>
          <p:cNvPr id="11" name="对象 10"/>
          <p:cNvGraphicFramePr/>
          <p:nvPr/>
        </p:nvGraphicFramePr>
        <p:xfrm>
          <a:off x="2122487" y="4437063"/>
          <a:ext cx="5505450" cy="2365375"/>
        </p:xfrm>
        <a:graphic>
          <a:graphicData uri="http://schemas.openxmlformats.org/presentationml/2006/ole">
            <mc:AlternateContent xmlns:mc="http://schemas.openxmlformats.org/markup-compatibility/2006">
              <mc:Choice xmlns:v="urn:schemas-microsoft-com:vml" Requires="v">
                <p:oleObj spid="_x0000_s16405" r:id="rId9" imgW="5551170" imgH="2556510" progId="Paint.Picture">
                  <p:embed/>
                </p:oleObj>
              </mc:Choice>
              <mc:Fallback>
                <p:oleObj r:id="rId9" imgW="5551170" imgH="2556510" progId="Paint.Picture">
                  <p:embed/>
                  <p:pic>
                    <p:nvPicPr>
                      <p:cNvPr id="11" name="对象 10"/>
                      <p:cNvPicPr/>
                      <p:nvPr/>
                    </p:nvPicPr>
                    <p:blipFill>
                      <a:blip r:embed="rId10"/>
                      <a:stretch>
                        <a:fillRect/>
                      </a:stretch>
                    </p:blipFill>
                    <p:spPr>
                      <a:xfrm>
                        <a:off x="2122487" y="4437063"/>
                        <a:ext cx="5505450" cy="236537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11"/>
                                        </p:tgtEl>
                                      </p:cBhvr>
                                    </p:animEffect>
                                    <p:set>
                                      <p:cBhvr>
                                        <p:cTn id="39" dur="1" fill="hold">
                                          <p:stCondLst>
                                            <p:cond delay="499"/>
                                          </p:stCondLst>
                                        </p:cTn>
                                        <p:tgtEl>
                                          <p:spTgt spid="1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8">
                                            <p:bg/>
                                          </p:spTgt>
                                        </p:tgtEl>
                                        <p:attrNameLst>
                                          <p:attrName>style.visibility</p:attrName>
                                        </p:attrNameLst>
                                      </p:cBhvr>
                                      <p:to>
                                        <p:strVal val="visible"/>
                                      </p:to>
                                    </p:set>
                                    <p:animEffect transition="in" filter="dissolve">
                                      <p:cBhvr>
                                        <p:cTn id="44" dur="500"/>
                                        <p:tgtEl>
                                          <p:spTgt spid="8">
                                            <p:bg/>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dissolve">
                                      <p:cBhvr>
                                        <p:cTn id="47" dur="500"/>
                                        <p:tgtEl>
                                          <p:spTgt spid="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dissolve">
                                      <p:cBhvr>
                                        <p:cTn id="52" dur="500"/>
                                        <p:tgtEl>
                                          <p:spTgt spid="8">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1000"/>
                                        <p:tgtEl>
                                          <p:spTgt spid="4"/>
                                        </p:tgtEl>
                                      </p:cBhvr>
                                    </p:animEffect>
                                    <p:anim calcmode="lin" valueType="num">
                                      <p:cBhvr>
                                        <p:cTn id="58" dur="1000" fill="hold"/>
                                        <p:tgtEl>
                                          <p:spTgt spid="4"/>
                                        </p:tgtEl>
                                        <p:attrNameLst>
                                          <p:attrName>ppt_x</p:attrName>
                                        </p:attrNameLst>
                                      </p:cBhvr>
                                      <p:tavLst>
                                        <p:tav tm="0">
                                          <p:val>
                                            <p:strVal val="#ppt_x"/>
                                          </p:val>
                                        </p:tav>
                                        <p:tav tm="100000">
                                          <p:val>
                                            <p:strVal val="#ppt_x"/>
                                          </p:val>
                                        </p:tav>
                                      </p:tavLst>
                                    </p:anim>
                                    <p:anim calcmode="lin" valueType="num">
                                      <p:cBhvr>
                                        <p:cTn id="5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1000"/>
                                        <p:tgtEl>
                                          <p:spTgt spid="9"/>
                                        </p:tgtEl>
                                      </p:cBhvr>
                                    </p:animEffect>
                                    <p:anim calcmode="lin" valueType="num">
                                      <p:cBhvr>
                                        <p:cTn id="70" dur="1000" fill="hold"/>
                                        <p:tgtEl>
                                          <p:spTgt spid="9"/>
                                        </p:tgtEl>
                                        <p:attrNameLst>
                                          <p:attrName>ppt_x</p:attrName>
                                        </p:attrNameLst>
                                      </p:cBhvr>
                                      <p:tavLst>
                                        <p:tav tm="0">
                                          <p:val>
                                            <p:strVal val="#ppt_x"/>
                                          </p:val>
                                        </p:tav>
                                        <p:tav tm="100000">
                                          <p:val>
                                            <p:strVal val="#ppt_x"/>
                                          </p:val>
                                        </p:tav>
                                      </p:tavLst>
                                    </p:anim>
                                    <p:anim calcmode="lin" valueType="num">
                                      <p:cBhvr>
                                        <p:cTn id="7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p:nvPr/>
        </p:nvSpPr>
        <p:spPr>
          <a:xfrm>
            <a:off x="71438" y="215900"/>
            <a:ext cx="3636962" cy="1484313"/>
          </a:xfrm>
          <a:prstGeom prst="rect">
            <a:avLst/>
          </a:prstGeom>
          <a:no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例如，在例</a:t>
            </a:r>
            <a:r>
              <a:rPr lang="en-US" altLang="zh-CN" b="1" dirty="0">
                <a:solidFill>
                  <a:schemeClr val="hlink"/>
                </a:solidFill>
                <a:latin typeface="Times New Roman" panose="02020603050405020304" pitchFamily="18" charset="0"/>
                <a:ea typeface="微软雅黑" pitchFamily="34" charset="-122"/>
              </a:rPr>
              <a:t>1</a:t>
            </a:r>
            <a:r>
              <a:rPr lang="zh-CN" altLang="en-US" b="1" dirty="0">
                <a:solidFill>
                  <a:schemeClr val="hlink"/>
                </a:solidFill>
                <a:latin typeface="Times New Roman" panose="02020603050405020304" pitchFamily="18" charset="0"/>
                <a:ea typeface="微软雅黑" pitchFamily="34" charset="-122"/>
              </a:rPr>
              <a:t>的由最小元素法得到的初始解中</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14</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21</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32</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34</a:t>
            </a:r>
            <a:r>
              <a:rPr lang="zh-CN" altLang="en-US" b="1" dirty="0">
                <a:solidFill>
                  <a:schemeClr val="hlink"/>
                </a:solidFill>
                <a:latin typeface="Times New Roman" panose="02020603050405020304" pitchFamily="18" charset="0"/>
                <a:ea typeface="微软雅黑" pitchFamily="34" charset="-122"/>
              </a:rPr>
              <a:t>是基变量</a:t>
            </a:r>
            <a:endParaRPr lang="zh-CN" altLang="en-US" sz="2800" dirty="0">
              <a:solidFill>
                <a:schemeClr val="hlink"/>
              </a:solidFill>
              <a:latin typeface="微软雅黑" pitchFamily="34" charset="-122"/>
              <a:ea typeface="华文楷体" panose="02010600040101010101" pitchFamily="2" charset="-122"/>
            </a:endParaRPr>
          </a:p>
        </p:txBody>
      </p:sp>
      <p:sp>
        <p:nvSpPr>
          <p:cNvPr id="3" name="Rectangle 3"/>
          <p:cNvSpPr txBox="1"/>
          <p:nvPr/>
        </p:nvSpPr>
        <p:spPr>
          <a:xfrm>
            <a:off x="0" y="2667000"/>
            <a:ext cx="9144000" cy="4191000"/>
          </a:xfrm>
          <a:prstGeom prst="rect">
            <a:avLst/>
          </a:prstGeom>
          <a:solidFill>
            <a:srgbClr val="FFCCFF"/>
          </a:solidFill>
          <a:ln w="9525">
            <a:noFill/>
          </a:ln>
        </p:spPr>
        <p:txBody>
          <a:bodyPr/>
          <a:lstStyle/>
          <a:p>
            <a:pPr marL="273050" indent="-273050" algn="just">
              <a:lnSpc>
                <a:spcPct val="90000"/>
              </a:lnSpc>
              <a:spcBef>
                <a:spcPts val="600"/>
              </a:spcBef>
              <a:buClr>
                <a:schemeClr val="accent1"/>
              </a:buClr>
              <a:buSzPct val="70000"/>
            </a:pPr>
            <a:r>
              <a:rPr lang="zh-CN" altLang="en-US" b="1" dirty="0">
                <a:latin typeface="Times New Roman" panose="02020603050405020304" pitchFamily="18" charset="0"/>
                <a:ea typeface="微软雅黑" pitchFamily="34" charset="-122"/>
              </a:rPr>
              <a:t>基变量的检验数</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从以上</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个方程中</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可求得</a:t>
            </a:r>
          </a:p>
          <a:p>
            <a:pPr marL="273050" indent="-273050" algn="ctr">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pic>
        <p:nvPicPr>
          <p:cNvPr id="26628" name="Picture 4"/>
          <p:cNvPicPr>
            <a:picLocks noChangeAspect="1"/>
          </p:cNvPicPr>
          <p:nvPr/>
        </p:nvPicPr>
        <p:blipFill>
          <a:blip r:embed="rId2"/>
          <a:stretch>
            <a:fillRect/>
          </a:stretch>
        </p:blipFill>
        <p:spPr>
          <a:xfrm>
            <a:off x="3816350" y="0"/>
            <a:ext cx="5327650" cy="2235200"/>
          </a:xfrm>
          <a:prstGeom prst="rect">
            <a:avLst/>
          </a:prstGeom>
          <a:noFill/>
          <a:ln w="9525">
            <a:noFill/>
          </a:ln>
        </p:spPr>
      </p:pic>
      <p:pic>
        <p:nvPicPr>
          <p:cNvPr id="26629" name="Picture 5"/>
          <p:cNvPicPr>
            <a:picLocks noChangeAspect="1"/>
          </p:cNvPicPr>
          <p:nvPr/>
        </p:nvPicPr>
        <p:blipFill>
          <a:blip r:embed="rId3"/>
          <a:stretch>
            <a:fillRect/>
          </a:stretch>
        </p:blipFill>
        <p:spPr>
          <a:xfrm>
            <a:off x="4751388" y="2205038"/>
            <a:ext cx="4392612" cy="1841500"/>
          </a:xfrm>
          <a:prstGeom prst="rect">
            <a:avLst/>
          </a:prstGeom>
          <a:noFill/>
          <a:ln w="9525">
            <a:noFill/>
          </a:ln>
        </p:spPr>
      </p:pic>
      <p:sp>
        <p:nvSpPr>
          <p:cNvPr id="7" name="Oval 23"/>
          <p:cNvSpPr/>
          <p:nvPr/>
        </p:nvSpPr>
        <p:spPr>
          <a:xfrm>
            <a:off x="7812088" y="2997200"/>
            <a:ext cx="433387"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8" name="Oval 23"/>
          <p:cNvSpPr/>
          <p:nvPr/>
        </p:nvSpPr>
        <p:spPr>
          <a:xfrm>
            <a:off x="8388350" y="2997200"/>
            <a:ext cx="576263"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9" name="Oval 23"/>
          <p:cNvSpPr/>
          <p:nvPr/>
        </p:nvSpPr>
        <p:spPr>
          <a:xfrm>
            <a:off x="6516688" y="3286125"/>
            <a:ext cx="433387"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0" name="Oval 23"/>
          <p:cNvSpPr/>
          <p:nvPr/>
        </p:nvSpPr>
        <p:spPr>
          <a:xfrm>
            <a:off x="7667625" y="3357563"/>
            <a:ext cx="576263"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3"/>
          <p:cNvSpPr/>
          <p:nvPr/>
        </p:nvSpPr>
        <p:spPr>
          <a:xfrm>
            <a:off x="7019925" y="3644900"/>
            <a:ext cx="5762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3"/>
          <p:cNvSpPr/>
          <p:nvPr/>
        </p:nvSpPr>
        <p:spPr>
          <a:xfrm>
            <a:off x="8388350" y="3644900"/>
            <a:ext cx="5762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blinds(horizontal)">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fade">
                                      <p:cBhvr>
                                        <p:cTn id="48" dur="1000"/>
                                        <p:tgtEl>
                                          <p:spTgt spid="3">
                                            <p:txEl>
                                              <p:pRg st="1" end="1"/>
                                            </p:txEl>
                                          </p:spTgt>
                                        </p:tgtEl>
                                      </p:cBhvr>
                                    </p:animEffect>
                                    <p:anim calcmode="lin" valueType="num">
                                      <p:cBhvr>
                                        <p:cTn id="4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linds(horizont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
                                            <p:txEl>
                                              <p:pRg st="4" end="4"/>
                                            </p:txEl>
                                          </p:spTgt>
                                        </p:tgtEl>
                                        <p:attrNameLst>
                                          <p:attrName>style.visibility</p:attrName>
                                        </p:attrNameLst>
                                      </p:cBhvr>
                                      <p:to>
                                        <p:strVal val="visible"/>
                                      </p:to>
                                    </p:set>
                                    <p:animEffect transition="in" filter="fade">
                                      <p:cBhvr>
                                        <p:cTn id="60" dur="1000"/>
                                        <p:tgtEl>
                                          <p:spTgt spid="3">
                                            <p:txEl>
                                              <p:pRg st="4" end="4"/>
                                            </p:txEl>
                                          </p:spTgt>
                                        </p:tgtEl>
                                      </p:cBhvr>
                                    </p:animEffect>
                                    <p:anim calcmode="lin" valueType="num">
                                      <p:cBhvr>
                                        <p:cTn id="6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blinds(horizontal)">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animEffect transition="in" filter="fade">
                                      <p:cBhvr>
                                        <p:cTn id="72" dur="1000"/>
                                        <p:tgtEl>
                                          <p:spTgt spid="3">
                                            <p:txEl>
                                              <p:pRg st="2" end="2"/>
                                            </p:txEl>
                                          </p:spTgt>
                                        </p:tgtEl>
                                      </p:cBhvr>
                                    </p:animEffect>
                                    <p:anim calcmode="lin" valueType="num">
                                      <p:cBhvr>
                                        <p:cTn id="7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3">
                                            <p:txEl>
                                              <p:pRg st="7" end="7"/>
                                            </p:txEl>
                                          </p:spTgt>
                                        </p:tgtEl>
                                        <p:attrNameLst>
                                          <p:attrName>style.visibility</p:attrName>
                                        </p:attrNameLst>
                                      </p:cBhvr>
                                      <p:to>
                                        <p:strVal val="visible"/>
                                      </p:to>
                                    </p:set>
                                    <p:animEffect transition="in" filter="fade">
                                      <p:cBhvr>
                                        <p:cTn id="84" dur="1000"/>
                                        <p:tgtEl>
                                          <p:spTgt spid="3">
                                            <p:txEl>
                                              <p:pRg st="7" end="7"/>
                                            </p:txEl>
                                          </p:spTgt>
                                        </p:tgtEl>
                                      </p:cBhvr>
                                    </p:animEffect>
                                    <p:anim calcmode="lin" valueType="num">
                                      <p:cBhvr>
                                        <p:cTn id="8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
                                            <p:txEl>
                                              <p:pRg st="8" end="8"/>
                                            </p:txEl>
                                          </p:spTgt>
                                        </p:tgtEl>
                                        <p:attrNameLst>
                                          <p:attrName>style.visibility</p:attrName>
                                        </p:attrNameLst>
                                      </p:cBhvr>
                                      <p:to>
                                        <p:strVal val="visible"/>
                                      </p:to>
                                    </p:set>
                                    <p:animEffect transition="in" filter="fade">
                                      <p:cBhvr>
                                        <p:cTn id="91" dur="1000"/>
                                        <p:tgtEl>
                                          <p:spTgt spid="3">
                                            <p:txEl>
                                              <p:pRg st="8" end="8"/>
                                            </p:txEl>
                                          </p:spTgt>
                                        </p:tgtEl>
                                      </p:cBhvr>
                                    </p:animEffect>
                                    <p:anim calcmode="lin" valueType="num">
                                      <p:cBhvr>
                                        <p:cTn id="9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60700" y="6308725"/>
            <a:ext cx="1439863"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4-18</a:t>
            </a:r>
            <a:endParaRPr lang="zh-CN" altLang="en-US" dirty="0">
              <a:latin typeface="微软雅黑" pitchFamily="34" charset="-122"/>
              <a:ea typeface="微软雅黑" pitchFamily="34" charset="-122"/>
            </a:endParaRPr>
          </a:p>
        </p:txBody>
      </p:sp>
      <p:sp>
        <p:nvSpPr>
          <p:cNvPr id="5" name="TextBox 3"/>
          <p:cNvSpPr txBox="1"/>
          <p:nvPr/>
        </p:nvSpPr>
        <p:spPr>
          <a:xfrm>
            <a:off x="6659563" y="4221163"/>
            <a:ext cx="1439862" cy="457200"/>
          </a:xfrm>
          <a:prstGeom prst="rect">
            <a:avLst/>
          </a:prstGeom>
          <a:solidFill>
            <a:srgbClr val="FFCCFF"/>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4-17</a:t>
            </a:r>
            <a:endParaRPr lang="zh-CN" altLang="en-US" dirty="0">
              <a:latin typeface="微软雅黑" pitchFamily="34" charset="-122"/>
              <a:ea typeface="微软雅黑" pitchFamily="34" charset="-122"/>
            </a:endParaRPr>
          </a:p>
        </p:txBody>
      </p:sp>
      <p:sp>
        <p:nvSpPr>
          <p:cNvPr id="6" name="TextBox 3"/>
          <p:cNvSpPr txBox="1"/>
          <p:nvPr/>
        </p:nvSpPr>
        <p:spPr>
          <a:xfrm>
            <a:off x="1619250" y="4149725"/>
            <a:ext cx="1296988" cy="461665"/>
          </a:xfrm>
          <a:prstGeom prst="rect">
            <a:avLst/>
          </a:prstGeom>
          <a:solidFill>
            <a:srgbClr val="B3F1F7"/>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4-10</a:t>
            </a:r>
            <a:endParaRPr lang="zh-CN" altLang="en-US" dirty="0">
              <a:latin typeface="微软雅黑" pitchFamily="34" charset="-122"/>
              <a:ea typeface="微软雅黑" pitchFamily="34" charset="-122"/>
            </a:endParaRPr>
          </a:p>
        </p:txBody>
      </p:sp>
      <p:sp>
        <p:nvSpPr>
          <p:cNvPr id="27653" name="Rectangle 2"/>
          <p:cNvSpPr txBox="1"/>
          <p:nvPr/>
        </p:nvSpPr>
        <p:spPr>
          <a:xfrm>
            <a:off x="0" y="0"/>
            <a:ext cx="9144000" cy="476250"/>
          </a:xfrm>
          <a:prstGeom prst="rect">
            <a:avLst/>
          </a:prstGeom>
          <a:noFill/>
          <a:ln w="9525">
            <a:noFill/>
          </a:ln>
        </p:spPr>
        <p:txBody>
          <a:bodyPr/>
          <a:lstStyle/>
          <a:p>
            <a:r>
              <a:rPr lang="zh-CN" altLang="en-US" b="1" dirty="0">
                <a:latin typeface="微软雅黑" pitchFamily="34" charset="-122"/>
                <a:ea typeface="微软雅黑" pitchFamily="34" charset="-122"/>
              </a:rPr>
              <a:t>非基变量的检验数</a:t>
            </a:r>
            <a:r>
              <a:rPr lang="zh-CN" altLang="en-US" sz="2800" dirty="0">
                <a:latin typeface="Century Schoolbook" pitchFamily="18" charset="0"/>
                <a:ea typeface="华文楷体" panose="02010600040101010101" pitchFamily="2" charset="-122"/>
              </a:rPr>
              <a:t> </a:t>
            </a:r>
          </a:p>
        </p:txBody>
      </p:sp>
      <p:graphicFrame>
        <p:nvGraphicFramePr>
          <p:cNvPr id="3" name="Object 1"/>
          <p:cNvGraphicFramePr>
            <a:graphicFrameLocks noChangeAspect="1"/>
          </p:cNvGraphicFramePr>
          <p:nvPr/>
        </p:nvGraphicFramePr>
        <p:xfrm>
          <a:off x="2214563" y="404813"/>
          <a:ext cx="3778250" cy="554037"/>
        </p:xfrm>
        <a:graphic>
          <a:graphicData uri="http://schemas.openxmlformats.org/presentationml/2006/ole">
            <mc:AlternateContent xmlns:mc="http://schemas.openxmlformats.org/markup-compatibility/2006">
              <mc:Choice xmlns:v="urn:schemas-microsoft-com:vml" Requires="v">
                <p:oleObj spid="_x0000_s17414" name="Equation" r:id="rId3" imgW="1651000" imgH="241300" progId="Equation.DSMT4">
                  <p:embed/>
                </p:oleObj>
              </mc:Choice>
              <mc:Fallback>
                <p:oleObj name="Equation" r:id="rId3" imgW="1651000" imgH="241300" progId="Equation.DSMT4">
                  <p:embed/>
                  <p:pic>
                    <p:nvPicPr>
                      <p:cNvPr id="3" name="Object 1"/>
                      <p:cNvPicPr/>
                      <p:nvPr/>
                    </p:nvPicPr>
                    <p:blipFill>
                      <a:blip r:embed="rId4"/>
                      <a:stretch>
                        <a:fillRect/>
                      </a:stretch>
                    </p:blipFill>
                    <p:spPr>
                      <a:xfrm>
                        <a:off x="2214563" y="404813"/>
                        <a:ext cx="3778250" cy="554037"/>
                      </a:xfrm>
                      <a:prstGeom prst="rect">
                        <a:avLst/>
                      </a:prstGeom>
                      <a:noFill/>
                      <a:ln w="38100">
                        <a:noFill/>
                        <a:miter/>
                      </a:ln>
                    </p:spPr>
                  </p:pic>
                </p:oleObj>
              </mc:Fallback>
            </mc:AlternateContent>
          </a:graphicData>
        </a:graphic>
      </p:graphicFrame>
      <p:sp>
        <p:nvSpPr>
          <p:cNvPr id="7" name="Rectangle 5"/>
          <p:cNvSpPr/>
          <p:nvPr/>
        </p:nvSpPr>
        <p:spPr>
          <a:xfrm>
            <a:off x="0" y="981075"/>
            <a:ext cx="9144000" cy="954088"/>
          </a:xfrm>
          <a:prstGeom prst="rect">
            <a:avLst/>
          </a:prstGeom>
          <a:solidFill>
            <a:srgbClr val="FFCCFF"/>
          </a:solid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可以从已知的</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值中求得。这些计算可在表格中进行</a:t>
            </a:r>
            <a:endParaRPr lang="en-US" altLang="zh-CN" b="1" dirty="0">
              <a:latin typeface="Times New Roman" panose="02020603050405020304" pitchFamily="18" charset="0"/>
              <a:ea typeface="微软雅黑" pitchFamily="34" charset="-122"/>
            </a:endParaRPr>
          </a:p>
          <a:p>
            <a:pPr eaLnBrk="1" hangingPunct="1"/>
            <a:endParaRPr lang="zh-CN" altLang="en-US" sz="3200" dirty="0">
              <a:latin typeface="Times New Roman" panose="02020603050405020304" pitchFamily="18" charset="0"/>
              <a:ea typeface="华文楷体" panose="02010600040101010101" pitchFamily="2" charset="-122"/>
            </a:endParaRPr>
          </a:p>
        </p:txBody>
      </p:sp>
      <p:pic>
        <p:nvPicPr>
          <p:cNvPr id="354309" name="Picture 5"/>
          <p:cNvPicPr>
            <a:picLocks noChangeAspect="1"/>
          </p:cNvPicPr>
          <p:nvPr/>
        </p:nvPicPr>
        <p:blipFill>
          <a:blip r:embed="rId5"/>
          <a:stretch>
            <a:fillRect/>
          </a:stretch>
        </p:blipFill>
        <p:spPr>
          <a:xfrm>
            <a:off x="4427538" y="2276475"/>
            <a:ext cx="4716462" cy="1976438"/>
          </a:xfrm>
          <a:prstGeom prst="rect">
            <a:avLst/>
          </a:prstGeom>
          <a:noFill/>
          <a:ln w="9525">
            <a:noFill/>
          </a:ln>
        </p:spPr>
      </p:pic>
      <p:sp>
        <p:nvSpPr>
          <p:cNvPr id="8" name="Rectangle 2"/>
          <p:cNvSpPr txBox="1"/>
          <p:nvPr/>
        </p:nvSpPr>
        <p:spPr>
          <a:xfrm>
            <a:off x="0" y="1484313"/>
            <a:ext cx="9144000" cy="792162"/>
          </a:xfrm>
          <a:prstGeom prst="rect">
            <a:avLst/>
          </a:prstGeom>
          <a:solidFill>
            <a:srgbClr val="B3F1F7"/>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第一步</a:t>
            </a:r>
            <a:r>
              <a:rPr lang="zh-CN" altLang="en-US" b="1" dirty="0">
                <a:latin typeface="Times New Roman" panose="02020603050405020304" pitchFamily="18" charset="0"/>
                <a:ea typeface="微软雅黑" pitchFamily="34" charset="-122"/>
              </a:rPr>
              <a:t>：按最小元素法给出表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的初始解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然后做表</a:t>
            </a:r>
            <a:r>
              <a:rPr lang="en-US" altLang="zh-CN" b="1" dirty="0">
                <a:latin typeface="Times New Roman" panose="02020603050405020304" pitchFamily="18" charset="0"/>
                <a:ea typeface="微软雅黑" pitchFamily="34" charset="-122"/>
              </a:rPr>
              <a:t>4-17</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即在对应表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的数字格处填入单位运价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4-17</a:t>
            </a:r>
            <a:endParaRPr lang="zh-CN" altLang="en-US" b="1" dirty="0">
              <a:solidFill>
                <a:schemeClr val="tx2"/>
              </a:solidFill>
              <a:latin typeface="Times New Roman" panose="02020603050405020304" pitchFamily="18" charset="0"/>
              <a:ea typeface="微软雅黑" pitchFamily="34" charset="-122"/>
            </a:endParaRPr>
          </a:p>
        </p:txBody>
      </p:sp>
      <p:pic>
        <p:nvPicPr>
          <p:cNvPr id="354311" name="Picture 7"/>
          <p:cNvPicPr>
            <a:picLocks noChangeAspect="1"/>
          </p:cNvPicPr>
          <p:nvPr/>
        </p:nvPicPr>
        <p:blipFill>
          <a:blip r:embed="rId6"/>
          <a:stretch>
            <a:fillRect/>
          </a:stretch>
        </p:blipFill>
        <p:spPr>
          <a:xfrm>
            <a:off x="0" y="2276475"/>
            <a:ext cx="4427538" cy="1943100"/>
          </a:xfrm>
          <a:prstGeom prst="rect">
            <a:avLst/>
          </a:prstGeom>
          <a:noFill/>
          <a:ln w="9525">
            <a:noFill/>
          </a:ln>
        </p:spPr>
      </p:pic>
      <p:pic>
        <p:nvPicPr>
          <p:cNvPr id="354314" name="Picture 10"/>
          <p:cNvPicPr>
            <a:picLocks noChangeAspect="1"/>
          </p:cNvPicPr>
          <p:nvPr/>
        </p:nvPicPr>
        <p:blipFill>
          <a:blip r:embed="rId7"/>
          <a:stretch>
            <a:fillRect/>
          </a:stretch>
        </p:blipFill>
        <p:spPr>
          <a:xfrm>
            <a:off x="4140200" y="4724400"/>
            <a:ext cx="5003800" cy="2090738"/>
          </a:xfrm>
          <a:prstGeom prst="rect">
            <a:avLst/>
          </a:prstGeom>
          <a:noFill/>
          <a:ln w="9525">
            <a:noFill/>
          </a:ln>
        </p:spPr>
      </p:pic>
      <p:sp>
        <p:nvSpPr>
          <p:cNvPr id="9" name="Rectangle 2"/>
          <p:cNvSpPr txBox="1"/>
          <p:nvPr/>
        </p:nvSpPr>
        <p:spPr>
          <a:xfrm>
            <a:off x="0" y="4581525"/>
            <a:ext cx="4067175" cy="1368425"/>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4-17</a:t>
            </a:r>
            <a:r>
              <a:rPr lang="zh-CN" altLang="en-US" b="1" dirty="0">
                <a:latin typeface="Times New Roman" panose="02020603050405020304" pitchFamily="18" charset="0"/>
                <a:ea typeface="微软雅黑" pitchFamily="34" charset="-122"/>
              </a:rPr>
              <a:t>上增加一行一列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在列中填入</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 </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在行中填入</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4-18</a:t>
            </a:r>
          </a:p>
          <a:p>
            <a:endParaRPr lang="zh-CN" altLang="en-US" b="1" dirty="0">
              <a:latin typeface="Times New Roman" panose="02020603050405020304" pitchFamily="18" charset="0"/>
              <a:ea typeface="微软雅黑" pitchFamily="34" charset="-122"/>
            </a:endParaRPr>
          </a:p>
        </p:txBody>
      </p:sp>
      <p:pic>
        <p:nvPicPr>
          <p:cNvPr id="354317" name="Picture 13"/>
          <p:cNvPicPr>
            <a:picLocks noChangeAspect="1"/>
          </p:cNvPicPr>
          <p:nvPr/>
        </p:nvPicPr>
        <p:blipFill>
          <a:blip r:embed="rId8"/>
          <a:stretch>
            <a:fillRect/>
          </a:stretch>
        </p:blipFill>
        <p:spPr>
          <a:xfrm>
            <a:off x="4751388" y="4724400"/>
            <a:ext cx="4392612" cy="1841500"/>
          </a:xfrm>
          <a:prstGeom prst="rect">
            <a:avLst/>
          </a:prstGeom>
          <a:noFill/>
          <a:ln w="9525">
            <a:noFill/>
          </a:ln>
        </p:spPr>
      </p:pic>
      <p:sp>
        <p:nvSpPr>
          <p:cNvPr id="14" name="矩形 13"/>
          <p:cNvSpPr/>
          <p:nvPr/>
        </p:nvSpPr>
        <p:spPr>
          <a:xfrm>
            <a:off x="-1116012" y="5949950"/>
            <a:ext cx="5545137" cy="833438"/>
          </a:xfrm>
          <a:prstGeom prst="rect">
            <a:avLst/>
          </a:prstGeom>
          <a:noFill/>
          <a:ln w="9525">
            <a:noFill/>
          </a:ln>
        </p:spPr>
        <p:txBody>
          <a:bodyPr>
            <a:spAutoFit/>
          </a:bodyPr>
          <a:lstStyle/>
          <a:p>
            <a:pPr marL="273050" indent="-273050" algn="ctr">
              <a:lnSpc>
                <a:spcPct val="9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a:t>
            </a:r>
          </a:p>
          <a:p>
            <a:pPr marL="273050" indent="-273050" algn="ctr">
              <a:lnSpc>
                <a:spcPct val="9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54311"/>
                                        </p:tgtEl>
                                        <p:attrNameLst>
                                          <p:attrName>style.visibility</p:attrName>
                                        </p:attrNameLst>
                                      </p:cBhvr>
                                      <p:to>
                                        <p:strVal val="visible"/>
                                      </p:to>
                                    </p:set>
                                    <p:animEffect transition="in" filter="blinds(horizontal)">
                                      <p:cBhvr>
                                        <p:cTn id="24" dur="500"/>
                                        <p:tgtEl>
                                          <p:spTgt spid="3543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nodeType="withEffect">
                                  <p:stCondLst>
                                    <p:cond delay="0"/>
                                  </p:stCondLst>
                                  <p:childTnLst>
                                    <p:set>
                                      <p:cBhvr>
                                        <p:cTn id="29" dur="1" fill="hold">
                                          <p:stCondLst>
                                            <p:cond delay="0"/>
                                          </p:stCondLst>
                                        </p:cTn>
                                        <p:tgtEl>
                                          <p:spTgt spid="354309"/>
                                        </p:tgtEl>
                                        <p:attrNameLst>
                                          <p:attrName>style.visibility</p:attrName>
                                        </p:attrNameLst>
                                      </p:cBhvr>
                                      <p:to>
                                        <p:strVal val="visible"/>
                                      </p:to>
                                    </p:set>
                                    <p:animEffect transition="in" filter="blinds(horizontal)">
                                      <p:cBhvr>
                                        <p:cTn id="30" dur="500"/>
                                        <p:tgtEl>
                                          <p:spTgt spid="354309"/>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54317"/>
                                        </p:tgtEl>
                                        <p:attrNameLst>
                                          <p:attrName>style.visibility</p:attrName>
                                        </p:attrNameLst>
                                      </p:cBhvr>
                                      <p:to>
                                        <p:strVal val="visible"/>
                                      </p:to>
                                    </p:set>
                                    <p:animEffect transition="in" filter="blinds(horizontal)">
                                      <p:cBhvr>
                                        <p:cTn id="38" dur="500"/>
                                        <p:tgtEl>
                                          <p:spTgt spid="35431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nodeType="clickEffect">
                                  <p:stCondLst>
                                    <p:cond delay="0"/>
                                  </p:stCondLst>
                                  <p:childTnLst>
                                    <p:animEffect transition="out" filter="blinds(horizontal)">
                                      <p:cBhvr>
                                        <p:cTn id="42" dur="500"/>
                                        <p:tgtEl>
                                          <p:spTgt spid="354317"/>
                                        </p:tgtEl>
                                      </p:cBhvr>
                                    </p:animEffect>
                                    <p:set>
                                      <p:cBhvr>
                                        <p:cTn id="43" dur="1" fill="hold">
                                          <p:stCondLst>
                                            <p:cond delay="499"/>
                                          </p:stCondLst>
                                        </p:cTn>
                                        <p:tgtEl>
                                          <p:spTgt spid="3543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54314"/>
                                        </p:tgtEl>
                                        <p:attrNameLst>
                                          <p:attrName>style.visibility</p:attrName>
                                        </p:attrNameLst>
                                      </p:cBhvr>
                                      <p:to>
                                        <p:strVal val="visible"/>
                                      </p:to>
                                    </p:set>
                                    <p:animEffect transition="in" filter="blinds(horizontal)">
                                      <p:cBhvr>
                                        <p:cTn id="53" dur="500"/>
                                        <p:tgtEl>
                                          <p:spTgt spid="35431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blinds(horizontal)">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blinds(horizontal)">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animBg="1"/>
      <p:bldP spid="6" grpId="0" animBg="1"/>
      <p:bldP spid="7" grpId="0" animBg="1"/>
      <p:bldP spid="8" grpId="0" animBg="1"/>
      <p:bldP spid="9"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411730" y="4508500"/>
            <a:ext cx="6330315" cy="2340610"/>
          </a:xfrm>
          <a:prstGeom prst="rect">
            <a:avLst/>
          </a:prstGeom>
        </p:spPr>
      </p:pic>
      <p:sp>
        <p:nvSpPr>
          <p:cNvPr id="5" name="矩形 4"/>
          <p:cNvSpPr/>
          <p:nvPr/>
        </p:nvSpPr>
        <p:spPr>
          <a:xfrm>
            <a:off x="1116013" y="6400800"/>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4-19</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4" name="Rectangle 6"/>
          <p:cNvSpPr/>
          <p:nvPr/>
        </p:nvSpPr>
        <p:spPr>
          <a:xfrm>
            <a:off x="0" y="4581525"/>
            <a:ext cx="2411413" cy="1570038"/>
          </a:xfrm>
          <a:prstGeom prst="rect">
            <a:avLst/>
          </a:prstGeom>
          <a:solidFill>
            <a:srgbClr val="FFFF99"/>
          </a:solidFill>
          <a:ln w="9525">
            <a:noFill/>
          </a:ln>
        </p:spPr>
        <p:txBody>
          <a:bodyPr>
            <a:spAutoFit/>
          </a:bodyPr>
          <a:lstStyle/>
          <a:p>
            <a:pPr eaLnBrk="1" hangingPunct="1"/>
            <a:r>
              <a:rPr lang="zh-CN" altLang="en-US" b="1" dirty="0">
                <a:latin typeface="微软雅黑" pitchFamily="34" charset="-122"/>
                <a:ea typeface="微软雅黑" pitchFamily="34" charset="-122"/>
              </a:rPr>
              <a:t>表</a:t>
            </a:r>
            <a:r>
              <a:rPr lang="en-US" altLang="zh-CN" b="1" dirty="0">
                <a:latin typeface="微软雅黑" pitchFamily="34" charset="-122"/>
                <a:ea typeface="微软雅黑" pitchFamily="34" charset="-122"/>
              </a:rPr>
              <a:t>4-19 </a:t>
            </a:r>
            <a:r>
              <a:rPr lang="zh-CN" altLang="en-US" b="1" dirty="0">
                <a:latin typeface="微软雅黑" pitchFamily="34" charset="-122"/>
                <a:ea typeface="微软雅黑" pitchFamily="34" charset="-122"/>
              </a:rPr>
              <a:t>中还有负检验数。说明未得最优解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还可以改进</a:t>
            </a:r>
            <a:endParaRPr lang="en-US" altLang="zh-CN" b="1" dirty="0">
              <a:latin typeface="微软雅黑" pitchFamily="34" charset="-122"/>
              <a:ea typeface="微软雅黑" pitchFamily="34" charset="-122"/>
            </a:endParaRPr>
          </a:p>
        </p:txBody>
      </p:sp>
      <p:sp>
        <p:nvSpPr>
          <p:cNvPr id="3" name="TextBox 3"/>
          <p:cNvSpPr txBox="1"/>
          <p:nvPr/>
        </p:nvSpPr>
        <p:spPr>
          <a:xfrm>
            <a:off x="2989263" y="1603375"/>
            <a:ext cx="1439862"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4-18</a:t>
            </a:r>
            <a:endParaRPr lang="zh-CN" altLang="en-US" dirty="0">
              <a:latin typeface="微软雅黑" pitchFamily="34" charset="-122"/>
              <a:ea typeface="微软雅黑" pitchFamily="34" charset="-122"/>
            </a:endParaRPr>
          </a:p>
        </p:txBody>
      </p:sp>
      <p:sp>
        <p:nvSpPr>
          <p:cNvPr id="6" name="Rectangle 4"/>
          <p:cNvSpPr/>
          <p:nvPr/>
        </p:nvSpPr>
        <p:spPr>
          <a:xfrm>
            <a:off x="0" y="2060575"/>
            <a:ext cx="9324975" cy="1262063"/>
          </a:xfrm>
          <a:prstGeom prst="rect">
            <a:avLst/>
          </a:prstGeom>
          <a:solidFill>
            <a:srgbClr val="B3F1F7"/>
          </a:solid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先令</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然后按</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zh-CN" altLang="en-US" b="1" dirty="0">
                <a:latin typeface="Times New Roman" panose="02020603050405020304" pitchFamily="18" charset="0"/>
                <a:ea typeface="微软雅黑" pitchFamily="34" charset="-122"/>
              </a:rPr>
              <a:t>相继地确定</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。由表</a:t>
            </a:r>
            <a:r>
              <a:rPr lang="en-US" altLang="zh-CN" b="1" dirty="0">
                <a:latin typeface="Times New Roman" panose="02020603050405020304" pitchFamily="18" charset="0"/>
                <a:ea typeface="微软雅黑" pitchFamily="34" charset="-122"/>
              </a:rPr>
              <a:t>4-18</a:t>
            </a:r>
            <a:r>
              <a:rPr lang="zh-CN" altLang="en-US" b="1" dirty="0">
                <a:latin typeface="Times New Roman" panose="02020603050405020304" pitchFamily="18" charset="0"/>
                <a:ea typeface="微软雅黑" pitchFamily="34" charset="-122"/>
              </a:rPr>
              <a:t>可见</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当</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endParaRPr lang="en-US" altLang="zh-CN" sz="2800" dirty="0">
              <a:latin typeface="Times New Roman" panose="02020603050405020304" pitchFamily="18" charset="0"/>
              <a:ea typeface="华文楷体" panose="02010600040101010101" pitchFamily="2" charset="-122"/>
            </a:endParaRPr>
          </a:p>
          <a:p>
            <a:pPr eaLnBrk="1" hangingPunct="1"/>
            <a:endParaRPr lang="zh-CN" altLang="en-US" sz="2800" dirty="0">
              <a:latin typeface="Times New Roman" panose="02020603050405020304" pitchFamily="18" charset="0"/>
              <a:ea typeface="华文楷体" panose="02010600040101010101" pitchFamily="2" charset="-122"/>
            </a:endParaRPr>
          </a:p>
        </p:txBody>
      </p:sp>
      <p:pic>
        <p:nvPicPr>
          <p:cNvPr id="28679" name="Picture 6"/>
          <p:cNvPicPr>
            <a:picLocks noChangeAspect="1"/>
          </p:cNvPicPr>
          <p:nvPr/>
        </p:nvPicPr>
        <p:blipFill>
          <a:blip r:embed="rId3"/>
          <a:stretch>
            <a:fillRect/>
          </a:stretch>
        </p:blipFill>
        <p:spPr>
          <a:xfrm>
            <a:off x="4140200" y="44450"/>
            <a:ext cx="5003800" cy="2090738"/>
          </a:xfrm>
          <a:prstGeom prst="rect">
            <a:avLst/>
          </a:prstGeom>
          <a:noFill/>
          <a:ln w="9525">
            <a:noFill/>
          </a:ln>
        </p:spPr>
      </p:pic>
      <p:sp>
        <p:nvSpPr>
          <p:cNvPr id="28680" name="Rectangle 2"/>
          <p:cNvSpPr txBox="1"/>
          <p:nvPr/>
        </p:nvSpPr>
        <p:spPr>
          <a:xfrm>
            <a:off x="0" y="0"/>
            <a:ext cx="4067175" cy="1152525"/>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4-17</a:t>
            </a:r>
            <a:r>
              <a:rPr lang="zh-CN" altLang="en-US" b="1" dirty="0">
                <a:latin typeface="Times New Roman" panose="02020603050405020304" pitchFamily="18" charset="0"/>
                <a:ea typeface="微软雅黑" pitchFamily="34" charset="-122"/>
              </a:rPr>
              <a:t>上增加一行一列，在列中填入</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 </a:t>
            </a:r>
            <a:r>
              <a:rPr lang="zh-CN" altLang="en-US" b="1" dirty="0">
                <a:latin typeface="Times New Roman" panose="02020603050405020304" pitchFamily="18" charset="0"/>
                <a:ea typeface="微软雅黑" pitchFamily="34" charset="-122"/>
              </a:rPr>
              <a:t>，在行中填入</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4-18</a:t>
            </a:r>
            <a:endParaRPr lang="zh-CN" altLang="en-US" b="1" dirty="0">
              <a:latin typeface="Times New Roman" panose="02020603050405020304" pitchFamily="18" charset="0"/>
              <a:ea typeface="微软雅黑" pitchFamily="34" charset="-122"/>
            </a:endParaRPr>
          </a:p>
        </p:txBody>
      </p:sp>
      <p:sp>
        <p:nvSpPr>
          <p:cNvPr id="7" name="Rectangle 2"/>
          <p:cNvSpPr txBox="1"/>
          <p:nvPr/>
        </p:nvSpPr>
        <p:spPr>
          <a:xfrm>
            <a:off x="0" y="3357563"/>
            <a:ext cx="9144000" cy="1150937"/>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：按</a:t>
            </a:r>
            <a:r>
              <a:rPr lang="en-US" altLang="zh-CN" b="1" i="1" dirty="0">
                <a:latin typeface="Times New Roman" panose="02020603050405020304" pitchFamily="18" charset="0"/>
                <a:ea typeface="微软雅黑" pitchFamily="34" charset="-122"/>
              </a:rPr>
              <a:t>σ</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j</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计算所有空格的检验数。如</a:t>
            </a:r>
            <a:br>
              <a:rPr lang="zh-CN" altLang="en-US" b="1" dirty="0">
                <a:latin typeface="Times New Roman" panose="02020603050405020304" pitchFamily="18" charset="0"/>
                <a:ea typeface="微软雅黑" pitchFamily="34" charset="-122"/>
              </a:rPr>
            </a:br>
            <a:r>
              <a:rPr lang="en-US" altLang="zh-CN" b="1" i="1" dirty="0">
                <a:latin typeface="Times New Roman" panose="02020603050405020304" pitchFamily="18" charset="0"/>
                <a:ea typeface="微软雅黑" pitchFamily="34" charset="-122"/>
              </a:rPr>
              <a:t>σ</a:t>
            </a:r>
            <a:r>
              <a:rPr lang="en-US" altLang="zh-CN" b="1" baseline="-30000" dirty="0">
                <a:latin typeface="Times New Roman" panose="02020603050405020304" pitchFamily="18" charset="0"/>
                <a:ea typeface="微软雅黑" pitchFamily="34" charset="-122"/>
              </a:rPr>
              <a:t>11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baseline="-30000" dirty="0">
                <a:latin typeface="Times New Roman" panose="02020603050405020304" pitchFamily="18" charset="0"/>
                <a:ea typeface="微软雅黑" pitchFamily="34" charset="-122"/>
              </a:rPr>
              <a:t>11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)=3-(0+2)=1             </a:t>
            </a:r>
            <a:r>
              <a:rPr lang="en-US" altLang="zh-CN" b="1" i="1" dirty="0">
                <a:latin typeface="Times New Roman" panose="02020603050405020304" pitchFamily="18" charset="0"/>
                <a:ea typeface="微软雅黑" pitchFamily="34" charset="-122"/>
              </a:rPr>
              <a:t>σ</a:t>
            </a:r>
            <a:r>
              <a:rPr lang="en-US" altLang="zh-CN" b="1" baseline="-30000" dirty="0">
                <a:latin typeface="Times New Roman" panose="02020603050405020304" pitchFamily="18" charset="0"/>
                <a:ea typeface="微软雅黑" pitchFamily="34" charset="-122"/>
              </a:rPr>
              <a:t>12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baseline="-30000" dirty="0">
                <a:latin typeface="Times New Roman" panose="02020603050405020304" pitchFamily="18" charset="0"/>
                <a:ea typeface="微软雅黑" pitchFamily="34" charset="-122"/>
              </a:rPr>
              <a:t>12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)=11-(0+9)=2 </a:t>
            </a:r>
            <a:br>
              <a:rPr lang="en-US" altLang="zh-CN" b="1" dirty="0">
                <a:latin typeface="Times New Roman" panose="02020603050405020304" pitchFamily="18" charset="0"/>
                <a:ea typeface="微软雅黑" pitchFamily="34" charset="-122"/>
              </a:rPr>
            </a:br>
            <a:r>
              <a:rPr lang="zh-CN" altLang="en-US" b="1" dirty="0">
                <a:latin typeface="Times New Roman" panose="02020603050405020304" pitchFamily="18" charset="0"/>
                <a:ea typeface="微软雅黑" pitchFamily="34" charset="-122"/>
              </a:rPr>
              <a:t>这些计算可直接在表</a:t>
            </a:r>
            <a:r>
              <a:rPr lang="en-US" altLang="zh-CN" b="1" dirty="0">
                <a:latin typeface="Times New Roman" panose="02020603050405020304" pitchFamily="18" charset="0"/>
                <a:ea typeface="微软雅黑" pitchFamily="34" charset="-122"/>
              </a:rPr>
              <a:t>4-18</a:t>
            </a:r>
            <a:r>
              <a:rPr lang="zh-CN" altLang="en-US" b="1" dirty="0">
                <a:latin typeface="Times New Roman" panose="02020603050405020304" pitchFamily="18" charset="0"/>
                <a:ea typeface="微软雅黑" pitchFamily="34" charset="-122"/>
              </a:rPr>
              <a:t>上进行。特设计计算表</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4-19</a:t>
            </a:r>
            <a:endParaRPr lang="zh-CN" altLang="en-US" b="1" dirty="0">
              <a:solidFill>
                <a:schemeClr val="tx2"/>
              </a:solidFill>
              <a:latin typeface="Times New Roman" panose="02020603050405020304" pitchFamily="18" charset="0"/>
              <a:ea typeface="微软雅黑" pitchFamily="34" charset="-122"/>
            </a:endParaRPr>
          </a:p>
        </p:txBody>
      </p:sp>
      <p:sp>
        <p:nvSpPr>
          <p:cNvPr id="356365" name="Rectangle 13"/>
          <p:cNvSpPr/>
          <p:nvPr/>
        </p:nvSpPr>
        <p:spPr>
          <a:xfrm>
            <a:off x="8459788" y="1052513"/>
            <a:ext cx="504825" cy="358775"/>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6" name="Rectangle 14"/>
          <p:cNvSpPr/>
          <p:nvPr/>
        </p:nvSpPr>
        <p:spPr>
          <a:xfrm>
            <a:off x="8532813" y="1341438"/>
            <a:ext cx="504825" cy="358775"/>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7" name="Rectangle 15"/>
          <p:cNvSpPr/>
          <p:nvPr/>
        </p:nvSpPr>
        <p:spPr>
          <a:xfrm>
            <a:off x="5867400"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8" name="Rectangle 16"/>
          <p:cNvSpPr/>
          <p:nvPr/>
        </p:nvSpPr>
        <p:spPr>
          <a:xfrm>
            <a:off x="65166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9" name="Rectangle 17"/>
          <p:cNvSpPr/>
          <p:nvPr/>
        </p:nvSpPr>
        <p:spPr>
          <a:xfrm>
            <a:off x="71643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0" name="Rectangle 18"/>
          <p:cNvSpPr/>
          <p:nvPr/>
        </p:nvSpPr>
        <p:spPr>
          <a:xfrm>
            <a:off x="78120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1" name="Oval 19"/>
          <p:cNvSpPr/>
          <p:nvPr/>
        </p:nvSpPr>
        <p:spPr>
          <a:xfrm>
            <a:off x="7164388" y="765175"/>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2" name="Oval 20"/>
          <p:cNvSpPr/>
          <p:nvPr/>
        </p:nvSpPr>
        <p:spPr>
          <a:xfrm>
            <a:off x="7812088" y="765175"/>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3" name="Oval 21"/>
          <p:cNvSpPr/>
          <p:nvPr/>
        </p:nvSpPr>
        <p:spPr>
          <a:xfrm>
            <a:off x="7885113" y="1412875"/>
            <a:ext cx="431800"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4" name="Oval 22"/>
          <p:cNvSpPr/>
          <p:nvPr/>
        </p:nvSpPr>
        <p:spPr>
          <a:xfrm>
            <a:off x="7164388" y="1125538"/>
            <a:ext cx="431800"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5" name="Oval 23"/>
          <p:cNvSpPr/>
          <p:nvPr/>
        </p:nvSpPr>
        <p:spPr>
          <a:xfrm>
            <a:off x="5940425" y="1125538"/>
            <a:ext cx="431800"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6" name="Oval 24"/>
          <p:cNvSpPr/>
          <p:nvPr/>
        </p:nvSpPr>
        <p:spPr>
          <a:xfrm>
            <a:off x="6516688" y="1412875"/>
            <a:ext cx="431800"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7" name="Rectangle 25"/>
          <p:cNvSpPr/>
          <p:nvPr/>
        </p:nvSpPr>
        <p:spPr>
          <a:xfrm>
            <a:off x="3923665" y="5194300"/>
            <a:ext cx="821055" cy="28511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8" name="Rectangle 26"/>
          <p:cNvSpPr/>
          <p:nvPr/>
        </p:nvSpPr>
        <p:spPr>
          <a:xfrm>
            <a:off x="4932045" y="5194300"/>
            <a:ext cx="916305" cy="285750"/>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9" name="Rectangle 27"/>
          <p:cNvSpPr/>
          <p:nvPr/>
        </p:nvSpPr>
        <p:spPr>
          <a:xfrm>
            <a:off x="4932045" y="5663565"/>
            <a:ext cx="866140" cy="28638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0" name="Rectangle 28"/>
          <p:cNvSpPr/>
          <p:nvPr/>
        </p:nvSpPr>
        <p:spPr>
          <a:xfrm>
            <a:off x="7050405" y="5734050"/>
            <a:ext cx="955675" cy="20510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1" name="Rectangle 29"/>
          <p:cNvSpPr/>
          <p:nvPr/>
        </p:nvSpPr>
        <p:spPr>
          <a:xfrm>
            <a:off x="3901440" y="6181090"/>
            <a:ext cx="955040" cy="21653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2" name="Rectangle 30"/>
          <p:cNvSpPr/>
          <p:nvPr/>
        </p:nvSpPr>
        <p:spPr>
          <a:xfrm>
            <a:off x="5940425" y="6180455"/>
            <a:ext cx="1079500" cy="21526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9" name="矩形 28"/>
          <p:cNvSpPr/>
          <p:nvPr/>
        </p:nvSpPr>
        <p:spPr>
          <a:xfrm>
            <a:off x="0" y="2420938"/>
            <a:ext cx="9144000" cy="461962"/>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                                                       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仿宋" pitchFamily="49" charset="-122"/>
                <a:ea typeface="仿宋" pitchFamily="49" charset="-122"/>
              </a:rPr>
              <a:t>；</a:t>
            </a:r>
            <a:endParaRPr lang="zh-CN" altLang="en-US" dirty="0">
              <a:latin typeface="Tahoma" panose="020B0604030504040204" pitchFamily="34" charset="0"/>
            </a:endParaRPr>
          </a:p>
        </p:txBody>
      </p:sp>
      <p:sp>
        <p:nvSpPr>
          <p:cNvPr id="30" name="矩形 29"/>
          <p:cNvSpPr/>
          <p:nvPr/>
        </p:nvSpPr>
        <p:spPr>
          <a:xfrm>
            <a:off x="0" y="2420938"/>
            <a:ext cx="9144000" cy="892175"/>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                                                                                              在</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以此类推可确定所有的</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的数值</a:t>
            </a:r>
            <a:r>
              <a:rPr lang="zh-CN" altLang="en-US" sz="2800" dirty="0">
                <a:latin typeface="Times New Roman" panose="02020603050405020304" pitchFamily="18" charset="0"/>
                <a:ea typeface="华文楷体" panose="02010600040101010101" pitchFamily="2" charset="-122"/>
              </a:rPr>
              <a:t> </a:t>
            </a:r>
            <a:endParaRPr lang="zh-CN" altLang="en-US" dirty="0">
              <a:latin typeface="Tahoma" panose="020B060403050404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56371"/>
                                        </p:tgtEl>
                                        <p:attrNameLst>
                                          <p:attrName>style.visibility</p:attrName>
                                        </p:attrNameLst>
                                      </p:cBhvr>
                                      <p:to>
                                        <p:strVal val="visible"/>
                                      </p:to>
                                    </p:set>
                                    <p:animEffect transition="in" filter="blinds(horizontal)">
                                      <p:cBhvr>
                                        <p:cTn id="15" dur="500"/>
                                        <p:tgtEl>
                                          <p:spTgt spid="35637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356369"/>
                                        </p:tgtEl>
                                      </p:cBhvr>
                                    </p:animEffect>
                                    <p:set>
                                      <p:cBhvr>
                                        <p:cTn id="20" dur="1" fill="hold">
                                          <p:stCondLst>
                                            <p:cond delay="499"/>
                                          </p:stCondLst>
                                        </p:cTn>
                                        <p:tgtEl>
                                          <p:spTgt spid="35636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linds(horizontal)">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56372"/>
                                        </p:tgtEl>
                                        <p:attrNameLst>
                                          <p:attrName>style.visibility</p:attrName>
                                        </p:attrNameLst>
                                      </p:cBhvr>
                                      <p:to>
                                        <p:strVal val="visible"/>
                                      </p:to>
                                    </p:set>
                                    <p:animEffect transition="in" filter="blinds(horizontal)">
                                      <p:cBhvr>
                                        <p:cTn id="30" dur="500"/>
                                        <p:tgtEl>
                                          <p:spTgt spid="35637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356370"/>
                                        </p:tgtEl>
                                      </p:cBhvr>
                                    </p:animEffect>
                                    <p:set>
                                      <p:cBhvr>
                                        <p:cTn id="35" dur="1" fill="hold">
                                          <p:stCondLst>
                                            <p:cond delay="499"/>
                                          </p:stCondLst>
                                        </p:cTn>
                                        <p:tgtEl>
                                          <p:spTgt spid="35637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56376"/>
                                        </p:tgtEl>
                                        <p:attrNameLst>
                                          <p:attrName>style.visibility</p:attrName>
                                        </p:attrNameLst>
                                      </p:cBhvr>
                                      <p:to>
                                        <p:strVal val="visible"/>
                                      </p:to>
                                    </p:set>
                                    <p:animEffect transition="in" filter="blinds(horizontal)">
                                      <p:cBhvr>
                                        <p:cTn id="40" dur="500"/>
                                        <p:tgtEl>
                                          <p:spTgt spid="35637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56373"/>
                                        </p:tgtEl>
                                        <p:attrNameLst>
                                          <p:attrName>style.visibility</p:attrName>
                                        </p:attrNameLst>
                                      </p:cBhvr>
                                      <p:to>
                                        <p:strVal val="visible"/>
                                      </p:to>
                                    </p:set>
                                    <p:animEffect transition="in" filter="blinds(horizontal)">
                                      <p:cBhvr>
                                        <p:cTn id="45" dur="500"/>
                                        <p:tgtEl>
                                          <p:spTgt spid="35637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356366"/>
                                        </p:tgtEl>
                                      </p:cBhvr>
                                    </p:animEffect>
                                    <p:set>
                                      <p:cBhvr>
                                        <p:cTn id="50" dur="1" fill="hold">
                                          <p:stCondLst>
                                            <p:cond delay="499"/>
                                          </p:stCondLst>
                                        </p:cTn>
                                        <p:tgtEl>
                                          <p:spTgt spid="35636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blinds(horizontal)">
                                      <p:cBhvr>
                                        <p:cTn id="55" dur="500"/>
                                        <p:tgtEl>
                                          <p:spTgt spid="3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56374"/>
                                        </p:tgtEl>
                                        <p:attrNameLst>
                                          <p:attrName>style.visibility</p:attrName>
                                        </p:attrNameLst>
                                      </p:cBhvr>
                                      <p:to>
                                        <p:strVal val="visible"/>
                                      </p:to>
                                    </p:set>
                                    <p:animEffect transition="in" filter="blinds(horizontal)">
                                      <p:cBhvr>
                                        <p:cTn id="60" dur="500"/>
                                        <p:tgtEl>
                                          <p:spTgt spid="356374"/>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grpId="0" nodeType="clickEffect">
                                  <p:stCondLst>
                                    <p:cond delay="0"/>
                                  </p:stCondLst>
                                  <p:childTnLst>
                                    <p:animEffect transition="out" filter="blinds(horizontal)">
                                      <p:cBhvr>
                                        <p:cTn id="64" dur="500"/>
                                        <p:tgtEl>
                                          <p:spTgt spid="356365"/>
                                        </p:tgtEl>
                                      </p:cBhvr>
                                    </p:animEffect>
                                    <p:set>
                                      <p:cBhvr>
                                        <p:cTn id="65" dur="1" fill="hold">
                                          <p:stCondLst>
                                            <p:cond delay="499"/>
                                          </p:stCondLst>
                                        </p:cTn>
                                        <p:tgtEl>
                                          <p:spTgt spid="356365"/>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56375"/>
                                        </p:tgtEl>
                                        <p:attrNameLst>
                                          <p:attrName>style.visibility</p:attrName>
                                        </p:attrNameLst>
                                      </p:cBhvr>
                                      <p:to>
                                        <p:strVal val="visible"/>
                                      </p:to>
                                    </p:set>
                                    <p:animEffect transition="in" filter="blinds(horizontal)">
                                      <p:cBhvr>
                                        <p:cTn id="70" dur="500"/>
                                        <p:tgtEl>
                                          <p:spTgt spid="356375"/>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grpId="0" nodeType="clickEffect">
                                  <p:stCondLst>
                                    <p:cond delay="0"/>
                                  </p:stCondLst>
                                  <p:childTnLst>
                                    <p:animEffect transition="out" filter="blinds(horizontal)">
                                      <p:cBhvr>
                                        <p:cTn id="74" dur="500"/>
                                        <p:tgtEl>
                                          <p:spTgt spid="356367"/>
                                        </p:tgtEl>
                                      </p:cBhvr>
                                    </p:animEffect>
                                    <p:set>
                                      <p:cBhvr>
                                        <p:cTn id="75" dur="1" fill="hold">
                                          <p:stCondLst>
                                            <p:cond delay="499"/>
                                          </p:stCondLst>
                                        </p:cTn>
                                        <p:tgtEl>
                                          <p:spTgt spid="356367"/>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0" nodeType="clickEffect">
                                  <p:stCondLst>
                                    <p:cond delay="0"/>
                                  </p:stCondLst>
                                  <p:childTnLst>
                                    <p:animEffect transition="out" filter="blinds(horizontal)">
                                      <p:cBhvr>
                                        <p:cTn id="79" dur="500"/>
                                        <p:tgtEl>
                                          <p:spTgt spid="356368"/>
                                        </p:tgtEl>
                                      </p:cBhvr>
                                    </p:animEffect>
                                    <p:set>
                                      <p:cBhvr>
                                        <p:cTn id="80" dur="1" fill="hold">
                                          <p:stCondLst>
                                            <p:cond delay="499"/>
                                          </p:stCondLst>
                                        </p:cTn>
                                        <p:tgtEl>
                                          <p:spTgt spid="356368"/>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7">
                                            <p:txEl>
                                              <p:pRg st="0" end="0"/>
                                            </p:txEl>
                                          </p:spTgt>
                                        </p:tgtEl>
                                        <p:attrNameLst>
                                          <p:attrName>style.visibility</p:attrName>
                                        </p:attrNameLst>
                                      </p:cBhvr>
                                      <p:to>
                                        <p:strVal val="visible"/>
                                      </p:to>
                                    </p:set>
                                    <p:animEffect transition="in" filter="dissolve">
                                      <p:cBhvr>
                                        <p:cTn id="85" dur="500"/>
                                        <p:tgtEl>
                                          <p:spTgt spid="7">
                                            <p:txEl>
                                              <p:pRg st="0" end="0"/>
                                            </p:txEl>
                                          </p:spTgt>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blinds(horizontal)">
                                      <p:cBhvr>
                                        <p:cTn id="88" dur="500"/>
                                        <p:tgtEl>
                                          <p:spTgt spid="5"/>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dissolve">
                                      <p:cBhvr>
                                        <p:cTn id="93" dur="500"/>
                                        <p:tgtEl>
                                          <p:spTgt spid="4"/>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356377"/>
                                        </p:tgtEl>
                                        <p:attrNameLst>
                                          <p:attrName>style.visibility</p:attrName>
                                        </p:attrNameLst>
                                      </p:cBhvr>
                                      <p:to>
                                        <p:strVal val="visible"/>
                                      </p:to>
                                    </p:set>
                                    <p:animEffect transition="in" filter="blinds(horizontal)">
                                      <p:cBhvr>
                                        <p:cTn id="98" dur="500"/>
                                        <p:tgtEl>
                                          <p:spTgt spid="356377"/>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356378"/>
                                        </p:tgtEl>
                                        <p:attrNameLst>
                                          <p:attrName>style.visibility</p:attrName>
                                        </p:attrNameLst>
                                      </p:cBhvr>
                                      <p:to>
                                        <p:strVal val="visible"/>
                                      </p:to>
                                    </p:set>
                                    <p:animEffect transition="in" filter="blinds(horizontal)">
                                      <p:cBhvr>
                                        <p:cTn id="103" dur="500"/>
                                        <p:tgtEl>
                                          <p:spTgt spid="35637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356379"/>
                                        </p:tgtEl>
                                        <p:attrNameLst>
                                          <p:attrName>style.visibility</p:attrName>
                                        </p:attrNameLst>
                                      </p:cBhvr>
                                      <p:to>
                                        <p:strVal val="visible"/>
                                      </p:to>
                                    </p:set>
                                    <p:animEffect transition="in" filter="blinds(horizontal)">
                                      <p:cBhvr>
                                        <p:cTn id="108" dur="500"/>
                                        <p:tgtEl>
                                          <p:spTgt spid="356379"/>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356380"/>
                                        </p:tgtEl>
                                        <p:attrNameLst>
                                          <p:attrName>style.visibility</p:attrName>
                                        </p:attrNameLst>
                                      </p:cBhvr>
                                      <p:to>
                                        <p:strVal val="visible"/>
                                      </p:to>
                                    </p:set>
                                    <p:animEffect transition="in" filter="blinds(horizontal)">
                                      <p:cBhvr>
                                        <p:cTn id="113" dur="500"/>
                                        <p:tgtEl>
                                          <p:spTgt spid="35638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356381"/>
                                        </p:tgtEl>
                                        <p:attrNameLst>
                                          <p:attrName>style.visibility</p:attrName>
                                        </p:attrNameLst>
                                      </p:cBhvr>
                                      <p:to>
                                        <p:strVal val="visible"/>
                                      </p:to>
                                    </p:set>
                                    <p:animEffect transition="in" filter="blinds(horizontal)">
                                      <p:cBhvr>
                                        <p:cTn id="118" dur="500"/>
                                        <p:tgtEl>
                                          <p:spTgt spid="356381"/>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56382"/>
                                        </p:tgtEl>
                                        <p:attrNameLst>
                                          <p:attrName>style.visibility</p:attrName>
                                        </p:attrNameLst>
                                      </p:cBhvr>
                                      <p:to>
                                        <p:strVal val="visible"/>
                                      </p:to>
                                    </p:set>
                                    <p:animEffect transition="in" filter="blinds(horizontal)">
                                      <p:cBhvr>
                                        <p:cTn id="123" dur="500"/>
                                        <p:tgtEl>
                                          <p:spTgt spid="356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animBg="1"/>
      <p:bldP spid="3" grpId="0" bldLvl="0" animBg="1"/>
      <p:bldP spid="6" grpId="0" animBg="1"/>
      <p:bldP spid="356365" grpId="0" animBg="1"/>
      <p:bldP spid="356366" grpId="0" animBg="1"/>
      <p:bldP spid="356367" grpId="0" animBg="1"/>
      <p:bldP spid="356368" grpId="0" animBg="1"/>
      <p:bldP spid="356369" grpId="0" animBg="1"/>
      <p:bldP spid="356370" grpId="0" animBg="1"/>
      <p:bldP spid="356371" grpId="0" animBg="1"/>
      <p:bldP spid="356372" grpId="0" animBg="1"/>
      <p:bldP spid="356373" grpId="0" animBg="1"/>
      <p:bldP spid="356374" grpId="0" animBg="1"/>
      <p:bldP spid="356375" grpId="0" animBg="1"/>
      <p:bldP spid="356376" grpId="0" animBg="1"/>
      <p:bldP spid="356377" grpId="0" bldLvl="0" animBg="1"/>
      <p:bldP spid="356378" grpId="0" bldLvl="0" animBg="1"/>
      <p:bldP spid="356379" grpId="0" bldLvl="0" animBg="1"/>
      <p:bldP spid="356380" grpId="0" bldLvl="0" animBg="1"/>
      <p:bldP spid="356381" grpId="0" bldLvl="0" animBg="1"/>
      <p:bldP spid="356382" grpId="0" bldLvl="0" animBg="1"/>
      <p:bldP spid="29" grpId="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0018" name="Object 2"/>
          <p:cNvGraphicFramePr>
            <a:graphicFrameLocks noChangeAspect="1"/>
          </p:cNvGraphicFramePr>
          <p:nvPr/>
        </p:nvGraphicFramePr>
        <p:xfrm>
          <a:off x="1143000" y="4267200"/>
          <a:ext cx="4083050" cy="2743200"/>
        </p:xfrm>
        <a:graphic>
          <a:graphicData uri="http://schemas.openxmlformats.org/presentationml/2006/ole">
            <mc:AlternateContent xmlns:mc="http://schemas.openxmlformats.org/markup-compatibility/2006">
              <mc:Choice xmlns:v="urn:schemas-microsoft-com:vml" Requires="v">
                <p:oleObj spid="_x0000_s18450" r:id="rId3" imgW="3549650" imgH="2317115" progId="Word.Document.8">
                  <p:embed/>
                </p:oleObj>
              </mc:Choice>
              <mc:Fallback>
                <p:oleObj r:id="rId3" imgW="3549650" imgH="2317115" progId="Word.Document.8">
                  <p:embed/>
                  <p:pic>
                    <p:nvPicPr>
                      <p:cNvPr id="470018" name="Object 2"/>
                      <p:cNvPicPr/>
                      <p:nvPr/>
                    </p:nvPicPr>
                    <p:blipFill>
                      <a:blip r:embed="rId4"/>
                      <a:stretch>
                        <a:fillRect/>
                      </a:stretch>
                    </p:blipFill>
                    <p:spPr>
                      <a:xfrm>
                        <a:off x="1143000" y="4267200"/>
                        <a:ext cx="4083050" cy="2743200"/>
                      </a:xfrm>
                      <a:prstGeom prst="rect">
                        <a:avLst/>
                      </a:prstGeom>
                      <a:noFill/>
                      <a:ln w="38100">
                        <a:noFill/>
                        <a:miter/>
                      </a:ln>
                    </p:spPr>
                  </p:pic>
                </p:oleObj>
              </mc:Fallback>
            </mc:AlternateContent>
          </a:graphicData>
        </a:graphic>
      </p:graphicFrame>
      <p:sp>
        <p:nvSpPr>
          <p:cNvPr id="470019" name="Text Box 3"/>
          <p:cNvSpPr txBox="1"/>
          <p:nvPr/>
        </p:nvSpPr>
        <p:spPr>
          <a:xfrm>
            <a:off x="1295400" y="3810000"/>
            <a:ext cx="33528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位势表</a:t>
            </a:r>
          </a:p>
        </p:txBody>
      </p:sp>
      <p:sp>
        <p:nvSpPr>
          <p:cNvPr id="470020" name="Text Box 4"/>
          <p:cNvSpPr txBox="1"/>
          <p:nvPr/>
        </p:nvSpPr>
        <p:spPr>
          <a:xfrm>
            <a:off x="2362200" y="6019800"/>
            <a:ext cx="3810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1</a:t>
            </a:r>
          </a:p>
        </p:txBody>
      </p:sp>
      <p:sp>
        <p:nvSpPr>
          <p:cNvPr id="470021" name="Text Box 5"/>
          <p:cNvSpPr txBox="1"/>
          <p:nvPr/>
        </p:nvSpPr>
        <p:spPr>
          <a:xfrm>
            <a:off x="4648200" y="5334000"/>
            <a:ext cx="3810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0</a:t>
            </a:r>
          </a:p>
        </p:txBody>
      </p:sp>
      <p:sp>
        <p:nvSpPr>
          <p:cNvPr id="470022" name="Text Box 6"/>
          <p:cNvSpPr txBox="1"/>
          <p:nvPr/>
        </p:nvSpPr>
        <p:spPr>
          <a:xfrm>
            <a:off x="3429000" y="60198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2</a:t>
            </a:r>
          </a:p>
        </p:txBody>
      </p:sp>
      <p:sp>
        <p:nvSpPr>
          <p:cNvPr id="470023" name="Text Box 7"/>
          <p:cNvSpPr txBox="1"/>
          <p:nvPr/>
        </p:nvSpPr>
        <p:spPr>
          <a:xfrm>
            <a:off x="4648200" y="5029200"/>
            <a:ext cx="4572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1</a:t>
            </a:r>
          </a:p>
        </p:txBody>
      </p:sp>
      <p:sp>
        <p:nvSpPr>
          <p:cNvPr id="470024" name="Text Box 8"/>
          <p:cNvSpPr txBox="1"/>
          <p:nvPr/>
        </p:nvSpPr>
        <p:spPr>
          <a:xfrm>
            <a:off x="4038600" y="6019800"/>
            <a:ext cx="5334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9</a:t>
            </a:r>
          </a:p>
        </p:txBody>
      </p:sp>
      <p:sp>
        <p:nvSpPr>
          <p:cNvPr id="470025" name="Text Box 9"/>
          <p:cNvSpPr txBox="1"/>
          <p:nvPr/>
        </p:nvSpPr>
        <p:spPr>
          <a:xfrm>
            <a:off x="4572000" y="5638800"/>
            <a:ext cx="5334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-4</a:t>
            </a:r>
          </a:p>
        </p:txBody>
      </p:sp>
      <p:sp>
        <p:nvSpPr>
          <p:cNvPr id="470026" name="Text Box 10"/>
          <p:cNvSpPr txBox="1"/>
          <p:nvPr/>
        </p:nvSpPr>
        <p:spPr>
          <a:xfrm>
            <a:off x="2895600" y="6019800"/>
            <a:ext cx="4572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8</a:t>
            </a:r>
          </a:p>
        </p:txBody>
      </p:sp>
      <p:sp>
        <p:nvSpPr>
          <p:cNvPr id="470027" name="Text Box 11"/>
          <p:cNvSpPr txBox="1"/>
          <p:nvPr/>
        </p:nvSpPr>
        <p:spPr>
          <a:xfrm>
            <a:off x="2057400" y="5105400"/>
            <a:ext cx="9144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sp>
        <p:nvSpPr>
          <p:cNvPr id="470028" name="Text Box 12"/>
          <p:cNvSpPr txBox="1"/>
          <p:nvPr/>
        </p:nvSpPr>
        <p:spPr>
          <a:xfrm>
            <a:off x="2743200" y="51054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0029" name="Text Box 13"/>
          <p:cNvSpPr txBox="1"/>
          <p:nvPr/>
        </p:nvSpPr>
        <p:spPr>
          <a:xfrm>
            <a:off x="2743200" y="53340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8</a:t>
            </a:r>
            <a:r>
              <a:rPr lang="zh-CN" altLang="en-US" sz="1800" dirty="0">
                <a:solidFill>
                  <a:schemeClr val="bg1"/>
                </a:solidFill>
                <a:latin typeface="Times New Roman" panose="02020603050405020304" pitchFamily="18" charset="0"/>
                <a:ea typeface="微软雅黑" pitchFamily="34" charset="-122"/>
              </a:rPr>
              <a:t>）</a:t>
            </a:r>
          </a:p>
        </p:txBody>
      </p:sp>
      <p:sp>
        <p:nvSpPr>
          <p:cNvPr id="470030" name="Text Box 14"/>
          <p:cNvSpPr txBox="1"/>
          <p:nvPr/>
        </p:nvSpPr>
        <p:spPr>
          <a:xfrm>
            <a:off x="3886200" y="53340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0031" name="Text Box 15"/>
          <p:cNvSpPr txBox="1"/>
          <p:nvPr/>
        </p:nvSpPr>
        <p:spPr>
          <a:xfrm>
            <a:off x="2057400" y="56388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-3</a:t>
            </a:r>
            <a:r>
              <a:rPr lang="zh-CN" altLang="en-US" sz="1800" dirty="0">
                <a:solidFill>
                  <a:schemeClr val="bg1"/>
                </a:solidFill>
                <a:latin typeface="Times New Roman" panose="02020603050405020304" pitchFamily="18" charset="0"/>
                <a:ea typeface="微软雅黑" pitchFamily="34" charset="-122"/>
              </a:rPr>
              <a:t>）</a:t>
            </a:r>
          </a:p>
        </p:txBody>
      </p:sp>
      <p:sp>
        <p:nvSpPr>
          <p:cNvPr id="470032" name="Text Box 16"/>
          <p:cNvSpPr txBox="1"/>
          <p:nvPr/>
        </p:nvSpPr>
        <p:spPr>
          <a:xfrm>
            <a:off x="3276600" y="5638800"/>
            <a:ext cx="9906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graphicFrame>
        <p:nvGraphicFramePr>
          <p:cNvPr id="470033" name="Object 17"/>
          <p:cNvGraphicFramePr>
            <a:graphicFrameLocks noChangeAspect="1"/>
          </p:cNvGraphicFramePr>
          <p:nvPr/>
        </p:nvGraphicFramePr>
        <p:xfrm>
          <a:off x="5148263" y="765175"/>
          <a:ext cx="3252787" cy="2128838"/>
        </p:xfrm>
        <a:graphic>
          <a:graphicData uri="http://schemas.openxmlformats.org/presentationml/2006/ole">
            <mc:AlternateContent xmlns:mc="http://schemas.openxmlformats.org/markup-compatibility/2006">
              <mc:Choice xmlns:v="urn:schemas-microsoft-com:vml" Requires="v">
                <p:oleObj spid="_x0000_s18451" r:id="rId5" imgW="2797175" imgH="2114550" progId="Word.Document.8">
                  <p:embed/>
                </p:oleObj>
              </mc:Choice>
              <mc:Fallback>
                <p:oleObj r:id="rId5" imgW="2797175" imgH="2114550" progId="Word.Document.8">
                  <p:embed/>
                  <p:pic>
                    <p:nvPicPr>
                      <p:cNvPr id="470033" name="Object 17"/>
                      <p:cNvPicPr/>
                      <p:nvPr/>
                    </p:nvPicPr>
                    <p:blipFill>
                      <a:blip r:embed="rId6"/>
                      <a:stretch>
                        <a:fillRect/>
                      </a:stretch>
                    </p:blipFill>
                    <p:spPr>
                      <a:xfrm>
                        <a:off x="5148263" y="765175"/>
                        <a:ext cx="3252787" cy="2128838"/>
                      </a:xfrm>
                      <a:prstGeom prst="rect">
                        <a:avLst/>
                      </a:prstGeom>
                      <a:noFill/>
                      <a:ln w="38100">
                        <a:noFill/>
                        <a:miter/>
                      </a:ln>
                    </p:spPr>
                  </p:pic>
                </p:oleObj>
              </mc:Fallback>
            </mc:AlternateContent>
          </a:graphicData>
        </a:graphic>
      </p:graphicFrame>
      <p:sp>
        <p:nvSpPr>
          <p:cNvPr id="470034" name="Text Box 18"/>
          <p:cNvSpPr txBox="1"/>
          <p:nvPr/>
        </p:nvSpPr>
        <p:spPr>
          <a:xfrm>
            <a:off x="5580063" y="3933825"/>
            <a:ext cx="28194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检验数表</a:t>
            </a:r>
          </a:p>
        </p:txBody>
      </p:sp>
      <p:graphicFrame>
        <p:nvGraphicFramePr>
          <p:cNvPr id="29715" name="Object 21"/>
          <p:cNvGraphicFramePr>
            <a:graphicFrameLocks noChangeAspect="1"/>
          </p:cNvGraphicFramePr>
          <p:nvPr/>
        </p:nvGraphicFramePr>
        <p:xfrm>
          <a:off x="1295400" y="549275"/>
          <a:ext cx="3962400" cy="2663825"/>
        </p:xfrm>
        <a:graphic>
          <a:graphicData uri="http://schemas.openxmlformats.org/presentationml/2006/ole">
            <mc:AlternateContent xmlns:mc="http://schemas.openxmlformats.org/markup-compatibility/2006">
              <mc:Choice xmlns:v="urn:schemas-microsoft-com:vml" Requires="v">
                <p:oleObj spid="_x0000_s18452" r:id="rId7" imgW="3562985" imgH="2317115" progId="Word.Document.8">
                  <p:embed/>
                </p:oleObj>
              </mc:Choice>
              <mc:Fallback>
                <p:oleObj r:id="rId7" imgW="3562985" imgH="2317115" progId="Word.Document.8">
                  <p:embed/>
                  <p:pic>
                    <p:nvPicPr>
                      <p:cNvPr id="29715" name="Object 21"/>
                      <p:cNvPicPr/>
                      <p:nvPr/>
                    </p:nvPicPr>
                    <p:blipFill>
                      <a:blip r:embed="rId8"/>
                      <a:stretch>
                        <a:fillRect/>
                      </a:stretch>
                    </p:blipFill>
                    <p:spPr>
                      <a:xfrm>
                        <a:off x="1295400" y="549275"/>
                        <a:ext cx="3962400" cy="2663825"/>
                      </a:xfrm>
                      <a:prstGeom prst="rect">
                        <a:avLst/>
                      </a:prstGeom>
                      <a:noFill/>
                      <a:ln w="38100">
                        <a:noFill/>
                        <a:miter/>
                      </a:ln>
                    </p:spPr>
                  </p:pic>
                </p:oleObj>
              </mc:Fallback>
            </mc:AlternateContent>
          </a:graphicData>
        </a:graphic>
      </p:graphicFrame>
      <p:graphicFrame>
        <p:nvGraphicFramePr>
          <p:cNvPr id="470038" name="Object 22"/>
          <p:cNvGraphicFramePr>
            <a:graphicFrameLocks noChangeAspect="1"/>
          </p:cNvGraphicFramePr>
          <p:nvPr/>
        </p:nvGraphicFramePr>
        <p:xfrm>
          <a:off x="5556250" y="4508500"/>
          <a:ext cx="3048000" cy="2019300"/>
        </p:xfrm>
        <a:graphic>
          <a:graphicData uri="http://schemas.openxmlformats.org/presentationml/2006/ole">
            <mc:AlternateContent xmlns:mc="http://schemas.openxmlformats.org/markup-compatibility/2006">
              <mc:Choice xmlns:v="urn:schemas-microsoft-com:vml" Requires="v">
                <p:oleObj spid="_x0000_s18453" r:id="rId9" imgW="2786380" imgH="2114550" progId="Word.Document.8">
                  <p:embed/>
                </p:oleObj>
              </mc:Choice>
              <mc:Fallback>
                <p:oleObj r:id="rId9" imgW="2786380" imgH="2114550" progId="Word.Document.8">
                  <p:embed/>
                  <p:pic>
                    <p:nvPicPr>
                      <p:cNvPr id="470038" name="Object 22"/>
                      <p:cNvPicPr/>
                      <p:nvPr/>
                    </p:nvPicPr>
                    <p:blipFill>
                      <a:blip r:embed="rId10"/>
                      <a:stretch>
                        <a:fillRect/>
                      </a:stretch>
                    </p:blipFill>
                    <p:spPr>
                      <a:xfrm>
                        <a:off x="5556250" y="4508500"/>
                        <a:ext cx="3048000" cy="2019300"/>
                      </a:xfrm>
                      <a:prstGeom prst="rect">
                        <a:avLst/>
                      </a:prstGeom>
                      <a:noFill/>
                      <a:ln w="38100">
                        <a:noFill/>
                        <a:miter/>
                      </a:ln>
                    </p:spPr>
                  </p:pic>
                </p:oleObj>
              </mc:Fallback>
            </mc:AlternateContent>
          </a:graphicData>
        </a:graphic>
      </p:graphicFrame>
      <p:sp>
        <p:nvSpPr>
          <p:cNvPr id="470039" name="Line 23"/>
          <p:cNvSpPr/>
          <p:nvPr/>
        </p:nvSpPr>
        <p:spPr>
          <a:xfrm flipH="1">
            <a:off x="2555875" y="1773238"/>
            <a:ext cx="3744913" cy="3529012"/>
          </a:xfrm>
          <a:prstGeom prst="line">
            <a:avLst/>
          </a:prstGeom>
          <a:ln w="57150" cap="flat" cmpd="sng">
            <a:solidFill>
              <a:schemeClr val="hlink"/>
            </a:solidFill>
            <a:prstDash val="solid"/>
            <a:headEnd type="none" w="med" len="med"/>
            <a:tailEnd type="triangle" w="med" len="med"/>
          </a:ln>
        </p:spPr>
      </p:sp>
      <p:sp>
        <p:nvSpPr>
          <p:cNvPr id="470040" name="Line 24"/>
          <p:cNvSpPr/>
          <p:nvPr/>
        </p:nvSpPr>
        <p:spPr>
          <a:xfrm>
            <a:off x="2627313" y="5300663"/>
            <a:ext cx="3960812" cy="0"/>
          </a:xfrm>
          <a:prstGeom prst="line">
            <a:avLst/>
          </a:prstGeom>
          <a:ln w="38100" cap="flat" cmpd="sng">
            <a:solidFill>
              <a:schemeClr val="hlink"/>
            </a:solidFill>
            <a:prstDash val="solid"/>
            <a:headEnd type="none" w="med" len="med"/>
            <a:tailEnd type="triangle" w="med" len="med"/>
          </a:ln>
        </p:spPr>
      </p:sp>
      <p:sp>
        <p:nvSpPr>
          <p:cNvPr id="470041" name="Line 25"/>
          <p:cNvSpPr/>
          <p:nvPr/>
        </p:nvSpPr>
        <p:spPr>
          <a:xfrm flipH="1">
            <a:off x="3276600" y="1773238"/>
            <a:ext cx="3527425" cy="3527425"/>
          </a:xfrm>
          <a:prstGeom prst="line">
            <a:avLst/>
          </a:prstGeom>
          <a:ln w="57150" cap="flat" cmpd="sng">
            <a:solidFill>
              <a:schemeClr val="hlink"/>
            </a:solidFill>
            <a:prstDash val="solid"/>
            <a:headEnd type="none" w="med" len="med"/>
            <a:tailEnd type="triangle" w="med" len="med"/>
          </a:ln>
        </p:spPr>
      </p:sp>
      <p:sp>
        <p:nvSpPr>
          <p:cNvPr id="470042" name="Line 26"/>
          <p:cNvSpPr/>
          <p:nvPr/>
        </p:nvSpPr>
        <p:spPr>
          <a:xfrm>
            <a:off x="3276600" y="5300663"/>
            <a:ext cx="3816350" cy="73025"/>
          </a:xfrm>
          <a:prstGeom prst="line">
            <a:avLst/>
          </a:prstGeom>
          <a:ln w="38100" cap="flat" cmpd="sng">
            <a:solidFill>
              <a:schemeClr val="hlink"/>
            </a:solidFill>
            <a:prstDash val="solid"/>
            <a:headEnd type="none" w="med" len="med"/>
            <a:tailEnd type="triangle" w="med" len="med"/>
          </a:ln>
        </p:spPr>
      </p:sp>
      <p:sp>
        <p:nvSpPr>
          <p:cNvPr id="470043" name="Line 27"/>
          <p:cNvSpPr/>
          <p:nvPr/>
        </p:nvSpPr>
        <p:spPr>
          <a:xfrm flipH="1">
            <a:off x="3276600" y="2060575"/>
            <a:ext cx="3527425" cy="3455988"/>
          </a:xfrm>
          <a:prstGeom prst="line">
            <a:avLst/>
          </a:prstGeom>
          <a:ln w="57150" cap="flat" cmpd="sng">
            <a:solidFill>
              <a:schemeClr val="hlink"/>
            </a:solidFill>
            <a:prstDash val="solid"/>
            <a:headEnd type="none" w="med" len="med"/>
            <a:tailEnd type="triangle" w="med" len="med"/>
          </a:ln>
        </p:spPr>
      </p:sp>
      <p:sp>
        <p:nvSpPr>
          <p:cNvPr id="470044" name="Line 28"/>
          <p:cNvSpPr/>
          <p:nvPr/>
        </p:nvSpPr>
        <p:spPr>
          <a:xfrm>
            <a:off x="3276600" y="5516563"/>
            <a:ext cx="3887788" cy="73025"/>
          </a:xfrm>
          <a:prstGeom prst="line">
            <a:avLst/>
          </a:prstGeom>
          <a:ln w="38100" cap="flat" cmpd="sng">
            <a:solidFill>
              <a:schemeClr val="hlink"/>
            </a:solidFill>
            <a:prstDash val="solid"/>
            <a:headEnd type="none" w="med" len="med"/>
            <a:tailEnd type="triangle" w="med" len="med"/>
          </a:ln>
        </p:spPr>
      </p:sp>
      <p:sp>
        <p:nvSpPr>
          <p:cNvPr id="470045" name="Line 29"/>
          <p:cNvSpPr/>
          <p:nvPr/>
        </p:nvSpPr>
        <p:spPr>
          <a:xfrm flipH="1">
            <a:off x="4427538" y="1989138"/>
            <a:ext cx="3457575" cy="3527425"/>
          </a:xfrm>
          <a:prstGeom prst="line">
            <a:avLst/>
          </a:prstGeom>
          <a:ln w="57150" cap="flat" cmpd="sng">
            <a:solidFill>
              <a:schemeClr val="hlink"/>
            </a:solidFill>
            <a:prstDash val="solid"/>
            <a:headEnd type="none" w="med" len="med"/>
            <a:tailEnd type="triangle" w="med" len="med"/>
          </a:ln>
        </p:spPr>
      </p:sp>
      <p:sp>
        <p:nvSpPr>
          <p:cNvPr id="470046" name="Line 30"/>
          <p:cNvSpPr/>
          <p:nvPr/>
        </p:nvSpPr>
        <p:spPr>
          <a:xfrm>
            <a:off x="4500563" y="5516563"/>
            <a:ext cx="3600450" cy="73025"/>
          </a:xfrm>
          <a:prstGeom prst="line">
            <a:avLst/>
          </a:prstGeom>
          <a:ln w="38100" cap="flat" cmpd="sng">
            <a:solidFill>
              <a:schemeClr val="hlink"/>
            </a:solidFill>
            <a:prstDash val="solid"/>
            <a:headEnd type="none" w="med" len="med"/>
            <a:tailEnd type="triangle" w="med" len="med"/>
          </a:ln>
        </p:spPr>
      </p:sp>
      <p:sp>
        <p:nvSpPr>
          <p:cNvPr id="470047" name="Line 31"/>
          <p:cNvSpPr/>
          <p:nvPr/>
        </p:nvSpPr>
        <p:spPr>
          <a:xfrm flipH="1">
            <a:off x="2627313" y="2420938"/>
            <a:ext cx="3673475" cy="3384550"/>
          </a:xfrm>
          <a:prstGeom prst="line">
            <a:avLst/>
          </a:prstGeom>
          <a:ln w="57150" cap="flat" cmpd="sng">
            <a:solidFill>
              <a:schemeClr val="hlink"/>
            </a:solidFill>
            <a:prstDash val="solid"/>
            <a:headEnd type="none" w="med" len="med"/>
            <a:tailEnd type="triangle" w="med" len="med"/>
          </a:ln>
        </p:spPr>
      </p:sp>
      <p:sp>
        <p:nvSpPr>
          <p:cNvPr id="470048" name="Line 32"/>
          <p:cNvSpPr/>
          <p:nvPr/>
        </p:nvSpPr>
        <p:spPr>
          <a:xfrm>
            <a:off x="2700338" y="5805488"/>
            <a:ext cx="3959225" cy="144462"/>
          </a:xfrm>
          <a:prstGeom prst="line">
            <a:avLst/>
          </a:prstGeom>
          <a:ln w="38100" cap="flat" cmpd="sng">
            <a:solidFill>
              <a:schemeClr val="hlink"/>
            </a:solidFill>
            <a:prstDash val="solid"/>
            <a:headEnd type="none" w="med" len="med"/>
            <a:tailEnd type="triangle" w="med" len="med"/>
          </a:ln>
        </p:spPr>
      </p:sp>
      <p:sp>
        <p:nvSpPr>
          <p:cNvPr id="470049" name="Line 33"/>
          <p:cNvSpPr/>
          <p:nvPr/>
        </p:nvSpPr>
        <p:spPr>
          <a:xfrm flipH="1">
            <a:off x="3851275" y="2349500"/>
            <a:ext cx="3457575" cy="3455988"/>
          </a:xfrm>
          <a:prstGeom prst="line">
            <a:avLst/>
          </a:prstGeom>
          <a:ln w="57150" cap="flat" cmpd="sng">
            <a:solidFill>
              <a:schemeClr val="hlink"/>
            </a:solidFill>
            <a:prstDash val="solid"/>
            <a:headEnd type="none" w="med" len="med"/>
            <a:tailEnd type="triangle" w="med" len="med"/>
          </a:ln>
        </p:spPr>
      </p:sp>
      <p:sp>
        <p:nvSpPr>
          <p:cNvPr id="470050" name="Line 34"/>
          <p:cNvSpPr/>
          <p:nvPr/>
        </p:nvSpPr>
        <p:spPr>
          <a:xfrm>
            <a:off x="3851275" y="5805488"/>
            <a:ext cx="3744913" cy="71437"/>
          </a:xfrm>
          <a:prstGeom prst="line">
            <a:avLst/>
          </a:prstGeom>
          <a:ln w="38100" cap="flat" cmpd="sng">
            <a:solidFill>
              <a:schemeClr val="hlink"/>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0033"/>
                                        </p:tgtEl>
                                        <p:attrNameLst>
                                          <p:attrName>style.visibility</p:attrName>
                                        </p:attrNameLst>
                                      </p:cBhvr>
                                      <p:to>
                                        <p:strVal val="visible"/>
                                      </p:to>
                                    </p:set>
                                    <p:anim calcmode="lin" valueType="num">
                                      <p:cBhvr additive="base">
                                        <p:cTn id="7" dur="500" fill="hold"/>
                                        <p:tgtEl>
                                          <p:spTgt spid="470033"/>
                                        </p:tgtEl>
                                        <p:attrNameLst>
                                          <p:attrName>ppt_x</p:attrName>
                                        </p:attrNameLst>
                                      </p:cBhvr>
                                      <p:tavLst>
                                        <p:tav tm="0">
                                          <p:val>
                                            <p:strVal val="0-#ppt_w/2"/>
                                          </p:val>
                                        </p:tav>
                                        <p:tav tm="100000">
                                          <p:val>
                                            <p:strVal val="#ppt_x"/>
                                          </p:val>
                                        </p:tav>
                                      </p:tavLst>
                                    </p:anim>
                                    <p:anim calcmode="lin" valueType="num">
                                      <p:cBhvr additive="base">
                                        <p:cTn id="8" dur="500" fill="hold"/>
                                        <p:tgtEl>
                                          <p:spTgt spid="4700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0019"/>
                                        </p:tgtEl>
                                        <p:attrNameLst>
                                          <p:attrName>style.visibility</p:attrName>
                                        </p:attrNameLst>
                                      </p:cBhvr>
                                      <p:to>
                                        <p:strVal val="visible"/>
                                      </p:to>
                                    </p:set>
                                    <p:anim calcmode="lin" valueType="num">
                                      <p:cBhvr additive="base">
                                        <p:cTn id="13" dur="500" fill="hold"/>
                                        <p:tgtEl>
                                          <p:spTgt spid="470019"/>
                                        </p:tgtEl>
                                        <p:attrNameLst>
                                          <p:attrName>ppt_x</p:attrName>
                                        </p:attrNameLst>
                                      </p:cBhvr>
                                      <p:tavLst>
                                        <p:tav tm="0">
                                          <p:val>
                                            <p:strVal val="0-#ppt_w/2"/>
                                          </p:val>
                                        </p:tav>
                                        <p:tav tm="100000">
                                          <p:val>
                                            <p:strVal val="#ppt_x"/>
                                          </p:val>
                                        </p:tav>
                                      </p:tavLst>
                                    </p:anim>
                                    <p:anim calcmode="lin" valueType="num">
                                      <p:cBhvr additive="base">
                                        <p:cTn id="14" dur="500" fill="hold"/>
                                        <p:tgtEl>
                                          <p:spTgt spid="4700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0018"/>
                                        </p:tgtEl>
                                        <p:attrNameLst>
                                          <p:attrName>style.visibility</p:attrName>
                                        </p:attrNameLst>
                                      </p:cBhvr>
                                      <p:to>
                                        <p:strVal val="visible"/>
                                      </p:to>
                                    </p:set>
                                    <p:anim calcmode="lin" valueType="num">
                                      <p:cBhvr additive="base">
                                        <p:cTn id="19" dur="500" fill="hold"/>
                                        <p:tgtEl>
                                          <p:spTgt spid="470018"/>
                                        </p:tgtEl>
                                        <p:attrNameLst>
                                          <p:attrName>ppt_x</p:attrName>
                                        </p:attrNameLst>
                                      </p:cBhvr>
                                      <p:tavLst>
                                        <p:tav tm="0">
                                          <p:val>
                                            <p:strVal val="0-#ppt_w/2"/>
                                          </p:val>
                                        </p:tav>
                                        <p:tav tm="100000">
                                          <p:val>
                                            <p:strVal val="#ppt_x"/>
                                          </p:val>
                                        </p:tav>
                                      </p:tavLst>
                                    </p:anim>
                                    <p:anim calcmode="lin" valueType="num">
                                      <p:cBhvr additive="base">
                                        <p:cTn id="20" dur="500" fill="hold"/>
                                        <p:tgtEl>
                                          <p:spTgt spid="4700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0021"/>
                                        </p:tgtEl>
                                        <p:attrNameLst>
                                          <p:attrName>style.visibility</p:attrName>
                                        </p:attrNameLst>
                                      </p:cBhvr>
                                      <p:to>
                                        <p:strVal val="visible"/>
                                      </p:to>
                                    </p:set>
                                    <p:anim calcmode="lin" valueType="num">
                                      <p:cBhvr additive="base">
                                        <p:cTn id="25" dur="500" fill="hold"/>
                                        <p:tgtEl>
                                          <p:spTgt spid="470021"/>
                                        </p:tgtEl>
                                        <p:attrNameLst>
                                          <p:attrName>ppt_x</p:attrName>
                                        </p:attrNameLst>
                                      </p:cBhvr>
                                      <p:tavLst>
                                        <p:tav tm="0">
                                          <p:val>
                                            <p:strVal val="0-#ppt_w/2"/>
                                          </p:val>
                                        </p:tav>
                                        <p:tav tm="100000">
                                          <p:val>
                                            <p:strVal val="#ppt_x"/>
                                          </p:val>
                                        </p:tav>
                                      </p:tavLst>
                                    </p:anim>
                                    <p:anim calcmode="lin" valueType="num">
                                      <p:cBhvr additive="base">
                                        <p:cTn id="26" dur="500" fill="hold"/>
                                        <p:tgtEl>
                                          <p:spTgt spid="47002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0020"/>
                                        </p:tgtEl>
                                        <p:attrNameLst>
                                          <p:attrName>style.visibility</p:attrName>
                                        </p:attrNameLst>
                                      </p:cBhvr>
                                      <p:to>
                                        <p:strVal val="visible"/>
                                      </p:to>
                                    </p:set>
                                    <p:anim calcmode="lin" valueType="num">
                                      <p:cBhvr additive="base">
                                        <p:cTn id="31" dur="500" fill="hold"/>
                                        <p:tgtEl>
                                          <p:spTgt spid="470020"/>
                                        </p:tgtEl>
                                        <p:attrNameLst>
                                          <p:attrName>ppt_x</p:attrName>
                                        </p:attrNameLst>
                                      </p:cBhvr>
                                      <p:tavLst>
                                        <p:tav tm="0">
                                          <p:val>
                                            <p:strVal val="0-#ppt_w/2"/>
                                          </p:val>
                                        </p:tav>
                                        <p:tav tm="100000">
                                          <p:val>
                                            <p:strVal val="#ppt_x"/>
                                          </p:val>
                                        </p:tav>
                                      </p:tavLst>
                                    </p:anim>
                                    <p:anim calcmode="lin" valueType="num">
                                      <p:cBhvr additive="base">
                                        <p:cTn id="32" dur="500" fill="hold"/>
                                        <p:tgtEl>
                                          <p:spTgt spid="4700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70022"/>
                                        </p:tgtEl>
                                        <p:attrNameLst>
                                          <p:attrName>style.visibility</p:attrName>
                                        </p:attrNameLst>
                                      </p:cBhvr>
                                      <p:to>
                                        <p:strVal val="visible"/>
                                      </p:to>
                                    </p:set>
                                    <p:anim calcmode="lin" valueType="num">
                                      <p:cBhvr additive="base">
                                        <p:cTn id="37" dur="500" fill="hold"/>
                                        <p:tgtEl>
                                          <p:spTgt spid="470022"/>
                                        </p:tgtEl>
                                        <p:attrNameLst>
                                          <p:attrName>ppt_x</p:attrName>
                                        </p:attrNameLst>
                                      </p:cBhvr>
                                      <p:tavLst>
                                        <p:tav tm="0">
                                          <p:val>
                                            <p:strVal val="0-#ppt_w/2"/>
                                          </p:val>
                                        </p:tav>
                                        <p:tav tm="100000">
                                          <p:val>
                                            <p:strVal val="#ppt_x"/>
                                          </p:val>
                                        </p:tav>
                                      </p:tavLst>
                                    </p:anim>
                                    <p:anim calcmode="lin" valueType="num">
                                      <p:cBhvr additive="base">
                                        <p:cTn id="38" dur="500" fill="hold"/>
                                        <p:tgtEl>
                                          <p:spTgt spid="4700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70023"/>
                                        </p:tgtEl>
                                        <p:attrNameLst>
                                          <p:attrName>style.visibility</p:attrName>
                                        </p:attrNameLst>
                                      </p:cBhvr>
                                      <p:to>
                                        <p:strVal val="visible"/>
                                      </p:to>
                                    </p:set>
                                    <p:anim calcmode="lin" valueType="num">
                                      <p:cBhvr additive="base">
                                        <p:cTn id="43" dur="500" fill="hold"/>
                                        <p:tgtEl>
                                          <p:spTgt spid="470023"/>
                                        </p:tgtEl>
                                        <p:attrNameLst>
                                          <p:attrName>ppt_x</p:attrName>
                                        </p:attrNameLst>
                                      </p:cBhvr>
                                      <p:tavLst>
                                        <p:tav tm="0">
                                          <p:val>
                                            <p:strVal val="0-#ppt_w/2"/>
                                          </p:val>
                                        </p:tav>
                                        <p:tav tm="100000">
                                          <p:val>
                                            <p:strVal val="#ppt_x"/>
                                          </p:val>
                                        </p:tav>
                                      </p:tavLst>
                                    </p:anim>
                                    <p:anim calcmode="lin" valueType="num">
                                      <p:cBhvr additive="base">
                                        <p:cTn id="44" dur="500" fill="hold"/>
                                        <p:tgtEl>
                                          <p:spTgt spid="4700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70024"/>
                                        </p:tgtEl>
                                        <p:attrNameLst>
                                          <p:attrName>style.visibility</p:attrName>
                                        </p:attrNameLst>
                                      </p:cBhvr>
                                      <p:to>
                                        <p:strVal val="visible"/>
                                      </p:to>
                                    </p:set>
                                    <p:anim calcmode="lin" valueType="num">
                                      <p:cBhvr additive="base">
                                        <p:cTn id="49" dur="500" fill="hold"/>
                                        <p:tgtEl>
                                          <p:spTgt spid="470024"/>
                                        </p:tgtEl>
                                        <p:attrNameLst>
                                          <p:attrName>ppt_x</p:attrName>
                                        </p:attrNameLst>
                                      </p:cBhvr>
                                      <p:tavLst>
                                        <p:tav tm="0">
                                          <p:val>
                                            <p:strVal val="0-#ppt_w/2"/>
                                          </p:val>
                                        </p:tav>
                                        <p:tav tm="100000">
                                          <p:val>
                                            <p:strVal val="#ppt_x"/>
                                          </p:val>
                                        </p:tav>
                                      </p:tavLst>
                                    </p:anim>
                                    <p:anim calcmode="lin" valueType="num">
                                      <p:cBhvr additive="base">
                                        <p:cTn id="50" dur="500" fill="hold"/>
                                        <p:tgtEl>
                                          <p:spTgt spid="47002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70025"/>
                                        </p:tgtEl>
                                        <p:attrNameLst>
                                          <p:attrName>style.visibility</p:attrName>
                                        </p:attrNameLst>
                                      </p:cBhvr>
                                      <p:to>
                                        <p:strVal val="visible"/>
                                      </p:to>
                                    </p:set>
                                    <p:anim calcmode="lin" valueType="num">
                                      <p:cBhvr additive="base">
                                        <p:cTn id="55" dur="500" fill="hold"/>
                                        <p:tgtEl>
                                          <p:spTgt spid="470025"/>
                                        </p:tgtEl>
                                        <p:attrNameLst>
                                          <p:attrName>ppt_x</p:attrName>
                                        </p:attrNameLst>
                                      </p:cBhvr>
                                      <p:tavLst>
                                        <p:tav tm="0">
                                          <p:val>
                                            <p:strVal val="0-#ppt_w/2"/>
                                          </p:val>
                                        </p:tav>
                                        <p:tav tm="100000">
                                          <p:val>
                                            <p:strVal val="#ppt_x"/>
                                          </p:val>
                                        </p:tav>
                                      </p:tavLst>
                                    </p:anim>
                                    <p:anim calcmode="lin" valueType="num">
                                      <p:cBhvr additive="base">
                                        <p:cTn id="56" dur="500" fill="hold"/>
                                        <p:tgtEl>
                                          <p:spTgt spid="470025"/>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70026"/>
                                        </p:tgtEl>
                                        <p:attrNameLst>
                                          <p:attrName>style.visibility</p:attrName>
                                        </p:attrNameLst>
                                      </p:cBhvr>
                                      <p:to>
                                        <p:strVal val="visible"/>
                                      </p:to>
                                    </p:set>
                                    <p:anim calcmode="lin" valueType="num">
                                      <p:cBhvr additive="base">
                                        <p:cTn id="61" dur="500" fill="hold"/>
                                        <p:tgtEl>
                                          <p:spTgt spid="470026"/>
                                        </p:tgtEl>
                                        <p:attrNameLst>
                                          <p:attrName>ppt_x</p:attrName>
                                        </p:attrNameLst>
                                      </p:cBhvr>
                                      <p:tavLst>
                                        <p:tav tm="0">
                                          <p:val>
                                            <p:strVal val="0-#ppt_w/2"/>
                                          </p:val>
                                        </p:tav>
                                        <p:tav tm="100000">
                                          <p:val>
                                            <p:strVal val="#ppt_x"/>
                                          </p:val>
                                        </p:tav>
                                      </p:tavLst>
                                    </p:anim>
                                    <p:anim calcmode="lin" valueType="num">
                                      <p:cBhvr additive="base">
                                        <p:cTn id="62" dur="500" fill="hold"/>
                                        <p:tgtEl>
                                          <p:spTgt spid="47002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70027"/>
                                        </p:tgtEl>
                                        <p:attrNameLst>
                                          <p:attrName>style.visibility</p:attrName>
                                        </p:attrNameLst>
                                      </p:cBhvr>
                                      <p:to>
                                        <p:strVal val="visible"/>
                                      </p:to>
                                    </p:set>
                                    <p:anim calcmode="lin" valueType="num">
                                      <p:cBhvr additive="base">
                                        <p:cTn id="67" dur="500" fill="hold"/>
                                        <p:tgtEl>
                                          <p:spTgt spid="470027"/>
                                        </p:tgtEl>
                                        <p:attrNameLst>
                                          <p:attrName>ppt_x</p:attrName>
                                        </p:attrNameLst>
                                      </p:cBhvr>
                                      <p:tavLst>
                                        <p:tav tm="0">
                                          <p:val>
                                            <p:strVal val="0-#ppt_w/2"/>
                                          </p:val>
                                        </p:tav>
                                        <p:tav tm="100000">
                                          <p:val>
                                            <p:strVal val="#ppt_x"/>
                                          </p:val>
                                        </p:tav>
                                      </p:tavLst>
                                    </p:anim>
                                    <p:anim calcmode="lin" valueType="num">
                                      <p:cBhvr additive="base">
                                        <p:cTn id="68" dur="500" fill="hold"/>
                                        <p:tgtEl>
                                          <p:spTgt spid="47002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70028"/>
                                        </p:tgtEl>
                                        <p:attrNameLst>
                                          <p:attrName>style.visibility</p:attrName>
                                        </p:attrNameLst>
                                      </p:cBhvr>
                                      <p:to>
                                        <p:strVal val="visible"/>
                                      </p:to>
                                    </p:set>
                                    <p:anim calcmode="lin" valueType="num">
                                      <p:cBhvr additive="base">
                                        <p:cTn id="73" dur="500" fill="hold"/>
                                        <p:tgtEl>
                                          <p:spTgt spid="470028"/>
                                        </p:tgtEl>
                                        <p:attrNameLst>
                                          <p:attrName>ppt_x</p:attrName>
                                        </p:attrNameLst>
                                      </p:cBhvr>
                                      <p:tavLst>
                                        <p:tav tm="0">
                                          <p:val>
                                            <p:strVal val="0-#ppt_w/2"/>
                                          </p:val>
                                        </p:tav>
                                        <p:tav tm="100000">
                                          <p:val>
                                            <p:strVal val="#ppt_x"/>
                                          </p:val>
                                        </p:tav>
                                      </p:tavLst>
                                    </p:anim>
                                    <p:anim calcmode="lin" valueType="num">
                                      <p:cBhvr additive="base">
                                        <p:cTn id="74" dur="500" fill="hold"/>
                                        <p:tgtEl>
                                          <p:spTgt spid="470028"/>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70029"/>
                                        </p:tgtEl>
                                        <p:attrNameLst>
                                          <p:attrName>style.visibility</p:attrName>
                                        </p:attrNameLst>
                                      </p:cBhvr>
                                      <p:to>
                                        <p:strVal val="visible"/>
                                      </p:to>
                                    </p:set>
                                    <p:anim calcmode="lin" valueType="num">
                                      <p:cBhvr additive="base">
                                        <p:cTn id="79" dur="500" fill="hold"/>
                                        <p:tgtEl>
                                          <p:spTgt spid="470029"/>
                                        </p:tgtEl>
                                        <p:attrNameLst>
                                          <p:attrName>ppt_x</p:attrName>
                                        </p:attrNameLst>
                                      </p:cBhvr>
                                      <p:tavLst>
                                        <p:tav tm="0">
                                          <p:val>
                                            <p:strVal val="0-#ppt_w/2"/>
                                          </p:val>
                                        </p:tav>
                                        <p:tav tm="100000">
                                          <p:val>
                                            <p:strVal val="#ppt_x"/>
                                          </p:val>
                                        </p:tav>
                                      </p:tavLst>
                                    </p:anim>
                                    <p:anim calcmode="lin" valueType="num">
                                      <p:cBhvr additive="base">
                                        <p:cTn id="80" dur="500" fill="hold"/>
                                        <p:tgtEl>
                                          <p:spTgt spid="470029"/>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70030"/>
                                        </p:tgtEl>
                                        <p:attrNameLst>
                                          <p:attrName>style.visibility</p:attrName>
                                        </p:attrNameLst>
                                      </p:cBhvr>
                                      <p:to>
                                        <p:strVal val="visible"/>
                                      </p:to>
                                    </p:set>
                                    <p:anim calcmode="lin" valueType="num">
                                      <p:cBhvr additive="base">
                                        <p:cTn id="85" dur="500" fill="hold"/>
                                        <p:tgtEl>
                                          <p:spTgt spid="470030"/>
                                        </p:tgtEl>
                                        <p:attrNameLst>
                                          <p:attrName>ppt_x</p:attrName>
                                        </p:attrNameLst>
                                      </p:cBhvr>
                                      <p:tavLst>
                                        <p:tav tm="0">
                                          <p:val>
                                            <p:strVal val="0-#ppt_w/2"/>
                                          </p:val>
                                        </p:tav>
                                        <p:tav tm="100000">
                                          <p:val>
                                            <p:strVal val="#ppt_x"/>
                                          </p:val>
                                        </p:tav>
                                      </p:tavLst>
                                    </p:anim>
                                    <p:anim calcmode="lin" valueType="num">
                                      <p:cBhvr additive="base">
                                        <p:cTn id="86" dur="500" fill="hold"/>
                                        <p:tgtEl>
                                          <p:spTgt spid="470030"/>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70031"/>
                                        </p:tgtEl>
                                        <p:attrNameLst>
                                          <p:attrName>style.visibility</p:attrName>
                                        </p:attrNameLst>
                                      </p:cBhvr>
                                      <p:to>
                                        <p:strVal val="visible"/>
                                      </p:to>
                                    </p:set>
                                    <p:anim calcmode="lin" valueType="num">
                                      <p:cBhvr additive="base">
                                        <p:cTn id="91" dur="500" fill="hold"/>
                                        <p:tgtEl>
                                          <p:spTgt spid="470031"/>
                                        </p:tgtEl>
                                        <p:attrNameLst>
                                          <p:attrName>ppt_x</p:attrName>
                                        </p:attrNameLst>
                                      </p:cBhvr>
                                      <p:tavLst>
                                        <p:tav tm="0">
                                          <p:val>
                                            <p:strVal val="0-#ppt_w/2"/>
                                          </p:val>
                                        </p:tav>
                                        <p:tav tm="100000">
                                          <p:val>
                                            <p:strVal val="#ppt_x"/>
                                          </p:val>
                                        </p:tav>
                                      </p:tavLst>
                                    </p:anim>
                                    <p:anim calcmode="lin" valueType="num">
                                      <p:cBhvr additive="base">
                                        <p:cTn id="92" dur="500" fill="hold"/>
                                        <p:tgtEl>
                                          <p:spTgt spid="470031"/>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70032"/>
                                        </p:tgtEl>
                                        <p:attrNameLst>
                                          <p:attrName>style.visibility</p:attrName>
                                        </p:attrNameLst>
                                      </p:cBhvr>
                                      <p:to>
                                        <p:strVal val="visible"/>
                                      </p:to>
                                    </p:set>
                                    <p:anim calcmode="lin" valueType="num">
                                      <p:cBhvr additive="base">
                                        <p:cTn id="97" dur="500" fill="hold"/>
                                        <p:tgtEl>
                                          <p:spTgt spid="470032"/>
                                        </p:tgtEl>
                                        <p:attrNameLst>
                                          <p:attrName>ppt_x</p:attrName>
                                        </p:attrNameLst>
                                      </p:cBhvr>
                                      <p:tavLst>
                                        <p:tav tm="0">
                                          <p:val>
                                            <p:strVal val="0-#ppt_w/2"/>
                                          </p:val>
                                        </p:tav>
                                        <p:tav tm="100000">
                                          <p:val>
                                            <p:strVal val="#ppt_x"/>
                                          </p:val>
                                        </p:tav>
                                      </p:tavLst>
                                    </p:anim>
                                    <p:anim calcmode="lin" valueType="num">
                                      <p:cBhvr additive="base">
                                        <p:cTn id="98" dur="500" fill="hold"/>
                                        <p:tgtEl>
                                          <p:spTgt spid="470032"/>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70034"/>
                                        </p:tgtEl>
                                        <p:attrNameLst>
                                          <p:attrName>style.visibility</p:attrName>
                                        </p:attrNameLst>
                                      </p:cBhvr>
                                      <p:to>
                                        <p:strVal val="visible"/>
                                      </p:to>
                                    </p:set>
                                    <p:anim calcmode="lin" valueType="num">
                                      <p:cBhvr additive="base">
                                        <p:cTn id="103" dur="500" fill="hold"/>
                                        <p:tgtEl>
                                          <p:spTgt spid="470034"/>
                                        </p:tgtEl>
                                        <p:attrNameLst>
                                          <p:attrName>ppt_x</p:attrName>
                                        </p:attrNameLst>
                                      </p:cBhvr>
                                      <p:tavLst>
                                        <p:tav tm="0">
                                          <p:val>
                                            <p:strVal val="0-#ppt_w/2"/>
                                          </p:val>
                                        </p:tav>
                                        <p:tav tm="100000">
                                          <p:val>
                                            <p:strVal val="#ppt_x"/>
                                          </p:val>
                                        </p:tav>
                                      </p:tavLst>
                                    </p:anim>
                                    <p:anim calcmode="lin" valueType="num">
                                      <p:cBhvr additive="base">
                                        <p:cTn id="104" dur="500" fill="hold"/>
                                        <p:tgtEl>
                                          <p:spTgt spid="470034"/>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470038"/>
                                        </p:tgtEl>
                                        <p:attrNameLst>
                                          <p:attrName>style.visibility</p:attrName>
                                        </p:attrNameLst>
                                      </p:cBhvr>
                                      <p:to>
                                        <p:strVal val="visible"/>
                                      </p:to>
                                    </p:set>
                                    <p:anim calcmode="lin" valueType="num">
                                      <p:cBhvr additive="base">
                                        <p:cTn id="109" dur="500" fill="hold"/>
                                        <p:tgtEl>
                                          <p:spTgt spid="470038"/>
                                        </p:tgtEl>
                                        <p:attrNameLst>
                                          <p:attrName>ppt_x</p:attrName>
                                        </p:attrNameLst>
                                      </p:cBhvr>
                                      <p:tavLst>
                                        <p:tav tm="0">
                                          <p:val>
                                            <p:strVal val="0-#ppt_w/2"/>
                                          </p:val>
                                        </p:tav>
                                        <p:tav tm="100000">
                                          <p:val>
                                            <p:strVal val="#ppt_x"/>
                                          </p:val>
                                        </p:tav>
                                      </p:tavLst>
                                    </p:anim>
                                    <p:anim calcmode="lin" valueType="num">
                                      <p:cBhvr additive="base">
                                        <p:cTn id="110" dur="500" fill="hold"/>
                                        <p:tgtEl>
                                          <p:spTgt spid="47003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470039"/>
                                        </p:tgtEl>
                                        <p:attrNameLst>
                                          <p:attrName>style.visibility</p:attrName>
                                        </p:attrNameLst>
                                      </p:cBhvr>
                                      <p:to>
                                        <p:strVal val="visible"/>
                                      </p:to>
                                    </p:set>
                                    <p:animEffect transition="in" filter="blinds(horizontal)">
                                      <p:cBhvr>
                                        <p:cTn id="115" dur="500"/>
                                        <p:tgtEl>
                                          <p:spTgt spid="470039"/>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470040"/>
                                        </p:tgtEl>
                                        <p:attrNameLst>
                                          <p:attrName>style.visibility</p:attrName>
                                        </p:attrNameLst>
                                      </p:cBhvr>
                                      <p:to>
                                        <p:strVal val="visible"/>
                                      </p:to>
                                    </p:set>
                                    <p:animEffect transition="in" filter="blinds(horizontal)">
                                      <p:cBhvr>
                                        <p:cTn id="120" dur="500"/>
                                        <p:tgtEl>
                                          <p:spTgt spid="470040"/>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xit" presetSubtype="10" fill="hold" nodeType="clickEffect">
                                  <p:stCondLst>
                                    <p:cond delay="0"/>
                                  </p:stCondLst>
                                  <p:childTnLst>
                                    <p:animEffect transition="out" filter="blinds(horizontal)">
                                      <p:cBhvr>
                                        <p:cTn id="124" dur="500"/>
                                        <p:tgtEl>
                                          <p:spTgt spid="470039"/>
                                        </p:tgtEl>
                                      </p:cBhvr>
                                    </p:animEffect>
                                    <p:set>
                                      <p:cBhvr>
                                        <p:cTn id="125" dur="1" fill="hold">
                                          <p:stCondLst>
                                            <p:cond delay="499"/>
                                          </p:stCondLst>
                                        </p:cTn>
                                        <p:tgtEl>
                                          <p:spTgt spid="470039"/>
                                        </p:tgtEl>
                                        <p:attrNameLst>
                                          <p:attrName>style.visibility</p:attrName>
                                        </p:attrNameLst>
                                      </p:cBhvr>
                                      <p:to>
                                        <p:strVal val="hidden"/>
                                      </p:to>
                                    </p:set>
                                  </p:childTnLst>
                                </p:cTn>
                              </p:par>
                              <p:par>
                                <p:cTn id="126" presetID="3" presetClass="exit" presetSubtype="10" fill="hold" nodeType="withEffect">
                                  <p:stCondLst>
                                    <p:cond delay="0"/>
                                  </p:stCondLst>
                                  <p:childTnLst>
                                    <p:animEffect transition="out" filter="blinds(horizontal)">
                                      <p:cBhvr>
                                        <p:cTn id="127" dur="500"/>
                                        <p:tgtEl>
                                          <p:spTgt spid="470040"/>
                                        </p:tgtEl>
                                      </p:cBhvr>
                                    </p:animEffect>
                                    <p:set>
                                      <p:cBhvr>
                                        <p:cTn id="128" dur="1" fill="hold">
                                          <p:stCondLst>
                                            <p:cond delay="499"/>
                                          </p:stCondLst>
                                        </p:cTn>
                                        <p:tgtEl>
                                          <p:spTgt spid="4700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470041"/>
                                        </p:tgtEl>
                                        <p:attrNameLst>
                                          <p:attrName>style.visibility</p:attrName>
                                        </p:attrNameLst>
                                      </p:cBhvr>
                                      <p:to>
                                        <p:strVal val="visible"/>
                                      </p:to>
                                    </p:set>
                                    <p:animEffect transition="in" filter="blinds(horizontal)">
                                      <p:cBhvr>
                                        <p:cTn id="133" dur="500"/>
                                        <p:tgtEl>
                                          <p:spTgt spid="470041"/>
                                        </p:tgtEl>
                                      </p:cBhvr>
                                    </p:animEffect>
                                  </p:childTnLst>
                                </p:cTn>
                              </p:par>
                            </p:childTnLst>
                          </p:cTn>
                        </p:par>
                      </p:childTnLst>
                    </p:cTn>
                  </p:par>
                  <p:par>
                    <p:cTn id="134" fill="hold">
                      <p:stCondLst>
                        <p:cond delay="indefinite"/>
                      </p:stCondLst>
                      <p:childTnLst>
                        <p:par>
                          <p:cTn id="135" fill="hold">
                            <p:stCondLst>
                              <p:cond delay="0"/>
                            </p:stCondLst>
                            <p:childTnLst>
                              <p:par>
                                <p:cTn id="136" presetID="3" presetClass="entr" presetSubtype="10" fill="hold" nodeType="clickEffect">
                                  <p:stCondLst>
                                    <p:cond delay="0"/>
                                  </p:stCondLst>
                                  <p:childTnLst>
                                    <p:set>
                                      <p:cBhvr>
                                        <p:cTn id="137" dur="1" fill="hold">
                                          <p:stCondLst>
                                            <p:cond delay="0"/>
                                          </p:stCondLst>
                                        </p:cTn>
                                        <p:tgtEl>
                                          <p:spTgt spid="470042"/>
                                        </p:tgtEl>
                                        <p:attrNameLst>
                                          <p:attrName>style.visibility</p:attrName>
                                        </p:attrNameLst>
                                      </p:cBhvr>
                                      <p:to>
                                        <p:strVal val="visible"/>
                                      </p:to>
                                    </p:set>
                                    <p:animEffect transition="in" filter="blinds(horizontal)">
                                      <p:cBhvr>
                                        <p:cTn id="138" dur="500"/>
                                        <p:tgtEl>
                                          <p:spTgt spid="470042"/>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xit" presetSubtype="10" fill="hold" nodeType="clickEffect">
                                  <p:stCondLst>
                                    <p:cond delay="0"/>
                                  </p:stCondLst>
                                  <p:childTnLst>
                                    <p:animEffect transition="out" filter="blinds(horizontal)">
                                      <p:cBhvr>
                                        <p:cTn id="142" dur="500"/>
                                        <p:tgtEl>
                                          <p:spTgt spid="470041"/>
                                        </p:tgtEl>
                                      </p:cBhvr>
                                    </p:animEffect>
                                    <p:set>
                                      <p:cBhvr>
                                        <p:cTn id="143" dur="1" fill="hold">
                                          <p:stCondLst>
                                            <p:cond delay="499"/>
                                          </p:stCondLst>
                                        </p:cTn>
                                        <p:tgtEl>
                                          <p:spTgt spid="470041"/>
                                        </p:tgtEl>
                                        <p:attrNameLst>
                                          <p:attrName>style.visibility</p:attrName>
                                        </p:attrNameLst>
                                      </p:cBhvr>
                                      <p:to>
                                        <p:strVal val="hidden"/>
                                      </p:to>
                                    </p:set>
                                  </p:childTnLst>
                                </p:cTn>
                              </p:par>
                              <p:par>
                                <p:cTn id="144" presetID="3" presetClass="exit" presetSubtype="10" fill="hold" nodeType="withEffect">
                                  <p:stCondLst>
                                    <p:cond delay="0"/>
                                  </p:stCondLst>
                                  <p:childTnLst>
                                    <p:animEffect transition="out" filter="blinds(horizontal)">
                                      <p:cBhvr>
                                        <p:cTn id="145" dur="500"/>
                                        <p:tgtEl>
                                          <p:spTgt spid="470042"/>
                                        </p:tgtEl>
                                      </p:cBhvr>
                                    </p:animEffect>
                                    <p:set>
                                      <p:cBhvr>
                                        <p:cTn id="146" dur="1" fill="hold">
                                          <p:stCondLst>
                                            <p:cond delay="499"/>
                                          </p:stCondLst>
                                        </p:cTn>
                                        <p:tgtEl>
                                          <p:spTgt spid="470042"/>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nodeType="clickEffect">
                                  <p:stCondLst>
                                    <p:cond delay="0"/>
                                  </p:stCondLst>
                                  <p:childTnLst>
                                    <p:set>
                                      <p:cBhvr>
                                        <p:cTn id="150" dur="1" fill="hold">
                                          <p:stCondLst>
                                            <p:cond delay="0"/>
                                          </p:stCondLst>
                                        </p:cTn>
                                        <p:tgtEl>
                                          <p:spTgt spid="470043"/>
                                        </p:tgtEl>
                                        <p:attrNameLst>
                                          <p:attrName>style.visibility</p:attrName>
                                        </p:attrNameLst>
                                      </p:cBhvr>
                                      <p:to>
                                        <p:strVal val="visible"/>
                                      </p:to>
                                    </p:set>
                                    <p:animEffect transition="in" filter="blinds(horizontal)">
                                      <p:cBhvr>
                                        <p:cTn id="151" dur="500"/>
                                        <p:tgtEl>
                                          <p:spTgt spid="470043"/>
                                        </p:tgtEl>
                                      </p:cBhvr>
                                    </p:animEffect>
                                  </p:childTnLst>
                                </p:cTn>
                              </p:par>
                            </p:childTnLst>
                          </p:cTn>
                        </p:par>
                      </p:childTnLst>
                    </p:cTn>
                  </p:par>
                  <p:par>
                    <p:cTn id="152" fill="hold">
                      <p:stCondLst>
                        <p:cond delay="indefinite"/>
                      </p:stCondLst>
                      <p:childTnLst>
                        <p:par>
                          <p:cTn id="153" fill="hold">
                            <p:stCondLst>
                              <p:cond delay="0"/>
                            </p:stCondLst>
                            <p:childTnLst>
                              <p:par>
                                <p:cTn id="154" presetID="3" presetClass="entr" presetSubtype="10" fill="hold" nodeType="clickEffect">
                                  <p:stCondLst>
                                    <p:cond delay="0"/>
                                  </p:stCondLst>
                                  <p:childTnLst>
                                    <p:set>
                                      <p:cBhvr>
                                        <p:cTn id="155" dur="1" fill="hold">
                                          <p:stCondLst>
                                            <p:cond delay="0"/>
                                          </p:stCondLst>
                                        </p:cTn>
                                        <p:tgtEl>
                                          <p:spTgt spid="470044"/>
                                        </p:tgtEl>
                                        <p:attrNameLst>
                                          <p:attrName>style.visibility</p:attrName>
                                        </p:attrNameLst>
                                      </p:cBhvr>
                                      <p:to>
                                        <p:strVal val="visible"/>
                                      </p:to>
                                    </p:set>
                                    <p:animEffect transition="in" filter="blinds(horizontal)">
                                      <p:cBhvr>
                                        <p:cTn id="156" dur="500"/>
                                        <p:tgtEl>
                                          <p:spTgt spid="470044"/>
                                        </p:tgtEl>
                                      </p:cBhvr>
                                    </p:animEffect>
                                  </p:childTnLst>
                                </p:cTn>
                              </p:par>
                            </p:childTnLst>
                          </p:cTn>
                        </p:par>
                      </p:childTnLst>
                    </p:cTn>
                  </p:par>
                  <p:par>
                    <p:cTn id="157" fill="hold">
                      <p:stCondLst>
                        <p:cond delay="indefinite"/>
                      </p:stCondLst>
                      <p:childTnLst>
                        <p:par>
                          <p:cTn id="158" fill="hold">
                            <p:stCondLst>
                              <p:cond delay="0"/>
                            </p:stCondLst>
                            <p:childTnLst>
                              <p:par>
                                <p:cTn id="159" presetID="3" presetClass="exit" presetSubtype="10" fill="hold" nodeType="clickEffect">
                                  <p:stCondLst>
                                    <p:cond delay="0"/>
                                  </p:stCondLst>
                                  <p:childTnLst>
                                    <p:animEffect transition="out" filter="blinds(horizontal)">
                                      <p:cBhvr>
                                        <p:cTn id="160" dur="500"/>
                                        <p:tgtEl>
                                          <p:spTgt spid="470043"/>
                                        </p:tgtEl>
                                      </p:cBhvr>
                                    </p:animEffect>
                                    <p:set>
                                      <p:cBhvr>
                                        <p:cTn id="161" dur="1" fill="hold">
                                          <p:stCondLst>
                                            <p:cond delay="499"/>
                                          </p:stCondLst>
                                        </p:cTn>
                                        <p:tgtEl>
                                          <p:spTgt spid="470043"/>
                                        </p:tgtEl>
                                        <p:attrNameLst>
                                          <p:attrName>style.visibility</p:attrName>
                                        </p:attrNameLst>
                                      </p:cBhvr>
                                      <p:to>
                                        <p:strVal val="hidden"/>
                                      </p:to>
                                    </p:set>
                                  </p:childTnLst>
                                </p:cTn>
                              </p:par>
                              <p:par>
                                <p:cTn id="162" presetID="3" presetClass="exit" presetSubtype="10" fill="hold" nodeType="withEffect">
                                  <p:stCondLst>
                                    <p:cond delay="0"/>
                                  </p:stCondLst>
                                  <p:childTnLst>
                                    <p:animEffect transition="out" filter="blinds(horizontal)">
                                      <p:cBhvr>
                                        <p:cTn id="163" dur="500"/>
                                        <p:tgtEl>
                                          <p:spTgt spid="470044"/>
                                        </p:tgtEl>
                                      </p:cBhvr>
                                    </p:animEffect>
                                    <p:set>
                                      <p:cBhvr>
                                        <p:cTn id="164" dur="1" fill="hold">
                                          <p:stCondLst>
                                            <p:cond delay="499"/>
                                          </p:stCondLst>
                                        </p:cTn>
                                        <p:tgtEl>
                                          <p:spTgt spid="470044"/>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nodeType="clickEffect">
                                  <p:stCondLst>
                                    <p:cond delay="0"/>
                                  </p:stCondLst>
                                  <p:childTnLst>
                                    <p:set>
                                      <p:cBhvr>
                                        <p:cTn id="168" dur="1" fill="hold">
                                          <p:stCondLst>
                                            <p:cond delay="0"/>
                                          </p:stCondLst>
                                        </p:cTn>
                                        <p:tgtEl>
                                          <p:spTgt spid="470045"/>
                                        </p:tgtEl>
                                        <p:attrNameLst>
                                          <p:attrName>style.visibility</p:attrName>
                                        </p:attrNameLst>
                                      </p:cBhvr>
                                      <p:to>
                                        <p:strVal val="visible"/>
                                      </p:to>
                                    </p:set>
                                    <p:animEffect transition="in" filter="blinds(horizontal)">
                                      <p:cBhvr>
                                        <p:cTn id="169" dur="500"/>
                                        <p:tgtEl>
                                          <p:spTgt spid="470045"/>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nodeType="clickEffect">
                                  <p:stCondLst>
                                    <p:cond delay="0"/>
                                  </p:stCondLst>
                                  <p:childTnLst>
                                    <p:set>
                                      <p:cBhvr>
                                        <p:cTn id="173" dur="1" fill="hold">
                                          <p:stCondLst>
                                            <p:cond delay="0"/>
                                          </p:stCondLst>
                                        </p:cTn>
                                        <p:tgtEl>
                                          <p:spTgt spid="470046"/>
                                        </p:tgtEl>
                                        <p:attrNameLst>
                                          <p:attrName>style.visibility</p:attrName>
                                        </p:attrNameLst>
                                      </p:cBhvr>
                                      <p:to>
                                        <p:strVal val="visible"/>
                                      </p:to>
                                    </p:set>
                                    <p:animEffect transition="in" filter="blinds(horizontal)">
                                      <p:cBhvr>
                                        <p:cTn id="174" dur="500"/>
                                        <p:tgtEl>
                                          <p:spTgt spid="470046"/>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xit" presetSubtype="10" fill="hold" nodeType="clickEffect">
                                  <p:stCondLst>
                                    <p:cond delay="0"/>
                                  </p:stCondLst>
                                  <p:childTnLst>
                                    <p:animEffect transition="out" filter="blinds(horizontal)">
                                      <p:cBhvr>
                                        <p:cTn id="178" dur="500"/>
                                        <p:tgtEl>
                                          <p:spTgt spid="470045"/>
                                        </p:tgtEl>
                                      </p:cBhvr>
                                    </p:animEffect>
                                    <p:set>
                                      <p:cBhvr>
                                        <p:cTn id="179" dur="1" fill="hold">
                                          <p:stCondLst>
                                            <p:cond delay="499"/>
                                          </p:stCondLst>
                                        </p:cTn>
                                        <p:tgtEl>
                                          <p:spTgt spid="470045"/>
                                        </p:tgtEl>
                                        <p:attrNameLst>
                                          <p:attrName>style.visibility</p:attrName>
                                        </p:attrNameLst>
                                      </p:cBhvr>
                                      <p:to>
                                        <p:strVal val="hidden"/>
                                      </p:to>
                                    </p:set>
                                  </p:childTnLst>
                                </p:cTn>
                              </p:par>
                              <p:par>
                                <p:cTn id="180" presetID="3" presetClass="exit" presetSubtype="10" fill="hold" nodeType="withEffect">
                                  <p:stCondLst>
                                    <p:cond delay="0"/>
                                  </p:stCondLst>
                                  <p:childTnLst>
                                    <p:animEffect transition="out" filter="blinds(horizontal)">
                                      <p:cBhvr>
                                        <p:cTn id="181" dur="500"/>
                                        <p:tgtEl>
                                          <p:spTgt spid="470046"/>
                                        </p:tgtEl>
                                      </p:cBhvr>
                                    </p:animEffect>
                                    <p:set>
                                      <p:cBhvr>
                                        <p:cTn id="182" dur="1" fill="hold">
                                          <p:stCondLst>
                                            <p:cond delay="499"/>
                                          </p:stCondLst>
                                        </p:cTn>
                                        <p:tgtEl>
                                          <p:spTgt spid="470046"/>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3" presetClass="entr" presetSubtype="10" fill="hold" nodeType="clickEffect">
                                  <p:stCondLst>
                                    <p:cond delay="0"/>
                                  </p:stCondLst>
                                  <p:childTnLst>
                                    <p:set>
                                      <p:cBhvr>
                                        <p:cTn id="186" dur="1" fill="hold">
                                          <p:stCondLst>
                                            <p:cond delay="0"/>
                                          </p:stCondLst>
                                        </p:cTn>
                                        <p:tgtEl>
                                          <p:spTgt spid="470047"/>
                                        </p:tgtEl>
                                        <p:attrNameLst>
                                          <p:attrName>style.visibility</p:attrName>
                                        </p:attrNameLst>
                                      </p:cBhvr>
                                      <p:to>
                                        <p:strVal val="visible"/>
                                      </p:to>
                                    </p:set>
                                    <p:animEffect transition="in" filter="blinds(horizontal)">
                                      <p:cBhvr>
                                        <p:cTn id="187" dur="500"/>
                                        <p:tgtEl>
                                          <p:spTgt spid="470047"/>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nodeType="clickEffect">
                                  <p:stCondLst>
                                    <p:cond delay="0"/>
                                  </p:stCondLst>
                                  <p:childTnLst>
                                    <p:set>
                                      <p:cBhvr>
                                        <p:cTn id="191" dur="1" fill="hold">
                                          <p:stCondLst>
                                            <p:cond delay="0"/>
                                          </p:stCondLst>
                                        </p:cTn>
                                        <p:tgtEl>
                                          <p:spTgt spid="470048"/>
                                        </p:tgtEl>
                                        <p:attrNameLst>
                                          <p:attrName>style.visibility</p:attrName>
                                        </p:attrNameLst>
                                      </p:cBhvr>
                                      <p:to>
                                        <p:strVal val="visible"/>
                                      </p:to>
                                    </p:set>
                                    <p:animEffect transition="in" filter="blinds(horizontal)">
                                      <p:cBhvr>
                                        <p:cTn id="192" dur="500"/>
                                        <p:tgtEl>
                                          <p:spTgt spid="470048"/>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xit" presetSubtype="10" fill="hold" nodeType="clickEffect">
                                  <p:stCondLst>
                                    <p:cond delay="0"/>
                                  </p:stCondLst>
                                  <p:childTnLst>
                                    <p:animEffect transition="out" filter="blinds(horizontal)">
                                      <p:cBhvr>
                                        <p:cTn id="196" dur="500"/>
                                        <p:tgtEl>
                                          <p:spTgt spid="470047"/>
                                        </p:tgtEl>
                                      </p:cBhvr>
                                    </p:animEffect>
                                    <p:set>
                                      <p:cBhvr>
                                        <p:cTn id="197" dur="1" fill="hold">
                                          <p:stCondLst>
                                            <p:cond delay="499"/>
                                          </p:stCondLst>
                                        </p:cTn>
                                        <p:tgtEl>
                                          <p:spTgt spid="470047"/>
                                        </p:tgtEl>
                                        <p:attrNameLst>
                                          <p:attrName>style.visibility</p:attrName>
                                        </p:attrNameLst>
                                      </p:cBhvr>
                                      <p:to>
                                        <p:strVal val="hidden"/>
                                      </p:to>
                                    </p:set>
                                  </p:childTnLst>
                                </p:cTn>
                              </p:par>
                              <p:par>
                                <p:cTn id="198" presetID="3" presetClass="exit" presetSubtype="10" fill="hold" nodeType="withEffect">
                                  <p:stCondLst>
                                    <p:cond delay="0"/>
                                  </p:stCondLst>
                                  <p:childTnLst>
                                    <p:animEffect transition="out" filter="blinds(horizontal)">
                                      <p:cBhvr>
                                        <p:cTn id="199" dur="500"/>
                                        <p:tgtEl>
                                          <p:spTgt spid="470048"/>
                                        </p:tgtEl>
                                      </p:cBhvr>
                                    </p:animEffect>
                                    <p:set>
                                      <p:cBhvr>
                                        <p:cTn id="200" dur="1" fill="hold">
                                          <p:stCondLst>
                                            <p:cond delay="499"/>
                                          </p:stCondLst>
                                        </p:cTn>
                                        <p:tgtEl>
                                          <p:spTgt spid="470048"/>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3" presetClass="entr" presetSubtype="10" fill="hold" nodeType="clickEffect">
                                  <p:stCondLst>
                                    <p:cond delay="0"/>
                                  </p:stCondLst>
                                  <p:childTnLst>
                                    <p:set>
                                      <p:cBhvr>
                                        <p:cTn id="204" dur="1" fill="hold">
                                          <p:stCondLst>
                                            <p:cond delay="0"/>
                                          </p:stCondLst>
                                        </p:cTn>
                                        <p:tgtEl>
                                          <p:spTgt spid="470049"/>
                                        </p:tgtEl>
                                        <p:attrNameLst>
                                          <p:attrName>style.visibility</p:attrName>
                                        </p:attrNameLst>
                                      </p:cBhvr>
                                      <p:to>
                                        <p:strVal val="visible"/>
                                      </p:to>
                                    </p:set>
                                    <p:animEffect transition="in" filter="blinds(horizontal)">
                                      <p:cBhvr>
                                        <p:cTn id="205" dur="500"/>
                                        <p:tgtEl>
                                          <p:spTgt spid="470049"/>
                                        </p:tgtEl>
                                      </p:cBhvr>
                                    </p:animEffect>
                                  </p:childTnLst>
                                </p:cTn>
                              </p:par>
                            </p:childTnLst>
                          </p:cTn>
                        </p:par>
                      </p:childTnLst>
                    </p:cTn>
                  </p:par>
                  <p:par>
                    <p:cTn id="206" fill="hold">
                      <p:stCondLst>
                        <p:cond delay="indefinite"/>
                      </p:stCondLst>
                      <p:childTnLst>
                        <p:par>
                          <p:cTn id="207" fill="hold">
                            <p:stCondLst>
                              <p:cond delay="0"/>
                            </p:stCondLst>
                            <p:childTnLst>
                              <p:par>
                                <p:cTn id="208" presetID="3" presetClass="entr" presetSubtype="10" fill="hold" nodeType="clickEffect">
                                  <p:stCondLst>
                                    <p:cond delay="0"/>
                                  </p:stCondLst>
                                  <p:childTnLst>
                                    <p:set>
                                      <p:cBhvr>
                                        <p:cTn id="209" dur="1" fill="hold">
                                          <p:stCondLst>
                                            <p:cond delay="0"/>
                                          </p:stCondLst>
                                        </p:cTn>
                                        <p:tgtEl>
                                          <p:spTgt spid="470050"/>
                                        </p:tgtEl>
                                        <p:attrNameLst>
                                          <p:attrName>style.visibility</p:attrName>
                                        </p:attrNameLst>
                                      </p:cBhvr>
                                      <p:to>
                                        <p:strVal val="visible"/>
                                      </p:to>
                                    </p:set>
                                    <p:animEffect transition="in" filter="blinds(horizontal)">
                                      <p:cBhvr>
                                        <p:cTn id="210" dur="500"/>
                                        <p:tgtEl>
                                          <p:spTgt spid="470050"/>
                                        </p:tgtEl>
                                      </p:cBhvr>
                                    </p:animEffect>
                                  </p:childTnLst>
                                </p:cTn>
                              </p:par>
                            </p:childTnLst>
                          </p:cTn>
                        </p:par>
                      </p:childTnLst>
                    </p:cTn>
                  </p:par>
                  <p:par>
                    <p:cTn id="211" fill="hold">
                      <p:stCondLst>
                        <p:cond delay="indefinite"/>
                      </p:stCondLst>
                      <p:childTnLst>
                        <p:par>
                          <p:cTn id="212" fill="hold">
                            <p:stCondLst>
                              <p:cond delay="0"/>
                            </p:stCondLst>
                            <p:childTnLst>
                              <p:par>
                                <p:cTn id="213" presetID="3" presetClass="exit" presetSubtype="10" fill="hold" nodeType="clickEffect">
                                  <p:stCondLst>
                                    <p:cond delay="0"/>
                                  </p:stCondLst>
                                  <p:childTnLst>
                                    <p:animEffect transition="out" filter="blinds(horizontal)">
                                      <p:cBhvr>
                                        <p:cTn id="214" dur="500"/>
                                        <p:tgtEl>
                                          <p:spTgt spid="470049"/>
                                        </p:tgtEl>
                                      </p:cBhvr>
                                    </p:animEffect>
                                    <p:set>
                                      <p:cBhvr>
                                        <p:cTn id="215" dur="1" fill="hold">
                                          <p:stCondLst>
                                            <p:cond delay="499"/>
                                          </p:stCondLst>
                                        </p:cTn>
                                        <p:tgtEl>
                                          <p:spTgt spid="470049"/>
                                        </p:tgtEl>
                                        <p:attrNameLst>
                                          <p:attrName>style.visibility</p:attrName>
                                        </p:attrNameLst>
                                      </p:cBhvr>
                                      <p:to>
                                        <p:strVal val="hidden"/>
                                      </p:to>
                                    </p:set>
                                  </p:childTnLst>
                                </p:cTn>
                              </p:par>
                              <p:par>
                                <p:cTn id="216" presetID="3" presetClass="exit" presetSubtype="10" fill="hold" nodeType="withEffect">
                                  <p:stCondLst>
                                    <p:cond delay="0"/>
                                  </p:stCondLst>
                                  <p:childTnLst>
                                    <p:animEffect transition="out" filter="blinds(horizontal)">
                                      <p:cBhvr>
                                        <p:cTn id="217" dur="500"/>
                                        <p:tgtEl>
                                          <p:spTgt spid="470050"/>
                                        </p:tgtEl>
                                      </p:cBhvr>
                                    </p:animEffect>
                                    <p:set>
                                      <p:cBhvr>
                                        <p:cTn id="218" dur="1" fill="hold">
                                          <p:stCondLst>
                                            <p:cond delay="499"/>
                                          </p:stCondLst>
                                        </p:cTn>
                                        <p:tgtEl>
                                          <p:spTgt spid="470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9" grpId="0"/>
      <p:bldP spid="470020" grpId="0"/>
      <p:bldP spid="470021" grpId="0"/>
      <p:bldP spid="470022" grpId="0"/>
      <p:bldP spid="470023" grpId="0"/>
      <p:bldP spid="470024" grpId="0"/>
      <p:bldP spid="470025" grpId="0"/>
      <p:bldP spid="470026" grpId="0"/>
      <p:bldP spid="470027" grpId="0"/>
      <p:bldP spid="470028" grpId="0"/>
      <p:bldP spid="470029" grpId="0"/>
      <p:bldP spid="470030" grpId="0"/>
      <p:bldP spid="470031" grpId="0"/>
      <p:bldP spid="470032" grpId="0"/>
      <p:bldP spid="47003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p:nvPr/>
        </p:nvSpPr>
        <p:spPr>
          <a:xfrm>
            <a:off x="144463" y="144463"/>
            <a:ext cx="3635375" cy="1484312"/>
          </a:xfrm>
          <a:prstGeom prst="rect">
            <a:avLst/>
          </a:prstGeom>
          <a:no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例如，在例</a:t>
            </a:r>
            <a:r>
              <a:rPr lang="en-US" altLang="zh-CN" b="1" dirty="0">
                <a:solidFill>
                  <a:schemeClr val="hlink"/>
                </a:solidFill>
                <a:latin typeface="Times New Roman" panose="02020603050405020304" pitchFamily="18" charset="0"/>
                <a:ea typeface="微软雅黑" pitchFamily="34" charset="-122"/>
              </a:rPr>
              <a:t>1</a:t>
            </a:r>
            <a:r>
              <a:rPr lang="zh-CN" altLang="en-US" b="1" dirty="0">
                <a:solidFill>
                  <a:schemeClr val="hlink"/>
                </a:solidFill>
                <a:latin typeface="Times New Roman" panose="02020603050405020304" pitchFamily="18" charset="0"/>
                <a:ea typeface="微软雅黑" pitchFamily="34" charset="-122"/>
              </a:rPr>
              <a:t>的由最小元素法得到的初始解中</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13</a:t>
            </a:r>
            <a:r>
              <a:rPr lang="zh-CN" altLang="en-US" b="1" i="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14</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baseline="-30000"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21</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baseline="-30000"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23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32</a:t>
            </a:r>
            <a:r>
              <a:rPr lang="en-US" altLang="zh-CN" b="1" i="1" dirty="0">
                <a:solidFill>
                  <a:schemeClr val="hlink"/>
                </a:solidFill>
                <a:latin typeface="Times New Roman" panose="02020603050405020304" pitchFamily="18" charset="0"/>
                <a:ea typeface="微软雅黑" pitchFamily="34" charset="-122"/>
              </a:rPr>
              <a:t> </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34</a:t>
            </a:r>
            <a:r>
              <a:rPr lang="zh-CN" altLang="en-US" b="1" dirty="0">
                <a:solidFill>
                  <a:schemeClr val="hlink"/>
                </a:solidFill>
                <a:latin typeface="Times New Roman" panose="02020603050405020304" pitchFamily="18" charset="0"/>
                <a:ea typeface="微软雅黑" pitchFamily="34" charset="-122"/>
              </a:rPr>
              <a:t>是基变量</a:t>
            </a:r>
            <a:endParaRPr lang="zh-CN" altLang="en-US" sz="2800" dirty="0">
              <a:solidFill>
                <a:schemeClr val="hlink"/>
              </a:solidFill>
              <a:latin typeface="微软雅黑" pitchFamily="34" charset="-122"/>
              <a:ea typeface="华文楷体" panose="02010600040101010101" pitchFamily="2" charset="-122"/>
            </a:endParaRPr>
          </a:p>
        </p:txBody>
      </p:sp>
      <p:sp>
        <p:nvSpPr>
          <p:cNvPr id="3" name="Rectangle 3"/>
          <p:cNvSpPr txBox="1"/>
          <p:nvPr/>
        </p:nvSpPr>
        <p:spPr>
          <a:xfrm>
            <a:off x="0" y="2667000"/>
            <a:ext cx="9144000" cy="4191000"/>
          </a:xfrm>
          <a:prstGeom prst="rect">
            <a:avLst/>
          </a:prstGeom>
          <a:solidFill>
            <a:srgbClr val="FFCCFF"/>
          </a:solidFill>
          <a:ln w="9525">
            <a:noFill/>
          </a:ln>
        </p:spPr>
        <p:txBody>
          <a:bodyPr/>
          <a:lstStyle/>
          <a:p>
            <a:pPr marL="273050" indent="-273050" algn="just">
              <a:lnSpc>
                <a:spcPct val="90000"/>
              </a:lnSpc>
              <a:spcBef>
                <a:spcPts val="600"/>
              </a:spcBef>
              <a:buClr>
                <a:schemeClr val="accent1"/>
              </a:buClr>
              <a:buSzPct val="70000"/>
            </a:pPr>
            <a:r>
              <a:rPr lang="zh-CN" altLang="en-US" b="1" dirty="0">
                <a:latin typeface="Times New Roman" panose="02020603050405020304" pitchFamily="18" charset="0"/>
                <a:ea typeface="微软雅黑" pitchFamily="34" charset="-122"/>
              </a:rPr>
              <a:t>基变量的检验数</a:t>
            </a:r>
          </a:p>
          <a:p>
            <a:pPr algn="just">
              <a:lnSpc>
                <a:spcPct val="90000"/>
              </a:lnSpc>
              <a:spcBef>
                <a:spcPts val="600"/>
              </a:spcBef>
              <a:buClr>
                <a:schemeClr val="accent1"/>
              </a:buClr>
              <a:buSzPct val="70000"/>
              <a:buFont typeface="Wingdings" panose="05000000000000000000" pitchFamily="2" charset="2"/>
            </a:pPr>
            <a:endParaRPr lang="en-US" altLang="zh-CN" b="1" i="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=9-</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p:txBody>
      </p:sp>
      <p:pic>
        <p:nvPicPr>
          <p:cNvPr id="30724" name="Picture 4"/>
          <p:cNvPicPr>
            <a:picLocks noChangeAspect="1"/>
          </p:cNvPicPr>
          <p:nvPr/>
        </p:nvPicPr>
        <p:blipFill>
          <a:blip r:embed="rId2"/>
          <a:stretch>
            <a:fillRect/>
          </a:stretch>
        </p:blipFill>
        <p:spPr>
          <a:xfrm>
            <a:off x="3816350" y="0"/>
            <a:ext cx="5327650" cy="2235200"/>
          </a:xfrm>
          <a:prstGeom prst="rect">
            <a:avLst/>
          </a:prstGeom>
          <a:noFill/>
          <a:ln w="9525">
            <a:noFill/>
          </a:ln>
        </p:spPr>
      </p:pic>
      <p:pic>
        <p:nvPicPr>
          <p:cNvPr id="30725" name="Picture 5"/>
          <p:cNvPicPr>
            <a:picLocks noChangeAspect="1"/>
          </p:cNvPicPr>
          <p:nvPr/>
        </p:nvPicPr>
        <p:blipFill>
          <a:blip r:embed="rId3"/>
          <a:stretch>
            <a:fillRect/>
          </a:stretch>
        </p:blipFill>
        <p:spPr>
          <a:xfrm>
            <a:off x="4751388" y="1628775"/>
            <a:ext cx="4392612" cy="1841500"/>
          </a:xfrm>
          <a:prstGeom prst="rect">
            <a:avLst/>
          </a:prstGeom>
          <a:noFill/>
          <a:ln w="9525">
            <a:noFill/>
          </a:ln>
        </p:spPr>
      </p:pic>
      <p:sp>
        <p:nvSpPr>
          <p:cNvPr id="30727" name="Oval 23"/>
          <p:cNvSpPr/>
          <p:nvPr/>
        </p:nvSpPr>
        <p:spPr>
          <a:xfrm>
            <a:off x="7812088" y="2420938"/>
            <a:ext cx="433387"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28" name="Oval 23"/>
          <p:cNvSpPr/>
          <p:nvPr/>
        </p:nvSpPr>
        <p:spPr>
          <a:xfrm>
            <a:off x="8388350" y="2420938"/>
            <a:ext cx="576263"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29" name="Oval 23"/>
          <p:cNvSpPr/>
          <p:nvPr/>
        </p:nvSpPr>
        <p:spPr>
          <a:xfrm>
            <a:off x="6516688" y="2709863"/>
            <a:ext cx="433387"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0" name="Oval 23"/>
          <p:cNvSpPr/>
          <p:nvPr/>
        </p:nvSpPr>
        <p:spPr>
          <a:xfrm>
            <a:off x="7667625" y="2781300"/>
            <a:ext cx="576263"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1" name="Oval 23"/>
          <p:cNvSpPr/>
          <p:nvPr/>
        </p:nvSpPr>
        <p:spPr>
          <a:xfrm>
            <a:off x="7019925" y="3068638"/>
            <a:ext cx="5762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2" name="Oval 23"/>
          <p:cNvSpPr/>
          <p:nvPr/>
        </p:nvSpPr>
        <p:spPr>
          <a:xfrm>
            <a:off x="8388350" y="3068638"/>
            <a:ext cx="5762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TextBox 12"/>
          <p:cNvSpPr txBox="1"/>
          <p:nvPr/>
        </p:nvSpPr>
        <p:spPr>
          <a:xfrm>
            <a:off x="107315" y="1711008"/>
            <a:ext cx="3419872" cy="523875"/>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mn-lt"/>
                <a:ea typeface="微软雅黑" pitchFamily="34" charset="-122"/>
                <a:cs typeface="+mn-cs"/>
              </a:rPr>
              <a:t>把</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u</a:t>
            </a:r>
            <a:r>
              <a:rPr kumimoji="1" lang="en-US" altLang="zh-CN" sz="2800" b="1" i="0" u="none" strike="noStrike" kern="1200" cap="none" spc="0" normalizeH="0" baseline="-2500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1</a:t>
            </a:r>
            <a:r>
              <a:rPr kumimoji="1" lang="zh-CN" altLang="en-US" sz="2800" b="1" i="0" u="none" strike="noStrike" kern="1200" cap="none" spc="0" normalizeH="0" baseline="0" noProof="0" dirty="0">
                <a:ln>
                  <a:noFill/>
                </a:ln>
                <a:solidFill>
                  <a:schemeClr val="tx1"/>
                </a:solidFill>
                <a:effectLst/>
                <a:uLnTx/>
                <a:uFillTx/>
                <a:latin typeface="+mn-lt"/>
                <a:ea typeface="微软雅黑" pitchFamily="34" charset="-122"/>
                <a:cs typeface="+mn-cs"/>
              </a:rPr>
              <a:t>看成参数</a:t>
            </a:r>
          </a:p>
        </p:txBody>
      </p:sp>
      <p:sp>
        <p:nvSpPr>
          <p:cNvPr id="14" name="矩形 13"/>
          <p:cNvSpPr/>
          <p:nvPr/>
        </p:nvSpPr>
        <p:spPr>
          <a:xfrm>
            <a:off x="250825" y="6024563"/>
            <a:ext cx="7561263" cy="833437"/>
          </a:xfrm>
          <a:prstGeom prst="rect">
            <a:avLst/>
          </a:prstGeom>
          <a:noFill/>
          <a:ln w="9525">
            <a:noFill/>
          </a:ln>
        </p:spPr>
        <p:txBody>
          <a:bodyPr>
            <a:spAutoFit/>
          </a:bodyPr>
          <a:lstStyle/>
          <a:p>
            <a:pPr marL="273050" indent="-273050" algn="just">
              <a:lnSpc>
                <a:spcPct val="9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可求得</a:t>
            </a:r>
          </a:p>
          <a:p>
            <a:pPr marL="273050" indent="-273050" algn="ctr">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linds(horizontal)">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412365" y="2078990"/>
            <a:ext cx="6330315" cy="2340610"/>
          </a:xfrm>
          <a:prstGeom prst="rect">
            <a:avLst/>
          </a:prstGeom>
        </p:spPr>
      </p:pic>
      <p:sp>
        <p:nvSpPr>
          <p:cNvPr id="31746" name="Rectangle 2"/>
          <p:cNvSpPr txBox="1"/>
          <p:nvPr/>
        </p:nvSpPr>
        <p:spPr>
          <a:xfrm>
            <a:off x="57150" y="0"/>
            <a:ext cx="78486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5.2.3 </a:t>
            </a:r>
            <a:r>
              <a:rPr lang="zh-CN" altLang="en-US" sz="2800" b="1" dirty="0">
                <a:solidFill>
                  <a:schemeClr val="hlink"/>
                </a:solidFill>
                <a:latin typeface="微软雅黑" pitchFamily="34" charset="-122"/>
                <a:ea typeface="微软雅黑" pitchFamily="34" charset="-122"/>
              </a:rPr>
              <a:t>改进的方法</a:t>
            </a:r>
            <a:r>
              <a:rPr lang="en-US" altLang="zh-CN" sz="2800" b="1" dirty="0">
                <a:solidFill>
                  <a:schemeClr val="hlink"/>
                </a:solidFill>
                <a:latin typeface="华文楷体" panose="02010600040101010101" pitchFamily="2" charset="-122"/>
                <a:ea typeface="微软雅黑" pitchFamily="34" charset="-122"/>
              </a:rPr>
              <a:t>——</a:t>
            </a:r>
            <a:r>
              <a:rPr lang="zh-CN" altLang="en-US" sz="2800" b="1" dirty="0">
                <a:solidFill>
                  <a:schemeClr val="hlink"/>
                </a:solidFill>
                <a:latin typeface="微软雅黑" pitchFamily="34" charset="-122"/>
                <a:ea typeface="微软雅黑" pitchFamily="34" charset="-122"/>
              </a:rPr>
              <a:t>闭回路调整法</a:t>
            </a:r>
          </a:p>
        </p:txBody>
      </p:sp>
      <p:sp>
        <p:nvSpPr>
          <p:cNvPr id="3" name="Rectangle 3"/>
          <p:cNvSpPr txBox="1"/>
          <p:nvPr/>
        </p:nvSpPr>
        <p:spPr>
          <a:xfrm>
            <a:off x="57150" y="465947"/>
            <a:ext cx="9144000" cy="2016125"/>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当在表中空格处出现负检验数时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表明未得最优解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若有两个和两个以上的负检验数时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一般选其中最小的负检验数</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以它对应的空格为调入格。即以它对应的非基变量为换入变量</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由表</a:t>
            </a:r>
            <a:r>
              <a:rPr lang="en-US" altLang="zh-CN" b="1" dirty="0">
                <a:latin typeface="Times New Roman" panose="02020603050405020304" pitchFamily="18" charset="0"/>
                <a:ea typeface="微软雅黑" pitchFamily="34" charset="-122"/>
              </a:rPr>
              <a:t>4-19</a:t>
            </a:r>
            <a:r>
              <a:rPr lang="zh-CN" altLang="en-US" b="1" dirty="0">
                <a:latin typeface="Times New Roman" panose="02020603050405020304" pitchFamily="18" charset="0"/>
                <a:ea typeface="微软雅黑" pitchFamily="34" charset="-122"/>
              </a:rPr>
              <a:t>得</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为调入格</a:t>
            </a:r>
          </a:p>
          <a:p>
            <a:pPr marL="273050" indent="-273050">
              <a:spcBef>
                <a:spcPts val="600"/>
              </a:spcBef>
              <a:buClr>
                <a:schemeClr val="accent1"/>
              </a:buClr>
              <a:buSzPct val="70000"/>
              <a:buFont typeface="Wingdings" panose="05000000000000000000" pitchFamily="2" charset="2"/>
              <a:buChar char=""/>
            </a:pPr>
            <a:endParaRPr lang="en-US" altLang="zh-CN" b="1" dirty="0">
              <a:latin typeface="Times New Roman" panose="02020603050405020304" pitchFamily="18" charset="0"/>
              <a:ea typeface="微软雅黑" pitchFamily="34" charset="-122"/>
            </a:endParaRPr>
          </a:p>
        </p:txBody>
      </p:sp>
      <p:pic>
        <p:nvPicPr>
          <p:cNvPr id="358404" name="Picture 4"/>
          <p:cNvPicPr>
            <a:picLocks noChangeAspect="1"/>
          </p:cNvPicPr>
          <p:nvPr/>
        </p:nvPicPr>
        <p:blipFill>
          <a:blip r:embed="rId3"/>
          <a:stretch>
            <a:fillRect/>
          </a:stretch>
        </p:blipFill>
        <p:spPr>
          <a:xfrm>
            <a:off x="0" y="4418013"/>
            <a:ext cx="5651500" cy="2439987"/>
          </a:xfrm>
          <a:prstGeom prst="rect">
            <a:avLst/>
          </a:prstGeom>
          <a:noFill/>
          <a:ln w="9525">
            <a:noFill/>
          </a:ln>
        </p:spPr>
      </p:pic>
      <p:sp>
        <p:nvSpPr>
          <p:cNvPr id="5" name="矩形 4"/>
          <p:cNvSpPr/>
          <p:nvPr/>
        </p:nvSpPr>
        <p:spPr>
          <a:xfrm>
            <a:off x="1116013" y="3933825"/>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4-19</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4" name="矩形 4"/>
          <p:cNvSpPr/>
          <p:nvPr/>
        </p:nvSpPr>
        <p:spPr>
          <a:xfrm>
            <a:off x="5651500" y="6237288"/>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4-20</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27656" name="矩形 7"/>
          <p:cNvSpPr/>
          <p:nvPr/>
        </p:nvSpPr>
        <p:spPr>
          <a:xfrm>
            <a:off x="3923030" y="2580005"/>
            <a:ext cx="849630" cy="441325"/>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7" name="矩形 8"/>
          <p:cNvSpPr/>
          <p:nvPr/>
        </p:nvSpPr>
        <p:spPr>
          <a:xfrm>
            <a:off x="4926965" y="3097530"/>
            <a:ext cx="942340" cy="4165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8" name="矩形 9"/>
          <p:cNvSpPr/>
          <p:nvPr/>
        </p:nvSpPr>
        <p:spPr>
          <a:xfrm>
            <a:off x="4932045" y="2578735"/>
            <a:ext cx="942975" cy="43942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9" name="矩形 10"/>
          <p:cNvSpPr/>
          <p:nvPr/>
        </p:nvSpPr>
        <p:spPr>
          <a:xfrm>
            <a:off x="3924300" y="3546475"/>
            <a:ext cx="862330" cy="4038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60" name="矩形 11"/>
          <p:cNvSpPr/>
          <p:nvPr/>
        </p:nvSpPr>
        <p:spPr>
          <a:xfrm>
            <a:off x="5940425" y="3546475"/>
            <a:ext cx="1082040" cy="4165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61" name="矩形 12"/>
          <p:cNvSpPr/>
          <p:nvPr/>
        </p:nvSpPr>
        <p:spPr>
          <a:xfrm>
            <a:off x="7020560" y="3072765"/>
            <a:ext cx="991235" cy="4419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cxnSp>
        <p:nvCxnSpPr>
          <p:cNvPr id="15" name="直接箭头连接符 14"/>
          <p:cNvCxnSpPr/>
          <p:nvPr/>
        </p:nvCxnSpPr>
        <p:spPr>
          <a:xfrm flipH="1">
            <a:off x="3635375" y="6021388"/>
            <a:ext cx="576263" cy="0"/>
          </a:xfrm>
          <a:prstGeom prst="straightConnector1">
            <a:avLst/>
          </a:prstGeom>
          <a:ln w="57150" cap="flat" cmpd="sng">
            <a:solidFill>
              <a:srgbClr val="FF0000"/>
            </a:solidFill>
            <a:prstDash val="solid"/>
            <a:miter/>
            <a:headEnd type="none" w="med" len="med"/>
            <a:tailEnd type="arrow" w="med" len="med"/>
          </a:ln>
        </p:spPr>
      </p:cxnSp>
      <p:cxnSp>
        <p:nvCxnSpPr>
          <p:cNvPr id="17" name="直接箭头连接符 16"/>
          <p:cNvCxnSpPr/>
          <p:nvPr/>
        </p:nvCxnSpPr>
        <p:spPr>
          <a:xfrm flipV="1">
            <a:off x="3635375" y="5445125"/>
            <a:ext cx="0" cy="360363"/>
          </a:xfrm>
          <a:prstGeom prst="straightConnector1">
            <a:avLst/>
          </a:prstGeom>
          <a:ln w="76200" cap="flat" cmpd="sng">
            <a:solidFill>
              <a:srgbClr val="FF0000"/>
            </a:solidFill>
            <a:prstDash val="solid"/>
            <a:miter/>
            <a:headEnd type="none" w="med" len="med"/>
            <a:tailEnd type="arrow" w="med" len="med"/>
          </a:ln>
        </p:spPr>
      </p:cxnSp>
      <p:cxnSp>
        <p:nvCxnSpPr>
          <p:cNvPr id="19" name="直接箭头连接符 18"/>
          <p:cNvCxnSpPr/>
          <p:nvPr/>
        </p:nvCxnSpPr>
        <p:spPr>
          <a:xfrm>
            <a:off x="3708400" y="5445125"/>
            <a:ext cx="503238" cy="0"/>
          </a:xfrm>
          <a:prstGeom prst="straightConnector1">
            <a:avLst/>
          </a:prstGeom>
          <a:ln w="76200" cap="flat" cmpd="sng">
            <a:solidFill>
              <a:srgbClr val="FF0000"/>
            </a:solidFill>
            <a:prstDash val="solid"/>
            <a:miter/>
            <a:headEnd type="none" w="med" len="med"/>
            <a:tailEnd type="arrow" w="med" len="med"/>
          </a:ln>
        </p:spPr>
      </p:cxnSp>
      <p:cxnSp>
        <p:nvCxnSpPr>
          <p:cNvPr id="21" name="直接箭头连接符 20"/>
          <p:cNvCxnSpPr/>
          <p:nvPr/>
        </p:nvCxnSpPr>
        <p:spPr>
          <a:xfrm>
            <a:off x="4284663" y="5516563"/>
            <a:ext cx="0" cy="360362"/>
          </a:xfrm>
          <a:prstGeom prst="straightConnector1">
            <a:avLst/>
          </a:prstGeom>
          <a:ln w="76200" cap="flat" cmpd="sng">
            <a:solidFill>
              <a:srgbClr val="FF0000"/>
            </a:solidFill>
            <a:prstDash val="solid"/>
            <a:miter/>
            <a:headEnd type="none" w="med" len="med"/>
            <a:tailEnd type="arrow" w="med" len="med"/>
          </a:ln>
        </p:spPr>
      </p:cxnSp>
      <p:sp>
        <p:nvSpPr>
          <p:cNvPr id="23" name="矩形 22"/>
          <p:cNvSpPr/>
          <p:nvPr/>
        </p:nvSpPr>
        <p:spPr>
          <a:xfrm>
            <a:off x="71438" y="2276475"/>
            <a:ext cx="2197100" cy="1570038"/>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以</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格为出发点</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作一闭回路</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4-20</a:t>
            </a:r>
            <a:r>
              <a:rPr lang="zh-CN" altLang="en-US" b="1" dirty="0">
                <a:latin typeface="Times New Roman" panose="02020603050405020304" pitchFamily="18" charset="0"/>
                <a:ea typeface="微软雅黑" pitchFamily="34" charset="-122"/>
              </a:rPr>
              <a:t>所示</a:t>
            </a:r>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7659"/>
                                        </p:tgtEl>
                                        <p:attrNameLst>
                                          <p:attrName>style.visibility</p:attrName>
                                        </p:attrNameLst>
                                      </p:cBhvr>
                                      <p:to>
                                        <p:strVal val="visible"/>
                                      </p:to>
                                    </p:set>
                                    <p:animEffect transition="in" filter="blinds(horizontal)">
                                      <p:cBhvr>
                                        <p:cTn id="24" dur="500"/>
                                        <p:tgtEl>
                                          <p:spTgt spid="2765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7656"/>
                                        </p:tgtEl>
                                        <p:attrNameLst>
                                          <p:attrName>style.visibility</p:attrName>
                                        </p:attrNameLst>
                                      </p:cBhvr>
                                      <p:to>
                                        <p:strVal val="visible"/>
                                      </p:to>
                                    </p:set>
                                    <p:animEffect transition="in" filter="blinds(horizontal)">
                                      <p:cBhvr>
                                        <p:cTn id="27" dur="500"/>
                                        <p:tgtEl>
                                          <p:spTgt spid="2765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658"/>
                                        </p:tgtEl>
                                        <p:attrNameLst>
                                          <p:attrName>style.visibility</p:attrName>
                                        </p:attrNameLst>
                                      </p:cBhvr>
                                      <p:to>
                                        <p:strVal val="visible"/>
                                      </p:to>
                                    </p:set>
                                    <p:animEffect transition="in" filter="blinds(horizontal)">
                                      <p:cBhvr>
                                        <p:cTn id="30" dur="500"/>
                                        <p:tgtEl>
                                          <p:spTgt spid="2765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7657"/>
                                        </p:tgtEl>
                                        <p:attrNameLst>
                                          <p:attrName>style.visibility</p:attrName>
                                        </p:attrNameLst>
                                      </p:cBhvr>
                                      <p:to>
                                        <p:strVal val="visible"/>
                                      </p:to>
                                    </p:set>
                                    <p:animEffect transition="in" filter="blinds(horizontal)">
                                      <p:cBhvr>
                                        <p:cTn id="33" dur="500"/>
                                        <p:tgtEl>
                                          <p:spTgt spid="2765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7660"/>
                                        </p:tgtEl>
                                        <p:attrNameLst>
                                          <p:attrName>style.visibility</p:attrName>
                                        </p:attrNameLst>
                                      </p:cBhvr>
                                      <p:to>
                                        <p:strVal val="visible"/>
                                      </p:to>
                                    </p:set>
                                    <p:animEffect transition="in" filter="blinds(horizontal)">
                                      <p:cBhvr>
                                        <p:cTn id="36" dur="500"/>
                                        <p:tgtEl>
                                          <p:spTgt spid="27660"/>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7661"/>
                                        </p:tgtEl>
                                        <p:attrNameLst>
                                          <p:attrName>style.visibility</p:attrName>
                                        </p:attrNameLst>
                                      </p:cBhvr>
                                      <p:to>
                                        <p:strVal val="visible"/>
                                      </p:to>
                                    </p:set>
                                    <p:animEffect transition="in" filter="blinds(horizontal)">
                                      <p:cBhvr>
                                        <p:cTn id="39" dur="500"/>
                                        <p:tgtEl>
                                          <p:spTgt spid="2766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linds(horizontal)">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58404"/>
                                        </p:tgtEl>
                                        <p:attrNameLst>
                                          <p:attrName>style.visibility</p:attrName>
                                        </p:attrNameLst>
                                      </p:cBhvr>
                                      <p:to>
                                        <p:strVal val="visible"/>
                                      </p:to>
                                    </p:set>
                                    <p:animEffect transition="in" filter="blinds(horizontal)">
                                      <p:cBhvr>
                                        <p:cTn id="49" dur="500"/>
                                        <p:tgtEl>
                                          <p:spTgt spid="35840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linds(horizontal)">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blinds(horizontal)">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linds(horizontal)">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linds(horizontal)">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27656" grpId="0" bldLvl="0" animBg="1"/>
      <p:bldP spid="27657" grpId="0" bldLvl="0" animBg="1"/>
      <p:bldP spid="27658" grpId="0" bldLvl="0" animBg="1"/>
      <p:bldP spid="27659" grpId="0" bldLvl="0" animBg="1"/>
      <p:bldP spid="27660" grpId="0" bldLvl="0" animBg="1"/>
      <p:bldP spid="27661" grpId="0" bldLvl="0" animBg="1"/>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4"/>
          <p:cNvSpPr/>
          <p:nvPr/>
        </p:nvSpPr>
        <p:spPr>
          <a:xfrm>
            <a:off x="6084888" y="2349500"/>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4-20</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2" name="Rectangle 2"/>
          <p:cNvSpPr txBox="1"/>
          <p:nvPr/>
        </p:nvSpPr>
        <p:spPr>
          <a:xfrm>
            <a:off x="0" y="0"/>
            <a:ext cx="3851275" cy="3284538"/>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endParaRPr lang="zh-CN" altLang="en-US" b="1" dirty="0">
              <a:solidFill>
                <a:schemeClr val="tx2"/>
              </a:solidFill>
              <a:latin typeface="Times New Roman" panose="02020603050405020304" pitchFamily="18" charset="0"/>
              <a:ea typeface="微软雅黑" pitchFamily="34" charset="-122"/>
            </a:endParaRPr>
          </a:p>
        </p:txBody>
      </p:sp>
      <p:pic>
        <p:nvPicPr>
          <p:cNvPr id="32772" name="Picture 7"/>
          <p:cNvPicPr>
            <a:picLocks noChangeAspect="1"/>
          </p:cNvPicPr>
          <p:nvPr/>
        </p:nvPicPr>
        <p:blipFill>
          <a:blip r:embed="rId2"/>
          <a:stretch>
            <a:fillRect/>
          </a:stretch>
        </p:blipFill>
        <p:spPr>
          <a:xfrm>
            <a:off x="3708400" y="0"/>
            <a:ext cx="5435600" cy="23463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4"/>
          <p:cNvGraphicFramePr>
            <a:graphicFrameLocks noChangeAspect="1"/>
          </p:cNvGraphicFramePr>
          <p:nvPr/>
        </p:nvGraphicFramePr>
        <p:xfrm>
          <a:off x="395288" y="260350"/>
          <a:ext cx="4267200" cy="2971800"/>
        </p:xfrm>
        <a:graphic>
          <a:graphicData uri="http://schemas.openxmlformats.org/presentationml/2006/ole">
            <mc:AlternateContent xmlns:mc="http://schemas.openxmlformats.org/markup-compatibility/2006">
              <mc:Choice xmlns:v="urn:schemas-microsoft-com:vml" Requires="v">
                <p:oleObj spid="_x0000_s19466" r:id="rId3" imgW="3603625" imgH="2317115" progId="Word.Document.8">
                  <p:embed/>
                </p:oleObj>
              </mc:Choice>
              <mc:Fallback>
                <p:oleObj r:id="rId3" imgW="3603625" imgH="2317115" progId="Word.Document.8">
                  <p:embed/>
                  <p:pic>
                    <p:nvPicPr>
                      <p:cNvPr id="33794" name="Object 4"/>
                      <p:cNvPicPr/>
                      <p:nvPr/>
                    </p:nvPicPr>
                    <p:blipFill>
                      <a:blip r:embed="rId4"/>
                      <a:stretch>
                        <a:fillRect/>
                      </a:stretch>
                    </p:blipFill>
                    <p:spPr>
                      <a:xfrm>
                        <a:off x="395288" y="260350"/>
                        <a:ext cx="4267200" cy="2971800"/>
                      </a:xfrm>
                      <a:prstGeom prst="rect">
                        <a:avLst/>
                      </a:prstGeom>
                      <a:noFill/>
                      <a:ln w="38100">
                        <a:noFill/>
                        <a:miter/>
                      </a:ln>
                    </p:spPr>
                  </p:pic>
                </p:oleObj>
              </mc:Fallback>
            </mc:AlternateContent>
          </a:graphicData>
        </a:graphic>
      </p:graphicFrame>
      <p:graphicFrame>
        <p:nvGraphicFramePr>
          <p:cNvPr id="471045" name="Object 5"/>
          <p:cNvGraphicFramePr>
            <a:graphicFrameLocks noChangeAspect="1"/>
          </p:cNvGraphicFramePr>
          <p:nvPr/>
        </p:nvGraphicFramePr>
        <p:xfrm>
          <a:off x="5029200" y="260350"/>
          <a:ext cx="4360863" cy="3429000"/>
        </p:xfrm>
        <a:graphic>
          <a:graphicData uri="http://schemas.openxmlformats.org/presentationml/2006/ole">
            <mc:AlternateContent xmlns:mc="http://schemas.openxmlformats.org/markup-compatibility/2006">
              <mc:Choice xmlns:v="urn:schemas-microsoft-com:vml" Requires="v">
                <p:oleObj spid="_x0000_s19467" r:id="rId5" imgW="4135120" imgH="2724150" progId="Word.Document.8">
                  <p:embed/>
                </p:oleObj>
              </mc:Choice>
              <mc:Fallback>
                <p:oleObj r:id="rId5" imgW="4135120" imgH="2724150" progId="Word.Document.8">
                  <p:embed/>
                  <p:pic>
                    <p:nvPicPr>
                      <p:cNvPr id="471045" name="Object 5"/>
                      <p:cNvPicPr/>
                      <p:nvPr/>
                    </p:nvPicPr>
                    <p:blipFill>
                      <a:blip r:embed="rId6"/>
                      <a:stretch>
                        <a:fillRect/>
                      </a:stretch>
                    </p:blipFill>
                    <p:spPr>
                      <a:xfrm>
                        <a:off x="5029200" y="260350"/>
                        <a:ext cx="4360863" cy="3429000"/>
                      </a:xfrm>
                      <a:prstGeom prst="rect">
                        <a:avLst/>
                      </a:prstGeom>
                      <a:noFill/>
                      <a:ln w="38100">
                        <a:noFill/>
                        <a:miter/>
                      </a:ln>
                    </p:spPr>
                  </p:pic>
                </p:oleObj>
              </mc:Fallback>
            </mc:AlternateContent>
          </a:graphicData>
        </a:graphic>
      </p:graphicFrame>
      <p:sp>
        <p:nvSpPr>
          <p:cNvPr id="471047" name="Text Box 7"/>
          <p:cNvSpPr txBox="1"/>
          <p:nvPr/>
        </p:nvSpPr>
        <p:spPr>
          <a:xfrm>
            <a:off x="7235825" y="1484313"/>
            <a:ext cx="304800" cy="457200"/>
          </a:xfrm>
          <a:prstGeom prst="rect">
            <a:avLst/>
          </a:prstGeom>
          <a:solidFill>
            <a:srgbClr val="0000FF"/>
          </a:solidFill>
          <a:ln w="9525">
            <a:noFill/>
          </a:ln>
        </p:spPr>
        <p:txBody>
          <a:bodyPr>
            <a:spAutoFit/>
          </a:bodyPr>
          <a:lstStyle/>
          <a:p>
            <a:pPr eaLnBrk="1" hangingPunct="1">
              <a:spcBef>
                <a:spcPct val="50000"/>
              </a:spcBef>
            </a:pPr>
            <a:endParaRPr lang="zh-CN" altLang="en-US" dirty="0">
              <a:latin typeface="Times New Roman" panose="02020603050405020304" pitchFamily="18" charset="0"/>
              <a:ea typeface="微软雅黑" pitchFamily="34" charset="-122"/>
            </a:endParaRPr>
          </a:p>
        </p:txBody>
      </p:sp>
      <p:sp>
        <p:nvSpPr>
          <p:cNvPr id="471048" name="Rectangle 8"/>
          <p:cNvSpPr/>
          <p:nvPr/>
        </p:nvSpPr>
        <p:spPr>
          <a:xfrm>
            <a:off x="3059113" y="1323975"/>
            <a:ext cx="533400" cy="304800"/>
          </a:xfrm>
          <a:prstGeom prst="rect">
            <a:avLst/>
          </a:prstGeom>
          <a:noFill/>
          <a:ln w="38100" cap="flat" cmpd="sng">
            <a:solidFill>
              <a:schemeClr val="hlink"/>
            </a:solidFill>
            <a:prstDash val="sysDot"/>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71050" name="Rectangle 10"/>
          <p:cNvSpPr/>
          <p:nvPr/>
        </p:nvSpPr>
        <p:spPr>
          <a:xfrm>
            <a:off x="7380288" y="1341438"/>
            <a:ext cx="533400" cy="304800"/>
          </a:xfrm>
          <a:prstGeom prst="rect">
            <a:avLst/>
          </a:prstGeom>
          <a:noFill/>
          <a:ln w="38100" cap="flat" cmpd="sng">
            <a:solidFill>
              <a:schemeClr val="hlink"/>
            </a:solidFill>
            <a:prstDash val="sysDot"/>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48"/>
                                        </p:tgtEl>
                                        <p:attrNameLst>
                                          <p:attrName>style.visibility</p:attrName>
                                        </p:attrNameLst>
                                      </p:cBhvr>
                                      <p:to>
                                        <p:strVal val="visible"/>
                                      </p:to>
                                    </p:set>
                                    <p:anim calcmode="lin" valueType="num">
                                      <p:cBhvr additive="base">
                                        <p:cTn id="7" dur="500" fill="hold"/>
                                        <p:tgtEl>
                                          <p:spTgt spid="471048"/>
                                        </p:tgtEl>
                                        <p:attrNameLst>
                                          <p:attrName>ppt_x</p:attrName>
                                        </p:attrNameLst>
                                      </p:cBhvr>
                                      <p:tavLst>
                                        <p:tav tm="0">
                                          <p:val>
                                            <p:strVal val="0-#ppt_w/2"/>
                                          </p:val>
                                        </p:tav>
                                        <p:tav tm="100000">
                                          <p:val>
                                            <p:strVal val="#ppt_x"/>
                                          </p:val>
                                        </p:tav>
                                      </p:tavLst>
                                    </p:anim>
                                    <p:anim calcmode="lin" valueType="num">
                                      <p:cBhvr additive="base">
                                        <p:cTn id="8" dur="500" fill="hold"/>
                                        <p:tgtEl>
                                          <p:spTgt spid="4710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1045"/>
                                        </p:tgtEl>
                                        <p:attrNameLst>
                                          <p:attrName>style.visibility</p:attrName>
                                        </p:attrNameLst>
                                      </p:cBhvr>
                                      <p:to>
                                        <p:strVal val="visible"/>
                                      </p:to>
                                    </p:set>
                                    <p:anim calcmode="lin" valueType="num">
                                      <p:cBhvr additive="base">
                                        <p:cTn id="13" dur="500" fill="hold"/>
                                        <p:tgtEl>
                                          <p:spTgt spid="471045"/>
                                        </p:tgtEl>
                                        <p:attrNameLst>
                                          <p:attrName>ppt_x</p:attrName>
                                        </p:attrNameLst>
                                      </p:cBhvr>
                                      <p:tavLst>
                                        <p:tav tm="0">
                                          <p:val>
                                            <p:strVal val="0-#ppt_w/2"/>
                                          </p:val>
                                        </p:tav>
                                        <p:tav tm="100000">
                                          <p:val>
                                            <p:strVal val="#ppt_x"/>
                                          </p:val>
                                        </p:tav>
                                      </p:tavLst>
                                    </p:anim>
                                    <p:anim calcmode="lin" valueType="num">
                                      <p:cBhvr additive="base">
                                        <p:cTn id="14" dur="500" fill="hold"/>
                                        <p:tgtEl>
                                          <p:spTgt spid="4710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1050"/>
                                        </p:tgtEl>
                                        <p:attrNameLst>
                                          <p:attrName>style.visibility</p:attrName>
                                        </p:attrNameLst>
                                      </p:cBhvr>
                                      <p:to>
                                        <p:strVal val="visible"/>
                                      </p:to>
                                    </p:set>
                                    <p:anim calcmode="lin" valueType="num">
                                      <p:cBhvr additive="base">
                                        <p:cTn id="19" dur="500" fill="hold"/>
                                        <p:tgtEl>
                                          <p:spTgt spid="471050"/>
                                        </p:tgtEl>
                                        <p:attrNameLst>
                                          <p:attrName>ppt_x</p:attrName>
                                        </p:attrNameLst>
                                      </p:cBhvr>
                                      <p:tavLst>
                                        <p:tav tm="0">
                                          <p:val>
                                            <p:strVal val="0-#ppt_w/2"/>
                                          </p:val>
                                        </p:tav>
                                        <p:tav tm="100000">
                                          <p:val>
                                            <p:strVal val="#ppt_x"/>
                                          </p:val>
                                        </p:tav>
                                      </p:tavLst>
                                    </p:anim>
                                    <p:anim calcmode="lin" valueType="num">
                                      <p:cBhvr additive="base">
                                        <p:cTn id="20" dur="500" fill="hold"/>
                                        <p:tgtEl>
                                          <p:spTgt spid="4710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1047"/>
                                        </p:tgtEl>
                                        <p:attrNameLst>
                                          <p:attrName>style.visibility</p:attrName>
                                        </p:attrNameLst>
                                      </p:cBhvr>
                                      <p:to>
                                        <p:strVal val="visible"/>
                                      </p:to>
                                    </p:set>
                                    <p:anim calcmode="lin" valueType="num">
                                      <p:cBhvr additive="base">
                                        <p:cTn id="25" dur="500" fill="hold"/>
                                        <p:tgtEl>
                                          <p:spTgt spid="471047"/>
                                        </p:tgtEl>
                                        <p:attrNameLst>
                                          <p:attrName>ppt_x</p:attrName>
                                        </p:attrNameLst>
                                      </p:cBhvr>
                                      <p:tavLst>
                                        <p:tav tm="0">
                                          <p:val>
                                            <p:strVal val="0-#ppt_w/2"/>
                                          </p:val>
                                        </p:tav>
                                        <p:tav tm="100000">
                                          <p:val>
                                            <p:strVal val="#ppt_x"/>
                                          </p:val>
                                        </p:tav>
                                      </p:tavLst>
                                    </p:anim>
                                    <p:anim calcmode="lin" valueType="num">
                                      <p:cBhvr additive="base">
                                        <p:cTn id="26" dur="500" fill="hold"/>
                                        <p:tgtEl>
                                          <p:spTgt spid="4710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7" grpId="0" animBg="1"/>
      <p:bldP spid="471048" grpId="0" animBg="1"/>
      <p:bldP spid="4710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p:nvPr/>
        </p:nvSpPr>
        <p:spPr>
          <a:xfrm>
            <a:off x="6227763" y="4724400"/>
            <a:ext cx="1450975"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4-21</a:t>
            </a:r>
            <a:endParaRPr lang="zh-CN" altLang="en-US" dirty="0">
              <a:latin typeface="微软雅黑" pitchFamily="34" charset="-122"/>
              <a:ea typeface="微软雅黑" pitchFamily="34" charset="-122"/>
            </a:endParaRPr>
          </a:p>
        </p:txBody>
      </p:sp>
      <p:sp>
        <p:nvSpPr>
          <p:cNvPr id="34819" name="矩形 4"/>
          <p:cNvSpPr/>
          <p:nvPr/>
        </p:nvSpPr>
        <p:spPr>
          <a:xfrm>
            <a:off x="6084888" y="2349500"/>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4-20</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2" name="Rectangle 2"/>
          <p:cNvSpPr txBox="1"/>
          <p:nvPr/>
        </p:nvSpPr>
        <p:spPr>
          <a:xfrm>
            <a:off x="0" y="0"/>
            <a:ext cx="3851275" cy="4149725"/>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endParaRPr lang="en-US" altLang="zh-CN" b="1" dirty="0">
              <a:latin typeface="Times New Roman" panose="02020603050405020304" pitchFamily="18" charset="0"/>
              <a:ea typeface="微软雅黑" pitchFamily="34" charset="-122"/>
            </a:endParaRPr>
          </a:p>
          <a:p>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得到调整方案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所示</a:t>
            </a:r>
            <a:endParaRPr lang="zh-CN" altLang="en-US" b="1" dirty="0">
              <a:solidFill>
                <a:schemeClr val="tx2"/>
              </a:solidFill>
              <a:latin typeface="Times New Roman" panose="02020603050405020304" pitchFamily="18" charset="0"/>
              <a:ea typeface="微软雅黑" pitchFamily="34" charset="-122"/>
            </a:endParaRPr>
          </a:p>
        </p:txBody>
      </p:sp>
      <p:pic>
        <p:nvPicPr>
          <p:cNvPr id="359428" name="Picture 4"/>
          <p:cNvPicPr>
            <a:picLocks noChangeAspect="1"/>
          </p:cNvPicPr>
          <p:nvPr/>
        </p:nvPicPr>
        <p:blipFill>
          <a:blip r:embed="rId2"/>
          <a:stretch>
            <a:fillRect/>
          </a:stretch>
        </p:blipFill>
        <p:spPr>
          <a:xfrm>
            <a:off x="4356100" y="2781300"/>
            <a:ext cx="4787900" cy="1989138"/>
          </a:xfrm>
          <a:prstGeom prst="rect">
            <a:avLst/>
          </a:prstGeom>
          <a:noFill/>
          <a:ln w="9525">
            <a:noFill/>
          </a:ln>
        </p:spPr>
      </p:pic>
      <p:pic>
        <p:nvPicPr>
          <p:cNvPr id="34822" name="Picture 7"/>
          <p:cNvPicPr>
            <a:picLocks noChangeAspect="1"/>
          </p:cNvPicPr>
          <p:nvPr/>
        </p:nvPicPr>
        <p:blipFill>
          <a:blip r:embed="rId3"/>
          <a:stretch>
            <a:fillRect/>
          </a:stretch>
        </p:blipFill>
        <p:spPr>
          <a:xfrm>
            <a:off x="3708400" y="0"/>
            <a:ext cx="5435600" cy="2346325"/>
          </a:xfrm>
          <a:prstGeom prst="rect">
            <a:avLst/>
          </a:prstGeom>
          <a:noFill/>
          <a:ln w="9525">
            <a:noFill/>
          </a:ln>
        </p:spPr>
      </p:pic>
      <p:sp>
        <p:nvSpPr>
          <p:cNvPr id="6" name="Rectangle 2"/>
          <p:cNvSpPr txBox="1"/>
          <p:nvPr/>
        </p:nvSpPr>
        <p:spPr>
          <a:xfrm>
            <a:off x="0" y="5353050"/>
            <a:ext cx="9144000" cy="1504950"/>
          </a:xfrm>
          <a:prstGeom prst="rect">
            <a:avLst/>
          </a:prstGeom>
          <a:noFill/>
          <a:ln w="9525">
            <a:noFill/>
          </a:ln>
        </p:spPr>
        <p:txBody>
          <a:bodyPr/>
          <a:lstStyle/>
          <a:p>
            <a:r>
              <a:rPr lang="zh-CN" altLang="en-US" b="1" dirty="0">
                <a:latin typeface="微软雅黑" pitchFamily="34" charset="-122"/>
                <a:ea typeface="微软雅黑" pitchFamily="34" charset="-122"/>
              </a:rPr>
              <a:t>对表</a:t>
            </a:r>
            <a:r>
              <a:rPr lang="en-US" altLang="zh-CN" b="1" dirty="0">
                <a:latin typeface="微软雅黑" pitchFamily="34" charset="-122"/>
                <a:ea typeface="微软雅黑" pitchFamily="34" charset="-122"/>
              </a:rPr>
              <a:t>4-21</a:t>
            </a:r>
            <a:r>
              <a:rPr lang="zh-CN" altLang="en-US" b="1" dirty="0">
                <a:latin typeface="微软雅黑" pitchFamily="34" charset="-122"/>
                <a:ea typeface="微软雅黑" pitchFamily="34" charset="-122"/>
              </a:rPr>
              <a:t>给出的解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再用闭回路法或位势法求各空格的检验数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359428"/>
                                        </p:tgtEl>
                                        <p:attrNameLst>
                                          <p:attrName>style.visibility</p:attrName>
                                        </p:attrNameLst>
                                      </p:cBhvr>
                                      <p:to>
                                        <p:strVal val="visible"/>
                                      </p:to>
                                    </p:set>
                                    <p:animEffect transition="in" filter="blinds(horizontal)">
                                      <p:cBhvr>
                                        <p:cTn id="15" dur="500"/>
                                        <p:tgtEl>
                                          <p:spTgt spid="35942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dissolve">
                                      <p:cBhvr>
                                        <p:cTn id="2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19"/>
          <p:cNvGraphicFramePr>
            <a:graphicFrameLocks noChangeAspect="1"/>
          </p:cNvGraphicFramePr>
          <p:nvPr/>
        </p:nvGraphicFramePr>
        <p:xfrm>
          <a:off x="755650" y="476250"/>
          <a:ext cx="4419600" cy="2743200"/>
        </p:xfrm>
        <a:graphic>
          <a:graphicData uri="http://schemas.openxmlformats.org/presentationml/2006/ole">
            <mc:AlternateContent xmlns:mc="http://schemas.openxmlformats.org/markup-compatibility/2006">
              <mc:Choice xmlns:v="urn:schemas-microsoft-com:vml" Requires="v">
                <p:oleObj spid="_x0000_s20498" r:id="rId3" imgW="3587750" imgH="2317115" progId="Word.Document.8">
                  <p:embed/>
                </p:oleObj>
              </mc:Choice>
              <mc:Fallback>
                <p:oleObj r:id="rId3" imgW="3587750" imgH="2317115" progId="Word.Document.8">
                  <p:embed/>
                  <p:pic>
                    <p:nvPicPr>
                      <p:cNvPr id="35842" name="Object 19"/>
                      <p:cNvPicPr/>
                      <p:nvPr/>
                    </p:nvPicPr>
                    <p:blipFill>
                      <a:blip r:embed="rId4"/>
                      <a:stretch>
                        <a:fillRect/>
                      </a:stretch>
                    </p:blipFill>
                    <p:spPr>
                      <a:xfrm>
                        <a:off x="755650" y="476250"/>
                        <a:ext cx="4419600" cy="2743200"/>
                      </a:xfrm>
                      <a:prstGeom prst="rect">
                        <a:avLst/>
                      </a:prstGeom>
                      <a:noFill/>
                      <a:ln w="38100">
                        <a:noFill/>
                        <a:miter/>
                      </a:ln>
                    </p:spPr>
                  </p:pic>
                </p:oleObj>
              </mc:Fallback>
            </mc:AlternateContent>
          </a:graphicData>
        </a:graphic>
      </p:graphicFrame>
      <p:graphicFrame>
        <p:nvGraphicFramePr>
          <p:cNvPr id="473090" name="Object 2"/>
          <p:cNvGraphicFramePr>
            <a:graphicFrameLocks noChangeAspect="1"/>
          </p:cNvGraphicFramePr>
          <p:nvPr/>
        </p:nvGraphicFramePr>
        <p:xfrm>
          <a:off x="914400" y="3894138"/>
          <a:ext cx="4383088" cy="2868612"/>
        </p:xfrm>
        <a:graphic>
          <a:graphicData uri="http://schemas.openxmlformats.org/presentationml/2006/ole">
            <mc:AlternateContent xmlns:mc="http://schemas.openxmlformats.org/markup-compatibility/2006">
              <mc:Choice xmlns:v="urn:schemas-microsoft-com:vml" Requires="v">
                <p:oleObj spid="_x0000_s20499" r:id="rId5" imgW="3536950" imgH="2317115" progId="Word.Document.8">
                  <p:embed/>
                </p:oleObj>
              </mc:Choice>
              <mc:Fallback>
                <p:oleObj r:id="rId5" imgW="3536950" imgH="2317115" progId="Word.Document.8">
                  <p:embed/>
                  <p:pic>
                    <p:nvPicPr>
                      <p:cNvPr id="473090" name="Object 2"/>
                      <p:cNvPicPr/>
                      <p:nvPr/>
                    </p:nvPicPr>
                    <p:blipFill>
                      <a:blip r:embed="rId6"/>
                      <a:stretch>
                        <a:fillRect/>
                      </a:stretch>
                    </p:blipFill>
                    <p:spPr>
                      <a:xfrm>
                        <a:off x="914400" y="3894138"/>
                        <a:ext cx="4383088" cy="2868612"/>
                      </a:xfrm>
                      <a:prstGeom prst="rect">
                        <a:avLst/>
                      </a:prstGeom>
                      <a:noFill/>
                      <a:ln w="38100">
                        <a:noFill/>
                        <a:miter/>
                      </a:ln>
                    </p:spPr>
                  </p:pic>
                </p:oleObj>
              </mc:Fallback>
            </mc:AlternateContent>
          </a:graphicData>
        </a:graphic>
      </p:graphicFrame>
      <p:sp>
        <p:nvSpPr>
          <p:cNvPr id="473091" name="Text Box 3"/>
          <p:cNvSpPr txBox="1"/>
          <p:nvPr/>
        </p:nvSpPr>
        <p:spPr>
          <a:xfrm>
            <a:off x="1447800" y="3505200"/>
            <a:ext cx="33528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位势表</a:t>
            </a:r>
          </a:p>
        </p:txBody>
      </p:sp>
      <p:sp>
        <p:nvSpPr>
          <p:cNvPr id="473092" name="Text Box 4"/>
          <p:cNvSpPr txBox="1"/>
          <p:nvPr/>
        </p:nvSpPr>
        <p:spPr>
          <a:xfrm>
            <a:off x="2209800" y="57150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1</a:t>
            </a:r>
          </a:p>
        </p:txBody>
      </p:sp>
      <p:sp>
        <p:nvSpPr>
          <p:cNvPr id="473093" name="Text Box 5"/>
          <p:cNvSpPr txBox="1"/>
          <p:nvPr/>
        </p:nvSpPr>
        <p:spPr>
          <a:xfrm>
            <a:off x="4800600" y="5029200"/>
            <a:ext cx="457200" cy="366713"/>
          </a:xfrm>
          <a:prstGeom prst="rect">
            <a:avLst/>
          </a:prstGeom>
          <a:noFill/>
          <a:ln w="9525">
            <a:noFill/>
          </a:ln>
        </p:spPr>
        <p:txBody>
          <a:bodyPr>
            <a:spAutoFit/>
          </a:bodyPr>
          <a:lstStyle/>
          <a:p>
            <a:pPr eaLnBrk="1" hangingPunct="1">
              <a:spcBef>
                <a:spcPct val="50000"/>
              </a:spcBef>
            </a:pPr>
            <a:r>
              <a:rPr lang="en-US" altLang="zh-CN" sz="1800" dirty="0">
                <a:solidFill>
                  <a:schemeClr val="bg1"/>
                </a:solidFill>
                <a:latin typeface="Times New Roman" panose="02020603050405020304" pitchFamily="18" charset="0"/>
                <a:ea typeface="微软雅黑" pitchFamily="34" charset="-122"/>
              </a:rPr>
              <a:t>0</a:t>
            </a:r>
          </a:p>
        </p:txBody>
      </p:sp>
      <p:sp>
        <p:nvSpPr>
          <p:cNvPr id="473095" name="Text Box 7"/>
          <p:cNvSpPr txBox="1"/>
          <p:nvPr/>
        </p:nvSpPr>
        <p:spPr>
          <a:xfrm>
            <a:off x="4800600" y="4724400"/>
            <a:ext cx="4572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2</a:t>
            </a:r>
          </a:p>
        </p:txBody>
      </p:sp>
      <p:sp>
        <p:nvSpPr>
          <p:cNvPr id="473094" name="Text Box 6"/>
          <p:cNvSpPr txBox="1"/>
          <p:nvPr/>
        </p:nvSpPr>
        <p:spPr>
          <a:xfrm>
            <a:off x="3581400" y="57150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1</a:t>
            </a:r>
          </a:p>
        </p:txBody>
      </p:sp>
      <p:sp>
        <p:nvSpPr>
          <p:cNvPr id="473096" name="Text Box 8"/>
          <p:cNvSpPr txBox="1"/>
          <p:nvPr/>
        </p:nvSpPr>
        <p:spPr>
          <a:xfrm>
            <a:off x="4191000" y="5715000"/>
            <a:ext cx="5334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8</a:t>
            </a:r>
          </a:p>
        </p:txBody>
      </p:sp>
      <p:sp>
        <p:nvSpPr>
          <p:cNvPr id="473097" name="Text Box 9"/>
          <p:cNvSpPr txBox="1"/>
          <p:nvPr/>
        </p:nvSpPr>
        <p:spPr>
          <a:xfrm>
            <a:off x="4724400" y="5300663"/>
            <a:ext cx="5334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-3</a:t>
            </a:r>
          </a:p>
        </p:txBody>
      </p:sp>
      <p:sp>
        <p:nvSpPr>
          <p:cNvPr id="473098" name="Text Box 10"/>
          <p:cNvSpPr txBox="1"/>
          <p:nvPr/>
        </p:nvSpPr>
        <p:spPr>
          <a:xfrm>
            <a:off x="2895600" y="5715000"/>
            <a:ext cx="4572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7</a:t>
            </a:r>
          </a:p>
        </p:txBody>
      </p:sp>
      <p:sp>
        <p:nvSpPr>
          <p:cNvPr id="473099" name="Text Box 11"/>
          <p:cNvSpPr txBox="1"/>
          <p:nvPr/>
        </p:nvSpPr>
        <p:spPr>
          <a:xfrm>
            <a:off x="1981200" y="4724400"/>
            <a:ext cx="9144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3</a:t>
            </a:r>
            <a:r>
              <a:rPr lang="zh-CN" altLang="en-US" sz="1800" dirty="0">
                <a:solidFill>
                  <a:schemeClr val="bg1"/>
                </a:solidFill>
                <a:latin typeface="Times New Roman" panose="02020603050405020304" pitchFamily="18" charset="0"/>
                <a:ea typeface="微软雅黑" pitchFamily="34" charset="-122"/>
              </a:rPr>
              <a:t>）</a:t>
            </a:r>
          </a:p>
        </p:txBody>
      </p:sp>
      <p:sp>
        <p:nvSpPr>
          <p:cNvPr id="473100" name="Text Box 12"/>
          <p:cNvSpPr txBox="1"/>
          <p:nvPr/>
        </p:nvSpPr>
        <p:spPr>
          <a:xfrm>
            <a:off x="2667000" y="47244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3101" name="Text Box 13"/>
          <p:cNvSpPr txBox="1"/>
          <p:nvPr/>
        </p:nvSpPr>
        <p:spPr>
          <a:xfrm>
            <a:off x="2667000" y="50292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7</a:t>
            </a:r>
            <a:r>
              <a:rPr lang="zh-CN" altLang="en-US" sz="1800" dirty="0">
                <a:solidFill>
                  <a:schemeClr val="bg1"/>
                </a:solidFill>
                <a:latin typeface="Times New Roman" panose="02020603050405020304" pitchFamily="18" charset="0"/>
                <a:ea typeface="微软雅黑" pitchFamily="34" charset="-122"/>
              </a:rPr>
              <a:t>）</a:t>
            </a:r>
          </a:p>
        </p:txBody>
      </p:sp>
      <p:sp>
        <p:nvSpPr>
          <p:cNvPr id="473102" name="Text Box 14"/>
          <p:cNvSpPr txBox="1"/>
          <p:nvPr/>
        </p:nvSpPr>
        <p:spPr>
          <a:xfrm>
            <a:off x="3352800" y="5029200"/>
            <a:ext cx="10668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1</a:t>
            </a:r>
            <a:r>
              <a:rPr lang="zh-CN" altLang="en-US" sz="1800" dirty="0">
                <a:solidFill>
                  <a:schemeClr val="bg1"/>
                </a:solidFill>
                <a:latin typeface="Times New Roman" panose="02020603050405020304" pitchFamily="18" charset="0"/>
                <a:ea typeface="微软雅黑" pitchFamily="34" charset="-122"/>
              </a:rPr>
              <a:t>）</a:t>
            </a:r>
          </a:p>
        </p:txBody>
      </p:sp>
      <p:sp>
        <p:nvSpPr>
          <p:cNvPr id="473103" name="Text Box 15"/>
          <p:cNvSpPr txBox="1"/>
          <p:nvPr/>
        </p:nvSpPr>
        <p:spPr>
          <a:xfrm>
            <a:off x="1905000" y="52578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sp>
        <p:nvSpPr>
          <p:cNvPr id="473104" name="Text Box 16"/>
          <p:cNvSpPr txBox="1"/>
          <p:nvPr/>
        </p:nvSpPr>
        <p:spPr>
          <a:xfrm>
            <a:off x="3352800" y="5257800"/>
            <a:ext cx="9906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graphicFrame>
        <p:nvGraphicFramePr>
          <p:cNvPr id="473105" name="Object 17"/>
          <p:cNvGraphicFramePr>
            <a:graphicFrameLocks noChangeAspect="1"/>
          </p:cNvGraphicFramePr>
          <p:nvPr/>
        </p:nvGraphicFramePr>
        <p:xfrm>
          <a:off x="5292725" y="549275"/>
          <a:ext cx="3505200" cy="2590800"/>
        </p:xfrm>
        <a:graphic>
          <a:graphicData uri="http://schemas.openxmlformats.org/presentationml/2006/ole">
            <mc:AlternateContent xmlns:mc="http://schemas.openxmlformats.org/markup-compatibility/2006">
              <mc:Choice xmlns:v="urn:schemas-microsoft-com:vml" Requires="v">
                <p:oleObj spid="_x0000_s20500" r:id="rId7" imgW="2786380" imgH="2114550" progId="Word.Document.8">
                  <p:embed/>
                </p:oleObj>
              </mc:Choice>
              <mc:Fallback>
                <p:oleObj r:id="rId7" imgW="2786380" imgH="2114550" progId="Word.Document.8">
                  <p:embed/>
                  <p:pic>
                    <p:nvPicPr>
                      <p:cNvPr id="473105" name="Object 17"/>
                      <p:cNvPicPr/>
                      <p:nvPr/>
                    </p:nvPicPr>
                    <p:blipFill>
                      <a:blip r:embed="rId8"/>
                      <a:stretch>
                        <a:fillRect/>
                      </a:stretch>
                    </p:blipFill>
                    <p:spPr>
                      <a:xfrm>
                        <a:off x="5292725" y="549275"/>
                        <a:ext cx="3505200" cy="2590800"/>
                      </a:xfrm>
                      <a:prstGeom prst="rect">
                        <a:avLst/>
                      </a:prstGeom>
                      <a:noFill/>
                      <a:ln w="38100">
                        <a:noFill/>
                        <a:miter/>
                      </a:ln>
                    </p:spPr>
                  </p:pic>
                </p:oleObj>
              </mc:Fallback>
            </mc:AlternateContent>
          </a:graphicData>
        </a:graphic>
      </p:graphicFrame>
      <p:sp>
        <p:nvSpPr>
          <p:cNvPr id="473106" name="Text Box 18"/>
          <p:cNvSpPr txBox="1"/>
          <p:nvPr/>
        </p:nvSpPr>
        <p:spPr>
          <a:xfrm>
            <a:off x="5562600" y="3505200"/>
            <a:ext cx="28194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检验数表</a:t>
            </a:r>
          </a:p>
        </p:txBody>
      </p:sp>
      <p:graphicFrame>
        <p:nvGraphicFramePr>
          <p:cNvPr id="473108" name="Object 20"/>
          <p:cNvGraphicFramePr>
            <a:graphicFrameLocks noChangeAspect="1"/>
          </p:cNvGraphicFramePr>
          <p:nvPr/>
        </p:nvGraphicFramePr>
        <p:xfrm>
          <a:off x="5334000" y="3962400"/>
          <a:ext cx="3505200" cy="2286000"/>
        </p:xfrm>
        <a:graphic>
          <a:graphicData uri="http://schemas.openxmlformats.org/presentationml/2006/ole">
            <mc:AlternateContent xmlns:mc="http://schemas.openxmlformats.org/markup-compatibility/2006">
              <mc:Choice xmlns:v="urn:schemas-microsoft-com:vml" Requires="v">
                <p:oleObj spid="_x0000_s20501" r:id="rId9" imgW="2859405" imgH="2114550" progId="Word.Document.8">
                  <p:embed/>
                </p:oleObj>
              </mc:Choice>
              <mc:Fallback>
                <p:oleObj r:id="rId9" imgW="2859405" imgH="2114550" progId="Word.Document.8">
                  <p:embed/>
                  <p:pic>
                    <p:nvPicPr>
                      <p:cNvPr id="473108" name="Object 20"/>
                      <p:cNvPicPr/>
                      <p:nvPr/>
                    </p:nvPicPr>
                    <p:blipFill>
                      <a:blip r:embed="rId10"/>
                      <a:stretch>
                        <a:fillRect/>
                      </a:stretch>
                    </p:blipFill>
                    <p:spPr>
                      <a:xfrm>
                        <a:off x="5334000" y="3962400"/>
                        <a:ext cx="3505200" cy="2286000"/>
                      </a:xfrm>
                      <a:prstGeom prst="rect">
                        <a:avLst/>
                      </a:prstGeom>
                      <a:noFill/>
                      <a:ln w="38100">
                        <a:noFill/>
                        <a:miter/>
                      </a:ln>
                    </p:spPr>
                  </p:pic>
                </p:oleObj>
              </mc:Fallback>
            </mc:AlternateContent>
          </a:graphicData>
        </a:graphic>
      </p:graphicFrame>
      <p:sp>
        <p:nvSpPr>
          <p:cNvPr id="473110" name="Text Box 22"/>
          <p:cNvSpPr txBox="1"/>
          <p:nvPr/>
        </p:nvSpPr>
        <p:spPr>
          <a:xfrm>
            <a:off x="5364163" y="5867400"/>
            <a:ext cx="3779837"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检验数都非负</a:t>
            </a:r>
            <a:r>
              <a:rPr lang="zh-CN" altLang="en-US" b="1" dirty="0">
                <a:solidFill>
                  <a:schemeClr val="hlink"/>
                </a:solidFill>
                <a:latin typeface="仿宋" pitchFamily="49" charset="-122"/>
                <a:ea typeface="仿宋" pitchFamily="49" charset="-122"/>
              </a:rPr>
              <a:t>，</a:t>
            </a:r>
            <a:r>
              <a:rPr lang="zh-CN" altLang="en-US" b="1" dirty="0">
                <a:solidFill>
                  <a:schemeClr val="hlink"/>
                </a:solidFill>
                <a:latin typeface="Times New Roman" panose="02020603050405020304" pitchFamily="18" charset="0"/>
                <a:ea typeface="微软雅黑" pitchFamily="34" charset="-122"/>
              </a:rPr>
              <a:t>得最优解</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3105"/>
                                        </p:tgtEl>
                                        <p:attrNameLst>
                                          <p:attrName>style.visibility</p:attrName>
                                        </p:attrNameLst>
                                      </p:cBhvr>
                                      <p:to>
                                        <p:strVal val="visible"/>
                                      </p:to>
                                    </p:set>
                                    <p:anim calcmode="lin" valueType="num">
                                      <p:cBhvr additive="base">
                                        <p:cTn id="7" dur="500" fill="hold"/>
                                        <p:tgtEl>
                                          <p:spTgt spid="473105"/>
                                        </p:tgtEl>
                                        <p:attrNameLst>
                                          <p:attrName>ppt_x</p:attrName>
                                        </p:attrNameLst>
                                      </p:cBhvr>
                                      <p:tavLst>
                                        <p:tav tm="0">
                                          <p:val>
                                            <p:strVal val="0-#ppt_w/2"/>
                                          </p:val>
                                        </p:tav>
                                        <p:tav tm="100000">
                                          <p:val>
                                            <p:strVal val="#ppt_x"/>
                                          </p:val>
                                        </p:tav>
                                      </p:tavLst>
                                    </p:anim>
                                    <p:anim calcmode="lin" valueType="num">
                                      <p:cBhvr additive="base">
                                        <p:cTn id="8" dur="500" fill="hold"/>
                                        <p:tgtEl>
                                          <p:spTgt spid="4731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3091"/>
                                        </p:tgtEl>
                                        <p:attrNameLst>
                                          <p:attrName>style.visibility</p:attrName>
                                        </p:attrNameLst>
                                      </p:cBhvr>
                                      <p:to>
                                        <p:strVal val="visible"/>
                                      </p:to>
                                    </p:set>
                                    <p:anim calcmode="lin" valueType="num">
                                      <p:cBhvr additive="base">
                                        <p:cTn id="13" dur="500" fill="hold"/>
                                        <p:tgtEl>
                                          <p:spTgt spid="473091"/>
                                        </p:tgtEl>
                                        <p:attrNameLst>
                                          <p:attrName>ppt_x</p:attrName>
                                        </p:attrNameLst>
                                      </p:cBhvr>
                                      <p:tavLst>
                                        <p:tav tm="0">
                                          <p:val>
                                            <p:strVal val="0-#ppt_w/2"/>
                                          </p:val>
                                        </p:tav>
                                        <p:tav tm="100000">
                                          <p:val>
                                            <p:strVal val="#ppt_x"/>
                                          </p:val>
                                        </p:tav>
                                      </p:tavLst>
                                    </p:anim>
                                    <p:anim calcmode="lin" valueType="num">
                                      <p:cBhvr additive="base">
                                        <p:cTn id="14" dur="500" fill="hold"/>
                                        <p:tgtEl>
                                          <p:spTgt spid="4730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3090"/>
                                        </p:tgtEl>
                                        <p:attrNameLst>
                                          <p:attrName>style.visibility</p:attrName>
                                        </p:attrNameLst>
                                      </p:cBhvr>
                                      <p:to>
                                        <p:strVal val="visible"/>
                                      </p:to>
                                    </p:set>
                                    <p:anim calcmode="lin" valueType="num">
                                      <p:cBhvr additive="base">
                                        <p:cTn id="19" dur="500" fill="hold"/>
                                        <p:tgtEl>
                                          <p:spTgt spid="473090"/>
                                        </p:tgtEl>
                                        <p:attrNameLst>
                                          <p:attrName>ppt_x</p:attrName>
                                        </p:attrNameLst>
                                      </p:cBhvr>
                                      <p:tavLst>
                                        <p:tav tm="0">
                                          <p:val>
                                            <p:strVal val="0-#ppt_w/2"/>
                                          </p:val>
                                        </p:tav>
                                        <p:tav tm="100000">
                                          <p:val>
                                            <p:strVal val="#ppt_x"/>
                                          </p:val>
                                        </p:tav>
                                      </p:tavLst>
                                    </p:anim>
                                    <p:anim calcmode="lin" valueType="num">
                                      <p:cBhvr additive="base">
                                        <p:cTn id="20" dur="500" fill="hold"/>
                                        <p:tgtEl>
                                          <p:spTgt spid="47309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3093"/>
                                        </p:tgtEl>
                                        <p:attrNameLst>
                                          <p:attrName>style.visibility</p:attrName>
                                        </p:attrNameLst>
                                      </p:cBhvr>
                                      <p:to>
                                        <p:strVal val="visible"/>
                                      </p:to>
                                    </p:set>
                                    <p:anim calcmode="lin" valueType="num">
                                      <p:cBhvr additive="base">
                                        <p:cTn id="25" dur="500" fill="hold"/>
                                        <p:tgtEl>
                                          <p:spTgt spid="473093"/>
                                        </p:tgtEl>
                                        <p:attrNameLst>
                                          <p:attrName>ppt_x</p:attrName>
                                        </p:attrNameLst>
                                      </p:cBhvr>
                                      <p:tavLst>
                                        <p:tav tm="0">
                                          <p:val>
                                            <p:strVal val="0-#ppt_w/2"/>
                                          </p:val>
                                        </p:tav>
                                        <p:tav tm="100000">
                                          <p:val>
                                            <p:strVal val="#ppt_x"/>
                                          </p:val>
                                        </p:tav>
                                      </p:tavLst>
                                    </p:anim>
                                    <p:anim calcmode="lin" valueType="num">
                                      <p:cBhvr additive="base">
                                        <p:cTn id="26" dur="500" fill="hold"/>
                                        <p:tgtEl>
                                          <p:spTgt spid="47309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3092"/>
                                        </p:tgtEl>
                                        <p:attrNameLst>
                                          <p:attrName>style.visibility</p:attrName>
                                        </p:attrNameLst>
                                      </p:cBhvr>
                                      <p:to>
                                        <p:strVal val="visible"/>
                                      </p:to>
                                    </p:set>
                                    <p:anim calcmode="lin" valueType="num">
                                      <p:cBhvr additive="base">
                                        <p:cTn id="31" dur="500" fill="hold"/>
                                        <p:tgtEl>
                                          <p:spTgt spid="473092"/>
                                        </p:tgtEl>
                                        <p:attrNameLst>
                                          <p:attrName>ppt_x</p:attrName>
                                        </p:attrNameLst>
                                      </p:cBhvr>
                                      <p:tavLst>
                                        <p:tav tm="0">
                                          <p:val>
                                            <p:strVal val="0-#ppt_w/2"/>
                                          </p:val>
                                        </p:tav>
                                        <p:tav tm="100000">
                                          <p:val>
                                            <p:strVal val="#ppt_x"/>
                                          </p:val>
                                        </p:tav>
                                      </p:tavLst>
                                    </p:anim>
                                    <p:anim calcmode="lin" valueType="num">
                                      <p:cBhvr additive="base">
                                        <p:cTn id="32" dur="500" fill="hold"/>
                                        <p:tgtEl>
                                          <p:spTgt spid="47309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73096"/>
                                        </p:tgtEl>
                                        <p:attrNameLst>
                                          <p:attrName>style.visibility</p:attrName>
                                        </p:attrNameLst>
                                      </p:cBhvr>
                                      <p:to>
                                        <p:strVal val="visible"/>
                                      </p:to>
                                    </p:set>
                                    <p:anim calcmode="lin" valueType="num">
                                      <p:cBhvr additive="base">
                                        <p:cTn id="37" dur="500" fill="hold"/>
                                        <p:tgtEl>
                                          <p:spTgt spid="473096"/>
                                        </p:tgtEl>
                                        <p:attrNameLst>
                                          <p:attrName>ppt_x</p:attrName>
                                        </p:attrNameLst>
                                      </p:cBhvr>
                                      <p:tavLst>
                                        <p:tav tm="0">
                                          <p:val>
                                            <p:strVal val="0-#ppt_w/2"/>
                                          </p:val>
                                        </p:tav>
                                        <p:tav tm="100000">
                                          <p:val>
                                            <p:strVal val="#ppt_x"/>
                                          </p:val>
                                        </p:tav>
                                      </p:tavLst>
                                    </p:anim>
                                    <p:anim calcmode="lin" valueType="num">
                                      <p:cBhvr additive="base">
                                        <p:cTn id="38" dur="500" fill="hold"/>
                                        <p:tgtEl>
                                          <p:spTgt spid="47309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73095"/>
                                        </p:tgtEl>
                                        <p:attrNameLst>
                                          <p:attrName>style.visibility</p:attrName>
                                        </p:attrNameLst>
                                      </p:cBhvr>
                                      <p:to>
                                        <p:strVal val="visible"/>
                                      </p:to>
                                    </p:set>
                                    <p:anim calcmode="lin" valueType="num">
                                      <p:cBhvr additive="base">
                                        <p:cTn id="43" dur="500" fill="hold"/>
                                        <p:tgtEl>
                                          <p:spTgt spid="473095"/>
                                        </p:tgtEl>
                                        <p:attrNameLst>
                                          <p:attrName>ppt_x</p:attrName>
                                        </p:attrNameLst>
                                      </p:cBhvr>
                                      <p:tavLst>
                                        <p:tav tm="0">
                                          <p:val>
                                            <p:strVal val="0-#ppt_w/2"/>
                                          </p:val>
                                        </p:tav>
                                        <p:tav tm="100000">
                                          <p:val>
                                            <p:strVal val="#ppt_x"/>
                                          </p:val>
                                        </p:tav>
                                      </p:tavLst>
                                    </p:anim>
                                    <p:anim calcmode="lin" valueType="num">
                                      <p:cBhvr additive="base">
                                        <p:cTn id="44" dur="500" fill="hold"/>
                                        <p:tgtEl>
                                          <p:spTgt spid="47309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73094"/>
                                        </p:tgtEl>
                                        <p:attrNameLst>
                                          <p:attrName>style.visibility</p:attrName>
                                        </p:attrNameLst>
                                      </p:cBhvr>
                                      <p:to>
                                        <p:strVal val="visible"/>
                                      </p:to>
                                    </p:set>
                                    <p:anim calcmode="lin" valueType="num">
                                      <p:cBhvr additive="base">
                                        <p:cTn id="49" dur="500" fill="hold"/>
                                        <p:tgtEl>
                                          <p:spTgt spid="473094"/>
                                        </p:tgtEl>
                                        <p:attrNameLst>
                                          <p:attrName>ppt_x</p:attrName>
                                        </p:attrNameLst>
                                      </p:cBhvr>
                                      <p:tavLst>
                                        <p:tav tm="0">
                                          <p:val>
                                            <p:strVal val="0-#ppt_w/2"/>
                                          </p:val>
                                        </p:tav>
                                        <p:tav tm="100000">
                                          <p:val>
                                            <p:strVal val="#ppt_x"/>
                                          </p:val>
                                        </p:tav>
                                      </p:tavLst>
                                    </p:anim>
                                    <p:anim calcmode="lin" valueType="num">
                                      <p:cBhvr additive="base">
                                        <p:cTn id="50" dur="500" fill="hold"/>
                                        <p:tgtEl>
                                          <p:spTgt spid="47309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73097"/>
                                        </p:tgtEl>
                                        <p:attrNameLst>
                                          <p:attrName>style.visibility</p:attrName>
                                        </p:attrNameLst>
                                      </p:cBhvr>
                                      <p:to>
                                        <p:strVal val="visible"/>
                                      </p:to>
                                    </p:set>
                                    <p:anim calcmode="lin" valueType="num">
                                      <p:cBhvr additive="base">
                                        <p:cTn id="55" dur="500" fill="hold"/>
                                        <p:tgtEl>
                                          <p:spTgt spid="473097"/>
                                        </p:tgtEl>
                                        <p:attrNameLst>
                                          <p:attrName>ppt_x</p:attrName>
                                        </p:attrNameLst>
                                      </p:cBhvr>
                                      <p:tavLst>
                                        <p:tav tm="0">
                                          <p:val>
                                            <p:strVal val="0-#ppt_w/2"/>
                                          </p:val>
                                        </p:tav>
                                        <p:tav tm="100000">
                                          <p:val>
                                            <p:strVal val="#ppt_x"/>
                                          </p:val>
                                        </p:tav>
                                      </p:tavLst>
                                    </p:anim>
                                    <p:anim calcmode="lin" valueType="num">
                                      <p:cBhvr additive="base">
                                        <p:cTn id="56" dur="500" fill="hold"/>
                                        <p:tgtEl>
                                          <p:spTgt spid="47309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73098"/>
                                        </p:tgtEl>
                                        <p:attrNameLst>
                                          <p:attrName>style.visibility</p:attrName>
                                        </p:attrNameLst>
                                      </p:cBhvr>
                                      <p:to>
                                        <p:strVal val="visible"/>
                                      </p:to>
                                    </p:set>
                                    <p:anim calcmode="lin" valueType="num">
                                      <p:cBhvr additive="base">
                                        <p:cTn id="61" dur="500" fill="hold"/>
                                        <p:tgtEl>
                                          <p:spTgt spid="473098"/>
                                        </p:tgtEl>
                                        <p:attrNameLst>
                                          <p:attrName>ppt_x</p:attrName>
                                        </p:attrNameLst>
                                      </p:cBhvr>
                                      <p:tavLst>
                                        <p:tav tm="0">
                                          <p:val>
                                            <p:strVal val="0-#ppt_w/2"/>
                                          </p:val>
                                        </p:tav>
                                        <p:tav tm="100000">
                                          <p:val>
                                            <p:strVal val="#ppt_x"/>
                                          </p:val>
                                        </p:tav>
                                      </p:tavLst>
                                    </p:anim>
                                    <p:anim calcmode="lin" valueType="num">
                                      <p:cBhvr additive="base">
                                        <p:cTn id="62" dur="500" fill="hold"/>
                                        <p:tgtEl>
                                          <p:spTgt spid="47309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73099"/>
                                        </p:tgtEl>
                                        <p:attrNameLst>
                                          <p:attrName>style.visibility</p:attrName>
                                        </p:attrNameLst>
                                      </p:cBhvr>
                                      <p:to>
                                        <p:strVal val="visible"/>
                                      </p:to>
                                    </p:set>
                                    <p:anim calcmode="lin" valueType="num">
                                      <p:cBhvr additive="base">
                                        <p:cTn id="67" dur="500" fill="hold"/>
                                        <p:tgtEl>
                                          <p:spTgt spid="473099"/>
                                        </p:tgtEl>
                                        <p:attrNameLst>
                                          <p:attrName>ppt_x</p:attrName>
                                        </p:attrNameLst>
                                      </p:cBhvr>
                                      <p:tavLst>
                                        <p:tav tm="0">
                                          <p:val>
                                            <p:strVal val="0-#ppt_w/2"/>
                                          </p:val>
                                        </p:tav>
                                        <p:tav tm="100000">
                                          <p:val>
                                            <p:strVal val="#ppt_x"/>
                                          </p:val>
                                        </p:tav>
                                      </p:tavLst>
                                    </p:anim>
                                    <p:anim calcmode="lin" valueType="num">
                                      <p:cBhvr additive="base">
                                        <p:cTn id="68" dur="500" fill="hold"/>
                                        <p:tgtEl>
                                          <p:spTgt spid="47309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73100"/>
                                        </p:tgtEl>
                                        <p:attrNameLst>
                                          <p:attrName>style.visibility</p:attrName>
                                        </p:attrNameLst>
                                      </p:cBhvr>
                                      <p:to>
                                        <p:strVal val="visible"/>
                                      </p:to>
                                    </p:set>
                                    <p:anim calcmode="lin" valueType="num">
                                      <p:cBhvr additive="base">
                                        <p:cTn id="73" dur="500" fill="hold"/>
                                        <p:tgtEl>
                                          <p:spTgt spid="473100"/>
                                        </p:tgtEl>
                                        <p:attrNameLst>
                                          <p:attrName>ppt_x</p:attrName>
                                        </p:attrNameLst>
                                      </p:cBhvr>
                                      <p:tavLst>
                                        <p:tav tm="0">
                                          <p:val>
                                            <p:strVal val="0-#ppt_w/2"/>
                                          </p:val>
                                        </p:tav>
                                        <p:tav tm="100000">
                                          <p:val>
                                            <p:strVal val="#ppt_x"/>
                                          </p:val>
                                        </p:tav>
                                      </p:tavLst>
                                    </p:anim>
                                    <p:anim calcmode="lin" valueType="num">
                                      <p:cBhvr additive="base">
                                        <p:cTn id="74" dur="500" fill="hold"/>
                                        <p:tgtEl>
                                          <p:spTgt spid="473100"/>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73101"/>
                                        </p:tgtEl>
                                        <p:attrNameLst>
                                          <p:attrName>style.visibility</p:attrName>
                                        </p:attrNameLst>
                                      </p:cBhvr>
                                      <p:to>
                                        <p:strVal val="visible"/>
                                      </p:to>
                                    </p:set>
                                    <p:anim calcmode="lin" valueType="num">
                                      <p:cBhvr additive="base">
                                        <p:cTn id="79" dur="500" fill="hold"/>
                                        <p:tgtEl>
                                          <p:spTgt spid="473101"/>
                                        </p:tgtEl>
                                        <p:attrNameLst>
                                          <p:attrName>ppt_x</p:attrName>
                                        </p:attrNameLst>
                                      </p:cBhvr>
                                      <p:tavLst>
                                        <p:tav tm="0">
                                          <p:val>
                                            <p:strVal val="0-#ppt_w/2"/>
                                          </p:val>
                                        </p:tav>
                                        <p:tav tm="100000">
                                          <p:val>
                                            <p:strVal val="#ppt_x"/>
                                          </p:val>
                                        </p:tav>
                                      </p:tavLst>
                                    </p:anim>
                                    <p:anim calcmode="lin" valueType="num">
                                      <p:cBhvr additive="base">
                                        <p:cTn id="80" dur="500" fill="hold"/>
                                        <p:tgtEl>
                                          <p:spTgt spid="473101"/>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73102"/>
                                        </p:tgtEl>
                                        <p:attrNameLst>
                                          <p:attrName>style.visibility</p:attrName>
                                        </p:attrNameLst>
                                      </p:cBhvr>
                                      <p:to>
                                        <p:strVal val="visible"/>
                                      </p:to>
                                    </p:set>
                                    <p:anim calcmode="lin" valueType="num">
                                      <p:cBhvr additive="base">
                                        <p:cTn id="85" dur="500" fill="hold"/>
                                        <p:tgtEl>
                                          <p:spTgt spid="473102"/>
                                        </p:tgtEl>
                                        <p:attrNameLst>
                                          <p:attrName>ppt_x</p:attrName>
                                        </p:attrNameLst>
                                      </p:cBhvr>
                                      <p:tavLst>
                                        <p:tav tm="0">
                                          <p:val>
                                            <p:strVal val="0-#ppt_w/2"/>
                                          </p:val>
                                        </p:tav>
                                        <p:tav tm="100000">
                                          <p:val>
                                            <p:strVal val="#ppt_x"/>
                                          </p:val>
                                        </p:tav>
                                      </p:tavLst>
                                    </p:anim>
                                    <p:anim calcmode="lin" valueType="num">
                                      <p:cBhvr additive="base">
                                        <p:cTn id="86" dur="500" fill="hold"/>
                                        <p:tgtEl>
                                          <p:spTgt spid="47310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73103"/>
                                        </p:tgtEl>
                                        <p:attrNameLst>
                                          <p:attrName>style.visibility</p:attrName>
                                        </p:attrNameLst>
                                      </p:cBhvr>
                                      <p:to>
                                        <p:strVal val="visible"/>
                                      </p:to>
                                    </p:set>
                                    <p:anim calcmode="lin" valueType="num">
                                      <p:cBhvr additive="base">
                                        <p:cTn id="91" dur="500" fill="hold"/>
                                        <p:tgtEl>
                                          <p:spTgt spid="473103"/>
                                        </p:tgtEl>
                                        <p:attrNameLst>
                                          <p:attrName>ppt_x</p:attrName>
                                        </p:attrNameLst>
                                      </p:cBhvr>
                                      <p:tavLst>
                                        <p:tav tm="0">
                                          <p:val>
                                            <p:strVal val="0-#ppt_w/2"/>
                                          </p:val>
                                        </p:tav>
                                        <p:tav tm="100000">
                                          <p:val>
                                            <p:strVal val="#ppt_x"/>
                                          </p:val>
                                        </p:tav>
                                      </p:tavLst>
                                    </p:anim>
                                    <p:anim calcmode="lin" valueType="num">
                                      <p:cBhvr additive="base">
                                        <p:cTn id="92" dur="500" fill="hold"/>
                                        <p:tgtEl>
                                          <p:spTgt spid="473103"/>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73104"/>
                                        </p:tgtEl>
                                        <p:attrNameLst>
                                          <p:attrName>style.visibility</p:attrName>
                                        </p:attrNameLst>
                                      </p:cBhvr>
                                      <p:to>
                                        <p:strVal val="visible"/>
                                      </p:to>
                                    </p:set>
                                    <p:anim calcmode="lin" valueType="num">
                                      <p:cBhvr additive="base">
                                        <p:cTn id="97" dur="500" fill="hold"/>
                                        <p:tgtEl>
                                          <p:spTgt spid="473104"/>
                                        </p:tgtEl>
                                        <p:attrNameLst>
                                          <p:attrName>ppt_x</p:attrName>
                                        </p:attrNameLst>
                                      </p:cBhvr>
                                      <p:tavLst>
                                        <p:tav tm="0">
                                          <p:val>
                                            <p:strVal val="0-#ppt_w/2"/>
                                          </p:val>
                                        </p:tav>
                                        <p:tav tm="100000">
                                          <p:val>
                                            <p:strVal val="#ppt_x"/>
                                          </p:val>
                                        </p:tav>
                                      </p:tavLst>
                                    </p:anim>
                                    <p:anim calcmode="lin" valueType="num">
                                      <p:cBhvr additive="base">
                                        <p:cTn id="98" dur="500" fill="hold"/>
                                        <p:tgtEl>
                                          <p:spTgt spid="473104"/>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73106"/>
                                        </p:tgtEl>
                                        <p:attrNameLst>
                                          <p:attrName>style.visibility</p:attrName>
                                        </p:attrNameLst>
                                      </p:cBhvr>
                                      <p:to>
                                        <p:strVal val="visible"/>
                                      </p:to>
                                    </p:set>
                                    <p:anim calcmode="lin" valueType="num">
                                      <p:cBhvr additive="base">
                                        <p:cTn id="103" dur="500" fill="hold"/>
                                        <p:tgtEl>
                                          <p:spTgt spid="473106"/>
                                        </p:tgtEl>
                                        <p:attrNameLst>
                                          <p:attrName>ppt_x</p:attrName>
                                        </p:attrNameLst>
                                      </p:cBhvr>
                                      <p:tavLst>
                                        <p:tav tm="0">
                                          <p:val>
                                            <p:strVal val="0-#ppt_w/2"/>
                                          </p:val>
                                        </p:tav>
                                        <p:tav tm="100000">
                                          <p:val>
                                            <p:strVal val="#ppt_x"/>
                                          </p:val>
                                        </p:tav>
                                      </p:tavLst>
                                    </p:anim>
                                    <p:anim calcmode="lin" valueType="num">
                                      <p:cBhvr additive="base">
                                        <p:cTn id="104" dur="500" fill="hold"/>
                                        <p:tgtEl>
                                          <p:spTgt spid="473106"/>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473108"/>
                                        </p:tgtEl>
                                        <p:attrNameLst>
                                          <p:attrName>style.visibility</p:attrName>
                                        </p:attrNameLst>
                                      </p:cBhvr>
                                      <p:to>
                                        <p:strVal val="visible"/>
                                      </p:to>
                                    </p:set>
                                    <p:anim calcmode="lin" valueType="num">
                                      <p:cBhvr additive="base">
                                        <p:cTn id="109" dur="500" fill="hold"/>
                                        <p:tgtEl>
                                          <p:spTgt spid="473108"/>
                                        </p:tgtEl>
                                        <p:attrNameLst>
                                          <p:attrName>ppt_x</p:attrName>
                                        </p:attrNameLst>
                                      </p:cBhvr>
                                      <p:tavLst>
                                        <p:tav tm="0">
                                          <p:val>
                                            <p:strVal val="0-#ppt_w/2"/>
                                          </p:val>
                                        </p:tav>
                                        <p:tav tm="100000">
                                          <p:val>
                                            <p:strVal val="#ppt_x"/>
                                          </p:val>
                                        </p:tav>
                                      </p:tavLst>
                                    </p:anim>
                                    <p:anim calcmode="lin" valueType="num">
                                      <p:cBhvr additive="base">
                                        <p:cTn id="110" dur="500" fill="hold"/>
                                        <p:tgtEl>
                                          <p:spTgt spid="47310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473110"/>
                                        </p:tgtEl>
                                        <p:attrNameLst>
                                          <p:attrName>style.visibility</p:attrName>
                                        </p:attrNameLst>
                                      </p:cBhvr>
                                      <p:to>
                                        <p:strVal val="visible"/>
                                      </p:to>
                                    </p:set>
                                    <p:anim calcmode="lin" valueType="num">
                                      <p:cBhvr additive="base">
                                        <p:cTn id="115" dur="500" fill="hold"/>
                                        <p:tgtEl>
                                          <p:spTgt spid="473110"/>
                                        </p:tgtEl>
                                        <p:attrNameLst>
                                          <p:attrName>ppt_x</p:attrName>
                                        </p:attrNameLst>
                                      </p:cBhvr>
                                      <p:tavLst>
                                        <p:tav tm="0">
                                          <p:val>
                                            <p:strVal val="0-#ppt_w/2"/>
                                          </p:val>
                                        </p:tav>
                                        <p:tav tm="100000">
                                          <p:val>
                                            <p:strVal val="#ppt_x"/>
                                          </p:val>
                                        </p:tav>
                                      </p:tavLst>
                                    </p:anim>
                                    <p:anim calcmode="lin" valueType="num">
                                      <p:cBhvr additive="base">
                                        <p:cTn id="116" dur="500" fill="hold"/>
                                        <p:tgtEl>
                                          <p:spTgt spid="473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1" grpId="0"/>
      <p:bldP spid="473092" grpId="0"/>
      <p:bldP spid="473093" grpId="0"/>
      <p:bldP spid="473095" grpId="0"/>
      <p:bldP spid="473094" grpId="0"/>
      <p:bldP spid="473096" grpId="0"/>
      <p:bldP spid="473097" grpId="0"/>
      <p:bldP spid="473098" grpId="0"/>
      <p:bldP spid="473099" grpId="0"/>
      <p:bldP spid="473100" grpId="0"/>
      <p:bldP spid="473101" grpId="0"/>
      <p:bldP spid="473102" grpId="0"/>
      <p:bldP spid="473103" grpId="0"/>
      <p:bldP spid="473104" grpId="0"/>
      <p:bldP spid="473106" grpId="0"/>
      <p:bldP spid="4731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3"/>
          <p:cNvSpPr/>
          <p:nvPr/>
        </p:nvSpPr>
        <p:spPr>
          <a:xfrm>
            <a:off x="1403350" y="4988024"/>
            <a:ext cx="1450975" cy="457200"/>
          </a:xfrm>
          <a:prstGeom prst="rect">
            <a:avLst/>
          </a:prstGeom>
          <a:solidFill>
            <a:srgbClr val="CC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4-22</a:t>
            </a:r>
            <a:endParaRPr lang="zh-CN" altLang="en-US" dirty="0">
              <a:latin typeface="微软雅黑" pitchFamily="34" charset="-122"/>
              <a:ea typeface="微软雅黑" pitchFamily="34" charset="-122"/>
            </a:endParaRPr>
          </a:p>
        </p:txBody>
      </p:sp>
      <p:sp>
        <p:nvSpPr>
          <p:cNvPr id="36867" name="矩形 3"/>
          <p:cNvSpPr/>
          <p:nvPr/>
        </p:nvSpPr>
        <p:spPr>
          <a:xfrm>
            <a:off x="6227763" y="4724400"/>
            <a:ext cx="1450975"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4-21</a:t>
            </a:r>
            <a:endParaRPr lang="zh-CN" altLang="en-US" dirty="0">
              <a:latin typeface="微软雅黑" pitchFamily="34" charset="-122"/>
              <a:ea typeface="微软雅黑" pitchFamily="34" charset="-122"/>
            </a:endParaRPr>
          </a:p>
        </p:txBody>
      </p:sp>
      <p:sp>
        <p:nvSpPr>
          <p:cNvPr id="36868" name="矩形 4"/>
          <p:cNvSpPr/>
          <p:nvPr/>
        </p:nvSpPr>
        <p:spPr>
          <a:xfrm>
            <a:off x="6084888" y="2349500"/>
            <a:ext cx="124585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4-20</a:t>
            </a:r>
            <a:r>
              <a:rPr lang="en-US" altLang="zh-CN" b="1" dirty="0">
                <a:latin typeface="Times New Roman" panose="02020603050405020304" pitchFamily="18" charset="0"/>
                <a:ea typeface="微软雅黑" pitchFamily="34" charset="-122"/>
              </a:rPr>
              <a:t> </a:t>
            </a:r>
            <a:endParaRPr lang="zh-CN" altLang="en-US" b="1" dirty="0">
              <a:latin typeface="Verdana" panose="020B0804030504040204" pitchFamily="34" charset="0"/>
              <a:ea typeface="微软雅黑" pitchFamily="34" charset="-122"/>
            </a:endParaRPr>
          </a:p>
        </p:txBody>
      </p:sp>
      <p:sp>
        <p:nvSpPr>
          <p:cNvPr id="36869" name="Rectangle 2"/>
          <p:cNvSpPr txBox="1"/>
          <p:nvPr/>
        </p:nvSpPr>
        <p:spPr>
          <a:xfrm>
            <a:off x="0" y="0"/>
            <a:ext cx="3851275" cy="3284538"/>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得到调整方案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所示</a:t>
            </a:r>
            <a:endParaRPr lang="zh-CN" altLang="en-US" b="1" dirty="0">
              <a:solidFill>
                <a:schemeClr val="tx2"/>
              </a:solidFill>
              <a:latin typeface="Times New Roman" panose="02020603050405020304" pitchFamily="18" charset="0"/>
              <a:ea typeface="微软雅黑" pitchFamily="34" charset="-122"/>
            </a:endParaRPr>
          </a:p>
        </p:txBody>
      </p:sp>
      <p:pic>
        <p:nvPicPr>
          <p:cNvPr id="36870" name="Picture 4"/>
          <p:cNvPicPr>
            <a:picLocks noChangeAspect="1"/>
          </p:cNvPicPr>
          <p:nvPr/>
        </p:nvPicPr>
        <p:blipFill>
          <a:blip r:embed="rId2"/>
          <a:stretch>
            <a:fillRect/>
          </a:stretch>
        </p:blipFill>
        <p:spPr>
          <a:xfrm>
            <a:off x="4356100" y="2781300"/>
            <a:ext cx="4787900" cy="1989138"/>
          </a:xfrm>
          <a:prstGeom prst="rect">
            <a:avLst/>
          </a:prstGeom>
          <a:noFill/>
          <a:ln w="9525">
            <a:noFill/>
          </a:ln>
        </p:spPr>
      </p:pic>
      <p:pic>
        <p:nvPicPr>
          <p:cNvPr id="36871" name="Picture 7"/>
          <p:cNvPicPr>
            <a:picLocks noChangeAspect="1"/>
          </p:cNvPicPr>
          <p:nvPr/>
        </p:nvPicPr>
        <p:blipFill>
          <a:blip r:embed="rId3"/>
          <a:stretch>
            <a:fillRect/>
          </a:stretch>
        </p:blipFill>
        <p:spPr>
          <a:xfrm>
            <a:off x="3708400" y="0"/>
            <a:ext cx="5435600" cy="2346325"/>
          </a:xfrm>
          <a:prstGeom prst="rect">
            <a:avLst/>
          </a:prstGeom>
          <a:noFill/>
          <a:ln w="9525">
            <a:noFill/>
          </a:ln>
        </p:spPr>
      </p:pic>
      <p:sp>
        <p:nvSpPr>
          <p:cNvPr id="6" name="Rectangle 2"/>
          <p:cNvSpPr txBox="1"/>
          <p:nvPr/>
        </p:nvSpPr>
        <p:spPr>
          <a:xfrm>
            <a:off x="0" y="5353050"/>
            <a:ext cx="9144000" cy="1504950"/>
          </a:xfrm>
          <a:prstGeom prst="rect">
            <a:avLst/>
          </a:prstGeom>
          <a:noFill/>
          <a:ln w="9525">
            <a:noFill/>
          </a:ln>
        </p:spPr>
        <p:txBody>
          <a:bodyPr/>
          <a:lstStyle/>
          <a:p>
            <a:r>
              <a:rPr lang="zh-CN" altLang="en-US" b="1" dirty="0">
                <a:latin typeface="微软雅黑" pitchFamily="34" charset="-122"/>
                <a:ea typeface="微软雅黑" pitchFamily="34" charset="-122"/>
              </a:rPr>
              <a:t>对表</a:t>
            </a:r>
            <a:r>
              <a:rPr lang="en-US" altLang="zh-CN" b="1" dirty="0">
                <a:latin typeface="微软雅黑" pitchFamily="34" charset="-122"/>
                <a:ea typeface="微软雅黑" pitchFamily="34" charset="-122"/>
              </a:rPr>
              <a:t>4-21</a:t>
            </a:r>
            <a:r>
              <a:rPr lang="zh-CN" altLang="en-US" b="1" dirty="0">
                <a:latin typeface="微软雅黑" pitchFamily="34" charset="-122"/>
                <a:ea typeface="微软雅黑" pitchFamily="34" charset="-122"/>
              </a:rPr>
              <a:t>给出的解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再用闭回路法或位势法求各空格的检验数</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见表</a:t>
            </a:r>
            <a:r>
              <a:rPr lang="en-US" altLang="zh-CN" b="1" dirty="0">
                <a:latin typeface="微软雅黑" pitchFamily="34" charset="-122"/>
                <a:ea typeface="微软雅黑" pitchFamily="34" charset="-122"/>
              </a:rPr>
              <a:t>4-22</a:t>
            </a:r>
          </a:p>
          <a:p>
            <a:r>
              <a:rPr lang="zh-CN" altLang="en-US" b="1" dirty="0">
                <a:latin typeface="微软雅黑" pitchFamily="34" charset="-122"/>
                <a:ea typeface="微软雅黑" pitchFamily="34" charset="-122"/>
              </a:rPr>
              <a:t>表中的所有检验数都非负</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故表</a:t>
            </a:r>
            <a:r>
              <a:rPr lang="en-US" altLang="zh-CN" b="1" dirty="0">
                <a:latin typeface="微软雅黑" pitchFamily="34" charset="-122"/>
                <a:ea typeface="微软雅黑" pitchFamily="34" charset="-122"/>
              </a:rPr>
              <a:t>4-21</a:t>
            </a:r>
            <a:r>
              <a:rPr lang="zh-CN" altLang="en-US" b="1" dirty="0">
                <a:latin typeface="微软雅黑" pitchFamily="34" charset="-122"/>
                <a:ea typeface="微软雅黑" pitchFamily="34" charset="-122"/>
              </a:rPr>
              <a:t>中的解为最优解</a:t>
            </a:r>
            <a:endParaRPr lang="en-US" altLang="zh-CN" b="1" dirty="0">
              <a:latin typeface="微软雅黑" pitchFamily="34" charset="-122"/>
              <a:ea typeface="微软雅黑" pitchFamily="34" charset="-122"/>
            </a:endParaRPr>
          </a:p>
          <a:p>
            <a:r>
              <a:rPr lang="zh-CN" altLang="en-US" b="1" dirty="0">
                <a:latin typeface="微软雅黑" pitchFamily="34" charset="-122"/>
                <a:ea typeface="微软雅黑" pitchFamily="34" charset="-122"/>
              </a:rPr>
              <a:t>这时得到的总运费最小是</a:t>
            </a:r>
            <a:r>
              <a:rPr lang="en-US" altLang="zh-CN" b="1" dirty="0">
                <a:latin typeface="微软雅黑" pitchFamily="34" charset="-122"/>
                <a:ea typeface="微软雅黑" pitchFamily="34" charset="-122"/>
              </a:rPr>
              <a:t>85</a:t>
            </a:r>
            <a:r>
              <a:rPr lang="zh-CN" altLang="en-US" b="1" dirty="0">
                <a:latin typeface="微软雅黑" pitchFamily="34" charset="-122"/>
                <a:ea typeface="微软雅黑" pitchFamily="34" charset="-122"/>
              </a:rPr>
              <a:t>元</a:t>
            </a:r>
          </a:p>
        </p:txBody>
      </p:sp>
      <p:pic>
        <p:nvPicPr>
          <p:cNvPr id="36873" name="Picture 12"/>
          <p:cNvPicPr>
            <a:picLocks noChangeAspect="1"/>
          </p:cNvPicPr>
          <p:nvPr/>
        </p:nvPicPr>
        <p:blipFill>
          <a:blip r:embed="rId4"/>
          <a:stretch>
            <a:fillRect/>
          </a:stretch>
        </p:blipFill>
        <p:spPr>
          <a:xfrm>
            <a:off x="0" y="3284538"/>
            <a:ext cx="4356100" cy="1773237"/>
          </a:xfrm>
          <a:prstGeom prst="rect">
            <a:avLst/>
          </a:prstGeom>
          <a:noFill/>
          <a:ln w="9525">
            <a:noFill/>
          </a:ln>
        </p:spPr>
      </p:pic>
      <p:pic>
        <p:nvPicPr>
          <p:cNvPr id="359438" name="Picture 14"/>
          <p:cNvPicPr>
            <a:picLocks noChangeAspect="1"/>
          </p:cNvPicPr>
          <p:nvPr/>
        </p:nvPicPr>
        <p:blipFill>
          <a:blip r:embed="rId5"/>
          <a:stretch>
            <a:fillRect/>
          </a:stretch>
        </p:blipFill>
        <p:spPr>
          <a:xfrm>
            <a:off x="0" y="3284538"/>
            <a:ext cx="4356100" cy="20891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9438"/>
                                        </p:tgtEl>
                                        <p:attrNameLst>
                                          <p:attrName>style.visibility</p:attrName>
                                        </p:attrNameLst>
                                      </p:cBhvr>
                                      <p:to>
                                        <p:strVal val="visible"/>
                                      </p:to>
                                    </p:set>
                                    <p:animEffect transition="in" filter="blinds(horizontal)">
                                      <p:cBhvr>
                                        <p:cTn id="17" dur="500"/>
                                        <p:tgtEl>
                                          <p:spTgt spid="359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p:nvPr/>
        </p:nvSpPr>
        <p:spPr>
          <a:xfrm>
            <a:off x="0" y="1125538"/>
            <a:ext cx="9144000" cy="1135062"/>
          </a:xfrm>
          <a:prstGeom prst="rect">
            <a:avLst/>
          </a:prstGeom>
          <a:solidFill>
            <a:srgbClr val="B3F1F7"/>
          </a:solidFill>
          <a:ln w="9525">
            <a:noFill/>
          </a:ln>
        </p:spPr>
        <p:txBody>
          <a:bodyPr>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）从一个检验数为负数且最小的空格出发</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和其它数字格构成闭回路。可证</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此闭回路存在且唯一</a:t>
            </a:r>
          </a:p>
        </p:txBody>
      </p:sp>
      <p:sp>
        <p:nvSpPr>
          <p:cNvPr id="471043" name="Text Box 3"/>
          <p:cNvSpPr txBox="1"/>
          <p:nvPr/>
        </p:nvSpPr>
        <p:spPr>
          <a:xfrm>
            <a:off x="0" y="2924175"/>
            <a:ext cx="9144000" cy="1135063"/>
          </a:xfrm>
          <a:prstGeom prst="rect">
            <a:avLst/>
          </a:prstGeom>
          <a:solidFill>
            <a:srgbClr val="FFFF99"/>
          </a:solidFill>
          <a:ln w="9525">
            <a:noFill/>
          </a:ln>
        </p:spPr>
        <p:txBody>
          <a:bodyPr>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）在闭回路上进行运量调整</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使选定空格处的运量尽可能地增加</a:t>
            </a:r>
          </a:p>
        </p:txBody>
      </p:sp>
      <p:sp>
        <p:nvSpPr>
          <p:cNvPr id="471046" name="Text Box 6"/>
          <p:cNvSpPr txBox="1"/>
          <p:nvPr/>
        </p:nvSpPr>
        <p:spPr>
          <a:xfrm>
            <a:off x="0" y="4797425"/>
            <a:ext cx="9144000" cy="1135063"/>
          </a:xfrm>
          <a:prstGeom prst="rect">
            <a:avLst/>
          </a:prstGeom>
          <a:solidFill>
            <a:srgbClr val="FFCCFF"/>
          </a:solidFill>
          <a:ln w="9525">
            <a:noFill/>
          </a:ln>
        </p:spPr>
        <p:txBody>
          <a:bodyPr>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）运量调整后</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必然使某个数字格变成零。把一个变成零的数字格抹去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得新的调运方案</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43"/>
                                        </p:tgtEl>
                                        <p:attrNameLst>
                                          <p:attrName>style.visibility</p:attrName>
                                        </p:attrNameLst>
                                      </p:cBhvr>
                                      <p:to>
                                        <p:strVal val="visible"/>
                                      </p:to>
                                    </p:set>
                                    <p:anim calcmode="lin" valueType="num">
                                      <p:cBhvr additive="base">
                                        <p:cTn id="7" dur="500" fill="hold"/>
                                        <p:tgtEl>
                                          <p:spTgt spid="471043"/>
                                        </p:tgtEl>
                                        <p:attrNameLst>
                                          <p:attrName>ppt_x</p:attrName>
                                        </p:attrNameLst>
                                      </p:cBhvr>
                                      <p:tavLst>
                                        <p:tav tm="0">
                                          <p:val>
                                            <p:strVal val="0-#ppt_w/2"/>
                                          </p:val>
                                        </p:tav>
                                        <p:tav tm="100000">
                                          <p:val>
                                            <p:strVal val="#ppt_x"/>
                                          </p:val>
                                        </p:tav>
                                      </p:tavLst>
                                    </p:anim>
                                    <p:anim calcmode="lin" valueType="num">
                                      <p:cBhvr additive="base">
                                        <p:cTn id="8" dur="500" fill="hold"/>
                                        <p:tgtEl>
                                          <p:spTgt spid="4710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46"/>
                                        </p:tgtEl>
                                        <p:attrNameLst>
                                          <p:attrName>style.visibility</p:attrName>
                                        </p:attrNameLst>
                                      </p:cBhvr>
                                      <p:to>
                                        <p:strVal val="visible"/>
                                      </p:to>
                                    </p:set>
                                    <p:anim calcmode="lin" valueType="num">
                                      <p:cBhvr additive="base">
                                        <p:cTn id="13" dur="500" fill="hold"/>
                                        <p:tgtEl>
                                          <p:spTgt spid="471046"/>
                                        </p:tgtEl>
                                        <p:attrNameLst>
                                          <p:attrName>ppt_x</p:attrName>
                                        </p:attrNameLst>
                                      </p:cBhvr>
                                      <p:tavLst>
                                        <p:tav tm="0">
                                          <p:val>
                                            <p:strVal val="0-#ppt_w/2"/>
                                          </p:val>
                                        </p:tav>
                                        <p:tav tm="100000">
                                          <p:val>
                                            <p:strVal val="#ppt_x"/>
                                          </p:val>
                                        </p:tav>
                                      </p:tavLst>
                                    </p:anim>
                                    <p:anim calcmode="lin" valueType="num">
                                      <p:cBhvr additive="base">
                                        <p:cTn id="14" dur="500" fill="hold"/>
                                        <p:tgtEl>
                                          <p:spTgt spid="4710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animBg="1"/>
      <p:bldP spid="47104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p:nvPr/>
        </p:nvSpPr>
        <p:spPr>
          <a:xfrm>
            <a:off x="0" y="1412875"/>
            <a:ext cx="9144000" cy="3455988"/>
          </a:xfrm>
          <a:prstGeom prst="rect">
            <a:avLst/>
          </a:prstGeom>
          <a:solidFill>
            <a:srgbClr val="B3F1F7"/>
          </a:solidFill>
          <a:ln w="9525">
            <a:noFill/>
          </a:ln>
        </p:spPr>
        <p:txBody>
          <a:bodyPr/>
          <a:lstStyle/>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在本章</a:t>
            </a:r>
            <a:r>
              <a:rPr lang="en-US" altLang="zh-CN" b="1" dirty="0">
                <a:latin typeface="Times New Roman" panose="02020603050405020304" pitchFamily="18" charset="0"/>
                <a:ea typeface="微软雅黑" pitchFamily="34" charset="-122"/>
              </a:rPr>
              <a:t>4.1</a:t>
            </a:r>
            <a:r>
              <a:rPr lang="zh-CN" altLang="en-US" b="1" dirty="0">
                <a:latin typeface="Times New Roman" panose="02020603050405020304" pitchFamily="18" charset="0"/>
                <a:ea typeface="微软雅黑" pitchFamily="34" charset="-122"/>
              </a:rPr>
              <a:t>节中提到</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产销平衡的运输问题必定存在最优解。那么有唯一最优解还是无穷多最优解</a:t>
            </a:r>
            <a:r>
              <a:rPr lang="en-US" altLang="zh-CN" b="1" dirty="0">
                <a:latin typeface="Times New Roman" panose="02020603050405020304" pitchFamily="18" charset="0"/>
                <a:ea typeface="微软雅黑" pitchFamily="34" charset="-122"/>
              </a:rPr>
              <a:t>? </a:t>
            </a: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判别依据与第</a:t>
            </a:r>
            <a:r>
              <a:rPr lang="en-US" altLang="zh-CN" b="1"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章</a:t>
            </a:r>
            <a:r>
              <a:rPr lang="en-US" altLang="zh-CN" b="1" dirty="0">
                <a:latin typeface="Times New Roman" panose="02020603050405020304" pitchFamily="18" charset="0"/>
                <a:ea typeface="微软雅黑" pitchFamily="34" charset="-122"/>
              </a:rPr>
              <a:t>2.3.3</a:t>
            </a:r>
            <a:r>
              <a:rPr lang="zh-CN" altLang="en-US" b="1" dirty="0">
                <a:latin typeface="Times New Roman" panose="02020603050405020304" pitchFamily="18" charset="0"/>
                <a:ea typeface="微软雅黑" pitchFamily="34" charset="-122"/>
              </a:rPr>
              <a:t>节讲述的相同。即某个非基变量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的检验数为</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该问题有无穷多最优解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表</a:t>
            </a:r>
            <a:r>
              <a:rPr lang="en-US" altLang="zh-CN" b="1" dirty="0">
                <a:latin typeface="Times New Roman" panose="02020603050405020304" pitchFamily="18" charset="0"/>
                <a:ea typeface="微软雅黑" pitchFamily="34" charset="-122"/>
              </a:rPr>
              <a:t>4-22</a:t>
            </a:r>
            <a:r>
              <a:rPr lang="zh-CN" altLang="en-US" b="1" dirty="0">
                <a:latin typeface="Times New Roman" panose="02020603050405020304" pitchFamily="18" charset="0"/>
                <a:ea typeface="微软雅黑" pitchFamily="34" charset="-122"/>
              </a:rPr>
              <a:t>空格</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的检验数是</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表明例</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有无穷多最优解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可在表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中以</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为调入格</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作闭回路</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。确定</a:t>
            </a:r>
            <a:r>
              <a:rPr lang="en-US" altLang="zh-CN" b="1" dirty="0">
                <a:latin typeface="Times New Roman" panose="02020603050405020304" pitchFamily="18" charset="0"/>
                <a:ea typeface="微软雅黑" pitchFamily="34" charset="-122"/>
              </a:rPr>
              <a:t>θ=min(2, 3)=2</a:t>
            </a:r>
            <a:r>
              <a:rPr lang="zh-CN" altLang="en-US" b="1" dirty="0">
                <a:latin typeface="Times New Roman" panose="02020603050405020304" pitchFamily="18" charset="0"/>
                <a:ea typeface="微软雅黑" pitchFamily="34" charset="-122"/>
              </a:rPr>
              <a:t>。</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endParaRPr lang="en-US" altLang="zh-CN" b="1" dirty="0">
              <a:latin typeface="Times New Roman" panose="02020603050405020304" pitchFamily="18" charset="0"/>
              <a:ea typeface="微软雅黑" pitchFamily="34" charset="-122"/>
            </a:endParaRPr>
          </a:p>
        </p:txBody>
      </p:sp>
      <p:sp>
        <p:nvSpPr>
          <p:cNvPr id="8" name="矩形 7"/>
          <p:cNvSpPr/>
          <p:nvPr/>
        </p:nvSpPr>
        <p:spPr>
          <a:xfrm>
            <a:off x="6169025" y="6400800"/>
            <a:ext cx="1450975" cy="457200"/>
          </a:xfrm>
          <a:prstGeom prst="rect">
            <a:avLst/>
          </a:prstGeom>
          <a:solidFill>
            <a:srgbClr val="CC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4-22</a:t>
            </a:r>
            <a:endParaRPr lang="zh-CN" altLang="en-US" dirty="0">
              <a:latin typeface="微软雅黑" pitchFamily="34" charset="-122"/>
              <a:ea typeface="微软雅黑" pitchFamily="34" charset="-122"/>
            </a:endParaRPr>
          </a:p>
        </p:txBody>
      </p:sp>
      <p:sp>
        <p:nvSpPr>
          <p:cNvPr id="38916" name="Rectangle 2"/>
          <p:cNvSpPr txBox="1"/>
          <p:nvPr/>
        </p:nvSpPr>
        <p:spPr>
          <a:xfrm>
            <a:off x="0" y="-12700"/>
            <a:ext cx="78486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5.2.4  </a:t>
            </a:r>
            <a:r>
              <a:rPr lang="zh-CN" altLang="en-US" sz="2800" b="1" dirty="0">
                <a:solidFill>
                  <a:schemeClr val="hlink"/>
                </a:solidFill>
                <a:latin typeface="微软雅黑" pitchFamily="34" charset="-122"/>
                <a:ea typeface="微软雅黑" pitchFamily="34" charset="-122"/>
              </a:rPr>
              <a:t>表上作业法计算中的问题</a:t>
            </a:r>
          </a:p>
        </p:txBody>
      </p:sp>
      <p:pic>
        <p:nvPicPr>
          <p:cNvPr id="9" name="Picture 12"/>
          <p:cNvPicPr>
            <a:picLocks noChangeAspect="1"/>
          </p:cNvPicPr>
          <p:nvPr/>
        </p:nvPicPr>
        <p:blipFill>
          <a:blip r:embed="rId2"/>
          <a:stretch>
            <a:fillRect/>
          </a:stretch>
        </p:blipFill>
        <p:spPr>
          <a:xfrm>
            <a:off x="4787900" y="4683125"/>
            <a:ext cx="4356100" cy="1773238"/>
          </a:xfrm>
          <a:prstGeom prst="rect">
            <a:avLst/>
          </a:prstGeom>
          <a:noFill/>
          <a:ln w="9525">
            <a:noFill/>
          </a:ln>
        </p:spPr>
      </p:pic>
      <p:sp>
        <p:nvSpPr>
          <p:cNvPr id="3" name="Rectangle 3"/>
          <p:cNvSpPr txBox="1"/>
          <p:nvPr/>
        </p:nvSpPr>
        <p:spPr>
          <a:xfrm>
            <a:off x="0" y="404813"/>
            <a:ext cx="9144000" cy="503237"/>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en-US" altLang="zh-CN" sz="2800" b="1" dirty="0">
                <a:solidFill>
                  <a:schemeClr val="folHlink"/>
                </a:solidFill>
                <a:latin typeface="微软雅黑" pitchFamily="34" charset="-122"/>
                <a:ea typeface="微软雅黑" pitchFamily="34" charset="-122"/>
              </a:rPr>
              <a:t>I. </a:t>
            </a:r>
            <a:r>
              <a:rPr lang="zh-CN" altLang="en-US" sz="2800" b="1" dirty="0">
                <a:solidFill>
                  <a:schemeClr val="folHlink"/>
                </a:solidFill>
                <a:latin typeface="微软雅黑" pitchFamily="34" charset="-122"/>
                <a:ea typeface="微软雅黑" pitchFamily="34" charset="-122"/>
              </a:rPr>
              <a:t>无穷多最优解      </a:t>
            </a:r>
            <a:r>
              <a:rPr lang="en-US" altLang="zh-CN" sz="2800" b="1" dirty="0">
                <a:solidFill>
                  <a:schemeClr val="folHlink"/>
                </a:solidFill>
                <a:latin typeface="微软雅黑" pitchFamily="34" charset="-122"/>
                <a:ea typeface="微软雅黑" pitchFamily="34" charset="-122"/>
              </a:rPr>
              <a:t>II. </a:t>
            </a:r>
            <a:r>
              <a:rPr lang="zh-CN" altLang="en-US" sz="2800" b="1" dirty="0">
                <a:solidFill>
                  <a:schemeClr val="folHlink"/>
                </a:solidFill>
                <a:latin typeface="微软雅黑" pitchFamily="34" charset="-122"/>
                <a:ea typeface="微软雅黑" pitchFamily="34" charset="-122"/>
              </a:rPr>
              <a:t>退化</a:t>
            </a:r>
          </a:p>
        </p:txBody>
      </p:sp>
      <p:sp>
        <p:nvSpPr>
          <p:cNvPr id="5" name="Rectangle 2"/>
          <p:cNvSpPr txBox="1"/>
          <p:nvPr/>
        </p:nvSpPr>
        <p:spPr>
          <a:xfrm>
            <a:off x="0" y="908050"/>
            <a:ext cx="9144000" cy="503238"/>
          </a:xfrm>
          <a:prstGeom prst="rect">
            <a:avLst/>
          </a:prstGeom>
          <a:solidFill>
            <a:srgbClr val="CCFF99"/>
          </a:solidFill>
          <a:ln w="9525">
            <a:noFill/>
          </a:ln>
        </p:spPr>
        <p:txBody>
          <a:bodyPr/>
          <a:lstStyle/>
          <a:p>
            <a:r>
              <a:rPr lang="en-US" altLang="zh-CN" sz="2800" b="1" dirty="0">
                <a:solidFill>
                  <a:schemeClr val="hlink"/>
                </a:solidFill>
                <a:latin typeface="微软雅黑" pitchFamily="34" charset="-122"/>
                <a:ea typeface="微软雅黑" pitchFamily="34" charset="-122"/>
              </a:rPr>
              <a:t>I. </a:t>
            </a:r>
            <a:r>
              <a:rPr lang="zh-CN" altLang="en-US" sz="2800" b="1" dirty="0">
                <a:solidFill>
                  <a:schemeClr val="hlink"/>
                </a:solidFill>
                <a:latin typeface="微软雅黑" pitchFamily="34" charset="-122"/>
                <a:ea typeface="微软雅黑" pitchFamily="34" charset="-122"/>
              </a:rPr>
              <a:t>无穷多最优解</a:t>
            </a:r>
          </a:p>
        </p:txBody>
      </p:sp>
      <p:pic>
        <p:nvPicPr>
          <p:cNvPr id="11" name="Picture 4"/>
          <p:cNvPicPr>
            <a:picLocks noChangeAspect="1"/>
          </p:cNvPicPr>
          <p:nvPr/>
        </p:nvPicPr>
        <p:blipFill>
          <a:blip r:embed="rId3"/>
          <a:stretch>
            <a:fillRect/>
          </a:stretch>
        </p:blipFill>
        <p:spPr>
          <a:xfrm>
            <a:off x="0" y="4608513"/>
            <a:ext cx="4787900" cy="1989137"/>
          </a:xfrm>
          <a:prstGeom prst="rect">
            <a:avLst/>
          </a:prstGeom>
          <a:noFill/>
          <a:ln w="9525">
            <a:noFill/>
          </a:ln>
        </p:spPr>
      </p:pic>
      <p:sp>
        <p:nvSpPr>
          <p:cNvPr id="10" name="矩形 3"/>
          <p:cNvSpPr/>
          <p:nvPr/>
        </p:nvSpPr>
        <p:spPr>
          <a:xfrm>
            <a:off x="1835150" y="6546850"/>
            <a:ext cx="1450975" cy="338138"/>
          </a:xfrm>
          <a:prstGeom prst="rect">
            <a:avLst/>
          </a:prstGeom>
          <a:solidFill>
            <a:srgbClr val="FFFF99"/>
          </a:solidFill>
          <a:ln w="9525">
            <a:noFill/>
          </a:ln>
        </p:spPr>
        <p:txBody>
          <a:bodyPr>
            <a:spAutoFit/>
          </a:bodyPr>
          <a:lstStyle/>
          <a:p>
            <a:pPr eaLnBrk="1" hangingPunct="1"/>
            <a:r>
              <a:rPr lang="zh-CN" altLang="en-US" sz="1600" b="1" dirty="0">
                <a:latin typeface="微软雅黑" pitchFamily="34" charset="-122"/>
                <a:ea typeface="微软雅黑" pitchFamily="34" charset="-122"/>
              </a:rPr>
              <a:t>表</a:t>
            </a:r>
            <a:r>
              <a:rPr lang="en-US" altLang="zh-CN" sz="1600" b="1" dirty="0">
                <a:latin typeface="微软雅黑" pitchFamily="34" charset="-122"/>
                <a:ea typeface="微软雅黑" pitchFamily="34" charset="-122"/>
              </a:rPr>
              <a:t>4-21</a:t>
            </a:r>
            <a:endParaRPr lang="zh-CN" altLang="en-US" sz="1600" b="1" dirty="0">
              <a:latin typeface="微软雅黑" pitchFamily="34" charset="-122"/>
              <a:ea typeface="微软雅黑" pitchFamily="34" charset="-122"/>
            </a:endParaRPr>
          </a:p>
        </p:txBody>
      </p:sp>
      <p:cxnSp>
        <p:nvCxnSpPr>
          <p:cNvPr id="13" name="直接箭头连接符 12"/>
          <p:cNvCxnSpPr/>
          <p:nvPr/>
        </p:nvCxnSpPr>
        <p:spPr>
          <a:xfrm>
            <a:off x="1908175" y="5445125"/>
            <a:ext cx="1655763" cy="0"/>
          </a:xfrm>
          <a:prstGeom prst="straightConnector1">
            <a:avLst/>
          </a:prstGeom>
          <a:ln w="57150" cap="flat" cmpd="sng">
            <a:solidFill>
              <a:srgbClr val="FF0000"/>
            </a:solidFill>
            <a:prstDash val="solid"/>
            <a:miter/>
            <a:headEnd type="none" w="med" len="med"/>
            <a:tailEnd type="arrow" w="med" len="med"/>
          </a:ln>
        </p:spPr>
      </p:cxnSp>
      <p:cxnSp>
        <p:nvCxnSpPr>
          <p:cNvPr id="15" name="直接箭头连接符 14"/>
          <p:cNvCxnSpPr/>
          <p:nvPr/>
        </p:nvCxnSpPr>
        <p:spPr>
          <a:xfrm>
            <a:off x="3492500" y="5516563"/>
            <a:ext cx="0" cy="288925"/>
          </a:xfrm>
          <a:prstGeom prst="straightConnector1">
            <a:avLst/>
          </a:prstGeom>
          <a:ln w="57150" cap="flat" cmpd="sng">
            <a:solidFill>
              <a:srgbClr val="FF0000"/>
            </a:solidFill>
            <a:prstDash val="solid"/>
            <a:miter/>
            <a:headEnd type="none" w="med" len="med"/>
            <a:tailEnd type="arrow" w="med" len="med"/>
          </a:ln>
        </p:spPr>
      </p:cxnSp>
      <p:cxnSp>
        <p:nvCxnSpPr>
          <p:cNvPr id="17" name="直接箭头连接符 16"/>
          <p:cNvCxnSpPr/>
          <p:nvPr/>
        </p:nvCxnSpPr>
        <p:spPr>
          <a:xfrm flipH="1">
            <a:off x="1979613" y="5805488"/>
            <a:ext cx="1439862" cy="0"/>
          </a:xfrm>
          <a:prstGeom prst="straightConnector1">
            <a:avLst/>
          </a:prstGeom>
          <a:ln w="57150" cap="flat" cmpd="sng">
            <a:solidFill>
              <a:srgbClr val="FF0000"/>
            </a:solidFill>
            <a:prstDash val="solid"/>
            <a:miter/>
            <a:headEnd type="none" w="med" len="med"/>
            <a:tailEnd type="arrow" w="med" len="med"/>
          </a:ln>
        </p:spPr>
      </p:cxnSp>
      <p:cxnSp>
        <p:nvCxnSpPr>
          <p:cNvPr id="19" name="直接箭头连接符 18"/>
          <p:cNvCxnSpPr/>
          <p:nvPr/>
        </p:nvCxnSpPr>
        <p:spPr>
          <a:xfrm flipV="1">
            <a:off x="1979613" y="5445224"/>
            <a:ext cx="0" cy="288925"/>
          </a:xfrm>
          <a:prstGeom prst="straightConnector1">
            <a:avLst/>
          </a:prstGeom>
          <a:ln w="57150" cap="flat" cmpd="sng">
            <a:solidFill>
              <a:srgbClr val="FF0000"/>
            </a:solidFill>
            <a:prstDash val="solid"/>
            <a:miter/>
            <a:headEnd type="none" w="med" len="med"/>
            <a:tailEnd type="arrow" w="med" len="med"/>
          </a:ln>
        </p:spPr>
      </p:cxnSp>
      <p:sp>
        <p:nvSpPr>
          <p:cNvPr id="4" name="矩形 3"/>
          <p:cNvSpPr/>
          <p:nvPr/>
        </p:nvSpPr>
        <p:spPr>
          <a:xfrm>
            <a:off x="2555875" y="6400800"/>
            <a:ext cx="1450975"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4-23</a:t>
            </a:r>
            <a:endParaRPr lang="zh-CN" altLang="en-US" dirty="0">
              <a:latin typeface="微软雅黑" pitchFamily="34" charset="-122"/>
              <a:ea typeface="微软雅黑" pitchFamily="34" charset="-122"/>
            </a:endParaRPr>
          </a:p>
        </p:txBody>
      </p:sp>
      <p:pic>
        <p:nvPicPr>
          <p:cNvPr id="362502" name="Picture 6"/>
          <p:cNvPicPr>
            <a:picLocks noChangeAspect="1"/>
          </p:cNvPicPr>
          <p:nvPr/>
        </p:nvPicPr>
        <p:blipFill>
          <a:blip r:embed="rId4"/>
          <a:stretch>
            <a:fillRect/>
          </a:stretch>
        </p:blipFill>
        <p:spPr>
          <a:xfrm>
            <a:off x="4048125" y="4581525"/>
            <a:ext cx="5095875" cy="2205038"/>
          </a:xfrm>
          <a:prstGeom prst="rect">
            <a:avLst/>
          </a:prstGeom>
          <a:noFill/>
          <a:ln w="9525">
            <a:noFill/>
          </a:ln>
        </p:spPr>
      </p:pic>
      <p:sp>
        <p:nvSpPr>
          <p:cNvPr id="16" name="椭圆 15"/>
          <p:cNvSpPr/>
          <p:nvPr/>
        </p:nvSpPr>
        <p:spPr>
          <a:xfrm>
            <a:off x="3492500" y="5300663"/>
            <a:ext cx="287338" cy="288925"/>
          </a:xfrm>
          <a:prstGeom prst="ellipse">
            <a:avLst/>
          </a:prstGeom>
          <a:noFill/>
          <a:ln w="28575"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18" name="椭圆 17"/>
          <p:cNvSpPr/>
          <p:nvPr/>
        </p:nvSpPr>
        <p:spPr>
          <a:xfrm>
            <a:off x="1619250" y="5589588"/>
            <a:ext cx="288925" cy="287337"/>
          </a:xfrm>
          <a:prstGeom prst="ellipse">
            <a:avLst/>
          </a:prstGeom>
          <a:noFill/>
          <a:ln w="28575"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ndParaRPr>
          </a:p>
        </p:txBody>
      </p:sp>
      <p:sp>
        <p:nvSpPr>
          <p:cNvPr id="20" name="矩形 19"/>
          <p:cNvSpPr/>
          <p:nvPr/>
        </p:nvSpPr>
        <p:spPr>
          <a:xfrm>
            <a:off x="250825" y="4221163"/>
            <a:ext cx="6842125" cy="461962"/>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经调整后得到另一最优解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4-23</a:t>
            </a:r>
            <a:endParaRPr lang="zh-CN" altLang="en-US" dirty="0">
              <a:latin typeface="Tahoma" panose="020B060403050404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dissolv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dissolv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par>
                                <p:cTn id="28" presetID="3" presetClass="entr" presetSubtype="1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dissolve">
                                      <p:cBhvr>
                                        <p:cTn id="35" dur="500"/>
                                        <p:tgtEl>
                                          <p:spTgt spid="6">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dissolve">
                                      <p:cBhvr>
                                        <p:cTn id="40" dur="500"/>
                                        <p:tgtEl>
                                          <p:spTgt spid="6">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linds(horizontal)">
                                      <p:cBhvr>
                                        <p:cTn id="45" dur="500"/>
                                        <p:tgtEl>
                                          <p:spTgt spid="10"/>
                                        </p:tgtEl>
                                      </p:cBhvr>
                                    </p:animEffect>
                                  </p:childTnLst>
                                </p:cTn>
                              </p:par>
                              <p:par>
                                <p:cTn id="46" presetID="3" presetClass="entr" presetSubtype="1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linds(horizontal)">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blinds(horizontal)">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linds(horizontal)">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linds(horizontal)">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linds(horizontal)">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blinds(horizontal)">
                                      <p:cBhvr>
                                        <p:cTn id="86" dur="500"/>
                                        <p:tgtEl>
                                          <p:spTgt spid="4"/>
                                        </p:tgtEl>
                                      </p:cBhvr>
                                    </p:animEffect>
                                  </p:childTnLst>
                                </p:cTn>
                              </p:par>
                              <p:par>
                                <p:cTn id="87" presetID="3" presetClass="entr" presetSubtype="10" fill="hold" nodeType="withEffect">
                                  <p:stCondLst>
                                    <p:cond delay="0"/>
                                  </p:stCondLst>
                                  <p:childTnLst>
                                    <p:set>
                                      <p:cBhvr>
                                        <p:cTn id="88" dur="1" fill="hold">
                                          <p:stCondLst>
                                            <p:cond delay="0"/>
                                          </p:stCondLst>
                                        </p:cTn>
                                        <p:tgtEl>
                                          <p:spTgt spid="362502"/>
                                        </p:tgtEl>
                                        <p:attrNameLst>
                                          <p:attrName>style.visibility</p:attrName>
                                        </p:attrNameLst>
                                      </p:cBhvr>
                                      <p:to>
                                        <p:strVal val="visible"/>
                                      </p:to>
                                    </p:set>
                                    <p:animEffect transition="in" filter="blinds(horizontal)">
                                      <p:cBhvr>
                                        <p:cTn id="89" dur="500"/>
                                        <p:tgtEl>
                                          <p:spTgt spid="362502"/>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xit" presetSubtype="10" fill="hold" nodeType="clickEffect">
                                  <p:stCondLst>
                                    <p:cond delay="0"/>
                                  </p:stCondLst>
                                  <p:childTnLst>
                                    <p:animEffect transition="out" filter="blinds(horizontal)">
                                      <p:cBhvr>
                                        <p:cTn id="93" dur="500"/>
                                        <p:tgtEl>
                                          <p:spTgt spid="13"/>
                                        </p:tgtEl>
                                      </p:cBhvr>
                                    </p:animEffect>
                                    <p:set>
                                      <p:cBhvr>
                                        <p:cTn id="94" dur="1" fill="hold">
                                          <p:stCondLst>
                                            <p:cond delay="499"/>
                                          </p:stCondLst>
                                        </p:cTn>
                                        <p:tgtEl>
                                          <p:spTgt spid="13"/>
                                        </p:tgtEl>
                                        <p:attrNameLst>
                                          <p:attrName>style.visibility</p:attrName>
                                        </p:attrNameLst>
                                      </p:cBhvr>
                                      <p:to>
                                        <p:strVal val="hidden"/>
                                      </p:to>
                                    </p:set>
                                  </p:childTnLst>
                                </p:cTn>
                              </p:par>
                              <p:par>
                                <p:cTn id="95" presetID="3" presetClass="exit" presetSubtype="10" fill="hold" nodeType="withEffect">
                                  <p:stCondLst>
                                    <p:cond delay="0"/>
                                  </p:stCondLst>
                                  <p:childTnLst>
                                    <p:animEffect transition="out" filter="blinds(horizontal)">
                                      <p:cBhvr>
                                        <p:cTn id="96" dur="500"/>
                                        <p:tgtEl>
                                          <p:spTgt spid="15"/>
                                        </p:tgtEl>
                                      </p:cBhvr>
                                    </p:animEffect>
                                    <p:set>
                                      <p:cBhvr>
                                        <p:cTn id="97" dur="1" fill="hold">
                                          <p:stCondLst>
                                            <p:cond delay="499"/>
                                          </p:stCondLst>
                                        </p:cTn>
                                        <p:tgtEl>
                                          <p:spTgt spid="15"/>
                                        </p:tgtEl>
                                        <p:attrNameLst>
                                          <p:attrName>style.visibility</p:attrName>
                                        </p:attrNameLst>
                                      </p:cBhvr>
                                      <p:to>
                                        <p:strVal val="hidden"/>
                                      </p:to>
                                    </p:set>
                                  </p:childTnLst>
                                </p:cTn>
                              </p:par>
                              <p:par>
                                <p:cTn id="98" presetID="3" presetClass="exit" presetSubtype="10" fill="hold" nodeType="withEffect">
                                  <p:stCondLst>
                                    <p:cond delay="0"/>
                                  </p:stCondLst>
                                  <p:childTnLst>
                                    <p:animEffect transition="out" filter="blinds(horizontal)">
                                      <p:cBhvr>
                                        <p:cTn id="99" dur="500"/>
                                        <p:tgtEl>
                                          <p:spTgt spid="17"/>
                                        </p:tgtEl>
                                      </p:cBhvr>
                                    </p:animEffect>
                                    <p:set>
                                      <p:cBhvr>
                                        <p:cTn id="100" dur="1" fill="hold">
                                          <p:stCondLst>
                                            <p:cond delay="499"/>
                                          </p:stCondLst>
                                        </p:cTn>
                                        <p:tgtEl>
                                          <p:spTgt spid="17"/>
                                        </p:tgtEl>
                                        <p:attrNameLst>
                                          <p:attrName>style.visibility</p:attrName>
                                        </p:attrNameLst>
                                      </p:cBhvr>
                                      <p:to>
                                        <p:strVal val="hidden"/>
                                      </p:to>
                                    </p:set>
                                  </p:childTnLst>
                                </p:cTn>
                              </p:par>
                              <p:par>
                                <p:cTn id="101" presetID="3" presetClass="exit" presetSubtype="10" fill="hold" nodeType="withEffect">
                                  <p:stCondLst>
                                    <p:cond delay="0"/>
                                  </p:stCondLst>
                                  <p:childTnLst>
                                    <p:animEffect transition="out" filter="blinds(horizontal)">
                                      <p:cBhvr>
                                        <p:cTn id="102" dur="500"/>
                                        <p:tgtEl>
                                          <p:spTgt spid="19"/>
                                        </p:tgtEl>
                                      </p:cBhvr>
                                    </p:animEffect>
                                    <p:set>
                                      <p:cBhvr>
                                        <p:cTn id="103"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5" grpId="0" animBg="1"/>
      <p:bldP spid="10" grpId="0" animBg="1"/>
      <p:bldP spid="4" grpId="0" animBg="1"/>
      <p:bldP spid="16" grpId="0" animBg="1"/>
      <p:bldP spid="18" grpId="0" animBg="1"/>
      <p:bldP spid="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p:nvPr/>
        </p:nvSpPr>
        <p:spPr>
          <a:xfrm>
            <a:off x="6151563" y="6492875"/>
            <a:ext cx="1079500" cy="396875"/>
          </a:xfrm>
          <a:prstGeom prst="rect">
            <a:avLst/>
          </a:prstGeom>
          <a:solidFill>
            <a:srgbClr val="FFCCFF"/>
          </a:solidFill>
          <a:ln w="9525">
            <a:noFill/>
          </a:ln>
        </p:spPr>
        <p:txBody>
          <a:bodyPr>
            <a:spAutoFit/>
          </a:bodyPr>
          <a:lstStyle/>
          <a:p>
            <a:pPr eaLnBrk="1" hangingPunct="1"/>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4-25</a:t>
            </a:r>
            <a:endParaRPr lang="zh-CN" altLang="en-US" sz="2000" dirty="0">
              <a:latin typeface="微软雅黑" pitchFamily="34" charset="-122"/>
              <a:ea typeface="微软雅黑" pitchFamily="34" charset="-122"/>
            </a:endParaRPr>
          </a:p>
        </p:txBody>
      </p:sp>
      <p:pic>
        <p:nvPicPr>
          <p:cNvPr id="30730" name="Picture 10"/>
          <p:cNvPicPr>
            <a:picLocks noChangeAspect="1"/>
          </p:cNvPicPr>
          <p:nvPr/>
        </p:nvPicPr>
        <p:blipFill>
          <a:blip r:embed="rId2"/>
          <a:stretch>
            <a:fillRect/>
          </a:stretch>
        </p:blipFill>
        <p:spPr>
          <a:xfrm>
            <a:off x="4533900" y="4665663"/>
            <a:ext cx="4610100" cy="1885950"/>
          </a:xfrm>
          <a:prstGeom prst="rect">
            <a:avLst/>
          </a:prstGeom>
          <a:noFill/>
          <a:ln w="9525">
            <a:noFill/>
          </a:ln>
        </p:spPr>
      </p:pic>
      <p:sp>
        <p:nvSpPr>
          <p:cNvPr id="4" name="矩形 3"/>
          <p:cNvSpPr/>
          <p:nvPr/>
        </p:nvSpPr>
        <p:spPr>
          <a:xfrm>
            <a:off x="1763713" y="6532563"/>
            <a:ext cx="1152525" cy="396875"/>
          </a:xfrm>
          <a:prstGeom prst="rect">
            <a:avLst/>
          </a:prstGeom>
          <a:solidFill>
            <a:srgbClr val="CCFF99"/>
          </a:solidFill>
          <a:ln w="9525">
            <a:noFill/>
          </a:ln>
        </p:spPr>
        <p:txBody>
          <a:bodyPr>
            <a:spAutoFit/>
          </a:bodyPr>
          <a:lstStyle/>
          <a:p>
            <a:pPr eaLnBrk="1" hangingPunct="1"/>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4-24</a:t>
            </a:r>
            <a:endParaRPr lang="zh-CN" altLang="en-US" sz="2000" dirty="0">
              <a:latin typeface="微软雅黑" pitchFamily="34" charset="-122"/>
              <a:ea typeface="微软雅黑" pitchFamily="34" charset="-122"/>
            </a:endParaRPr>
          </a:p>
        </p:txBody>
      </p:sp>
      <p:sp>
        <p:nvSpPr>
          <p:cNvPr id="2" name="Rectangle 2"/>
          <p:cNvSpPr txBox="1"/>
          <p:nvPr/>
        </p:nvSpPr>
        <p:spPr>
          <a:xfrm>
            <a:off x="0" y="476250"/>
            <a:ext cx="9144000" cy="649288"/>
          </a:xfrm>
          <a:prstGeom prst="rect">
            <a:avLst/>
          </a:prstGeom>
          <a:solidFill>
            <a:srgbClr val="FFFF99"/>
          </a:solidFill>
          <a:ln w="9525">
            <a:noFill/>
          </a:ln>
        </p:spPr>
        <p:txBody>
          <a:bodyPr/>
          <a:lstStyle/>
          <a:p>
            <a:r>
              <a:rPr lang="zh-CN" altLang="en-US" sz="2000" b="1" dirty="0">
                <a:latin typeface="微软雅黑" pitchFamily="34" charset="-122"/>
                <a:ea typeface="微软雅黑" pitchFamily="34" charset="-122"/>
              </a:rPr>
              <a:t>用表上作业法求解运输问题当出现退化时</a:t>
            </a:r>
            <a:r>
              <a:rPr lang="zh-CN" altLang="en-US" sz="2000" b="1" dirty="0">
                <a:latin typeface="仿宋" pitchFamily="49" charset="-122"/>
                <a:ea typeface="仿宋" pitchFamily="49" charset="-122"/>
              </a:rPr>
              <a:t>，</a:t>
            </a:r>
            <a:r>
              <a:rPr lang="zh-CN" altLang="en-US" sz="2000" b="1" dirty="0">
                <a:latin typeface="微软雅黑" pitchFamily="34" charset="-122"/>
                <a:ea typeface="微软雅黑" pitchFamily="34" charset="-122"/>
              </a:rPr>
              <a:t>在相应的格中一定要填一个</a:t>
            </a:r>
            <a:r>
              <a:rPr lang="en-US" altLang="zh-CN" sz="2000" b="1" dirty="0">
                <a:latin typeface="微软雅黑" pitchFamily="34" charset="-122"/>
                <a:ea typeface="微软雅黑" pitchFamily="34" charset="-122"/>
              </a:rPr>
              <a:t>0</a:t>
            </a:r>
            <a:r>
              <a:rPr lang="zh-CN" altLang="en-US" sz="2000" b="1" dirty="0">
                <a:latin typeface="仿宋" pitchFamily="49" charset="-122"/>
                <a:ea typeface="仿宋" pitchFamily="49" charset="-122"/>
              </a:rPr>
              <a:t>，</a:t>
            </a:r>
            <a:r>
              <a:rPr lang="zh-CN" altLang="en-US" sz="2000" b="1" dirty="0">
                <a:latin typeface="微软雅黑" pitchFamily="34" charset="-122"/>
                <a:ea typeface="微软雅黑" pitchFamily="34" charset="-122"/>
              </a:rPr>
              <a:t>以表示此格为数字格。有以下两种情况</a:t>
            </a:r>
            <a:endParaRPr lang="zh-CN" altLang="en-US" sz="2000" b="1" dirty="0">
              <a:solidFill>
                <a:schemeClr val="tx2"/>
              </a:solidFill>
              <a:latin typeface="微软雅黑" pitchFamily="34" charset="-122"/>
              <a:ea typeface="微软雅黑" pitchFamily="34" charset="-122"/>
            </a:endParaRPr>
          </a:p>
        </p:txBody>
      </p:sp>
      <p:sp>
        <p:nvSpPr>
          <p:cNvPr id="39942" name="矩形 3"/>
          <p:cNvSpPr/>
          <p:nvPr/>
        </p:nvSpPr>
        <p:spPr>
          <a:xfrm>
            <a:off x="0" y="0"/>
            <a:ext cx="9144000" cy="519113"/>
          </a:xfrm>
          <a:prstGeom prst="rect">
            <a:avLst/>
          </a:prstGeom>
          <a:solidFill>
            <a:srgbClr val="B3F1F7"/>
          </a:solidFill>
          <a:ln w="9525">
            <a:noFill/>
          </a:ln>
        </p:spPr>
        <p:txBody>
          <a:bodyPr>
            <a:spAutoFit/>
          </a:bodyPr>
          <a:lstStyle/>
          <a:p>
            <a:pPr eaLnBrk="1" hangingPunct="1"/>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退化</a:t>
            </a:r>
          </a:p>
        </p:txBody>
      </p:sp>
      <p:sp>
        <p:nvSpPr>
          <p:cNvPr id="6" name="Rectangle 3"/>
          <p:cNvSpPr txBox="1">
            <a:spLocks noChangeArrowheads="1"/>
          </p:cNvSpPr>
          <p:nvPr/>
        </p:nvSpPr>
        <p:spPr bwMode="auto">
          <a:xfrm>
            <a:off x="0" y="1125538"/>
            <a:ext cx="9144000" cy="3455988"/>
          </a:xfrm>
          <a:prstGeom prst="rect">
            <a:avLst/>
          </a:prstGeom>
          <a:noFill/>
          <a:ln w="9525">
            <a:noFill/>
            <a:miter lim="800000"/>
          </a:ln>
        </p:spPr>
        <p:txBody>
          <a:bodyPr/>
          <a:lstStyle/>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当确定初始解的各供需关系时</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若在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i</a:t>
            </a:r>
            <a:r>
              <a:rPr kumimoji="0" lang="en-US" altLang="zh-CN" b="1" kern="1200" cap="none" spc="0" normalizeH="0" baseline="0" noProof="0" dirty="0" err="1">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仿宋" pitchFamily="49" charset="-122"/>
                <a:cs typeface="Times New Roman" panose="02020603050405020304" pitchFamily="18" charset="0"/>
              </a:rPr>
              <a:t>j</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格填入某数字后</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出现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处的余量等于</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25000" noProof="0" dirty="0" err="1">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处的需量。这时在产销平衡表上填一个数</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而在单位运价表上相应地要划去一行和一列</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为了使产销平衡表上有</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个数字格。这时需要添一个</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0</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。它的位置可在对应同时划去的那行或那列的任一空格处</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如表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4-24</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4-25</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所示。因第一次划去第一列</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剩下最小元素为</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其对应的销地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B</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需要量为</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而对应的产地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未分配量也是</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。这时在产销表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交叉格中填入</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这时在单位运价表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4-25</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中需同时划去</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B</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列和</a:t>
            </a:r>
            <a:r>
              <a:rPr kumimoji="0" lang="en-US" altLang="zh-CN"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行</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90000"/>
              </a:lnSpc>
              <a:spcBef>
                <a:spcPts val="600"/>
              </a:spcBef>
              <a:buClr>
                <a:schemeClr val="accent1"/>
              </a:buClr>
              <a:buSzPct val="70000"/>
              <a:buFont typeface="Wingdings" panose="05000000000000000000" pitchFamily="2" charset="2"/>
              <a:buNone/>
              <a:defRPr/>
            </a:pP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在表</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4-24</a:t>
            </a: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的空格</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4)</a:t>
            </a: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中任选一格添加一个</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0</a:t>
            </a:r>
            <a:endPar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65573" name="Picture 5"/>
          <p:cNvPicPr>
            <a:picLocks noChangeAspect="1"/>
          </p:cNvPicPr>
          <p:nvPr/>
        </p:nvPicPr>
        <p:blipFill>
          <a:blip r:embed="rId3"/>
          <a:stretch>
            <a:fillRect/>
          </a:stretch>
        </p:blipFill>
        <p:spPr>
          <a:xfrm>
            <a:off x="0" y="4652963"/>
            <a:ext cx="4572000" cy="1909762"/>
          </a:xfrm>
          <a:prstGeom prst="rect">
            <a:avLst/>
          </a:prstGeom>
          <a:noFill/>
          <a:ln w="9525">
            <a:noFill/>
          </a:ln>
        </p:spPr>
      </p:pic>
      <p:cxnSp>
        <p:nvCxnSpPr>
          <p:cNvPr id="10" name="直接连接符 9"/>
          <p:cNvCxnSpPr/>
          <p:nvPr/>
        </p:nvCxnSpPr>
        <p:spPr>
          <a:xfrm>
            <a:off x="7380288" y="4724400"/>
            <a:ext cx="0" cy="2017713"/>
          </a:xfrm>
          <a:prstGeom prst="line">
            <a:avLst/>
          </a:prstGeom>
          <a:ln w="38100" cap="flat" cmpd="sng">
            <a:solidFill>
              <a:srgbClr val="FF0000"/>
            </a:solidFill>
            <a:prstDash val="solid"/>
            <a:miter/>
            <a:headEnd type="none" w="med" len="med"/>
            <a:tailEnd type="none" w="med" len="med"/>
          </a:ln>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dissolv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dissolv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65573"/>
                                        </p:tgtEl>
                                        <p:attrNameLst>
                                          <p:attrName>style.visibility</p:attrName>
                                        </p:attrNameLst>
                                      </p:cBhvr>
                                      <p:to>
                                        <p:strVal val="visible"/>
                                      </p:to>
                                    </p:set>
                                    <p:animEffect transition="in" filter="blinds(horizontal)">
                                      <p:cBhvr>
                                        <p:cTn id="27" dur="500"/>
                                        <p:tgtEl>
                                          <p:spTgt spid="36557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0730"/>
                                        </p:tgtEl>
                                        <p:attrNameLst>
                                          <p:attrName>style.visibility</p:attrName>
                                        </p:attrNameLst>
                                      </p:cBhvr>
                                      <p:to>
                                        <p:strVal val="visible"/>
                                      </p:to>
                                    </p:set>
                                    <p:animEffect transition="in" filter="blinds(horizontal)">
                                      <p:cBhvr>
                                        <p:cTn id="35" dur="500"/>
                                        <p:tgtEl>
                                          <p:spTgt spid="30730"/>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blinds(horizontal)">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linds(horizontal)">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dissolve">
                                      <p:cBhvr>
                                        <p:cTn id="4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animBg="1"/>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Text Box 2"/>
          <p:cNvSpPr txBox="1">
            <a:spLocks noChangeArrowheads="1"/>
          </p:cNvSpPr>
          <p:nvPr/>
        </p:nvSpPr>
        <p:spPr bwMode="auto">
          <a:xfrm>
            <a:off x="0" y="0"/>
            <a:ext cx="9144000" cy="83026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例</a:t>
            </a:r>
            <a:r>
              <a:rPr kumimoji="1" lang="en-US" altLang="zh-CN"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 </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某石油公司设有四个炼油厂</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它们生产普通汽油</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并为七个销售区服务</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生产和需求情况如下：</a:t>
            </a:r>
          </a:p>
        </p:txBody>
      </p:sp>
      <p:pic>
        <p:nvPicPr>
          <p:cNvPr id="40963" name="Picture 3"/>
          <p:cNvPicPr>
            <a:picLocks noChangeAspect="1"/>
          </p:cNvPicPr>
          <p:nvPr/>
        </p:nvPicPr>
        <p:blipFill>
          <a:blip r:embed="rId2"/>
          <a:stretch>
            <a:fillRect/>
          </a:stretch>
        </p:blipFill>
        <p:spPr>
          <a:xfrm>
            <a:off x="2266950" y="765175"/>
            <a:ext cx="4392613" cy="869950"/>
          </a:xfrm>
          <a:prstGeom prst="rect">
            <a:avLst/>
          </a:prstGeom>
          <a:noFill/>
          <a:ln w="9525">
            <a:noFill/>
          </a:ln>
        </p:spPr>
      </p:pic>
      <p:pic>
        <p:nvPicPr>
          <p:cNvPr id="40964" name="Picture 4"/>
          <p:cNvPicPr>
            <a:picLocks noChangeAspect="1"/>
          </p:cNvPicPr>
          <p:nvPr/>
        </p:nvPicPr>
        <p:blipFill>
          <a:blip r:embed="rId3"/>
          <a:stretch>
            <a:fillRect/>
          </a:stretch>
        </p:blipFill>
        <p:spPr>
          <a:xfrm>
            <a:off x="2268538" y="1628775"/>
            <a:ext cx="4311650" cy="1220788"/>
          </a:xfrm>
          <a:prstGeom prst="rect">
            <a:avLst/>
          </a:prstGeom>
          <a:noFill/>
          <a:ln w="9525">
            <a:noFill/>
          </a:ln>
        </p:spPr>
      </p:pic>
      <p:sp>
        <p:nvSpPr>
          <p:cNvPr id="456709" name="Text Box 5"/>
          <p:cNvSpPr txBox="1">
            <a:spLocks noChangeArrowheads="1"/>
          </p:cNvSpPr>
          <p:nvPr/>
        </p:nvSpPr>
        <p:spPr bwMode="auto">
          <a:xfrm>
            <a:off x="0" y="2822575"/>
            <a:ext cx="9144000" cy="830263"/>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从炼油厂运往第 </a:t>
            </a:r>
            <a:r>
              <a:rPr kumimoji="1" lang="en-US" altLang="zh-CN" b="1" i="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Times New Roman" panose="02020603050405020304" pitchFamily="18" charset="0"/>
              </a:rPr>
              <a:t>j </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个销售区每公升汽油平均运费（单位：角/公升）</a:t>
            </a:r>
            <a:r>
              <a:rPr kumimoji="1" lang="zh-CN" altLang="en-US"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如下表</a:t>
            </a:r>
            <a:r>
              <a:rPr kumimoji="0" lang="zh-CN" altLang="zh-CN"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应如何调运</a:t>
            </a:r>
            <a:r>
              <a:rPr kumimoji="0" lang="zh-CN" altLang="zh-CN"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使运费最省</a:t>
            </a:r>
            <a:endParaRPr kumimoji="1" lang="zh-CN" altLang="en-US" b="1" kern="1200" cap="none" spc="0" normalizeH="0" baseline="0" noProof="0" dirty="0">
              <a:latin typeface="微软雅黑" pitchFamily="34" charset="-122"/>
              <a:ea typeface="微软雅黑" pitchFamily="34" charset="-122"/>
              <a:cs typeface="+mn-cs"/>
            </a:endParaRPr>
          </a:p>
        </p:txBody>
      </p:sp>
      <p:pic>
        <p:nvPicPr>
          <p:cNvPr id="456710" name="Picture 6"/>
          <p:cNvPicPr>
            <a:picLocks noChangeAspect="1"/>
          </p:cNvPicPr>
          <p:nvPr/>
        </p:nvPicPr>
        <p:blipFill>
          <a:blip r:embed="rId4"/>
          <a:stretch>
            <a:fillRect/>
          </a:stretch>
        </p:blipFill>
        <p:spPr>
          <a:xfrm>
            <a:off x="652463" y="3651250"/>
            <a:ext cx="7664450" cy="32067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6709"/>
                                        </p:tgtEl>
                                        <p:attrNameLst>
                                          <p:attrName>style.visibility</p:attrName>
                                        </p:attrNameLst>
                                      </p:cBhvr>
                                      <p:to>
                                        <p:strVal val="visible"/>
                                      </p:to>
                                    </p:set>
                                    <p:animEffect transition="in" filter="blinds(horizontal)">
                                      <p:cBhvr>
                                        <p:cTn id="7" dur="500"/>
                                        <p:tgtEl>
                                          <p:spTgt spid="4567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6710"/>
                                        </p:tgtEl>
                                        <p:attrNameLst>
                                          <p:attrName>style.visibility</p:attrName>
                                        </p:attrNameLst>
                                      </p:cBhvr>
                                      <p:to>
                                        <p:strVal val="visible"/>
                                      </p:to>
                                    </p:set>
                                    <p:animEffect transition="in" filter="blinds(horizontal)">
                                      <p:cBhvr>
                                        <p:cTn id="12" dur="500"/>
                                        <p:tgtEl>
                                          <p:spTgt spid="456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Text Box 2"/>
          <p:cNvSpPr txBox="1">
            <a:spLocks noChangeArrowheads="1"/>
          </p:cNvSpPr>
          <p:nvPr/>
        </p:nvSpPr>
        <p:spPr bwMode="auto">
          <a:xfrm>
            <a:off x="0" y="0"/>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微软雅黑" pitchFamily="34" charset="-122"/>
                <a:cs typeface="+mn-cs"/>
              </a:rPr>
              <a:t>解：</a:t>
            </a:r>
            <a:r>
              <a:rPr kumimoji="1" lang="zh-CN" altLang="en-US" b="1" kern="1200" cap="none" spc="0" normalizeH="0" baseline="0" noProof="0" dirty="0">
                <a:effectLst>
                  <a:outerShdw blurRad="38100" dist="38100" dir="2700000" algn="tl">
                    <a:srgbClr val="C0C0C0"/>
                  </a:outerShdw>
                </a:effectLst>
                <a:latin typeface="Times New Roman" panose="02020603050405020304" pitchFamily="18" charset="0"/>
                <a:ea typeface="微软雅黑" pitchFamily="34" charset="-122"/>
                <a:cs typeface="+mn-cs"/>
              </a:rPr>
              <a:t>平衡问题，用最小元素法求初始方案为：</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57731" name="Picture 3"/>
          <p:cNvPicPr>
            <a:picLocks noChangeAspect="1"/>
          </p:cNvPicPr>
          <p:nvPr/>
        </p:nvPicPr>
        <p:blipFill>
          <a:blip r:embed="rId2"/>
          <a:stretch>
            <a:fillRect/>
          </a:stretch>
        </p:blipFill>
        <p:spPr>
          <a:xfrm>
            <a:off x="1403350" y="476250"/>
            <a:ext cx="6048375" cy="3206750"/>
          </a:xfrm>
          <a:prstGeom prst="rect">
            <a:avLst/>
          </a:prstGeom>
          <a:noFill/>
          <a:ln w="9525">
            <a:noFill/>
          </a:ln>
        </p:spPr>
      </p:pic>
      <p:pic>
        <p:nvPicPr>
          <p:cNvPr id="457732" name="Picture 4"/>
          <p:cNvPicPr>
            <a:picLocks noChangeAspect="1"/>
          </p:cNvPicPr>
          <p:nvPr/>
        </p:nvPicPr>
        <p:blipFill>
          <a:blip r:embed="rId3"/>
          <a:stretch>
            <a:fillRect/>
          </a:stretch>
        </p:blipFill>
        <p:spPr>
          <a:xfrm>
            <a:off x="1403350" y="3667125"/>
            <a:ext cx="6048375" cy="319087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7731"/>
                                        </p:tgtEl>
                                        <p:attrNameLst>
                                          <p:attrName>style.visibility</p:attrName>
                                        </p:attrNameLst>
                                      </p:cBhvr>
                                      <p:to>
                                        <p:strVal val="visible"/>
                                      </p:to>
                                    </p:set>
                                    <p:animEffect transition="in" filter="blinds(horizontal)">
                                      <p:cBhvr>
                                        <p:cTn id="7" dur="500"/>
                                        <p:tgtEl>
                                          <p:spTgt spid="4577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7732"/>
                                        </p:tgtEl>
                                        <p:attrNameLst>
                                          <p:attrName>style.visibility</p:attrName>
                                        </p:attrNameLst>
                                      </p:cBhvr>
                                      <p:to>
                                        <p:strVal val="visible"/>
                                      </p:to>
                                    </p:set>
                                    <p:animEffect transition="in" filter="blinds(horizontal)">
                                      <p:cBhvr>
                                        <p:cTn id="12" dur="500"/>
                                        <p:tgtEl>
                                          <p:spTgt spid="457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p:cNvPicPr>
          <p:nvPr/>
        </p:nvPicPr>
        <p:blipFill>
          <a:blip r:embed="rId2"/>
          <a:stretch>
            <a:fillRect/>
          </a:stretch>
        </p:blipFill>
        <p:spPr>
          <a:xfrm>
            <a:off x="1116013" y="0"/>
            <a:ext cx="6624637" cy="3438525"/>
          </a:xfrm>
          <a:prstGeom prst="rect">
            <a:avLst/>
          </a:prstGeom>
          <a:noFill/>
          <a:ln w="9525">
            <a:noFill/>
          </a:ln>
        </p:spPr>
      </p:pic>
      <p:pic>
        <p:nvPicPr>
          <p:cNvPr id="458755" name="Picture 3"/>
          <p:cNvPicPr>
            <a:picLocks noChangeAspect="1"/>
          </p:cNvPicPr>
          <p:nvPr/>
        </p:nvPicPr>
        <p:blipFill>
          <a:blip r:embed="rId3"/>
          <a:stretch>
            <a:fillRect/>
          </a:stretch>
        </p:blipFill>
        <p:spPr>
          <a:xfrm>
            <a:off x="1187450" y="3481388"/>
            <a:ext cx="6553200" cy="337661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8755"/>
                                        </p:tgtEl>
                                        <p:attrNameLst>
                                          <p:attrName>style.visibility</p:attrName>
                                        </p:attrNameLst>
                                      </p:cBhvr>
                                      <p:to>
                                        <p:strVal val="visible"/>
                                      </p:to>
                                    </p:set>
                                    <p:animEffect transition="in" filter="blinds(horizontal)">
                                      <p:cBhvr>
                                        <p:cTn id="7" dur="500"/>
                                        <p:tgtEl>
                                          <p:spTgt spid="45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p:cNvPicPr>
          <p:nvPr/>
        </p:nvPicPr>
        <p:blipFill>
          <a:blip r:embed="rId2"/>
          <a:stretch>
            <a:fillRect/>
          </a:stretch>
        </p:blipFill>
        <p:spPr>
          <a:xfrm>
            <a:off x="1258888" y="0"/>
            <a:ext cx="6626225" cy="3375025"/>
          </a:xfrm>
          <a:prstGeom prst="rect">
            <a:avLst/>
          </a:prstGeom>
          <a:noFill/>
          <a:ln w="9525">
            <a:noFill/>
          </a:ln>
        </p:spPr>
      </p:pic>
      <p:pic>
        <p:nvPicPr>
          <p:cNvPr id="459779" name="Picture 3"/>
          <p:cNvPicPr>
            <a:picLocks noChangeAspect="1"/>
          </p:cNvPicPr>
          <p:nvPr/>
        </p:nvPicPr>
        <p:blipFill>
          <a:blip r:embed="rId3"/>
          <a:stretch>
            <a:fillRect/>
          </a:stretch>
        </p:blipFill>
        <p:spPr>
          <a:xfrm>
            <a:off x="1258888" y="3409950"/>
            <a:ext cx="6696075" cy="34480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9779"/>
                                        </p:tgtEl>
                                        <p:attrNameLst>
                                          <p:attrName>style.visibility</p:attrName>
                                        </p:attrNameLst>
                                      </p:cBhvr>
                                      <p:to>
                                        <p:strVal val="visible"/>
                                      </p:to>
                                    </p:set>
                                    <p:animEffect transition="in" filter="blinds(horizontal)">
                                      <p:cBhvr>
                                        <p:cTn id="7" dur="500"/>
                                        <p:tgtEl>
                                          <p:spTgt spid="459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p:cNvPicPr>
          <p:nvPr/>
        </p:nvPicPr>
        <p:blipFill>
          <a:blip r:embed="rId2"/>
          <a:stretch>
            <a:fillRect/>
          </a:stretch>
        </p:blipFill>
        <p:spPr>
          <a:xfrm>
            <a:off x="1042988" y="0"/>
            <a:ext cx="6624637" cy="3387725"/>
          </a:xfrm>
          <a:prstGeom prst="rect">
            <a:avLst/>
          </a:prstGeom>
          <a:noFill/>
          <a:ln w="9525">
            <a:noFill/>
          </a:ln>
        </p:spPr>
      </p:pic>
      <p:pic>
        <p:nvPicPr>
          <p:cNvPr id="460803" name="Picture 3"/>
          <p:cNvPicPr>
            <a:picLocks noChangeAspect="1"/>
          </p:cNvPicPr>
          <p:nvPr/>
        </p:nvPicPr>
        <p:blipFill>
          <a:blip r:embed="rId3"/>
          <a:stretch>
            <a:fillRect/>
          </a:stretch>
        </p:blipFill>
        <p:spPr>
          <a:xfrm>
            <a:off x="1042988" y="3471863"/>
            <a:ext cx="6624637" cy="3386137"/>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03"/>
                                        </p:tgtEl>
                                        <p:attrNameLst>
                                          <p:attrName>style.visibility</p:attrName>
                                        </p:attrNameLst>
                                      </p:cBhvr>
                                      <p:to>
                                        <p:strVal val="visible"/>
                                      </p:to>
                                    </p:set>
                                    <p:animEffect transition="in" filter="blinds(horizontal)">
                                      <p:cBhvr>
                                        <p:cTn id="7" dur="500"/>
                                        <p:tgtEl>
                                          <p:spTgt spid="460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p:cNvPicPr>
          <p:nvPr/>
        </p:nvPicPr>
        <p:blipFill>
          <a:blip r:embed="rId2"/>
          <a:stretch>
            <a:fillRect/>
          </a:stretch>
        </p:blipFill>
        <p:spPr>
          <a:xfrm>
            <a:off x="1258888" y="0"/>
            <a:ext cx="6626225" cy="3363913"/>
          </a:xfrm>
          <a:prstGeom prst="rect">
            <a:avLst/>
          </a:prstGeom>
          <a:noFill/>
          <a:ln w="9525">
            <a:noFill/>
          </a:ln>
        </p:spPr>
      </p:pic>
      <p:pic>
        <p:nvPicPr>
          <p:cNvPr id="461827" name="Picture 3"/>
          <p:cNvPicPr>
            <a:picLocks noChangeAspect="1"/>
          </p:cNvPicPr>
          <p:nvPr/>
        </p:nvPicPr>
        <p:blipFill>
          <a:blip r:embed="rId3"/>
          <a:stretch>
            <a:fillRect/>
          </a:stretch>
        </p:blipFill>
        <p:spPr>
          <a:xfrm>
            <a:off x="1258888" y="3525838"/>
            <a:ext cx="6551612" cy="333216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1827"/>
                                        </p:tgtEl>
                                        <p:attrNameLst>
                                          <p:attrName>style.visibility</p:attrName>
                                        </p:attrNameLst>
                                      </p:cBhvr>
                                      <p:to>
                                        <p:strVal val="visible"/>
                                      </p:to>
                                    </p:set>
                                    <p:animEffect transition="in" filter="blinds(horizontal)">
                                      <p:cBhvr>
                                        <p:cTn id="7" dur="500"/>
                                        <p:tgtEl>
                                          <p:spTgt spid="461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p:cNvPicPr>
          <p:nvPr/>
        </p:nvPicPr>
        <p:blipFill>
          <a:blip r:embed="rId3"/>
          <a:stretch>
            <a:fillRect/>
          </a:stretch>
        </p:blipFill>
        <p:spPr>
          <a:xfrm>
            <a:off x="1547813" y="476250"/>
            <a:ext cx="5688012" cy="2860675"/>
          </a:xfrm>
          <a:prstGeom prst="rect">
            <a:avLst/>
          </a:prstGeom>
          <a:noFill/>
          <a:ln w="9525">
            <a:noFill/>
          </a:ln>
        </p:spPr>
      </p:pic>
      <p:sp>
        <p:nvSpPr>
          <p:cNvPr id="462851" name="Text Box 3"/>
          <p:cNvSpPr txBox="1">
            <a:spLocks noChangeArrowheads="1"/>
          </p:cNvSpPr>
          <p:nvPr/>
        </p:nvSpPr>
        <p:spPr bwMode="auto">
          <a:xfrm>
            <a:off x="0" y="0"/>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用最小元素法得初始基可行解为：</a:t>
            </a:r>
          </a:p>
        </p:txBody>
      </p:sp>
      <p:sp>
        <p:nvSpPr>
          <p:cNvPr id="462852" name="Text Box 4"/>
          <p:cNvSpPr txBox="1">
            <a:spLocks noChangeArrowheads="1"/>
          </p:cNvSpPr>
          <p:nvPr/>
        </p:nvSpPr>
        <p:spPr bwMode="auto">
          <a:xfrm>
            <a:off x="0" y="3357563"/>
            <a:ext cx="9144000" cy="457200"/>
          </a:xfrm>
          <a:prstGeom prst="rect">
            <a:avLst/>
          </a:prstGeom>
          <a:solidFill>
            <a:srgbClr val="FFFF99"/>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用位势法计算检验数</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62853" name="Picture 5"/>
          <p:cNvPicPr>
            <a:picLocks noChangeAspect="1"/>
          </p:cNvPicPr>
          <p:nvPr/>
        </p:nvPicPr>
        <p:blipFill>
          <a:blip r:embed="rId4"/>
          <a:stretch>
            <a:fillRect/>
          </a:stretch>
        </p:blipFill>
        <p:spPr>
          <a:xfrm>
            <a:off x="1547813" y="3825875"/>
            <a:ext cx="5832475" cy="3032125"/>
          </a:xfrm>
          <a:prstGeom prst="rect">
            <a:avLst/>
          </a:prstGeom>
          <a:noFill/>
          <a:ln w="9525">
            <a:noFill/>
          </a:ln>
        </p:spPr>
      </p:pic>
      <p:sp>
        <p:nvSpPr>
          <p:cNvPr id="462854" name="Rectangle 6"/>
          <p:cNvSpPr/>
          <p:nvPr/>
        </p:nvSpPr>
        <p:spPr>
          <a:xfrm>
            <a:off x="4860925" y="6308725"/>
            <a:ext cx="431800" cy="431800"/>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5" name="Rectangle 7"/>
          <p:cNvSpPr/>
          <p:nvPr/>
        </p:nvSpPr>
        <p:spPr>
          <a:xfrm>
            <a:off x="2268538" y="6308725"/>
            <a:ext cx="431800" cy="431800"/>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6" name="Rectangle 8"/>
          <p:cNvSpPr/>
          <p:nvPr/>
        </p:nvSpPr>
        <p:spPr>
          <a:xfrm>
            <a:off x="6732588" y="4438650"/>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7" name="Rectangle 9"/>
          <p:cNvSpPr/>
          <p:nvPr/>
        </p:nvSpPr>
        <p:spPr>
          <a:xfrm>
            <a:off x="6732588" y="4868863"/>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8" name="Rectangle 10"/>
          <p:cNvSpPr/>
          <p:nvPr/>
        </p:nvSpPr>
        <p:spPr>
          <a:xfrm>
            <a:off x="6732588" y="5300663"/>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9" name="Rectangle 11"/>
          <p:cNvSpPr/>
          <p:nvPr/>
        </p:nvSpPr>
        <p:spPr>
          <a:xfrm>
            <a:off x="6732588" y="5805488"/>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0" name="Rectangle 12"/>
          <p:cNvSpPr/>
          <p:nvPr/>
        </p:nvSpPr>
        <p:spPr>
          <a:xfrm>
            <a:off x="6156325" y="6308725"/>
            <a:ext cx="360363"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1" name="Rectangle 13"/>
          <p:cNvSpPr/>
          <p:nvPr/>
        </p:nvSpPr>
        <p:spPr>
          <a:xfrm>
            <a:off x="5508625" y="6308725"/>
            <a:ext cx="360363"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2" name="Rectangle 14"/>
          <p:cNvSpPr/>
          <p:nvPr/>
        </p:nvSpPr>
        <p:spPr>
          <a:xfrm>
            <a:off x="42116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3" name="Rectangle 15"/>
          <p:cNvSpPr/>
          <p:nvPr/>
        </p:nvSpPr>
        <p:spPr>
          <a:xfrm>
            <a:off x="35639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4" name="Rectangle 16"/>
          <p:cNvSpPr/>
          <p:nvPr/>
        </p:nvSpPr>
        <p:spPr>
          <a:xfrm>
            <a:off x="29162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2852"/>
                                        </p:tgtEl>
                                        <p:attrNameLst>
                                          <p:attrName>style.visibility</p:attrName>
                                        </p:attrNameLst>
                                      </p:cBhvr>
                                      <p:to>
                                        <p:strVal val="visible"/>
                                      </p:to>
                                    </p:set>
                                    <p:animEffect transition="in" filter="blinds(horizontal)">
                                      <p:cBhvr>
                                        <p:cTn id="7" dur="500"/>
                                        <p:tgtEl>
                                          <p:spTgt spid="462852"/>
                                        </p:tgtEl>
                                      </p:cBhvr>
                                    </p:animEffect>
                                  </p:childTnLst>
                                </p:cTn>
                              </p:par>
                              <p:par>
                                <p:cTn id="8" presetID="3" presetClass="entr" presetSubtype="10" fill="hold" nodeType="withEffect">
                                  <p:stCondLst>
                                    <p:cond delay="0"/>
                                  </p:stCondLst>
                                  <p:childTnLst>
                                    <p:set>
                                      <p:cBhvr>
                                        <p:cTn id="9" dur="1" fill="hold">
                                          <p:stCondLst>
                                            <p:cond delay="0"/>
                                          </p:stCondLst>
                                        </p:cTn>
                                        <p:tgtEl>
                                          <p:spTgt spid="462853"/>
                                        </p:tgtEl>
                                        <p:attrNameLst>
                                          <p:attrName>style.visibility</p:attrName>
                                        </p:attrNameLst>
                                      </p:cBhvr>
                                      <p:to>
                                        <p:strVal val="visible"/>
                                      </p:to>
                                    </p:set>
                                    <p:animEffect transition="in" filter="blinds(horizontal)">
                                      <p:cBhvr>
                                        <p:cTn id="10" dur="500"/>
                                        <p:tgtEl>
                                          <p:spTgt spid="46285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462856"/>
                                        </p:tgtEl>
                                      </p:cBhvr>
                                    </p:animEffect>
                                    <p:set>
                                      <p:cBhvr>
                                        <p:cTn id="15" dur="1" fill="hold">
                                          <p:stCondLst>
                                            <p:cond delay="499"/>
                                          </p:stCondLst>
                                        </p:cTn>
                                        <p:tgtEl>
                                          <p:spTgt spid="46285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462863"/>
                                        </p:tgtEl>
                                      </p:cBhvr>
                                    </p:animEffect>
                                    <p:set>
                                      <p:cBhvr>
                                        <p:cTn id="20" dur="1" fill="hold">
                                          <p:stCondLst>
                                            <p:cond delay="499"/>
                                          </p:stCondLst>
                                        </p:cTn>
                                        <p:tgtEl>
                                          <p:spTgt spid="46286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462862"/>
                                        </p:tgtEl>
                                      </p:cBhvr>
                                    </p:animEffect>
                                    <p:set>
                                      <p:cBhvr>
                                        <p:cTn id="25" dur="1" fill="hold">
                                          <p:stCondLst>
                                            <p:cond delay="499"/>
                                          </p:stCondLst>
                                        </p:cTn>
                                        <p:tgtEl>
                                          <p:spTgt spid="46286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462854"/>
                                        </p:tgtEl>
                                      </p:cBhvr>
                                    </p:animEffect>
                                    <p:set>
                                      <p:cBhvr>
                                        <p:cTn id="30" dur="1" fill="hold">
                                          <p:stCondLst>
                                            <p:cond delay="499"/>
                                          </p:stCondLst>
                                        </p:cTn>
                                        <p:tgtEl>
                                          <p:spTgt spid="46285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462859"/>
                                        </p:tgtEl>
                                      </p:cBhvr>
                                    </p:animEffect>
                                    <p:set>
                                      <p:cBhvr>
                                        <p:cTn id="35" dur="1" fill="hold">
                                          <p:stCondLst>
                                            <p:cond delay="499"/>
                                          </p:stCondLst>
                                        </p:cTn>
                                        <p:tgtEl>
                                          <p:spTgt spid="46285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462858"/>
                                        </p:tgtEl>
                                      </p:cBhvr>
                                    </p:animEffect>
                                    <p:set>
                                      <p:cBhvr>
                                        <p:cTn id="40" dur="1" fill="hold">
                                          <p:stCondLst>
                                            <p:cond delay="499"/>
                                          </p:stCondLst>
                                        </p:cTn>
                                        <p:tgtEl>
                                          <p:spTgt spid="46285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462855"/>
                                        </p:tgtEl>
                                      </p:cBhvr>
                                    </p:animEffect>
                                    <p:set>
                                      <p:cBhvr>
                                        <p:cTn id="45" dur="1" fill="hold">
                                          <p:stCondLst>
                                            <p:cond delay="499"/>
                                          </p:stCondLst>
                                        </p:cTn>
                                        <p:tgtEl>
                                          <p:spTgt spid="462855"/>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462857"/>
                                        </p:tgtEl>
                                      </p:cBhvr>
                                    </p:animEffect>
                                    <p:set>
                                      <p:cBhvr>
                                        <p:cTn id="50" dur="1" fill="hold">
                                          <p:stCondLst>
                                            <p:cond delay="499"/>
                                          </p:stCondLst>
                                        </p:cTn>
                                        <p:tgtEl>
                                          <p:spTgt spid="46285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0" nodeType="clickEffect">
                                  <p:stCondLst>
                                    <p:cond delay="0"/>
                                  </p:stCondLst>
                                  <p:childTnLst>
                                    <p:animEffect transition="out" filter="blinds(horizontal)">
                                      <p:cBhvr>
                                        <p:cTn id="54" dur="500"/>
                                        <p:tgtEl>
                                          <p:spTgt spid="462864"/>
                                        </p:tgtEl>
                                      </p:cBhvr>
                                    </p:animEffect>
                                    <p:set>
                                      <p:cBhvr>
                                        <p:cTn id="55" dur="1" fill="hold">
                                          <p:stCondLst>
                                            <p:cond delay="499"/>
                                          </p:stCondLst>
                                        </p:cTn>
                                        <p:tgtEl>
                                          <p:spTgt spid="46286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0" nodeType="clickEffect">
                                  <p:stCondLst>
                                    <p:cond delay="0"/>
                                  </p:stCondLst>
                                  <p:childTnLst>
                                    <p:animEffect transition="out" filter="blinds(horizontal)">
                                      <p:cBhvr>
                                        <p:cTn id="59" dur="500"/>
                                        <p:tgtEl>
                                          <p:spTgt spid="462861"/>
                                        </p:tgtEl>
                                      </p:cBhvr>
                                    </p:animEffect>
                                    <p:set>
                                      <p:cBhvr>
                                        <p:cTn id="60" dur="1" fill="hold">
                                          <p:stCondLst>
                                            <p:cond delay="499"/>
                                          </p:stCondLst>
                                        </p:cTn>
                                        <p:tgtEl>
                                          <p:spTgt spid="46286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grpId="0" nodeType="clickEffect">
                                  <p:stCondLst>
                                    <p:cond delay="0"/>
                                  </p:stCondLst>
                                  <p:childTnLst>
                                    <p:animEffect transition="out" filter="blinds(horizontal)">
                                      <p:cBhvr>
                                        <p:cTn id="64" dur="500"/>
                                        <p:tgtEl>
                                          <p:spTgt spid="462860"/>
                                        </p:tgtEl>
                                      </p:cBhvr>
                                    </p:animEffect>
                                    <p:set>
                                      <p:cBhvr>
                                        <p:cTn id="65" dur="1" fill="hold">
                                          <p:stCondLst>
                                            <p:cond delay="499"/>
                                          </p:stCondLst>
                                        </p:cTn>
                                        <p:tgtEl>
                                          <p:spTgt spid="4628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animBg="1"/>
      <p:bldP spid="462854" grpId="0" animBg="1"/>
      <p:bldP spid="462855" grpId="0" animBg="1"/>
      <p:bldP spid="462856" grpId="0" animBg="1"/>
      <p:bldP spid="462857" grpId="0" animBg="1"/>
      <p:bldP spid="462858" grpId="0" animBg="1"/>
      <p:bldP spid="462859" grpId="0" animBg="1"/>
      <p:bldP spid="462860" grpId="0" animBg="1"/>
      <p:bldP spid="462861" grpId="0" animBg="1"/>
      <p:bldP spid="462862" grpId="0" animBg="1"/>
      <p:bldP spid="462863" grpId="0" animBg="1"/>
      <p:bldP spid="46286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p:cNvSpPr txBox="1">
            <a:spLocks noChangeArrowheads="1"/>
          </p:cNvSpPr>
          <p:nvPr/>
        </p:nvSpPr>
        <p:spPr bwMode="auto">
          <a:xfrm>
            <a:off x="0" y="0"/>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检验数为：</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8131" name="Picture 3"/>
          <p:cNvPicPr>
            <a:picLocks noChangeAspect="1"/>
          </p:cNvPicPr>
          <p:nvPr/>
        </p:nvPicPr>
        <p:blipFill>
          <a:blip r:embed="rId4"/>
          <a:stretch>
            <a:fillRect/>
          </a:stretch>
        </p:blipFill>
        <p:spPr>
          <a:xfrm>
            <a:off x="468313" y="476250"/>
            <a:ext cx="5545137" cy="2882900"/>
          </a:xfrm>
          <a:prstGeom prst="rect">
            <a:avLst/>
          </a:prstGeom>
          <a:noFill/>
          <a:ln w="9525">
            <a:noFill/>
          </a:ln>
        </p:spPr>
      </p:pic>
      <p:sp>
        <p:nvSpPr>
          <p:cNvPr id="463876" name="Text Box 4"/>
          <p:cNvSpPr txBox="1">
            <a:spLocks noChangeArrowheads="1"/>
          </p:cNvSpPr>
          <p:nvPr/>
        </p:nvSpPr>
        <p:spPr bwMode="auto">
          <a:xfrm>
            <a:off x="0" y="3357563"/>
            <a:ext cx="9144000" cy="457200"/>
          </a:xfrm>
          <a:prstGeom prst="rect">
            <a:avLst/>
          </a:prstGeom>
          <a:solidFill>
            <a:srgbClr val="FFCCFF"/>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闭回路调节</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sp>
        <p:nvSpPr>
          <p:cNvPr id="463877" name="Text Box 5"/>
          <p:cNvSpPr txBox="1">
            <a:spLocks noChangeArrowheads="1"/>
          </p:cNvSpPr>
          <p:nvPr/>
        </p:nvSpPr>
        <p:spPr bwMode="auto">
          <a:xfrm>
            <a:off x="6181725" y="1052513"/>
            <a:ext cx="2711450" cy="83026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检验数         </a:t>
            </a:r>
            <a:r>
              <a:rPr kumimoji="1" lang="zh-CN" altLang="en-US" b="1" kern="1200" cap="none" spc="0" normalizeH="0" baseline="0" noProof="0" dirty="0">
                <a:effectLst>
                  <a:outerShdw blurRad="38100" dist="38100" dir="2700000" algn="tl">
                    <a:srgbClr val="C0C0C0"/>
                  </a:outerShdw>
                </a:effectLst>
                <a:latin typeface="仿宋" pitchFamily="49" charset="-122"/>
                <a:ea typeface="仿宋" pitchFamily="49" charset="-122"/>
                <a:cs typeface="+mn-cs"/>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故</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不是最优解</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graphicFrame>
        <p:nvGraphicFramePr>
          <p:cNvPr id="463878" name="Object 6"/>
          <p:cNvGraphicFramePr>
            <a:graphicFrameLocks noGrp="1" noChangeAspect="1"/>
          </p:cNvGraphicFramePr>
          <p:nvPr>
            <p:ph/>
          </p:nvPr>
        </p:nvGraphicFramePr>
        <p:xfrm>
          <a:off x="7164388" y="1052513"/>
          <a:ext cx="863600" cy="431800"/>
        </p:xfrm>
        <a:graphic>
          <a:graphicData uri="http://schemas.openxmlformats.org/presentationml/2006/ole">
            <mc:AlternateContent xmlns:mc="http://schemas.openxmlformats.org/markup-compatibility/2006">
              <mc:Choice xmlns:v="urn:schemas-microsoft-com:vml" Requires="v">
                <p:oleObj spid="_x0000_s21510" r:id="rId5" imgW="457200" imgH="228600" progId="Equation.DSMT4">
                  <p:embed/>
                </p:oleObj>
              </mc:Choice>
              <mc:Fallback>
                <p:oleObj r:id="rId5" imgW="457200" imgH="228600" progId="Equation.DSMT4">
                  <p:embed/>
                  <p:pic>
                    <p:nvPicPr>
                      <p:cNvPr id="463878" name="Object 6"/>
                      <p:cNvPicPr/>
                      <p:nvPr/>
                    </p:nvPicPr>
                    <p:blipFill>
                      <a:blip r:embed="rId6"/>
                      <a:stretch>
                        <a:fillRect/>
                      </a:stretch>
                    </p:blipFill>
                    <p:spPr>
                      <a:xfrm>
                        <a:off x="7164388" y="1052513"/>
                        <a:ext cx="863600" cy="431800"/>
                      </a:xfrm>
                      <a:prstGeom prst="rect">
                        <a:avLst/>
                      </a:prstGeom>
                      <a:noFill/>
                      <a:ln w="38100">
                        <a:noFill/>
                        <a:miter/>
                      </a:ln>
                    </p:spPr>
                  </p:pic>
                </p:oleObj>
              </mc:Fallback>
            </mc:AlternateContent>
          </a:graphicData>
        </a:graphic>
      </p:graphicFrame>
      <p:pic>
        <p:nvPicPr>
          <p:cNvPr id="463879" name="Picture 7"/>
          <p:cNvPicPr>
            <a:picLocks noChangeAspect="1"/>
          </p:cNvPicPr>
          <p:nvPr/>
        </p:nvPicPr>
        <p:blipFill>
          <a:blip r:embed="rId7"/>
          <a:stretch>
            <a:fillRect/>
          </a:stretch>
        </p:blipFill>
        <p:spPr>
          <a:xfrm>
            <a:off x="2124075" y="3395663"/>
            <a:ext cx="6192838" cy="3462337"/>
          </a:xfrm>
          <a:prstGeom prst="rect">
            <a:avLst/>
          </a:prstGeom>
          <a:noFill/>
          <a:ln w="9525">
            <a:noFill/>
          </a:ln>
        </p:spPr>
      </p:pic>
      <p:sp>
        <p:nvSpPr>
          <p:cNvPr id="8" name="Oval 23"/>
          <p:cNvSpPr/>
          <p:nvPr/>
        </p:nvSpPr>
        <p:spPr>
          <a:xfrm>
            <a:off x="1331913" y="981075"/>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9" name="Oval 23"/>
          <p:cNvSpPr/>
          <p:nvPr/>
        </p:nvSpPr>
        <p:spPr>
          <a:xfrm>
            <a:off x="1331913" y="2349500"/>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0" name="Oval 23"/>
          <p:cNvSpPr/>
          <p:nvPr/>
        </p:nvSpPr>
        <p:spPr>
          <a:xfrm>
            <a:off x="1908175" y="981075"/>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3"/>
          <p:cNvSpPr/>
          <p:nvPr/>
        </p:nvSpPr>
        <p:spPr>
          <a:xfrm>
            <a:off x="1908175" y="14843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3"/>
          <p:cNvSpPr/>
          <p:nvPr/>
        </p:nvSpPr>
        <p:spPr>
          <a:xfrm>
            <a:off x="1908175" y="1844675"/>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Oval 23"/>
          <p:cNvSpPr/>
          <p:nvPr/>
        </p:nvSpPr>
        <p:spPr>
          <a:xfrm>
            <a:off x="2555875" y="1412875"/>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4" name="Oval 23"/>
          <p:cNvSpPr/>
          <p:nvPr/>
        </p:nvSpPr>
        <p:spPr>
          <a:xfrm>
            <a:off x="2555875" y="1844675"/>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5" name="Oval 23"/>
          <p:cNvSpPr/>
          <p:nvPr/>
        </p:nvSpPr>
        <p:spPr>
          <a:xfrm>
            <a:off x="2555875" y="2349500"/>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6" name="Oval 23"/>
          <p:cNvSpPr/>
          <p:nvPr/>
        </p:nvSpPr>
        <p:spPr>
          <a:xfrm>
            <a:off x="3132138" y="14843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7" name="Oval 23"/>
          <p:cNvSpPr/>
          <p:nvPr/>
        </p:nvSpPr>
        <p:spPr>
          <a:xfrm>
            <a:off x="3779838" y="1484313"/>
            <a:ext cx="360362"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8" name="Oval 23"/>
          <p:cNvSpPr/>
          <p:nvPr/>
        </p:nvSpPr>
        <p:spPr>
          <a:xfrm>
            <a:off x="4356100" y="981075"/>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9" name="Oval 23"/>
          <p:cNvSpPr/>
          <p:nvPr/>
        </p:nvSpPr>
        <p:spPr>
          <a:xfrm>
            <a:off x="4356100" y="14843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0" name="Oval 23"/>
          <p:cNvSpPr/>
          <p:nvPr/>
        </p:nvSpPr>
        <p:spPr>
          <a:xfrm>
            <a:off x="4284663" y="19161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1" name="Oval 23"/>
          <p:cNvSpPr/>
          <p:nvPr/>
        </p:nvSpPr>
        <p:spPr>
          <a:xfrm>
            <a:off x="4932363" y="981075"/>
            <a:ext cx="431800" cy="360363"/>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2" name="Oval 23"/>
          <p:cNvSpPr/>
          <p:nvPr/>
        </p:nvSpPr>
        <p:spPr>
          <a:xfrm>
            <a:off x="5003800" y="19161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3" name="Oval 23"/>
          <p:cNvSpPr/>
          <p:nvPr/>
        </p:nvSpPr>
        <p:spPr>
          <a:xfrm>
            <a:off x="5003800" y="2349500"/>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4" name="Oval 23"/>
          <p:cNvSpPr/>
          <p:nvPr/>
        </p:nvSpPr>
        <p:spPr>
          <a:xfrm>
            <a:off x="3708400" y="19161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5" name="Oval 23"/>
          <p:cNvSpPr/>
          <p:nvPr/>
        </p:nvSpPr>
        <p:spPr>
          <a:xfrm>
            <a:off x="3708400" y="2349500"/>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linds(horizontal)">
                                      <p:cBhvr>
                                        <p:cTn id="13" dur="500"/>
                                        <p:tgtEl>
                                          <p:spTgt spid="2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linds(horizontal)">
                                      <p:cBhvr>
                                        <p:cTn id="16" dur="500"/>
                                        <p:tgtEl>
                                          <p:spTgt spid="1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linds(horizontal)">
                                      <p:cBhvr>
                                        <p:cTn id="19" dur="500"/>
                                        <p:tgtEl>
                                          <p:spTgt spid="1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blinds(horizontal)">
                                      <p:cBhvr>
                                        <p:cTn id="25" dur="500"/>
                                        <p:tgtEl>
                                          <p:spTgt spid="2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linds(horizontal)">
                                      <p:cBhvr>
                                        <p:cTn id="31" dur="500"/>
                                        <p:tgtEl>
                                          <p:spTgt spid="2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linds(horizontal)">
                                      <p:cBhvr>
                                        <p:cTn id="46" dur="500"/>
                                        <p:tgtEl>
                                          <p:spTgt spid="12"/>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blinds(horizontal)">
                                      <p:cBhvr>
                                        <p:cTn id="55" dur="500"/>
                                        <p:tgtEl>
                                          <p:spTgt spid="8"/>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blinds(horizontal)">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63878"/>
                                        </p:tgtEl>
                                        <p:attrNameLst>
                                          <p:attrName>style.visibility</p:attrName>
                                        </p:attrNameLst>
                                      </p:cBhvr>
                                      <p:to>
                                        <p:strVal val="visible"/>
                                      </p:to>
                                    </p:set>
                                    <p:animEffect transition="in" filter="blinds(horizontal)">
                                      <p:cBhvr>
                                        <p:cTn id="63" dur="500"/>
                                        <p:tgtEl>
                                          <p:spTgt spid="46387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63877"/>
                                        </p:tgtEl>
                                        <p:attrNameLst>
                                          <p:attrName>style.visibility</p:attrName>
                                        </p:attrNameLst>
                                      </p:cBhvr>
                                      <p:to>
                                        <p:strVal val="visible"/>
                                      </p:to>
                                    </p:set>
                                    <p:animEffect transition="in" filter="blinds(horizontal)">
                                      <p:cBhvr>
                                        <p:cTn id="66" dur="500"/>
                                        <p:tgtEl>
                                          <p:spTgt spid="46387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63876"/>
                                        </p:tgtEl>
                                        <p:attrNameLst>
                                          <p:attrName>style.visibility</p:attrName>
                                        </p:attrNameLst>
                                      </p:cBhvr>
                                      <p:to>
                                        <p:strVal val="visible"/>
                                      </p:to>
                                    </p:set>
                                    <p:animEffect transition="in" filter="blinds(horizontal)">
                                      <p:cBhvr>
                                        <p:cTn id="71" dur="500"/>
                                        <p:tgtEl>
                                          <p:spTgt spid="463876"/>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463879"/>
                                        </p:tgtEl>
                                        <p:attrNameLst>
                                          <p:attrName>style.visibility</p:attrName>
                                        </p:attrNameLst>
                                      </p:cBhvr>
                                      <p:to>
                                        <p:strVal val="visible"/>
                                      </p:to>
                                    </p:set>
                                    <p:animEffect transition="in" filter="blinds(horizontal)">
                                      <p:cBhvr>
                                        <p:cTn id="76" dur="500"/>
                                        <p:tgtEl>
                                          <p:spTgt spid="463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6" grpId="0" animBg="1"/>
      <p:bldP spid="46387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p:cNvSpPr txBox="1">
            <a:spLocks noChangeArrowheads="1"/>
          </p:cNvSpPr>
          <p:nvPr/>
        </p:nvSpPr>
        <p:spPr bwMode="auto">
          <a:xfrm>
            <a:off x="0" y="2924175"/>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闭回路调节为：</a:t>
            </a:r>
            <a:endParaRPr kumimoji="1" lang="zh-CN" altLang="en-US" kern="1200" cap="none" spc="0" normalizeH="0" baseline="0" noProof="0" dirty="0">
              <a:latin typeface="Times New Roman" panose="02020603050405020304" pitchFamily="18" charset="0"/>
              <a:ea typeface="微软雅黑" pitchFamily="34" charset="-122"/>
              <a:cs typeface="+mn-cs"/>
            </a:endParaRPr>
          </a:p>
        </p:txBody>
      </p:sp>
      <p:pic>
        <p:nvPicPr>
          <p:cNvPr id="49155" name="Picture 3"/>
          <p:cNvPicPr>
            <a:picLocks noChangeAspect="1"/>
          </p:cNvPicPr>
          <p:nvPr/>
        </p:nvPicPr>
        <p:blipFill>
          <a:blip r:embed="rId2"/>
          <a:stretch>
            <a:fillRect/>
          </a:stretch>
        </p:blipFill>
        <p:spPr>
          <a:xfrm>
            <a:off x="1619250" y="0"/>
            <a:ext cx="5184775" cy="2898775"/>
          </a:xfrm>
          <a:prstGeom prst="rect">
            <a:avLst/>
          </a:prstGeom>
          <a:noFill/>
          <a:ln w="9525">
            <a:noFill/>
          </a:ln>
        </p:spPr>
      </p:pic>
      <p:pic>
        <p:nvPicPr>
          <p:cNvPr id="464900" name="Picture 4"/>
          <p:cNvPicPr>
            <a:picLocks noChangeAspect="1"/>
          </p:cNvPicPr>
          <p:nvPr/>
        </p:nvPicPr>
        <p:blipFill>
          <a:blip r:embed="rId3"/>
          <a:stretch>
            <a:fillRect/>
          </a:stretch>
        </p:blipFill>
        <p:spPr>
          <a:xfrm>
            <a:off x="1403350" y="3500438"/>
            <a:ext cx="6480175" cy="3248025"/>
          </a:xfrm>
          <a:prstGeom prst="rect">
            <a:avLst/>
          </a:prstGeom>
          <a:noFill/>
          <a:ln w="9525">
            <a:noFill/>
          </a:ln>
        </p:spPr>
      </p:pic>
      <p:sp>
        <p:nvSpPr>
          <p:cNvPr id="464901" name="Rectangle 5"/>
          <p:cNvSpPr/>
          <p:nvPr/>
        </p:nvSpPr>
        <p:spPr>
          <a:xfrm>
            <a:off x="2268538" y="1628775"/>
            <a:ext cx="431800" cy="360363"/>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4901"/>
                                        </p:tgtEl>
                                        <p:attrNameLst>
                                          <p:attrName>style.visibility</p:attrName>
                                        </p:attrNameLst>
                                      </p:cBhvr>
                                      <p:to>
                                        <p:strVal val="visible"/>
                                      </p:to>
                                    </p:set>
                                    <p:animEffect transition="in" filter="blinds(horizontal)">
                                      <p:cBhvr>
                                        <p:cTn id="7" dur="500"/>
                                        <p:tgtEl>
                                          <p:spTgt spid="4649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4900"/>
                                        </p:tgtEl>
                                        <p:attrNameLst>
                                          <p:attrName>style.visibility</p:attrName>
                                        </p:attrNameLst>
                                      </p:cBhvr>
                                      <p:to>
                                        <p:strVal val="visible"/>
                                      </p:to>
                                    </p:set>
                                    <p:animEffect transition="in" filter="blinds(horizontal)">
                                      <p:cBhvr>
                                        <p:cTn id="12" dur="500"/>
                                        <p:tgtEl>
                                          <p:spTgt spid="464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ext Box 2"/>
          <p:cNvSpPr txBox="1">
            <a:spLocks noChangeArrowheads="1"/>
          </p:cNvSpPr>
          <p:nvPr/>
        </p:nvSpPr>
        <p:spPr bwMode="auto">
          <a:xfrm>
            <a:off x="0" y="2924175"/>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Times New Roman" panose="02020603050405020304" pitchFamily="18" charset="0"/>
                <a:ea typeface="微软雅黑" pitchFamily="34" charset="-122"/>
                <a:cs typeface="+mn-cs"/>
              </a:rPr>
              <a:t>再用位势法计算检验数</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50179" name="Picture 3"/>
          <p:cNvPicPr>
            <a:picLocks noChangeAspect="1"/>
          </p:cNvPicPr>
          <p:nvPr/>
        </p:nvPicPr>
        <p:blipFill>
          <a:blip r:embed="rId2"/>
          <a:stretch>
            <a:fillRect/>
          </a:stretch>
        </p:blipFill>
        <p:spPr>
          <a:xfrm>
            <a:off x="1547813" y="0"/>
            <a:ext cx="5832475" cy="2924175"/>
          </a:xfrm>
          <a:prstGeom prst="rect">
            <a:avLst/>
          </a:prstGeom>
          <a:noFill/>
          <a:ln w="9525">
            <a:noFill/>
          </a:ln>
        </p:spPr>
      </p:pic>
      <p:pic>
        <p:nvPicPr>
          <p:cNvPr id="50180" name="Picture 4"/>
          <p:cNvPicPr>
            <a:picLocks noChangeAspect="1"/>
          </p:cNvPicPr>
          <p:nvPr/>
        </p:nvPicPr>
        <p:blipFill>
          <a:blip r:embed="rId3"/>
          <a:stretch>
            <a:fillRect/>
          </a:stretch>
        </p:blipFill>
        <p:spPr>
          <a:xfrm>
            <a:off x="323850" y="3429000"/>
            <a:ext cx="6538913" cy="3417888"/>
          </a:xfrm>
          <a:prstGeom prst="rect">
            <a:avLst/>
          </a:prstGeom>
          <a:noFill/>
          <a:ln w="9525">
            <a:noFill/>
          </a:ln>
        </p:spPr>
      </p:pic>
      <p:sp>
        <p:nvSpPr>
          <p:cNvPr id="465925" name="Text Box 5"/>
          <p:cNvSpPr txBox="1">
            <a:spLocks noChangeArrowheads="1"/>
          </p:cNvSpPr>
          <p:nvPr/>
        </p:nvSpPr>
        <p:spPr bwMode="auto">
          <a:xfrm>
            <a:off x="6877050" y="4365625"/>
            <a:ext cx="2051050" cy="120015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所有检验数大于或等于零，故</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是最优解</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5925"/>
                                        </p:tgtEl>
                                        <p:attrNameLst>
                                          <p:attrName>style.visibility</p:attrName>
                                        </p:attrNameLst>
                                      </p:cBhvr>
                                      <p:to>
                                        <p:strVal val="visible"/>
                                      </p:to>
                                    </p:set>
                                    <p:animEffect transition="in" filter="blinds(horizontal)">
                                      <p:cBhvr>
                                        <p:cTn id="7" dur="500"/>
                                        <p:tgtEl>
                                          <p:spTgt spid="465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066800" y="5334000"/>
            <a:ext cx="3200400" cy="457200"/>
          </a:xfrm>
          <a:prstGeom prst="rect">
            <a:avLst/>
          </a:prstGeom>
          <a:noFill/>
          <a:ln w="9525">
            <a:noFill/>
          </a:ln>
        </p:spPr>
        <p:txBody>
          <a:bodyPr>
            <a:spAutoFit/>
          </a:bodyPr>
          <a:lstStyle/>
          <a:p>
            <a:pPr eaLnBrk="1" hangingPunct="1">
              <a:spcBef>
                <a:spcPct val="50000"/>
              </a:spcBef>
            </a:pPr>
            <a:endParaRPr lang="zh-CN" altLang="en-US" dirty="0">
              <a:latin typeface="Times New Roman" panose="02020603050405020304" pitchFamily="18" charset="0"/>
              <a:ea typeface="微软雅黑" pitchFamily="34" charset="-122"/>
            </a:endParaRPr>
          </a:p>
        </p:txBody>
      </p:sp>
      <p:sp>
        <p:nvSpPr>
          <p:cNvPr id="466947" name="Text Box 3"/>
          <p:cNvSpPr txBox="1">
            <a:spLocks noChangeArrowheads="1"/>
          </p:cNvSpPr>
          <p:nvPr/>
        </p:nvSpPr>
        <p:spPr bwMode="auto">
          <a:xfrm>
            <a:off x="0" y="0"/>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最优方案如下，（最小运费</a:t>
            </a:r>
            <a:r>
              <a:rPr kumimoji="1" lang="en-US" altLang="zh-CN"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=480000</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元）</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pic>
        <p:nvPicPr>
          <p:cNvPr id="51204" name="Picture 4"/>
          <p:cNvPicPr>
            <a:picLocks noChangeAspect="1"/>
          </p:cNvPicPr>
          <p:nvPr/>
        </p:nvPicPr>
        <p:blipFill>
          <a:blip r:embed="rId2"/>
          <a:stretch>
            <a:fillRect/>
          </a:stretch>
        </p:blipFill>
        <p:spPr>
          <a:xfrm>
            <a:off x="900113" y="981075"/>
            <a:ext cx="7272337" cy="4627563"/>
          </a:xfrm>
          <a:prstGeom prst="rect">
            <a:avLst/>
          </a:prstGeom>
          <a:noFill/>
          <a:ln w="9525">
            <a:noFill/>
          </a:ln>
        </p:spPr>
      </p:pic>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ext Box 2"/>
          <p:cNvSpPr txBox="1">
            <a:spLocks noChangeArrowheads="1"/>
          </p:cNvSpPr>
          <p:nvPr/>
        </p:nvSpPr>
        <p:spPr bwMode="auto">
          <a:xfrm>
            <a:off x="0" y="404813"/>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有非基变量的检验数</a:t>
            </a:r>
            <a:r>
              <a:rPr kumimoji="1" lang="en-US" altLang="zh-CN"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=0</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，有无穷多组解，另外一个解如下：</a:t>
            </a:r>
          </a:p>
        </p:txBody>
      </p:sp>
      <p:pic>
        <p:nvPicPr>
          <p:cNvPr id="52227" name="Picture 3"/>
          <p:cNvPicPr>
            <a:picLocks noChangeAspect="1"/>
          </p:cNvPicPr>
          <p:nvPr/>
        </p:nvPicPr>
        <p:blipFill>
          <a:blip r:embed="rId2"/>
          <a:stretch>
            <a:fillRect/>
          </a:stretch>
        </p:blipFill>
        <p:spPr>
          <a:xfrm>
            <a:off x="179388" y="1200150"/>
            <a:ext cx="8856662" cy="5657850"/>
          </a:xfrm>
          <a:prstGeom prst="rect">
            <a:avLst/>
          </a:prstGeom>
          <a:noFill/>
          <a:ln w="9525">
            <a:noFill/>
          </a:ln>
        </p:spPr>
      </p:pic>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Text Box 4"/>
          <p:cNvSpPr txBox="1"/>
          <p:nvPr/>
        </p:nvSpPr>
        <p:spPr>
          <a:xfrm>
            <a:off x="971550" y="620713"/>
            <a:ext cx="5400675" cy="6494085"/>
          </a:xfrm>
          <a:prstGeom prst="rect">
            <a:avLst/>
          </a:prstGeom>
          <a:noFill/>
          <a:ln w="9525">
            <a:noFill/>
          </a:ln>
        </p:spPr>
        <p:txBody>
          <a:bodyPr>
            <a:spAutoFit/>
          </a:bodyPr>
          <a:lstStyle/>
          <a:p>
            <a:pPr eaLnBrk="1" hangingPunct="1">
              <a:spcBef>
                <a:spcPct val="50000"/>
              </a:spcBef>
            </a:pPr>
            <a:r>
              <a:rPr lang="zh-CN" altLang="en-US" sz="3200" b="1" dirty="0">
                <a:latin typeface="Tahoma" panose="020B0604030504040204" pitchFamily="34" charset="0"/>
                <a:ea typeface="微软雅黑" pitchFamily="34" charset="-122"/>
              </a:rPr>
              <a:t>作  业</a:t>
            </a:r>
          </a:p>
          <a:p>
            <a:pPr eaLnBrk="1" hangingPunct="1">
              <a:spcBef>
                <a:spcPct val="50000"/>
              </a:spcBef>
            </a:pPr>
            <a:endParaRPr lang="zh-CN" altLang="en-US" sz="3200" b="1" dirty="0">
              <a:latin typeface="Tahoma" panose="020B0604030504040204" pitchFamily="34" charset="0"/>
              <a:ea typeface="微软雅黑" pitchFamily="34"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P138</a:t>
            </a:r>
            <a:r>
              <a:rPr lang="zh-CN" altLang="en-US" sz="3200" b="1" dirty="0">
                <a:latin typeface="Times New Roman" panose="02020603050405020304" pitchFamily="18" charset="0"/>
                <a:ea typeface="微软雅黑" pitchFamily="34" charset="-122"/>
              </a:rPr>
              <a:t>，</a:t>
            </a:r>
            <a:endParaRPr lang="en-US" altLang="zh-CN" sz="3200" b="1" dirty="0">
              <a:latin typeface="Times New Roman" panose="02020603050405020304" pitchFamily="18" charset="0"/>
              <a:ea typeface="微软雅黑" pitchFamily="34"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            4.1</a:t>
            </a:r>
            <a:r>
              <a:rPr lang="zh-CN" altLang="en-US" sz="3200" b="1" dirty="0">
                <a:latin typeface="Times New Roman" panose="02020603050405020304" pitchFamily="18" charset="0"/>
                <a:ea typeface="微软雅黑" pitchFamily="34" charset="-122"/>
              </a:rPr>
              <a:t>；    </a:t>
            </a:r>
          </a:p>
          <a:p>
            <a:pPr eaLnBrk="1" hangingPunct="1">
              <a:spcBef>
                <a:spcPct val="50000"/>
              </a:spcBef>
            </a:pPr>
            <a:r>
              <a:rPr lang="zh-CN" altLang="en-US" sz="3200" b="1" dirty="0">
                <a:latin typeface="Times New Roman" panose="02020603050405020304" pitchFamily="18" charset="0"/>
                <a:ea typeface="微软雅黑" pitchFamily="34" charset="-122"/>
              </a:rPr>
              <a:t>            </a:t>
            </a:r>
            <a:r>
              <a:rPr lang="en-US" altLang="zh-CN" sz="3200" b="1" dirty="0">
                <a:latin typeface="Times New Roman" panose="02020603050405020304" pitchFamily="18" charset="0"/>
                <a:ea typeface="微软雅黑" pitchFamily="34" charset="-122"/>
              </a:rPr>
              <a:t>4.2</a:t>
            </a:r>
            <a:r>
              <a:rPr lang="zh-CN" altLang="en-US" sz="3200" b="1" dirty="0">
                <a:latin typeface="Times New Roman" panose="02020603050405020304" pitchFamily="18" charset="0"/>
                <a:ea typeface="微软雅黑" pitchFamily="34" charset="-122"/>
              </a:rPr>
              <a:t>；</a:t>
            </a:r>
            <a:endParaRPr lang="en-US" altLang="zh-CN" sz="3200" b="1" dirty="0">
              <a:latin typeface="Times New Roman" panose="02020603050405020304" pitchFamily="18" charset="0"/>
              <a:ea typeface="微软雅黑" pitchFamily="34"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            4.3  </a:t>
            </a:r>
            <a:r>
              <a:rPr lang="zh-CN" altLang="en-US" sz="3200" b="1" dirty="0">
                <a:latin typeface="Times New Roman" panose="02020603050405020304" pitchFamily="18" charset="0"/>
                <a:ea typeface="微软雅黑" pitchFamily="34" charset="-122"/>
              </a:rPr>
              <a:t>表</a:t>
            </a:r>
            <a:r>
              <a:rPr lang="en-US" altLang="zh-CN" sz="3200" b="1" dirty="0">
                <a:latin typeface="Times New Roman" panose="02020603050405020304" pitchFamily="18" charset="0"/>
                <a:ea typeface="微软雅黑" pitchFamily="34" charset="-122"/>
              </a:rPr>
              <a:t>4-48</a:t>
            </a:r>
          </a:p>
          <a:p>
            <a:pPr eaLnBrk="1" hangingPunct="1">
              <a:spcBef>
                <a:spcPct val="50000"/>
              </a:spcBef>
            </a:pPr>
            <a:r>
              <a:rPr lang="en-US" altLang="zh-CN" sz="3200" b="1" dirty="0">
                <a:latin typeface="Times New Roman" panose="02020603050405020304" pitchFamily="18" charset="0"/>
                <a:ea typeface="微软雅黑" pitchFamily="34" charset="-122"/>
              </a:rPr>
              <a:t>P140</a:t>
            </a:r>
            <a:r>
              <a:rPr lang="zh-CN" altLang="en-US" sz="3200" b="1" dirty="0">
                <a:latin typeface="Times New Roman" panose="02020603050405020304" pitchFamily="18" charset="0"/>
                <a:ea typeface="微软雅黑" pitchFamily="34" charset="-122"/>
              </a:rPr>
              <a:t>， </a:t>
            </a:r>
            <a:r>
              <a:rPr lang="en-US" altLang="zh-CN" sz="3200" b="1">
                <a:latin typeface="Times New Roman" panose="02020603050405020304" pitchFamily="18" charset="0"/>
                <a:ea typeface="微软雅黑" pitchFamily="34" charset="-122"/>
              </a:rPr>
              <a:t>4.5</a:t>
            </a:r>
            <a:endParaRPr lang="en-US" altLang="zh-CN" sz="3200" b="1" dirty="0">
              <a:latin typeface="Times New Roman" panose="02020603050405020304" pitchFamily="18" charset="0"/>
              <a:ea typeface="微软雅黑" pitchFamily="34" charset="-122"/>
            </a:endParaRPr>
          </a:p>
          <a:p>
            <a:pPr eaLnBrk="1" hangingPunct="1">
              <a:spcBef>
                <a:spcPct val="50000"/>
              </a:spcBef>
            </a:pPr>
            <a:endParaRPr lang="en-US" altLang="zh-CN" sz="3200" b="1" dirty="0">
              <a:latin typeface="Times New Roman" panose="02020603050405020304" pitchFamily="18" charset="0"/>
              <a:ea typeface="微软雅黑" pitchFamily="34" charset="-122"/>
            </a:endParaRPr>
          </a:p>
          <a:p>
            <a:pPr eaLnBrk="1" hangingPunct="1">
              <a:spcBef>
                <a:spcPct val="50000"/>
              </a:spcBef>
            </a:pPr>
            <a:endParaRPr lang="en-US" altLang="zh-CN" sz="3200" b="1" dirty="0">
              <a:latin typeface="Times New Roman" panose="02020603050405020304" pitchFamily="18" charset="0"/>
              <a:ea typeface="微软雅黑" pitchFamily="34" charset="-122"/>
            </a:endParaRP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ndParaRPr>
          </a:p>
        </p:txBody>
      </p:sp>
      <p:pic>
        <p:nvPicPr>
          <p:cNvPr id="4099"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4100" name="Text Box 4"/>
          <p:cNvSpPr txBox="1"/>
          <p:nvPr/>
        </p:nvSpPr>
        <p:spPr>
          <a:xfrm>
            <a:off x="2700338" y="549275"/>
            <a:ext cx="3600450"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itchFamily="34" charset="-122"/>
                <a:ea typeface="微软雅黑" pitchFamily="34" charset="-122"/>
              </a:rPr>
              <a:t>第</a:t>
            </a:r>
            <a:r>
              <a:rPr lang="en-US" altLang="zh-CN" sz="3200" b="1" dirty="0">
                <a:solidFill>
                  <a:srgbClr val="FF0000"/>
                </a:solidFill>
                <a:latin typeface="微软雅黑" pitchFamily="34" charset="-122"/>
                <a:ea typeface="微软雅黑" pitchFamily="34" charset="-122"/>
              </a:rPr>
              <a:t>5</a:t>
            </a:r>
            <a:r>
              <a:rPr lang="zh-CN" altLang="en-US" sz="3200" b="1" dirty="0">
                <a:solidFill>
                  <a:srgbClr val="FF0000"/>
                </a:solidFill>
                <a:latin typeface="微软雅黑" pitchFamily="34" charset="-122"/>
                <a:ea typeface="微软雅黑" pitchFamily="34" charset="-122"/>
              </a:rPr>
              <a:t>章  运输问题</a:t>
            </a:r>
          </a:p>
        </p:txBody>
      </p:sp>
      <p:sp>
        <p:nvSpPr>
          <p:cNvPr id="4101" name="Rectangle 3"/>
          <p:cNvSpPr txBox="1"/>
          <p:nvPr/>
        </p:nvSpPr>
        <p:spPr>
          <a:xfrm>
            <a:off x="611188" y="1844675"/>
            <a:ext cx="8280400" cy="46482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1</a:t>
            </a:r>
            <a:r>
              <a:rPr lang="zh-CN" altLang="en-US" sz="3200" b="1" dirty="0">
                <a:solidFill>
                  <a:srgbClr val="0000FF"/>
                </a:solidFill>
                <a:latin typeface="微软雅黑" pitchFamily="34" charset="-122"/>
                <a:ea typeface="微软雅黑" pitchFamily="34" charset="-122"/>
              </a:rPr>
              <a:t>节  运输问题的数学模型与基本性质</a:t>
            </a:r>
          </a:p>
          <a:p>
            <a:pPr marL="273050" indent="-273050" algn="just">
              <a:spcBef>
                <a:spcPts val="600"/>
              </a:spcBef>
              <a:buClr>
                <a:schemeClr val="accent1"/>
              </a:buClr>
              <a:buSzPct val="70000"/>
              <a:buFont typeface="Wingdings" panose="05000000000000000000" pitchFamily="2" charset="2"/>
            </a:pPr>
            <a:r>
              <a:rPr lang="zh-CN" altLang="en-US" sz="3200" b="1" dirty="0">
                <a:solidFill>
                  <a:srgbClr val="0000FF"/>
                </a:solidFill>
                <a:latin typeface="微软雅黑" pitchFamily="34" charset="-122"/>
                <a:ea typeface="微软雅黑" pitchFamily="34" charset="-122"/>
              </a:rPr>
              <a:t>第</a:t>
            </a:r>
            <a:r>
              <a:rPr lang="en-US" altLang="zh-CN" sz="3200" b="1" dirty="0">
                <a:solidFill>
                  <a:srgbClr val="0000FF"/>
                </a:solidFill>
                <a:latin typeface="微软雅黑" pitchFamily="34" charset="-122"/>
                <a:ea typeface="微软雅黑" pitchFamily="34" charset="-122"/>
              </a:rPr>
              <a:t>2</a:t>
            </a:r>
            <a:r>
              <a:rPr lang="zh-CN" altLang="en-US" sz="3200" b="1" dirty="0">
                <a:solidFill>
                  <a:srgbClr val="0000FF"/>
                </a:solidFill>
                <a:latin typeface="微软雅黑" pitchFamily="34" charset="-122"/>
                <a:ea typeface="微软雅黑" pitchFamily="34" charset="-122"/>
              </a:rPr>
              <a:t>节  表上作业法</a:t>
            </a:r>
          </a:p>
          <a:p>
            <a:pPr marL="273050" indent="-273050" algn="just">
              <a:spcBef>
                <a:spcPts val="600"/>
              </a:spcBef>
              <a:buClr>
                <a:schemeClr val="accent1"/>
              </a:buClr>
              <a:buSzPct val="70000"/>
              <a:buFont typeface="Wingdings" panose="05000000000000000000" pitchFamily="2" charset="2"/>
            </a:pPr>
            <a:r>
              <a:rPr lang="zh-CN" altLang="en-US" sz="3200" b="1" dirty="0">
                <a:solidFill>
                  <a:schemeClr val="hlink"/>
                </a:solidFill>
                <a:latin typeface="微软雅黑" pitchFamily="34" charset="-122"/>
                <a:ea typeface="微软雅黑" pitchFamily="34" charset="-122"/>
              </a:rPr>
              <a:t>第</a:t>
            </a:r>
            <a:r>
              <a:rPr lang="en-US" altLang="zh-CN" sz="3200" b="1" dirty="0">
                <a:solidFill>
                  <a:schemeClr val="hlink"/>
                </a:solidFill>
                <a:latin typeface="微软雅黑" pitchFamily="34" charset="-122"/>
                <a:ea typeface="微软雅黑" pitchFamily="34" charset="-122"/>
              </a:rPr>
              <a:t>3</a:t>
            </a:r>
            <a:r>
              <a:rPr lang="zh-CN" altLang="en-US" sz="3200" b="1" dirty="0">
                <a:solidFill>
                  <a:schemeClr val="hlink"/>
                </a:solidFill>
                <a:latin typeface="微软雅黑" pitchFamily="34" charset="-122"/>
                <a:ea typeface="微软雅黑" pitchFamily="34" charset="-122"/>
              </a:rPr>
              <a:t>节  产销不平衡的运输问题</a:t>
            </a:r>
            <a:endParaRPr lang="en-US" altLang="zh-CN" sz="3200" b="1" dirty="0">
              <a:solidFill>
                <a:schemeClr val="hlink"/>
              </a:solidFill>
              <a:latin typeface="微软雅黑" pitchFamily="34" charset="-122"/>
              <a:ea typeface="微软雅黑" pitchFamily="34" charset="-122"/>
            </a:endParaRPr>
          </a:p>
        </p:txBody>
      </p:sp>
    </p:spTree>
    <p:extLst>
      <p:ext uri="{BB962C8B-B14F-4D97-AF65-F5344CB8AC3E}">
        <p14:creationId xmlns:p14="http://schemas.microsoft.com/office/powerpoint/2010/main" val="3041484514"/>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txBox="1">
            <a:spLocks noChangeArrowheads="1"/>
          </p:cNvSpPr>
          <p:nvPr/>
        </p:nvSpPr>
        <p:spPr bwMode="auto">
          <a:xfrm>
            <a:off x="0" y="0"/>
            <a:ext cx="9144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sz="2800" b="1">
                <a:solidFill>
                  <a:schemeClr val="hlink"/>
                </a:solidFill>
                <a:latin typeface="微软雅黑" panose="020B0503020204020204" pitchFamily="34" charset="-122"/>
                <a:ea typeface="微软雅黑" panose="020B0503020204020204" pitchFamily="34" charset="-122"/>
              </a:rPr>
              <a:t>第</a:t>
            </a:r>
            <a:r>
              <a:rPr lang="en-US" altLang="zh-CN" sz="2800" b="1">
                <a:solidFill>
                  <a:schemeClr val="hlink"/>
                </a:solidFill>
                <a:latin typeface="微软雅黑" panose="020B0503020204020204" pitchFamily="34" charset="-122"/>
                <a:ea typeface="微软雅黑" panose="020B0503020204020204" pitchFamily="34" charset="-122"/>
              </a:rPr>
              <a:t>3</a:t>
            </a:r>
            <a:r>
              <a:rPr lang="zh-CN" altLang="en-US" sz="2800" b="1">
                <a:solidFill>
                  <a:schemeClr val="hlink"/>
                </a:solidFill>
                <a:latin typeface="微软雅黑" panose="020B0503020204020204" pitchFamily="34" charset="-122"/>
                <a:ea typeface="微软雅黑" panose="020B0503020204020204" pitchFamily="34" charset="-122"/>
              </a:rPr>
              <a:t>节  产销不平衡的运输问题及其求解方法</a:t>
            </a:r>
          </a:p>
        </p:txBody>
      </p:sp>
      <p:sp>
        <p:nvSpPr>
          <p:cNvPr id="5" name="Rectangle 3"/>
          <p:cNvSpPr txBox="1">
            <a:spLocks noChangeArrowheads="1"/>
          </p:cNvSpPr>
          <p:nvPr/>
        </p:nvSpPr>
        <p:spPr bwMode="auto">
          <a:xfrm>
            <a:off x="0" y="476250"/>
            <a:ext cx="91440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前面所讲表上作业法</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都是以产销平衡为前提条件的</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即</a:t>
            </a:r>
          </a:p>
          <a:p>
            <a:pPr algn="just">
              <a:spcBef>
                <a:spcPts val="600"/>
              </a:spcBef>
              <a:buClr>
                <a:schemeClr val="accent1"/>
              </a:buClr>
              <a:buSzPct val="70000"/>
              <a:buFont typeface="Wingdings" panose="05000000000000000000" pitchFamily="2" charset="2"/>
              <a:buChar char=""/>
            </a:pPr>
            <a:endParaRPr lang="en-US" altLang="zh-CN"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但是实际问题中产销往往是不平衡的</a:t>
            </a:r>
            <a:endParaRPr lang="en-US" altLang="zh-CN"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就需要把</a:t>
            </a:r>
            <a:r>
              <a:rPr lang="zh-CN" altLang="en-US" b="1" dirty="0">
                <a:solidFill>
                  <a:srgbClr val="0070C0"/>
                </a:solidFill>
                <a:latin typeface="微软雅黑" panose="020B0503020204020204" pitchFamily="34" charset="-122"/>
                <a:ea typeface="微软雅黑" panose="020B0503020204020204" pitchFamily="34" charset="-122"/>
              </a:rPr>
              <a:t>产销不平衡</a:t>
            </a:r>
            <a:r>
              <a:rPr lang="zh-CN" altLang="en-US" b="1" dirty="0">
                <a:latin typeface="微软雅黑" panose="020B0503020204020204" pitchFamily="34" charset="-122"/>
                <a:ea typeface="微软雅黑" panose="020B0503020204020204" pitchFamily="34" charset="-122"/>
              </a:rPr>
              <a:t>的问题化成</a:t>
            </a:r>
            <a:r>
              <a:rPr lang="zh-CN" altLang="en-US" b="1" dirty="0">
                <a:solidFill>
                  <a:srgbClr val="0070C0"/>
                </a:solidFill>
                <a:latin typeface="微软雅黑" panose="020B0503020204020204" pitchFamily="34" charset="-122"/>
                <a:ea typeface="微软雅黑" panose="020B0503020204020204" pitchFamily="34" charset="-122"/>
              </a:rPr>
              <a:t>产销平衡</a:t>
            </a:r>
            <a:r>
              <a:rPr lang="zh-CN" altLang="en-US" b="1" dirty="0">
                <a:latin typeface="微软雅黑" panose="020B0503020204020204" pitchFamily="34" charset="-122"/>
                <a:ea typeface="微软雅黑" panose="020B0503020204020204" pitchFamily="34" charset="-122"/>
              </a:rPr>
              <a:t>的问题</a:t>
            </a:r>
          </a:p>
          <a:p>
            <a:pPr algn="just">
              <a:spcBef>
                <a:spcPts val="600"/>
              </a:spcBef>
              <a:buClr>
                <a:schemeClr val="accent1"/>
              </a:buClr>
              <a:buSzPct val="70000"/>
              <a:buFont typeface="Wingdings" panose="05000000000000000000" pitchFamily="2" charset="2"/>
              <a:buNone/>
            </a:pPr>
            <a:r>
              <a:rPr lang="zh-CN" altLang="en-US" b="1" dirty="0">
                <a:solidFill>
                  <a:schemeClr val="hlink"/>
                </a:solidFill>
                <a:latin typeface="微软雅黑" panose="020B0503020204020204" pitchFamily="34" charset="-122"/>
                <a:ea typeface="微软雅黑" panose="020B0503020204020204" pitchFamily="34" charset="-122"/>
              </a:rPr>
              <a:t>（</a:t>
            </a:r>
            <a:r>
              <a:rPr lang="en-US" altLang="zh-CN" b="1" dirty="0">
                <a:solidFill>
                  <a:schemeClr val="hlink"/>
                </a:solidFill>
                <a:latin typeface="微软雅黑" panose="020B0503020204020204" pitchFamily="34" charset="-122"/>
                <a:ea typeface="微软雅黑" panose="020B0503020204020204" pitchFamily="34" charset="-122"/>
              </a:rPr>
              <a:t>1</a:t>
            </a:r>
            <a:r>
              <a:rPr lang="zh-CN" altLang="en-US" b="1" dirty="0">
                <a:solidFill>
                  <a:schemeClr val="hlink"/>
                </a:solidFill>
                <a:latin typeface="微软雅黑" panose="020B0503020204020204" pitchFamily="34" charset="-122"/>
                <a:ea typeface="微软雅黑" panose="020B0503020204020204" pitchFamily="34" charset="-122"/>
              </a:rPr>
              <a:t>）当产大于销</a:t>
            </a:r>
            <a:endParaRPr lang="en-US" altLang="zh-CN" b="1" dirty="0">
              <a:solidFill>
                <a:schemeClr val="hlink"/>
              </a:solidFill>
              <a:latin typeface="微软雅黑" panose="020B0503020204020204" pitchFamily="34" charset="-122"/>
              <a:ea typeface="微软雅黑" panose="020B0503020204020204" pitchFamily="34" charset="-122"/>
            </a:endParaRPr>
          </a:p>
        </p:txBody>
      </p:sp>
      <p:graphicFrame>
        <p:nvGraphicFramePr>
          <p:cNvPr id="19461" name="Object 5"/>
          <p:cNvGraphicFramePr>
            <a:graphicFrameLocks noChangeAspect="1"/>
          </p:cNvGraphicFramePr>
          <p:nvPr/>
        </p:nvGraphicFramePr>
        <p:xfrm>
          <a:off x="3492500" y="836613"/>
          <a:ext cx="1152525" cy="628650"/>
        </p:xfrm>
        <a:graphic>
          <a:graphicData uri="http://schemas.openxmlformats.org/presentationml/2006/ole">
            <mc:AlternateContent xmlns:mc="http://schemas.openxmlformats.org/markup-compatibility/2006">
              <mc:Choice xmlns:v="urn:schemas-microsoft-com:vml" Requires="v">
                <p:oleObj spid="_x0000_s22550" r:id="rId3" imgW="812520" imgH="444240" progId="Equation.3">
                  <p:embed/>
                </p:oleObj>
              </mc:Choice>
              <mc:Fallback>
                <p:oleObj r:id="rId3" imgW="812520" imgH="444240" progId="Equation.3">
                  <p:embed/>
                  <p:pic>
                    <p:nvPicPr>
                      <p:cNvPr id="1946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836613"/>
                        <a:ext cx="115252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Rectangle 2"/>
          <p:cNvSpPr txBox="1">
            <a:spLocks noChangeArrowheads="1"/>
          </p:cNvSpPr>
          <p:nvPr/>
        </p:nvSpPr>
        <p:spPr bwMode="auto">
          <a:xfrm>
            <a:off x="0" y="2708275"/>
            <a:ext cx="9144000" cy="433388"/>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rPr>
              <a:t>运输问题的数学模型可写成</a:t>
            </a:r>
            <a:br>
              <a:rPr lang="zh-CN" altLang="en-US" b="1">
                <a:latin typeface="微软雅黑" panose="020B0503020204020204" pitchFamily="34" charset="-122"/>
                <a:ea typeface="微软雅黑" panose="020B0503020204020204" pitchFamily="34" charset="-122"/>
              </a:rPr>
            </a:br>
            <a:endParaRPr lang="zh-CN" altLang="en-US" b="1">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nvSpPr>
        <p:spPr bwMode="auto">
          <a:xfrm>
            <a:off x="0" y="3141663"/>
            <a:ext cx="9144000"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Char char=""/>
            </a:pPr>
            <a:r>
              <a:rPr lang="zh-CN" altLang="en-US" b="1">
                <a:latin typeface="微软雅黑" panose="020B0503020204020204" pitchFamily="34" charset="-122"/>
                <a:ea typeface="微软雅黑" panose="020B0503020204020204" pitchFamily="34" charset="-122"/>
              </a:rPr>
              <a:t>目标函数：</a:t>
            </a:r>
          </a:p>
          <a:p>
            <a:pPr>
              <a:spcBef>
                <a:spcPts val="600"/>
              </a:spcBef>
              <a:buClr>
                <a:schemeClr val="accent1"/>
              </a:buClr>
              <a:buSzPct val="70000"/>
              <a:buFont typeface="Wingdings" panose="05000000000000000000" pitchFamily="2" charset="2"/>
              <a:buChar char=""/>
            </a:pPr>
            <a:endParaRPr lang="zh-CN" altLang="en-US" b="1">
              <a:latin typeface="微软雅黑" panose="020B0503020204020204" pitchFamily="34" charset="-122"/>
              <a:ea typeface="微软雅黑" panose="020B0503020204020204" pitchFamily="34" charset="-122"/>
            </a:endParaRPr>
          </a:p>
          <a:p>
            <a:pPr>
              <a:spcBef>
                <a:spcPts val="600"/>
              </a:spcBef>
              <a:buClr>
                <a:schemeClr val="accent1"/>
              </a:buClr>
              <a:buSzPct val="70000"/>
              <a:buFont typeface="Wingdings" panose="05000000000000000000" pitchFamily="2" charset="2"/>
              <a:buChar char=""/>
            </a:pPr>
            <a:r>
              <a:rPr lang="zh-CN" altLang="en-US" b="1">
                <a:latin typeface="微软雅黑" panose="020B0503020204020204" pitchFamily="34" charset="-122"/>
                <a:ea typeface="微软雅黑" panose="020B0503020204020204" pitchFamily="34" charset="-122"/>
              </a:rPr>
              <a:t>满足：</a:t>
            </a:r>
          </a:p>
        </p:txBody>
      </p:sp>
      <p:graphicFrame>
        <p:nvGraphicFramePr>
          <p:cNvPr id="7" name="Object 2"/>
          <p:cNvGraphicFramePr>
            <a:graphicFrameLocks noChangeAspect="1"/>
          </p:cNvGraphicFramePr>
          <p:nvPr/>
        </p:nvGraphicFramePr>
        <p:xfrm>
          <a:off x="2127250" y="3240088"/>
          <a:ext cx="2297113" cy="865187"/>
        </p:xfrm>
        <a:graphic>
          <a:graphicData uri="http://schemas.openxmlformats.org/presentationml/2006/ole">
            <mc:AlternateContent xmlns:mc="http://schemas.openxmlformats.org/markup-compatibility/2006">
              <mc:Choice xmlns:v="urn:schemas-microsoft-com:vml" Requires="v">
                <p:oleObj spid="_x0000_s22551" r:id="rId5" imgW="1180800" imgH="444240" progId="Equation.3">
                  <p:embed/>
                </p:oleObj>
              </mc:Choice>
              <mc:Fallback>
                <p:oleObj r:id="rId5" imgW="1180800" imgH="444240" progId="Equation.3">
                  <p:embed/>
                  <p:pic>
                    <p:nvPicPr>
                      <p:cNvPr id="7"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7250" y="3240088"/>
                        <a:ext cx="2297113" cy="865187"/>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3"/>
          <p:cNvGraphicFramePr>
            <a:graphicFrameLocks noChangeAspect="1"/>
          </p:cNvGraphicFramePr>
          <p:nvPr/>
        </p:nvGraphicFramePr>
        <p:xfrm>
          <a:off x="1187450" y="4152900"/>
          <a:ext cx="3368675" cy="2695575"/>
        </p:xfrm>
        <a:graphic>
          <a:graphicData uri="http://schemas.openxmlformats.org/presentationml/2006/ole">
            <mc:AlternateContent xmlns:mc="http://schemas.openxmlformats.org/markup-compatibility/2006">
              <mc:Choice xmlns:v="urn:schemas-microsoft-com:vml" Requires="v">
                <p:oleObj spid="_x0000_s22552" r:id="rId7" imgW="1714500" imgH="1371600" progId="Equation.DSMT4">
                  <p:embed/>
                </p:oleObj>
              </mc:Choice>
              <mc:Fallback>
                <p:oleObj r:id="rId7" imgW="1714500" imgH="1371600" progId="Equation.DSMT4">
                  <p:embed/>
                  <p:pic>
                    <p:nvPicPr>
                      <p:cNvPr id="8"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4152900"/>
                        <a:ext cx="3368675" cy="269557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nvGraphicFramePr>
        <p:xfrm>
          <a:off x="2484438" y="2133600"/>
          <a:ext cx="1223962" cy="669925"/>
        </p:xfrm>
        <a:graphic>
          <a:graphicData uri="http://schemas.openxmlformats.org/presentationml/2006/ole">
            <mc:AlternateContent xmlns:mc="http://schemas.openxmlformats.org/markup-compatibility/2006">
              <mc:Choice xmlns:v="urn:schemas-microsoft-com:vml" Requires="v">
                <p:oleObj spid="_x0000_s22553" r:id="rId9" imgW="812520" imgH="444240" progId="Equation.3">
                  <p:embed/>
                </p:oleObj>
              </mc:Choice>
              <mc:Fallback>
                <p:oleObj r:id="rId9" imgW="812520" imgH="444240" progId="Equation.3">
                  <p:embed/>
                  <p:pic>
                    <p:nvPicPr>
                      <p:cNvPr id="6"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4438" y="2133600"/>
                        <a:ext cx="122396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34" name="对象 16">
            <a:hlinkClick r:id="" action="ppaction://ole?verb=1"/>
          </p:cNvPr>
          <p:cNvGraphicFramePr>
            <a:graphicFrameLocks noChangeAspect="1"/>
          </p:cNvGraphicFramePr>
          <p:nvPr/>
        </p:nvGraphicFramePr>
        <p:xfrm>
          <a:off x="7667625" y="1738313"/>
          <a:ext cx="914400" cy="215900"/>
        </p:xfrm>
        <a:graphic>
          <a:graphicData uri="http://schemas.openxmlformats.org/presentationml/2006/ole">
            <mc:AlternateContent xmlns:mc="http://schemas.openxmlformats.org/markup-compatibility/2006">
              <mc:Choice xmlns:v="urn:schemas-microsoft-com:vml" Requires="v">
                <p:oleObj spid="_x0000_s22554" r:id="rId11" imgW="914400" imgH="215640" progId="Equation.KSEE3">
                  <p:embed/>
                </p:oleObj>
              </mc:Choice>
              <mc:Fallback>
                <p:oleObj r:id="rId11" imgW="914400" imgH="215640" progId="Equation.KSEE3">
                  <p:embed/>
                  <p:pic>
                    <p:nvPicPr>
                      <p:cNvPr id="5134" name="对象 16">
                        <a:hlinkClick r:id="" action="ppaction://ole?verb=1"/>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67625" y="1738313"/>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fade">
                                      <p:cBhvr>
                                        <p:cTn id="12" dur="1000"/>
                                        <p:tgtEl>
                                          <p:spTgt spid="19461"/>
                                        </p:tgtEl>
                                      </p:cBhvr>
                                    </p:animEffect>
                                    <p:anim calcmode="lin" valueType="num">
                                      <p:cBhvr>
                                        <p:cTn id="13" dur="1000" fill="hold"/>
                                        <p:tgtEl>
                                          <p:spTgt spid="19461"/>
                                        </p:tgtEl>
                                        <p:attrNameLst>
                                          <p:attrName>ppt_x</p:attrName>
                                        </p:attrNameLst>
                                      </p:cBhvr>
                                      <p:tavLst>
                                        <p:tav tm="0">
                                          <p:val>
                                            <p:strVal val="#ppt_x"/>
                                          </p:val>
                                        </p:tav>
                                        <p:tav tm="100000">
                                          <p:val>
                                            <p:strVal val="#ppt_x"/>
                                          </p:val>
                                        </p:tav>
                                      </p:tavLst>
                                    </p:anim>
                                    <p:anim calcmode="lin" valueType="num">
                                      <p:cBhvr>
                                        <p:cTn id="14" dur="1000" fill="hold"/>
                                        <p:tgtEl>
                                          <p:spTgt spid="19461"/>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dissolve">
                                      <p:cBhvr>
                                        <p:cTn id="19" dur="500"/>
                                        <p:tgtEl>
                                          <p:spTgt spid="5">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dissolve">
                                      <p:cBhvr>
                                        <p:cTn id="24" dur="500"/>
                                        <p:tgtEl>
                                          <p:spTgt spid="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dissolve">
                                      <p:cBhvr>
                                        <p:cTn id="29" dur="500"/>
                                        <p:tgtEl>
                                          <p:spTgt spid="5">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dissolve">
                                      <p:cBhvr>
                                        <p:cTn id="41" dur="5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3">
                                            <p:txEl>
                                              <p:pRg st="0" end="0"/>
                                            </p:txEl>
                                          </p:spTgt>
                                        </p:tgtEl>
                                        <p:attrNameLst>
                                          <p:attrName>style.visibility</p:attrName>
                                        </p:attrNameLst>
                                      </p:cBhvr>
                                      <p:to>
                                        <p:strVal val="visible"/>
                                      </p:to>
                                    </p:set>
                                    <p:animEffect transition="in" filter="dissolve">
                                      <p:cBhvr>
                                        <p:cTn id="46" dur="500"/>
                                        <p:tgtEl>
                                          <p:spTgt spid="3">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2"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1000"/>
                                        <p:tgtEl>
                                          <p:spTgt spid="7"/>
                                        </p:tgtEl>
                                      </p:cBhvr>
                                    </p:animEffect>
                                    <p:anim calcmode="lin" valueType="num">
                                      <p:cBhvr>
                                        <p:cTn id="52" dur="1000" fill="hold"/>
                                        <p:tgtEl>
                                          <p:spTgt spid="7"/>
                                        </p:tgtEl>
                                        <p:attrNameLst>
                                          <p:attrName>ppt_x</p:attrName>
                                        </p:attrNameLst>
                                      </p:cBhvr>
                                      <p:tavLst>
                                        <p:tav tm="0">
                                          <p:val>
                                            <p:strVal val="#ppt_x"/>
                                          </p:val>
                                        </p:tav>
                                        <p:tav tm="100000">
                                          <p:val>
                                            <p:strVal val="#ppt_x"/>
                                          </p:val>
                                        </p:tav>
                                      </p:tavLst>
                                    </p:anim>
                                    <p:anim calcmode="lin" valueType="num">
                                      <p:cBhvr>
                                        <p:cTn id="5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dissolve">
                                      <p:cBhvr>
                                        <p:cTn id="58" dur="500"/>
                                        <p:tgtEl>
                                          <p:spTgt spid="3">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2"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1000"/>
                                        <p:tgtEl>
                                          <p:spTgt spid="8"/>
                                        </p:tgtEl>
                                      </p:cBhvr>
                                    </p:animEffect>
                                    <p:anim calcmode="lin" valueType="num">
                                      <p:cBhvr>
                                        <p:cTn id="64" dur="1000" fill="hold"/>
                                        <p:tgtEl>
                                          <p:spTgt spid="8"/>
                                        </p:tgtEl>
                                        <p:attrNameLst>
                                          <p:attrName>ppt_x</p:attrName>
                                        </p:attrNameLst>
                                      </p:cBhvr>
                                      <p:tavLst>
                                        <p:tav tm="0">
                                          <p:val>
                                            <p:strVal val="#ppt_x"/>
                                          </p:val>
                                        </p:tav>
                                        <p:tav tm="100000">
                                          <p:val>
                                            <p:strVal val="#ppt_x"/>
                                          </p:val>
                                        </p:tav>
                                      </p:tavLst>
                                    </p:anim>
                                    <p:anim calcmode="lin" valueType="num">
                                      <p:cBhvr>
                                        <p:cTn id="6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a:spLocks noChangeArrowheads="1"/>
          </p:cNvSpPr>
          <p:nvPr/>
        </p:nvSpPr>
        <p:spPr bwMode="auto">
          <a:xfrm>
            <a:off x="0" y="0"/>
            <a:ext cx="9144000" cy="9810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rPr>
              <a:t>由于总的产量大于销量，引入一个虚拟的销售地</a:t>
            </a:r>
            <a:r>
              <a:rPr lang="en-US" altLang="zh-CN" b="1" dirty="0">
                <a:latin typeface="微软雅黑" panose="020B0503020204020204" pitchFamily="34" charset="-122"/>
                <a:ea typeface="微软雅黑" panose="020B0503020204020204" pitchFamily="34" charset="-122"/>
              </a:rPr>
              <a:t>n+1</a:t>
            </a:r>
            <a:r>
              <a:rPr lang="zh-CN" altLang="en-US" b="1" dirty="0">
                <a:latin typeface="微软雅黑" panose="020B0503020204020204" pitchFamily="34" charset="-122"/>
                <a:ea typeface="微软雅黑" panose="020B0503020204020204" pitchFamily="34" charset="-122"/>
              </a:rPr>
              <a:t>，达到虚拟的产销平衡。</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设</a:t>
            </a:r>
            <a:r>
              <a:rPr lang="en-US" altLang="zh-CN" b="1" i="1" dirty="0">
                <a:latin typeface="Times New Roman" panose="02020603050405020304" pitchFamily="18" charset="0"/>
                <a:ea typeface="微软雅黑" panose="020B0503020204020204" pitchFamily="34" charset="-122"/>
              </a:rPr>
              <a:t>x</a:t>
            </a:r>
            <a:r>
              <a:rPr lang="en-US" altLang="zh-CN" b="1" i="1" baseline="-30000" dirty="0">
                <a:latin typeface="Times New Roman" panose="02020603050405020304" pitchFamily="18" charset="0"/>
                <a:ea typeface="微软雅黑" panose="020B0503020204020204" pitchFamily="34" charset="-122"/>
              </a:rPr>
              <a:t>i</a:t>
            </a:r>
            <a:r>
              <a:rPr lang="en-US" altLang="zh-CN" sz="2000" b="1" baseline="-25000" dirty="0">
                <a:latin typeface="Times New Roman" panose="02020603050405020304" pitchFamily="18" charset="0"/>
                <a:ea typeface="微软雅黑" panose="020B0503020204020204" pitchFamily="34" charset="-122"/>
              </a:rPr>
              <a:t>, </a:t>
            </a:r>
            <a:r>
              <a:rPr lang="en-US" altLang="zh-CN" b="1" i="1" baseline="-30000" dirty="0">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是产地</a:t>
            </a:r>
            <a:r>
              <a:rPr lang="en-US" altLang="zh-CN" b="1" i="1" dirty="0">
                <a:latin typeface="Times New Roman" panose="02020603050405020304" pitchFamily="18" charset="0"/>
                <a:ea typeface="微软雅黑" panose="020B0503020204020204" pitchFamily="34" charset="-122"/>
              </a:rPr>
              <a:t>A</a:t>
            </a:r>
            <a:r>
              <a:rPr lang="en-US" altLang="zh-CN" b="1" i="1" baseline="-30000" dirty="0">
                <a:latin typeface="Times New Roman" panose="02020603050405020304" pitchFamily="18" charset="0"/>
                <a:ea typeface="微软雅黑" panose="020B0503020204020204" pitchFamily="34" charset="-122"/>
              </a:rPr>
              <a:t>i </a:t>
            </a:r>
            <a:r>
              <a:rPr lang="zh-CN" altLang="en-US" b="1" dirty="0">
                <a:latin typeface="微软雅黑" panose="020B0503020204020204" pitchFamily="34" charset="-122"/>
                <a:ea typeface="微软雅黑" panose="020B0503020204020204" pitchFamily="34" charset="-122"/>
              </a:rPr>
              <a:t>运送到销售地</a:t>
            </a:r>
            <a:r>
              <a:rPr lang="en-US" altLang="zh-CN" b="1" dirty="0">
                <a:latin typeface="微软雅黑" panose="020B0503020204020204" pitchFamily="34" charset="-122"/>
                <a:ea typeface="微软雅黑" panose="020B0503020204020204" pitchFamily="34" charset="-122"/>
              </a:rPr>
              <a:t>n+1</a:t>
            </a:r>
            <a:r>
              <a:rPr lang="zh-CN" altLang="en-US" b="1" dirty="0">
                <a:latin typeface="微软雅黑" panose="020B0503020204020204" pitchFamily="34" charset="-122"/>
                <a:ea typeface="微软雅黑" panose="020B0503020204020204" pitchFamily="34" charset="-122"/>
              </a:rPr>
              <a:t>的量，于是有</a:t>
            </a:r>
            <a:endParaRPr lang="zh-CN" altLang="en-US" sz="3600" dirty="0">
              <a:latin typeface="Times New Roman" panose="02020603050405020304" pitchFamily="18" charset="0"/>
              <a:ea typeface="微软雅黑" panose="020B0503020204020204" pitchFamily="34" charset="-122"/>
            </a:endParaRPr>
          </a:p>
        </p:txBody>
      </p:sp>
      <p:graphicFrame>
        <p:nvGraphicFramePr>
          <p:cNvPr id="6147" name="Object 2"/>
          <p:cNvGraphicFramePr>
            <a:graphicFrameLocks noChangeAspect="1"/>
          </p:cNvGraphicFramePr>
          <p:nvPr/>
        </p:nvGraphicFramePr>
        <p:xfrm>
          <a:off x="2341563" y="1035050"/>
          <a:ext cx="3992562" cy="661988"/>
        </p:xfrm>
        <a:graphic>
          <a:graphicData uri="http://schemas.openxmlformats.org/presentationml/2006/ole">
            <mc:AlternateContent xmlns:mc="http://schemas.openxmlformats.org/markup-compatibility/2006">
              <mc:Choice xmlns:v="urn:schemas-microsoft-com:vml" Requires="v">
                <p:oleObj spid="_x0000_s23586" r:id="rId3" imgW="2679700" imgH="444500" progId="Equation.DSMT4">
                  <p:embed/>
                </p:oleObj>
              </mc:Choice>
              <mc:Fallback>
                <p:oleObj r:id="rId3" imgW="2679700" imgH="444500" progId="Equation.DSMT4">
                  <p:embed/>
                  <p:pic>
                    <p:nvPicPr>
                      <p:cNvPr id="614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563" y="1035050"/>
                        <a:ext cx="3992562" cy="661988"/>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8" name="Object 3"/>
          <p:cNvGraphicFramePr>
            <a:graphicFrameLocks noChangeAspect="1"/>
          </p:cNvGraphicFramePr>
          <p:nvPr/>
        </p:nvGraphicFramePr>
        <p:xfrm>
          <a:off x="1201738" y="1846263"/>
          <a:ext cx="2778125" cy="722312"/>
        </p:xfrm>
        <a:graphic>
          <a:graphicData uri="http://schemas.openxmlformats.org/presentationml/2006/ole">
            <mc:AlternateContent xmlns:mc="http://schemas.openxmlformats.org/markup-compatibility/2006">
              <mc:Choice xmlns:v="urn:schemas-microsoft-com:vml" Requires="v">
                <p:oleObj spid="_x0000_s23587" r:id="rId5" imgW="1663700" imgH="431800" progId="Equation.DSMT4">
                  <p:embed/>
                </p:oleObj>
              </mc:Choice>
              <mc:Fallback>
                <p:oleObj r:id="rId5" imgW="1663700" imgH="431800" progId="Equation.DSMT4">
                  <p:embed/>
                  <p:pic>
                    <p:nvPicPr>
                      <p:cNvPr id="6148"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1738" y="1846263"/>
                        <a:ext cx="2778125" cy="722312"/>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9" name="Object 4"/>
          <p:cNvGraphicFramePr>
            <a:graphicFrameLocks noChangeAspect="1"/>
          </p:cNvGraphicFramePr>
          <p:nvPr/>
        </p:nvGraphicFramePr>
        <p:xfrm>
          <a:off x="4211638" y="1773238"/>
          <a:ext cx="3455987" cy="839787"/>
        </p:xfrm>
        <a:graphic>
          <a:graphicData uri="http://schemas.openxmlformats.org/presentationml/2006/ole">
            <mc:AlternateContent xmlns:mc="http://schemas.openxmlformats.org/markup-compatibility/2006">
              <mc:Choice xmlns:v="urn:schemas-microsoft-com:vml" Requires="v">
                <p:oleObj spid="_x0000_s23588" r:id="rId7" imgW="2247900" imgH="546100" progId="Equation.3">
                  <p:embed/>
                </p:oleObj>
              </mc:Choice>
              <mc:Fallback>
                <p:oleObj r:id="rId7" imgW="2247900" imgH="546100" progId="Equation.3">
                  <p:embed/>
                  <p:pic>
                    <p:nvPicPr>
                      <p:cNvPr id="614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1773238"/>
                        <a:ext cx="3455987" cy="839787"/>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2"/>
          <p:cNvSpPr txBox="1">
            <a:spLocks noChangeArrowheads="1"/>
          </p:cNvSpPr>
          <p:nvPr/>
        </p:nvSpPr>
        <p:spPr bwMode="auto">
          <a:xfrm>
            <a:off x="0" y="2636838"/>
            <a:ext cx="9144000" cy="11525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rPr>
              <a:t>令：</a:t>
            </a:r>
          </a:p>
          <a:p>
            <a:endParaRPr lang="zh-CN" altLang="en-US" b="1">
              <a:latin typeface="Times New Roman" panose="02020603050405020304" pitchFamily="18" charset="0"/>
              <a:ea typeface="微软雅黑" panose="020B0503020204020204" pitchFamily="34" charset="-122"/>
            </a:endParaRPr>
          </a:p>
          <a:p>
            <a:endParaRPr lang="zh-CN" altLang="en-US" b="1">
              <a:latin typeface="Times New Roman" panose="02020603050405020304" pitchFamily="18" charset="0"/>
              <a:ea typeface="微软雅黑" panose="020B0503020204020204" pitchFamily="34" charset="-122"/>
            </a:endParaRPr>
          </a:p>
        </p:txBody>
      </p:sp>
      <p:graphicFrame>
        <p:nvGraphicFramePr>
          <p:cNvPr id="10" name="Object 11"/>
          <p:cNvGraphicFramePr>
            <a:graphicFrameLocks noChangeAspect="1"/>
          </p:cNvGraphicFramePr>
          <p:nvPr/>
        </p:nvGraphicFramePr>
        <p:xfrm>
          <a:off x="1116013" y="3341688"/>
          <a:ext cx="936625" cy="446087"/>
        </p:xfrm>
        <a:graphic>
          <a:graphicData uri="http://schemas.openxmlformats.org/presentationml/2006/ole">
            <mc:AlternateContent xmlns:mc="http://schemas.openxmlformats.org/markup-compatibility/2006">
              <mc:Choice xmlns:v="urn:schemas-microsoft-com:vml" Requires="v">
                <p:oleObj spid="_x0000_s23589" r:id="rId9" imgW="508000" imgH="241300" progId="Equation.DSMT4">
                  <p:embed/>
                </p:oleObj>
              </mc:Choice>
              <mc:Fallback>
                <p:oleObj r:id="rId9" imgW="508000" imgH="241300" progId="Equation.DSMT4">
                  <p:embed/>
                  <p:pic>
                    <p:nvPicPr>
                      <p:cNvPr id="1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3341688"/>
                        <a:ext cx="93662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2339975" y="2636838"/>
            <a:ext cx="6804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ea typeface="微软雅黑" panose="020B0503020204020204" pitchFamily="34" charset="-122"/>
              </a:rPr>
              <a:t>  </a:t>
            </a:r>
            <a:r>
              <a:rPr lang="zh-CN" altLang="en-US" b="1">
                <a:latin typeface="Times New Roman" panose="02020603050405020304" pitchFamily="18" charset="0"/>
                <a:ea typeface="微软雅黑" panose="020B0503020204020204" pitchFamily="34" charset="-122"/>
              </a:rPr>
              <a:t>当 </a:t>
            </a:r>
            <a:r>
              <a:rPr lang="en-US" altLang="zh-CN" i="1">
                <a:latin typeface="Times New Roman" panose="02020603050405020304" pitchFamily="18" charset="0"/>
                <a:ea typeface="微软雅黑" panose="020B0503020204020204" pitchFamily="34" charset="-122"/>
              </a:rPr>
              <a:t>i=</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m</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j=</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n </a:t>
            </a:r>
            <a:r>
              <a:rPr lang="zh-CN" altLang="en-US" b="1">
                <a:latin typeface="Times New Roman" panose="02020603050405020304" pitchFamily="18" charset="0"/>
                <a:ea typeface="微软雅黑" panose="020B0503020204020204" pitchFamily="34" charset="-122"/>
              </a:rPr>
              <a:t>时</a:t>
            </a:r>
            <a:r>
              <a:rPr lang="zh-CN" altLang="en-US">
                <a:latin typeface="Times New Roman" panose="02020603050405020304" pitchFamily="18" charset="0"/>
                <a:ea typeface="微软雅黑" panose="020B0503020204020204" pitchFamily="34" charset="-122"/>
              </a:rPr>
              <a:t> </a:t>
            </a:r>
          </a:p>
        </p:txBody>
      </p:sp>
      <p:sp>
        <p:nvSpPr>
          <p:cNvPr id="8" name="Rectangle 8"/>
          <p:cNvSpPr>
            <a:spLocks noChangeArrowheads="1"/>
          </p:cNvSpPr>
          <p:nvPr/>
        </p:nvSpPr>
        <p:spPr bwMode="auto">
          <a:xfrm>
            <a:off x="2568575" y="3332163"/>
            <a:ext cx="6575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Times New Roman" panose="02020603050405020304" pitchFamily="18" charset="0"/>
                <a:ea typeface="微软雅黑" panose="020B0503020204020204" pitchFamily="34" charset="-122"/>
              </a:rPr>
              <a:t>当 </a:t>
            </a:r>
            <a:r>
              <a:rPr lang="en-US" altLang="zh-CN" i="1">
                <a:latin typeface="Times New Roman" panose="02020603050405020304" pitchFamily="18" charset="0"/>
                <a:ea typeface="微软雅黑" panose="020B0503020204020204" pitchFamily="34" charset="-122"/>
              </a:rPr>
              <a:t>i=</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m</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j=n+</a:t>
            </a:r>
            <a:r>
              <a:rPr lang="en-US" altLang="zh-CN">
                <a:latin typeface="Times New Roman" panose="02020603050405020304" pitchFamily="18" charset="0"/>
                <a:ea typeface="微软雅黑" panose="020B0503020204020204" pitchFamily="34" charset="-122"/>
              </a:rPr>
              <a:t>1</a:t>
            </a:r>
            <a:r>
              <a:rPr lang="zh-CN" altLang="en-US" b="1">
                <a:latin typeface="Times New Roman" panose="02020603050405020304" pitchFamily="18" charset="0"/>
                <a:ea typeface="微软雅黑" panose="020B0503020204020204" pitchFamily="34" charset="-122"/>
              </a:rPr>
              <a:t>时</a:t>
            </a:r>
          </a:p>
        </p:txBody>
      </p:sp>
      <p:sp>
        <p:nvSpPr>
          <p:cNvPr id="11" name="Rectangle 9"/>
          <p:cNvSpPr>
            <a:spLocks noChangeArrowheads="1"/>
          </p:cNvSpPr>
          <p:nvPr/>
        </p:nvSpPr>
        <p:spPr bwMode="auto">
          <a:xfrm>
            <a:off x="0" y="3789363"/>
            <a:ext cx="9144000" cy="830262"/>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微软雅黑" panose="020B0503020204020204" pitchFamily="34" charset="-122"/>
                <a:ea typeface="微软雅黑" panose="020B0503020204020204" pitchFamily="34" charset="-122"/>
              </a:rPr>
              <a:t>从而得到</a:t>
            </a:r>
          </a:p>
          <a:p>
            <a:pPr algn="just" eaLnBrk="1" hangingPunct="1"/>
            <a:endParaRPr lang="zh-CN" altLang="en-US" b="1">
              <a:latin typeface="微软雅黑" panose="020B0503020204020204" pitchFamily="34" charset="-122"/>
              <a:ea typeface="微软雅黑" panose="020B0503020204020204" pitchFamily="34" charset="-122"/>
            </a:endParaRPr>
          </a:p>
        </p:txBody>
      </p:sp>
      <p:sp>
        <p:nvSpPr>
          <p:cNvPr id="12" name="Rectangle 2"/>
          <p:cNvSpPr txBox="1">
            <a:spLocks noChangeArrowheads="1"/>
          </p:cNvSpPr>
          <p:nvPr/>
        </p:nvSpPr>
        <p:spPr bwMode="auto">
          <a:xfrm>
            <a:off x="0" y="4581525"/>
            <a:ext cx="9144000" cy="2276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Century Schoolbook" panose="02040604050505020304" pitchFamily="18" charset="0"/>
                <a:ea typeface="微软雅黑" panose="020B0503020204020204" pitchFamily="34" charset="-122"/>
              </a:rPr>
              <a:t>满足：</a:t>
            </a: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p:txBody>
      </p:sp>
      <p:graphicFrame>
        <p:nvGraphicFramePr>
          <p:cNvPr id="13" name="Object 19"/>
          <p:cNvGraphicFramePr>
            <a:graphicFrameLocks noChangeAspect="1"/>
          </p:cNvGraphicFramePr>
          <p:nvPr/>
        </p:nvGraphicFramePr>
        <p:xfrm>
          <a:off x="0" y="4941888"/>
          <a:ext cx="3932238" cy="2224087"/>
        </p:xfrm>
        <a:graphic>
          <a:graphicData uri="http://schemas.openxmlformats.org/presentationml/2006/ole">
            <mc:AlternateContent xmlns:mc="http://schemas.openxmlformats.org/markup-compatibility/2006">
              <mc:Choice xmlns:v="urn:schemas-microsoft-com:vml" Requires="v">
                <p:oleObj spid="_x0000_s23590" r:id="rId11" imgW="1905000" imgH="1371600" progId="Equation.DSMT4">
                  <p:embed/>
                </p:oleObj>
              </mc:Choice>
              <mc:Fallback>
                <p:oleObj r:id="rId11" imgW="1905000" imgH="1371600" progId="Equation.DSMT4">
                  <p:embed/>
                  <p:pic>
                    <p:nvPicPr>
                      <p:cNvPr id="13"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941888"/>
                        <a:ext cx="3932238"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Rectangle 6"/>
          <p:cNvSpPr>
            <a:spLocks noChangeArrowheads="1"/>
          </p:cNvSpPr>
          <p:nvPr/>
        </p:nvSpPr>
        <p:spPr bwMode="auto">
          <a:xfrm>
            <a:off x="4043363" y="4581525"/>
            <a:ext cx="4992687" cy="230822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solidFill>
                  <a:schemeClr val="hlink"/>
                </a:solidFill>
                <a:latin typeface="微软雅黑" panose="020B0503020204020204" pitchFamily="34" charset="-122"/>
                <a:ea typeface="微软雅黑" panose="020B0503020204020204" pitchFamily="34" charset="-122"/>
              </a:rPr>
              <a:t>由于这个模型中</a:t>
            </a:r>
          </a:p>
          <a:p>
            <a:pPr algn="just" eaLnBrk="1" hangingPunct="1"/>
            <a:endParaRPr lang="zh-CN" altLang="en-US" b="1">
              <a:solidFill>
                <a:schemeClr val="hlink"/>
              </a:solidFill>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p:txBody>
      </p:sp>
      <p:graphicFrame>
        <p:nvGraphicFramePr>
          <p:cNvPr id="15" name="Object 20"/>
          <p:cNvGraphicFramePr>
            <a:graphicFrameLocks noChangeAspect="1"/>
          </p:cNvGraphicFramePr>
          <p:nvPr/>
        </p:nvGraphicFramePr>
        <p:xfrm>
          <a:off x="4572000" y="5229225"/>
          <a:ext cx="3362325" cy="984250"/>
        </p:xfrm>
        <a:graphic>
          <a:graphicData uri="http://schemas.openxmlformats.org/presentationml/2006/ole">
            <mc:AlternateContent xmlns:mc="http://schemas.openxmlformats.org/markup-compatibility/2006">
              <mc:Choice xmlns:v="urn:schemas-microsoft-com:vml" Requires="v">
                <p:oleObj spid="_x0000_s23591" r:id="rId13" imgW="1866090" imgH="545863" progId="Equation.3">
                  <p:embed/>
                </p:oleObj>
              </mc:Choice>
              <mc:Fallback>
                <p:oleObj r:id="rId13" imgW="1866090" imgH="545863" progId="Equation.3">
                  <p:embed/>
                  <p:pic>
                    <p:nvPicPr>
                      <p:cNvPr id="15"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0" y="5229225"/>
                        <a:ext cx="3362325"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7"/>
          <p:cNvSpPr>
            <a:spLocks noChangeArrowheads="1"/>
          </p:cNvSpPr>
          <p:nvPr/>
        </p:nvSpPr>
        <p:spPr bwMode="auto">
          <a:xfrm>
            <a:off x="3949700" y="6384925"/>
            <a:ext cx="51943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所以这是一个产销平衡的运输问题</a:t>
            </a:r>
            <a:r>
              <a:rPr lang="zh-CN" altLang="en-US" sz="2500">
                <a:latin typeface="微软雅黑" panose="020B0503020204020204" pitchFamily="34" charset="-122"/>
                <a:ea typeface="微软雅黑" panose="020B0503020204020204" pitchFamily="34" charset="-122"/>
              </a:rPr>
              <a:t> </a:t>
            </a:r>
            <a:endParaRPr lang="zh-CN" altLang="en-US" sz="4800">
              <a:latin typeface="微软雅黑" panose="020B0503020204020204" pitchFamily="34" charset="-122"/>
              <a:ea typeface="微软雅黑" panose="020B0503020204020204" pitchFamily="34" charset="-122"/>
            </a:endParaRPr>
          </a:p>
        </p:txBody>
      </p:sp>
      <p:graphicFrame>
        <p:nvGraphicFramePr>
          <p:cNvPr id="16" name="Object 16"/>
          <p:cNvGraphicFramePr>
            <a:graphicFrameLocks noChangeAspect="1"/>
          </p:cNvGraphicFramePr>
          <p:nvPr/>
        </p:nvGraphicFramePr>
        <p:xfrm>
          <a:off x="1279525" y="3857625"/>
          <a:ext cx="6870700" cy="795338"/>
        </p:xfrm>
        <a:graphic>
          <a:graphicData uri="http://schemas.openxmlformats.org/presentationml/2006/ole">
            <mc:AlternateContent xmlns:mc="http://schemas.openxmlformats.org/markup-compatibility/2006">
              <mc:Choice xmlns:v="urn:schemas-microsoft-com:vml" Requires="v">
                <p:oleObj spid="_x0000_s23592" r:id="rId15" imgW="3835400" imgH="444500" progId="Equation.DSMT4">
                  <p:embed/>
                </p:oleObj>
              </mc:Choice>
              <mc:Fallback>
                <p:oleObj r:id="rId15" imgW="3835400" imgH="444500" progId="Equation.DSMT4">
                  <p:embed/>
                  <p:pic>
                    <p:nvPicPr>
                      <p:cNvPr id="16"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9525" y="3857625"/>
                        <a:ext cx="68707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11"/>
          <p:cNvGraphicFramePr>
            <a:graphicFrameLocks noChangeAspect="1"/>
          </p:cNvGraphicFramePr>
          <p:nvPr/>
        </p:nvGraphicFramePr>
        <p:xfrm>
          <a:off x="984250" y="2708275"/>
          <a:ext cx="1054100" cy="446088"/>
        </p:xfrm>
        <a:graphic>
          <a:graphicData uri="http://schemas.openxmlformats.org/presentationml/2006/ole">
            <mc:AlternateContent xmlns:mc="http://schemas.openxmlformats.org/markup-compatibility/2006">
              <mc:Choice xmlns:v="urn:schemas-microsoft-com:vml" Requires="v">
                <p:oleObj spid="_x0000_s23593" r:id="rId17" imgW="571252" imgH="241195" progId="Equation.DSMT4">
                  <p:embed/>
                </p:oleObj>
              </mc:Choice>
              <mc:Fallback>
                <p:oleObj r:id="rId17" imgW="571252" imgH="241195" progId="Equation.DSMT4">
                  <p:embed/>
                  <p:pic>
                    <p:nvPicPr>
                      <p:cNvPr id="2"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4250" y="2708275"/>
                        <a:ext cx="10541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dissolve">
                                      <p:cBhvr>
                                        <p:cTn id="40" dur="500"/>
                                        <p:tgtEl>
                                          <p:spTgt spid="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2"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dissolve">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8" grpId="0"/>
      <p:bldP spid="11" grpId="0" animBg="1"/>
      <p:bldP spid="12" grpId="0" animBg="1"/>
      <p:bldP spid="14" grpId="0" animBg="1"/>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6"/>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 name="Line 7"/>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 name="Line 8"/>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 name="Line 9"/>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 name="Text Box 10"/>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7175" name="Text Box 11"/>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7176" name="Text Box 12"/>
          <p:cNvSpPr txBox="1">
            <a:spLocks noChangeArrowheads="1"/>
          </p:cNvSpPr>
          <p:nvPr/>
        </p:nvSpPr>
        <p:spPr bwMode="auto">
          <a:xfrm>
            <a:off x="1354138" y="2416175"/>
            <a:ext cx="55403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ea typeface="微软雅黑" panose="020B0503020204020204" pitchFamily="34" charset="-122"/>
              </a:rPr>
              <a:t>1 </a:t>
            </a:r>
          </a:p>
          <a:p>
            <a:pPr eaLnBrk="1" hangingPunct="1">
              <a:spcBef>
                <a:spcPct val="50000"/>
              </a:spcBef>
            </a:pPr>
            <a:endParaRPr lang="en-US" altLang="zh-CN" sz="1200">
              <a:latin typeface="Times New Roman" panose="02020603050405020304" pitchFamily="18" charset="0"/>
              <a:ea typeface="微软雅黑" panose="020B0503020204020204" pitchFamily="34" charset="-122"/>
            </a:endParaRPr>
          </a:p>
          <a:p>
            <a:pPr eaLnBrk="1" hangingPunct="1">
              <a:spcBef>
                <a:spcPct val="50000"/>
              </a:spcBef>
            </a:pPr>
            <a:r>
              <a:rPr lang="en-US" altLang="zh-CN" sz="1200">
                <a:latin typeface="Times New Roman" panose="02020603050405020304" pitchFamily="18" charset="0"/>
                <a:ea typeface="微软雅黑" panose="020B0503020204020204" pitchFamily="34" charset="-122"/>
              </a:rPr>
              <a:t>          </a:t>
            </a:r>
            <a:r>
              <a:rPr lang="en-US" altLang="zh-CN">
                <a:latin typeface="Times New Roman" panose="02020603050405020304" pitchFamily="18" charset="0"/>
                <a:ea typeface="微软雅黑" panose="020B0503020204020204" pitchFamily="34" charset="-122"/>
              </a:rPr>
              <a:t>2      </a:t>
            </a:r>
          </a:p>
          <a:p>
            <a:pPr eaLnBrk="1" hangingPunct="1">
              <a:spcBef>
                <a:spcPct val="50000"/>
              </a:spcBef>
            </a:pPr>
            <a:r>
              <a:rPr lang="en-US" altLang="zh-CN">
                <a:latin typeface="Times New Roman" panose="02020603050405020304" pitchFamily="18" charset="0"/>
                <a:ea typeface="微软雅黑" panose="020B0503020204020204" pitchFamily="34" charset="-122"/>
              </a:rPr>
              <a:t>…                            </a:t>
            </a:r>
          </a:p>
        </p:txBody>
      </p:sp>
      <p:sp>
        <p:nvSpPr>
          <p:cNvPr id="7177" name="Text Box 13"/>
          <p:cNvSpPr txBox="1">
            <a:spLocks noChangeArrowheads="1"/>
          </p:cNvSpPr>
          <p:nvPr/>
        </p:nvSpPr>
        <p:spPr bwMode="auto">
          <a:xfrm>
            <a:off x="1273175" y="4868863"/>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7178" name="Line 14"/>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 name="Line 15"/>
          <p:cNvSpPr>
            <a:spLocks noChangeShapeType="1"/>
          </p:cNvSpPr>
          <p:nvPr/>
        </p:nvSpPr>
        <p:spPr bwMode="auto">
          <a:xfrm>
            <a:off x="7391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0" name="Text Box 16"/>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7181" name="Text Box 17"/>
          <p:cNvSpPr txBox="1">
            <a:spLocks noChangeArrowheads="1"/>
          </p:cNvSpPr>
          <p:nvPr/>
        </p:nvSpPr>
        <p:spPr bwMode="auto">
          <a:xfrm>
            <a:off x="7467600"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7182" name="Text Box 18"/>
          <p:cNvSpPr txBox="1">
            <a:spLocks noChangeArrowheads="1"/>
          </p:cNvSpPr>
          <p:nvPr/>
        </p:nvSpPr>
        <p:spPr bwMode="auto">
          <a:xfrm>
            <a:off x="7467600" y="22860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7183" name="Text Box 19"/>
          <p:cNvSpPr txBox="1">
            <a:spLocks noChangeArrowheads="1"/>
          </p:cNvSpPr>
          <p:nvPr/>
        </p:nvSpPr>
        <p:spPr bwMode="auto">
          <a:xfrm>
            <a:off x="7537450" y="32131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7184" name="Text Box 21"/>
          <p:cNvSpPr txBox="1">
            <a:spLocks noChangeArrowheads="1"/>
          </p:cNvSpPr>
          <p:nvPr/>
        </p:nvSpPr>
        <p:spPr bwMode="auto">
          <a:xfrm>
            <a:off x="7566025" y="35814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7185" name="Text Box 22"/>
          <p:cNvSpPr txBox="1">
            <a:spLocks noChangeArrowheads="1"/>
          </p:cNvSpPr>
          <p:nvPr/>
        </p:nvSpPr>
        <p:spPr bwMode="auto">
          <a:xfrm>
            <a:off x="2124075" y="32766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7186" name="Text Box 23"/>
          <p:cNvSpPr txBox="1">
            <a:spLocks noChangeArrowheads="1"/>
          </p:cNvSpPr>
          <p:nvPr/>
        </p:nvSpPr>
        <p:spPr bwMode="auto">
          <a:xfrm>
            <a:off x="2195513" y="48768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mn</a:t>
            </a:r>
          </a:p>
        </p:txBody>
      </p:sp>
      <p:sp>
        <p:nvSpPr>
          <p:cNvPr id="7187" name="Text Box 24"/>
          <p:cNvSpPr txBox="1">
            <a:spLocks noChangeArrowheads="1"/>
          </p:cNvSpPr>
          <p:nvPr/>
        </p:nvSpPr>
        <p:spPr bwMode="auto">
          <a:xfrm>
            <a:off x="2268538" y="2286000"/>
            <a:ext cx="426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7188" name="Text Box 25"/>
          <p:cNvSpPr txBox="1">
            <a:spLocks noChangeArrowheads="1"/>
          </p:cNvSpPr>
          <p:nvPr/>
        </p:nvSpPr>
        <p:spPr bwMode="auto">
          <a:xfrm>
            <a:off x="3727450" y="38100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7189" name="Text Box 27"/>
          <p:cNvSpPr txBox="1">
            <a:spLocks noChangeArrowheads="1"/>
          </p:cNvSpPr>
          <p:nvPr/>
        </p:nvSpPr>
        <p:spPr bwMode="auto">
          <a:xfrm>
            <a:off x="2209800" y="1295400"/>
            <a:ext cx="4162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b="1" i="1">
              <a:solidFill>
                <a:srgbClr val="FF0000"/>
              </a:solidFill>
              <a:latin typeface="Times New Roman" panose="02020603050405020304" pitchFamily="18" charset="0"/>
              <a:ea typeface="微软雅黑" panose="020B0503020204020204" pitchFamily="34" charset="-122"/>
            </a:endParaRPr>
          </a:p>
        </p:txBody>
      </p:sp>
      <p:sp>
        <p:nvSpPr>
          <p:cNvPr id="21527" name="Text Box 28"/>
          <p:cNvSpPr txBox="1">
            <a:spLocks noChangeArrowheads="1"/>
          </p:cNvSpPr>
          <p:nvPr/>
        </p:nvSpPr>
        <p:spPr bwMode="auto">
          <a:xfrm>
            <a:off x="6705600" y="2276475"/>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21528" name="Text Box 29"/>
          <p:cNvSpPr txBox="1">
            <a:spLocks noChangeArrowheads="1"/>
          </p:cNvSpPr>
          <p:nvPr/>
        </p:nvSpPr>
        <p:spPr bwMode="auto">
          <a:xfrm>
            <a:off x="6732588" y="487521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21529" name="Text Box 30"/>
          <p:cNvSpPr txBox="1">
            <a:spLocks noChangeArrowheads="1"/>
          </p:cNvSpPr>
          <p:nvPr/>
        </p:nvSpPr>
        <p:spPr bwMode="auto">
          <a:xfrm>
            <a:off x="6781800" y="32845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7193" name="Text Box 31"/>
          <p:cNvSpPr txBox="1">
            <a:spLocks noChangeArrowheads="1"/>
          </p:cNvSpPr>
          <p:nvPr/>
        </p:nvSpPr>
        <p:spPr bwMode="auto">
          <a:xfrm>
            <a:off x="2195513" y="5638800"/>
            <a:ext cx="44640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endParaRPr lang="en-US" altLang="zh-CN" sz="1200" b="1">
              <a:solidFill>
                <a:srgbClr val="FF0000"/>
              </a:solidFill>
              <a:latin typeface="Times New Roman" panose="02020603050405020304" pitchFamily="18" charset="0"/>
              <a:ea typeface="微软雅黑" panose="020B0503020204020204" pitchFamily="34" charset="-122"/>
            </a:endParaRPr>
          </a:p>
          <a:p>
            <a:pPr eaLnBrk="1" hangingPunct="1">
              <a:spcBef>
                <a:spcPct val="50000"/>
              </a:spcBef>
            </a:pPr>
            <a:r>
              <a:rPr lang="en-US" altLang="zh-CN" sz="1200">
                <a:ea typeface="微软雅黑" panose="020B0503020204020204" pitchFamily="34" charset="-122"/>
              </a:rPr>
              <a:t> </a:t>
            </a:r>
          </a:p>
        </p:txBody>
      </p:sp>
      <p:sp>
        <p:nvSpPr>
          <p:cNvPr id="7194" name="Text Box 32"/>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301089" name="Text Box 33"/>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产大于销</a:t>
            </a:r>
          </a:p>
        </p:txBody>
      </p:sp>
      <p:sp>
        <p:nvSpPr>
          <p:cNvPr id="29" name="Text Box 27"/>
          <p:cNvSpPr txBox="1">
            <a:spLocks noChangeArrowheads="1"/>
          </p:cNvSpPr>
          <p:nvPr/>
        </p:nvSpPr>
        <p:spPr bwMode="auto">
          <a:xfrm>
            <a:off x="6588125" y="1336675"/>
            <a:ext cx="194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n</a:t>
            </a:r>
            <a:r>
              <a:rPr lang="en-US" altLang="zh-CN" sz="3200" b="1">
                <a:solidFill>
                  <a:srgbClr val="FF0000"/>
                </a:solidFill>
                <a:latin typeface="Times New Roman" panose="02020603050405020304" pitchFamily="18" charset="0"/>
                <a:ea typeface="微软雅黑" panose="020B0503020204020204" pitchFamily="34" charset="-122"/>
              </a:rPr>
              <a:t>+1</a:t>
            </a:r>
          </a:p>
        </p:txBody>
      </p:sp>
      <p:sp>
        <p:nvSpPr>
          <p:cNvPr id="30" name="Text Box 31"/>
          <p:cNvSpPr txBox="1">
            <a:spLocks noChangeArrowheads="1"/>
          </p:cNvSpPr>
          <p:nvPr/>
        </p:nvSpPr>
        <p:spPr bwMode="auto">
          <a:xfrm>
            <a:off x="6740525" y="5661025"/>
            <a:ext cx="10001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b</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a:p>
            <a:pPr eaLnBrk="1" hangingPunct="1">
              <a:spcBef>
                <a:spcPct val="50000"/>
              </a:spcBef>
            </a:pPr>
            <a:r>
              <a:rPr lang="en-US" altLang="zh-CN" sz="1200">
                <a:ea typeface="微软雅黑" panose="020B0503020204020204" pitchFamily="34" charset="-122"/>
              </a:rPr>
              <a:t> </a:t>
            </a:r>
          </a:p>
        </p:txBody>
      </p:sp>
      <p:sp>
        <p:nvSpPr>
          <p:cNvPr id="7198" name="Text Box 19"/>
          <p:cNvSpPr txBox="1">
            <a:spLocks noChangeArrowheads="1"/>
          </p:cNvSpPr>
          <p:nvPr/>
        </p:nvSpPr>
        <p:spPr bwMode="auto">
          <a:xfrm>
            <a:off x="7451725" y="48688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528"/>
                                        </p:tgtEl>
                                        <p:attrNameLst>
                                          <p:attrName>style.visibility</p:attrName>
                                        </p:attrNameLst>
                                      </p:cBhvr>
                                      <p:to>
                                        <p:strVal val="visible"/>
                                      </p:to>
                                    </p:set>
                                    <p:animEffect transition="in" filter="blinds(horizontal)">
                                      <p:cBhvr>
                                        <p:cTn id="10" dur="500"/>
                                        <p:tgtEl>
                                          <p:spTgt spid="2152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529"/>
                                        </p:tgtEl>
                                        <p:attrNameLst>
                                          <p:attrName>style.visibility</p:attrName>
                                        </p:attrNameLst>
                                      </p:cBhvr>
                                      <p:to>
                                        <p:strVal val="visible"/>
                                      </p:to>
                                    </p:set>
                                    <p:animEffect transition="in" filter="blinds(horizontal)">
                                      <p:cBhvr>
                                        <p:cTn id="13" dur="500"/>
                                        <p:tgtEl>
                                          <p:spTgt spid="2152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1527"/>
                                        </p:tgtEl>
                                        <p:attrNameLst>
                                          <p:attrName>style.visibility</p:attrName>
                                        </p:attrNameLst>
                                      </p:cBhvr>
                                      <p:to>
                                        <p:strVal val="visible"/>
                                      </p:to>
                                    </p:set>
                                    <p:animEffect transition="in" filter="blinds(horizontal)">
                                      <p:cBhvr>
                                        <p:cTn id="16" dur="500"/>
                                        <p:tgtEl>
                                          <p:spTgt spid="2152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linds(horizontal)">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7" grpId="0"/>
      <p:bldP spid="21528" grpId="0"/>
      <p:bldP spid="21529" grpId="0"/>
      <p:bldP spid="29" grpId="0"/>
      <p:bldP spid="3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6"/>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 name="Line 7"/>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 name="Line 8"/>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Line 9"/>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 name="Text Box 10"/>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8199" name="Text Box 11"/>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8200" name="Text Box 12"/>
          <p:cNvSpPr txBox="1">
            <a:spLocks noChangeArrowheads="1"/>
          </p:cNvSpPr>
          <p:nvPr/>
        </p:nvSpPr>
        <p:spPr bwMode="auto">
          <a:xfrm>
            <a:off x="1425575" y="2420938"/>
            <a:ext cx="5540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ea typeface="微软雅黑" panose="020B0503020204020204" pitchFamily="34" charset="-122"/>
              </a:rPr>
              <a:t>1 </a:t>
            </a:r>
          </a:p>
          <a:p>
            <a:pPr eaLnBrk="1" hangingPunct="1">
              <a:spcBef>
                <a:spcPct val="50000"/>
              </a:spcBef>
            </a:pPr>
            <a:r>
              <a:rPr lang="en-US" altLang="zh-CN">
                <a:latin typeface="Times New Roman" panose="02020603050405020304" pitchFamily="18" charset="0"/>
                <a:ea typeface="微软雅黑" panose="020B0503020204020204" pitchFamily="34" charset="-122"/>
              </a:rPr>
              <a:t>          2      …                            </a:t>
            </a:r>
          </a:p>
        </p:txBody>
      </p:sp>
      <p:sp>
        <p:nvSpPr>
          <p:cNvPr id="8201" name="Text Box 13"/>
          <p:cNvSpPr txBox="1">
            <a:spLocks noChangeArrowheads="1"/>
          </p:cNvSpPr>
          <p:nvPr/>
        </p:nvSpPr>
        <p:spPr bwMode="auto">
          <a:xfrm>
            <a:off x="1273175" y="4868863"/>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8202" name="Line 14"/>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5"/>
          <p:cNvSpPr>
            <a:spLocks noChangeShapeType="1"/>
          </p:cNvSpPr>
          <p:nvPr/>
        </p:nvSpPr>
        <p:spPr bwMode="auto">
          <a:xfrm>
            <a:off x="7391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Text Box 16"/>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8205" name="Text Box 17"/>
          <p:cNvSpPr txBox="1">
            <a:spLocks noChangeArrowheads="1"/>
          </p:cNvSpPr>
          <p:nvPr/>
        </p:nvSpPr>
        <p:spPr bwMode="auto">
          <a:xfrm>
            <a:off x="7467600"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8206" name="Text Box 18"/>
          <p:cNvSpPr txBox="1">
            <a:spLocks noChangeArrowheads="1"/>
          </p:cNvSpPr>
          <p:nvPr/>
        </p:nvSpPr>
        <p:spPr bwMode="auto">
          <a:xfrm>
            <a:off x="7467600" y="22860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8207" name="Text Box 19"/>
          <p:cNvSpPr txBox="1">
            <a:spLocks noChangeArrowheads="1"/>
          </p:cNvSpPr>
          <p:nvPr/>
        </p:nvSpPr>
        <p:spPr bwMode="auto">
          <a:xfrm>
            <a:off x="7537450" y="3292475"/>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8208" name="Text Box 21"/>
          <p:cNvSpPr txBox="1">
            <a:spLocks noChangeArrowheads="1"/>
          </p:cNvSpPr>
          <p:nvPr/>
        </p:nvSpPr>
        <p:spPr bwMode="auto">
          <a:xfrm>
            <a:off x="7566025" y="35814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8209" name="Text Box 22"/>
          <p:cNvSpPr txBox="1">
            <a:spLocks noChangeArrowheads="1"/>
          </p:cNvSpPr>
          <p:nvPr/>
        </p:nvSpPr>
        <p:spPr bwMode="auto">
          <a:xfrm>
            <a:off x="2124075" y="3276600"/>
            <a:ext cx="5256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r>
              <a:rPr lang="en-US" altLang="zh-CN" sz="3200">
                <a:latin typeface="Times New Roman" panose="02020603050405020304" pitchFamily="18" charset="0"/>
                <a:ea typeface="微软雅黑" panose="020B0503020204020204" pitchFamily="34" charset="-122"/>
              </a:rPr>
              <a:t> </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a:solidFill>
                  <a:srgbClr val="FF0000"/>
                </a:solidFill>
                <a:latin typeface="Times New Roman" panose="02020603050405020304" pitchFamily="18" charset="0"/>
                <a:ea typeface="微软雅黑" panose="020B0503020204020204" pitchFamily="34" charset="-122"/>
              </a:rPr>
              <a:t>2,</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p:txBody>
      </p:sp>
      <p:sp>
        <p:nvSpPr>
          <p:cNvPr id="8210" name="Text Box 23"/>
          <p:cNvSpPr txBox="1">
            <a:spLocks noChangeArrowheads="1"/>
          </p:cNvSpPr>
          <p:nvPr/>
        </p:nvSpPr>
        <p:spPr bwMode="auto">
          <a:xfrm>
            <a:off x="2195513" y="4876800"/>
            <a:ext cx="5256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 x</a:t>
            </a:r>
            <a:r>
              <a:rPr lang="en-US" altLang="zh-CN" sz="1200" i="1">
                <a:latin typeface="Times New Roman" panose="02020603050405020304" pitchFamily="18" charset="0"/>
                <a:ea typeface="微软雅黑" panose="020B0503020204020204" pitchFamily="34" charset="-122"/>
              </a:rPr>
              <a:t>mn</a:t>
            </a:r>
            <a:r>
              <a:rPr lang="en-US" altLang="zh-CN" sz="3200" i="1">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m,n</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1200" b="1">
              <a:latin typeface="Times New Roman" panose="02020603050405020304" pitchFamily="18" charset="0"/>
              <a:ea typeface="微软雅黑" panose="020B0503020204020204" pitchFamily="34" charset="-122"/>
            </a:endParaRPr>
          </a:p>
        </p:txBody>
      </p:sp>
      <p:sp>
        <p:nvSpPr>
          <p:cNvPr id="8211" name="Text Box 24"/>
          <p:cNvSpPr txBox="1">
            <a:spLocks noChangeArrowheads="1"/>
          </p:cNvSpPr>
          <p:nvPr/>
        </p:nvSpPr>
        <p:spPr bwMode="auto">
          <a:xfrm>
            <a:off x="2268538" y="2286000"/>
            <a:ext cx="5040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a:solidFill>
                  <a:srgbClr val="FF0000"/>
                </a:solidFill>
                <a:latin typeface="Times New Roman" panose="02020603050405020304" pitchFamily="18" charset="0"/>
                <a:ea typeface="微软雅黑" panose="020B0503020204020204" pitchFamily="34" charset="-122"/>
              </a:rPr>
              <a:t>1,</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p:txBody>
      </p:sp>
      <p:sp>
        <p:nvSpPr>
          <p:cNvPr id="8212" name="Text Box 25"/>
          <p:cNvSpPr txBox="1">
            <a:spLocks noChangeArrowheads="1"/>
          </p:cNvSpPr>
          <p:nvPr/>
        </p:nvSpPr>
        <p:spPr bwMode="auto">
          <a:xfrm>
            <a:off x="3727450" y="38100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21526" name="Text Box 27"/>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r>
              <a:rPr lang="en-US" altLang="zh-CN" sz="3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n</a:t>
            </a:r>
            <a:r>
              <a:rPr lang="en-US" altLang="zh-CN" sz="3200" b="1">
                <a:solidFill>
                  <a:srgbClr val="FF0000"/>
                </a:solidFill>
                <a:latin typeface="Times New Roman" panose="02020603050405020304" pitchFamily="18" charset="0"/>
                <a:ea typeface="微软雅黑" panose="020B0503020204020204" pitchFamily="34" charset="-122"/>
              </a:rPr>
              <a:t>+1</a:t>
            </a:r>
          </a:p>
        </p:txBody>
      </p:sp>
      <p:sp>
        <p:nvSpPr>
          <p:cNvPr id="8214" name="Text Box 31"/>
          <p:cNvSpPr txBox="1">
            <a:spLocks noChangeArrowheads="1"/>
          </p:cNvSpPr>
          <p:nvPr/>
        </p:nvSpPr>
        <p:spPr bwMode="auto">
          <a:xfrm>
            <a:off x="2195513" y="5638800"/>
            <a:ext cx="6248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b</a:t>
            </a:r>
            <a:r>
              <a:rPr lang="en-US" altLang="zh-CN" sz="1200" i="1">
                <a:solidFill>
                  <a:srgbClr val="800000"/>
                </a:solidFill>
                <a:latin typeface="Times New Roman" panose="02020603050405020304" pitchFamily="18" charset="0"/>
                <a:ea typeface="微软雅黑" panose="020B0503020204020204" pitchFamily="34" charset="-122"/>
              </a:rPr>
              <a:t>n</a:t>
            </a:r>
            <a:r>
              <a:rPr lang="en-US" altLang="zh-CN" sz="1200">
                <a:solidFill>
                  <a:srgbClr val="800000"/>
                </a:solidFill>
                <a:latin typeface="Times New Roman" panose="02020603050405020304" pitchFamily="18" charset="0"/>
                <a:ea typeface="微软雅黑" panose="020B0503020204020204" pitchFamily="34" charset="-122"/>
              </a:rPr>
              <a:t>+1</a:t>
            </a:r>
          </a:p>
          <a:p>
            <a:pPr eaLnBrk="1" hangingPunct="1">
              <a:spcBef>
                <a:spcPct val="50000"/>
              </a:spcBef>
            </a:pPr>
            <a:r>
              <a:rPr lang="en-US" altLang="zh-CN" sz="1200">
                <a:ea typeface="微软雅黑" panose="020B0503020204020204" pitchFamily="34" charset="-122"/>
              </a:rPr>
              <a:t> </a:t>
            </a:r>
          </a:p>
        </p:txBody>
      </p:sp>
      <p:sp>
        <p:nvSpPr>
          <p:cNvPr id="8215" name="Text Box 32"/>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301089" name="Text Box 33"/>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产大于销</a:t>
            </a:r>
          </a:p>
        </p:txBody>
      </p:sp>
      <p:sp>
        <p:nvSpPr>
          <p:cNvPr id="8217" name="Text Box 19"/>
          <p:cNvSpPr txBox="1">
            <a:spLocks noChangeArrowheads="1"/>
          </p:cNvSpPr>
          <p:nvPr/>
        </p:nvSpPr>
        <p:spPr bwMode="auto">
          <a:xfrm>
            <a:off x="7537450" y="48688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m</a:t>
            </a:r>
            <a:endParaRPr lang="en-US" altLang="zh-CN" sz="3600">
              <a:latin typeface="Times New Roman" panose="02020603050405020304" pitchFamily="18"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26">
                                            <p:txEl>
                                              <p:pRg st="0" end="0"/>
                                            </p:txEl>
                                          </p:spTgt>
                                        </p:tgtEl>
                                        <p:attrNameLst>
                                          <p:attrName>style.visibility</p:attrName>
                                        </p:attrNameLst>
                                      </p:cBhvr>
                                      <p:to>
                                        <p:strVal val="visible"/>
                                      </p:to>
                                    </p:set>
                                    <p:animEffect transition="in" filter="blinds(horizontal)">
                                      <p:cBhvr>
                                        <p:cTn id="7" dur="500"/>
                                        <p:tgtEl>
                                          <p:spTgt spid="215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txBox="1">
            <a:spLocks noChangeArrowheads="1"/>
          </p:cNvSpPr>
          <p:nvPr/>
        </p:nvSpPr>
        <p:spPr bwMode="auto">
          <a:xfrm>
            <a:off x="0" y="1196975"/>
            <a:ext cx="9144000" cy="792163"/>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200000"/>
              </a:lnSpc>
            </a:pPr>
            <a:r>
              <a:rPr lang="zh-CN" altLang="en-US" b="1" dirty="0">
                <a:solidFill>
                  <a:schemeClr val="hlink"/>
                </a:solidFill>
                <a:latin typeface="微软雅黑" panose="020B0503020204020204" pitchFamily="34" charset="-122"/>
                <a:ea typeface="微软雅黑" panose="020B0503020204020204" pitchFamily="34" charset="-122"/>
              </a:rPr>
              <a:t>（</a:t>
            </a:r>
            <a:r>
              <a:rPr lang="en-US" altLang="zh-CN" b="1" dirty="0">
                <a:solidFill>
                  <a:schemeClr val="hlink"/>
                </a:solidFill>
                <a:latin typeface="微软雅黑" panose="020B0503020204020204" pitchFamily="34" charset="-122"/>
                <a:ea typeface="微软雅黑" panose="020B0503020204020204" pitchFamily="34" charset="-122"/>
              </a:rPr>
              <a:t>2</a:t>
            </a:r>
            <a:r>
              <a:rPr lang="zh-CN" altLang="en-US" b="1" dirty="0">
                <a:solidFill>
                  <a:schemeClr val="hlink"/>
                </a:solidFill>
                <a:latin typeface="微软雅黑" panose="020B0503020204020204" pitchFamily="34" charset="-122"/>
                <a:ea typeface="微软雅黑" panose="020B0503020204020204" pitchFamily="34" charset="-122"/>
              </a:rPr>
              <a:t>）当销大于产时</a:t>
            </a:r>
            <a:br>
              <a:rPr lang="zh-CN" altLang="en-US" b="1" dirty="0">
                <a:latin typeface="Times New Roman" panose="02020603050405020304" pitchFamily="18" charset="0"/>
                <a:ea typeface="微软雅黑" panose="020B0503020204020204" pitchFamily="34" charset="-122"/>
              </a:rPr>
            </a:br>
            <a:r>
              <a:rPr lang="zh-CN" altLang="en-US" b="1" dirty="0">
                <a:latin typeface="Times New Roman" panose="02020603050405020304" pitchFamily="18" charset="0"/>
                <a:ea typeface="微软雅黑" panose="020B0503020204020204" pitchFamily="34" charset="-122"/>
              </a:rPr>
              <a:t>可以在产销平衡表中增加一个假想的产地</a:t>
            </a:r>
            <a:r>
              <a:rPr lang="en-US" altLang="zh-CN" b="1" i="1" dirty="0">
                <a:latin typeface="Times New Roman" panose="02020603050405020304" pitchFamily="18" charset="0"/>
                <a:ea typeface="微软雅黑" panose="020B0503020204020204" pitchFamily="34" charset="-122"/>
              </a:rPr>
              <a:t>m+</a:t>
            </a:r>
            <a:r>
              <a:rPr lang="en-US" altLang="zh-CN" b="1" dirty="0">
                <a:latin typeface="Times New Roman" panose="02020603050405020304" pitchFamily="18" charset="0"/>
                <a:ea typeface="微软雅黑" panose="020B0503020204020204" pitchFamily="34" charset="-122"/>
              </a:rPr>
              <a:t>1</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该地产量为</a:t>
            </a:r>
          </a:p>
        </p:txBody>
      </p:sp>
      <p:graphicFrame>
        <p:nvGraphicFramePr>
          <p:cNvPr id="6" name="Object 8"/>
          <p:cNvGraphicFramePr>
            <a:graphicFrameLocks noChangeAspect="1"/>
          </p:cNvGraphicFramePr>
          <p:nvPr/>
        </p:nvGraphicFramePr>
        <p:xfrm>
          <a:off x="3276600" y="2997200"/>
          <a:ext cx="1762125" cy="995363"/>
        </p:xfrm>
        <a:graphic>
          <a:graphicData uri="http://schemas.openxmlformats.org/presentationml/2006/ole">
            <mc:AlternateContent xmlns:mc="http://schemas.openxmlformats.org/markup-compatibility/2006">
              <mc:Choice xmlns:v="urn:schemas-microsoft-com:vml" Requires="v">
                <p:oleObj spid="_x0000_s24590" r:id="rId3" imgW="787058" imgH="444307" progId="Equation.DSMT4">
                  <p:embed/>
                </p:oleObj>
              </mc:Choice>
              <mc:Fallback>
                <p:oleObj r:id="rId3" imgW="787058" imgH="444307" progId="Equation.DSMT4">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997200"/>
                        <a:ext cx="1762125"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0" y="4149725"/>
            <a:ext cx="914400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lnSpc>
                <a:spcPct val="200000"/>
              </a:lnSpc>
            </a:pPr>
            <a:r>
              <a:rPr lang="zh-CN" altLang="en-US" b="1" dirty="0">
                <a:latin typeface="微软雅黑" panose="020B0503020204020204" pitchFamily="34" charset="-122"/>
                <a:ea typeface="微软雅黑" panose="020B0503020204020204" pitchFamily="34" charset="-122"/>
              </a:rPr>
              <a:t>在单位运价表上令从该假想产地到各销地的运价为            </a:t>
            </a:r>
            <a:endParaRPr lang="en-US" altLang="zh-CN" b="1" dirty="0">
              <a:latin typeface="微软雅黑" panose="020B0503020204020204" pitchFamily="34" charset="-122"/>
              <a:ea typeface="微软雅黑" panose="020B0503020204020204" pitchFamily="34" charset="-122"/>
            </a:endParaRPr>
          </a:p>
          <a:p>
            <a:pPr eaLnBrk="1" hangingPunct="1">
              <a:lnSpc>
                <a:spcPct val="200000"/>
              </a:lnSpc>
            </a:pPr>
            <a:r>
              <a:rPr lang="zh-CN" altLang="en-US" b="1" dirty="0">
                <a:latin typeface="微软雅黑" panose="020B0503020204020204" pitchFamily="34" charset="-122"/>
                <a:ea typeface="微软雅黑" panose="020B0503020204020204" pitchFamily="34" charset="-122"/>
              </a:rPr>
              <a:t>同样可以转化为一个产销平衡的运输问题</a:t>
            </a:r>
            <a:endParaRPr lang="zh-CN" altLang="en-US" sz="3200" dirty="0">
              <a:latin typeface="Times New Roman" panose="02020603050405020304" pitchFamily="18" charset="0"/>
              <a:ea typeface="微软雅黑" panose="020B0503020204020204" pitchFamily="34" charset="-122"/>
            </a:endParaRPr>
          </a:p>
        </p:txBody>
      </p:sp>
      <p:graphicFrame>
        <p:nvGraphicFramePr>
          <p:cNvPr id="9221" name="Object 4"/>
          <p:cNvGraphicFramePr>
            <a:graphicFrameLocks noChangeAspect="1"/>
          </p:cNvGraphicFramePr>
          <p:nvPr/>
        </p:nvGraphicFramePr>
        <p:xfrm>
          <a:off x="2987675" y="1196975"/>
          <a:ext cx="1431925" cy="795338"/>
        </p:xfrm>
        <a:graphic>
          <a:graphicData uri="http://schemas.openxmlformats.org/presentationml/2006/ole">
            <mc:AlternateContent xmlns:mc="http://schemas.openxmlformats.org/markup-compatibility/2006">
              <mc:Choice xmlns:v="urn:schemas-microsoft-com:vml" Requires="v">
                <p:oleObj spid="_x0000_s24591" r:id="rId5" imgW="799753" imgH="444307" progId="Equation.DSMT4">
                  <p:embed/>
                </p:oleObj>
              </mc:Choice>
              <mc:Fallback>
                <p:oleObj r:id="rId5" imgW="799753" imgH="444307" progId="Equation.DSMT4">
                  <p:embed/>
                  <p:pic>
                    <p:nvPicPr>
                      <p:cNvPr id="922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196975"/>
                        <a:ext cx="14319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1"/>
          <p:cNvGraphicFramePr>
            <a:graphicFrameLocks noChangeAspect="1"/>
          </p:cNvGraphicFramePr>
          <p:nvPr/>
        </p:nvGraphicFramePr>
        <p:xfrm>
          <a:off x="6983413" y="4437063"/>
          <a:ext cx="1217612" cy="446087"/>
        </p:xfrm>
        <a:graphic>
          <a:graphicData uri="http://schemas.openxmlformats.org/presentationml/2006/ole">
            <mc:AlternateContent xmlns:mc="http://schemas.openxmlformats.org/markup-compatibility/2006">
              <mc:Choice xmlns:v="urn:schemas-microsoft-com:vml" Requires="v">
                <p:oleObj spid="_x0000_s24592" r:id="rId7" imgW="660113" imgH="241195" progId="Equation.DSMT4">
                  <p:embed/>
                </p:oleObj>
              </mc:Choice>
              <mc:Fallback>
                <p:oleObj r:id="rId7" imgW="660113" imgH="241195" progId="Equation.DSMT4">
                  <p:embed/>
                  <p:pic>
                    <p:nvPicPr>
                      <p:cNvPr id="1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3413" y="4437063"/>
                        <a:ext cx="121761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par>
                                <p:cTn id="15" presetID="3" presetClass="entr" presetSubtype="1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2"/>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产小于销</a:t>
            </a:r>
          </a:p>
        </p:txBody>
      </p:sp>
      <p:sp>
        <p:nvSpPr>
          <p:cNvPr id="10243" name="Line 3"/>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4" name="Line 4"/>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 name="Line 5"/>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6" name="Line 6"/>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7" name="Text Box 7"/>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10248" name="Text Box 8"/>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10249" name="Text Box 9"/>
          <p:cNvSpPr txBox="1">
            <a:spLocks noChangeArrowheads="1"/>
          </p:cNvSpPr>
          <p:nvPr/>
        </p:nvSpPr>
        <p:spPr bwMode="auto">
          <a:xfrm>
            <a:off x="1236663" y="2159000"/>
            <a:ext cx="671512"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微软雅黑" panose="020B0503020204020204" pitchFamily="34" charset="-122"/>
              </a:rPr>
              <a:t>1 </a:t>
            </a:r>
          </a:p>
          <a:p>
            <a:pPr eaLnBrk="1" hangingPunct="1"/>
            <a:r>
              <a:rPr lang="en-US" altLang="zh-CN" sz="2800">
                <a:latin typeface="Times New Roman" panose="02020603050405020304" pitchFamily="18" charset="0"/>
                <a:ea typeface="微软雅黑" panose="020B0503020204020204" pitchFamily="34" charset="-122"/>
              </a:rPr>
              <a:t> </a:t>
            </a:r>
            <a:r>
              <a:rPr lang="en-US" altLang="zh-CN" sz="1100">
                <a:latin typeface="Times New Roman" panose="02020603050405020304" pitchFamily="18" charset="0"/>
                <a:ea typeface="微软雅黑" panose="020B0503020204020204" pitchFamily="34" charset="-122"/>
              </a:rPr>
              <a:t>  </a:t>
            </a:r>
            <a:r>
              <a:rPr lang="en-US" altLang="zh-CN" sz="2800">
                <a:latin typeface="Times New Roman" panose="02020603050405020304" pitchFamily="18" charset="0"/>
                <a:ea typeface="微软雅黑" panose="020B0503020204020204" pitchFamily="34" charset="-122"/>
              </a:rPr>
              <a:t>2  </a:t>
            </a:r>
            <a:r>
              <a:rPr lang="en-US" altLang="zh-CN" sz="3200">
                <a:latin typeface="Times New Roman" panose="02020603050405020304" pitchFamily="18" charset="0"/>
                <a:ea typeface="微软雅黑" panose="020B0503020204020204" pitchFamily="34" charset="-122"/>
              </a:rPr>
              <a:t>…</a:t>
            </a:r>
            <a:r>
              <a:rPr lang="en-US" altLang="zh-CN">
                <a:latin typeface="Times New Roman" panose="02020603050405020304" pitchFamily="18" charset="0"/>
                <a:ea typeface="微软雅黑" panose="020B0503020204020204" pitchFamily="34" charset="-122"/>
              </a:rPr>
              <a:t>                            </a:t>
            </a:r>
          </a:p>
        </p:txBody>
      </p:sp>
      <p:sp>
        <p:nvSpPr>
          <p:cNvPr id="10250" name="Text Box 10"/>
          <p:cNvSpPr txBox="1">
            <a:spLocks noChangeArrowheads="1"/>
          </p:cNvSpPr>
          <p:nvPr/>
        </p:nvSpPr>
        <p:spPr bwMode="auto">
          <a:xfrm>
            <a:off x="1066800" y="4038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10251" name="Line 11"/>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 name="Line 12"/>
          <p:cNvSpPr>
            <a:spLocks noChangeShapeType="1"/>
          </p:cNvSpPr>
          <p:nvPr/>
        </p:nvSpPr>
        <p:spPr bwMode="auto">
          <a:xfrm>
            <a:off x="7010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 name="Text Box 13"/>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10254" name="Text Box 14"/>
          <p:cNvSpPr txBox="1">
            <a:spLocks noChangeArrowheads="1"/>
          </p:cNvSpPr>
          <p:nvPr/>
        </p:nvSpPr>
        <p:spPr bwMode="auto">
          <a:xfrm>
            <a:off x="7164388"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10255" name="Text Box 18"/>
          <p:cNvSpPr txBox="1">
            <a:spLocks noChangeArrowheads="1"/>
          </p:cNvSpPr>
          <p:nvPr/>
        </p:nvSpPr>
        <p:spPr bwMode="auto">
          <a:xfrm>
            <a:off x="7350125" y="2997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0256" name="Text Box 19"/>
          <p:cNvSpPr txBox="1">
            <a:spLocks noChangeArrowheads="1"/>
          </p:cNvSpPr>
          <p:nvPr/>
        </p:nvSpPr>
        <p:spPr bwMode="auto">
          <a:xfrm>
            <a:off x="2051050" y="2895600"/>
            <a:ext cx="489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10257" name="Text Box 20"/>
          <p:cNvSpPr txBox="1">
            <a:spLocks noChangeArrowheads="1"/>
          </p:cNvSpPr>
          <p:nvPr/>
        </p:nvSpPr>
        <p:spPr bwMode="auto">
          <a:xfrm>
            <a:off x="2195513" y="4038600"/>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mn</a:t>
            </a:r>
          </a:p>
        </p:txBody>
      </p:sp>
      <p:sp>
        <p:nvSpPr>
          <p:cNvPr id="10258" name="Text Box 21"/>
          <p:cNvSpPr txBox="1">
            <a:spLocks noChangeArrowheads="1"/>
          </p:cNvSpPr>
          <p:nvPr/>
        </p:nvSpPr>
        <p:spPr bwMode="auto">
          <a:xfrm>
            <a:off x="2195513" y="2057400"/>
            <a:ext cx="467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10259" name="Text Box 22"/>
          <p:cNvSpPr txBox="1">
            <a:spLocks noChangeArrowheads="1"/>
          </p:cNvSpPr>
          <p:nvPr/>
        </p:nvSpPr>
        <p:spPr bwMode="auto">
          <a:xfrm>
            <a:off x="3727450" y="3124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0260" name="Text Box 23"/>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i="1">
              <a:solidFill>
                <a:srgbClr val="800000"/>
              </a:solidFill>
              <a:latin typeface="Times New Roman" panose="02020603050405020304" pitchFamily="18" charset="0"/>
              <a:ea typeface="微软雅黑" panose="020B0503020204020204" pitchFamily="34" charset="-122"/>
            </a:endParaRPr>
          </a:p>
        </p:txBody>
      </p:sp>
      <p:sp>
        <p:nvSpPr>
          <p:cNvPr id="10261" name="Text Box 27"/>
          <p:cNvSpPr txBox="1">
            <a:spLocks noChangeArrowheads="1"/>
          </p:cNvSpPr>
          <p:nvPr/>
        </p:nvSpPr>
        <p:spPr bwMode="auto">
          <a:xfrm>
            <a:off x="2209800" y="56388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p>
        </p:txBody>
      </p:sp>
      <p:sp>
        <p:nvSpPr>
          <p:cNvPr id="10262" name="Text Box 28"/>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22554" name="Text Box 29"/>
          <p:cNvSpPr txBox="1">
            <a:spLocks noChangeArrowheads="1"/>
          </p:cNvSpPr>
          <p:nvPr/>
        </p:nvSpPr>
        <p:spPr bwMode="auto">
          <a:xfrm>
            <a:off x="966788" y="4953000"/>
            <a:ext cx="1301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m+</a:t>
            </a:r>
            <a:r>
              <a:rPr lang="en-US" altLang="zh-CN" sz="3200" b="1">
                <a:solidFill>
                  <a:srgbClr val="FF0000"/>
                </a:solidFill>
                <a:ea typeface="微软雅黑" panose="020B0503020204020204" pitchFamily="34" charset="-122"/>
              </a:rPr>
              <a:t>1</a:t>
            </a:r>
          </a:p>
        </p:txBody>
      </p:sp>
      <p:sp>
        <p:nvSpPr>
          <p:cNvPr id="22555" name="Text Box 30"/>
          <p:cNvSpPr txBox="1">
            <a:spLocks noChangeArrowheads="1"/>
          </p:cNvSpPr>
          <p:nvPr/>
        </p:nvSpPr>
        <p:spPr bwMode="auto">
          <a:xfrm>
            <a:off x="2195513" y="4937125"/>
            <a:ext cx="487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a:solidFill>
                  <a:srgbClr val="FF0000"/>
                </a:solidFill>
                <a:latin typeface="Times New Roman" panose="02020603050405020304" pitchFamily="18" charset="0"/>
                <a:ea typeface="微软雅黑" panose="020B0503020204020204" pitchFamily="34" charset="-122"/>
              </a:rPr>
              <a:t>0           0      …              0</a:t>
            </a:r>
            <a:endParaRPr lang="en-US" altLang="zh-CN" sz="1200" b="1">
              <a:solidFill>
                <a:srgbClr val="FF0000"/>
              </a:solidFill>
              <a:latin typeface="Times New Roman" panose="02020603050405020304" pitchFamily="18" charset="0"/>
              <a:ea typeface="微软雅黑" panose="020B0503020204020204" pitchFamily="34" charset="-122"/>
            </a:endParaRPr>
          </a:p>
        </p:txBody>
      </p:sp>
      <p:sp>
        <p:nvSpPr>
          <p:cNvPr id="22556" name="Text Box 31"/>
          <p:cNvSpPr txBox="1">
            <a:spLocks noChangeArrowheads="1"/>
          </p:cNvSpPr>
          <p:nvPr/>
        </p:nvSpPr>
        <p:spPr bwMode="auto">
          <a:xfrm>
            <a:off x="7164388" y="48768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i="1">
                <a:solidFill>
                  <a:srgbClr val="FF0000"/>
                </a:solidFill>
                <a:latin typeface="Times New Roman" panose="02020603050405020304" pitchFamily="18" charset="0"/>
                <a:ea typeface="微软雅黑" panose="020B0503020204020204" pitchFamily="34" charset="-122"/>
              </a:rPr>
              <a:t>a</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3600" b="1">
              <a:solidFill>
                <a:srgbClr val="FF0000"/>
              </a:solidFill>
              <a:latin typeface="Times New Roman" panose="02020603050405020304" pitchFamily="18" charset="0"/>
              <a:ea typeface="微软雅黑" panose="020B0503020204020204" pitchFamily="34" charset="-122"/>
            </a:endParaRPr>
          </a:p>
        </p:txBody>
      </p:sp>
      <p:sp>
        <p:nvSpPr>
          <p:cNvPr id="10266" name="Text Box 19"/>
          <p:cNvSpPr txBox="1">
            <a:spLocks noChangeArrowheads="1"/>
          </p:cNvSpPr>
          <p:nvPr/>
        </p:nvSpPr>
        <p:spPr bwMode="auto">
          <a:xfrm>
            <a:off x="7177088" y="28527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10267" name="Text Box 19"/>
          <p:cNvSpPr txBox="1">
            <a:spLocks noChangeArrowheads="1"/>
          </p:cNvSpPr>
          <p:nvPr/>
        </p:nvSpPr>
        <p:spPr bwMode="auto">
          <a:xfrm>
            <a:off x="7164388" y="401161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
        <p:nvSpPr>
          <p:cNvPr id="10268" name="Text Box 19"/>
          <p:cNvSpPr txBox="1">
            <a:spLocks noChangeArrowheads="1"/>
          </p:cNvSpPr>
          <p:nvPr/>
        </p:nvSpPr>
        <p:spPr bwMode="auto">
          <a:xfrm>
            <a:off x="7164388" y="19891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54"/>
                                        </p:tgtEl>
                                        <p:attrNameLst>
                                          <p:attrName>style.visibility</p:attrName>
                                        </p:attrNameLst>
                                      </p:cBhvr>
                                      <p:to>
                                        <p:strVal val="visible"/>
                                      </p:to>
                                    </p:set>
                                    <p:animEffect transition="in" filter="blinds(horizontal)">
                                      <p:cBhvr>
                                        <p:cTn id="7" dur="500"/>
                                        <p:tgtEl>
                                          <p:spTgt spid="2255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55"/>
                                        </p:tgtEl>
                                        <p:attrNameLst>
                                          <p:attrName>style.visibility</p:attrName>
                                        </p:attrNameLst>
                                      </p:cBhvr>
                                      <p:to>
                                        <p:strVal val="visible"/>
                                      </p:to>
                                    </p:set>
                                    <p:animEffect transition="in" filter="blinds(horizontal)">
                                      <p:cBhvr>
                                        <p:cTn id="10" dur="500"/>
                                        <p:tgtEl>
                                          <p:spTgt spid="2255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56"/>
                                        </p:tgtEl>
                                        <p:attrNameLst>
                                          <p:attrName>style.visibility</p:attrName>
                                        </p:attrNameLst>
                                      </p:cBhvr>
                                      <p:to>
                                        <p:strVal val="visible"/>
                                      </p:to>
                                    </p:set>
                                    <p:animEffect transition="in" filter="blinds(horizontal)">
                                      <p:cBhvr>
                                        <p:cTn id="13" dur="500"/>
                                        <p:tgtEl>
                                          <p:spTgt spid="22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4" grpId="0"/>
      <p:bldP spid="22555" grpId="0"/>
      <p:bldP spid="2255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2"/>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产小于销</a:t>
            </a:r>
          </a:p>
        </p:txBody>
      </p:sp>
      <p:sp>
        <p:nvSpPr>
          <p:cNvPr id="11267" name="Line 3"/>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 name="Line 4"/>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Line 5"/>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 name="Line 6"/>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1" name="Text Box 7"/>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11272" name="Text Box 8"/>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11273" name="Text Box 9"/>
          <p:cNvSpPr txBox="1">
            <a:spLocks noChangeArrowheads="1"/>
          </p:cNvSpPr>
          <p:nvPr/>
        </p:nvSpPr>
        <p:spPr bwMode="auto">
          <a:xfrm>
            <a:off x="1258888" y="2117725"/>
            <a:ext cx="6715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微软雅黑" panose="020B0503020204020204" pitchFamily="34" charset="-122"/>
              </a:rPr>
              <a:t>1 </a:t>
            </a:r>
          </a:p>
          <a:p>
            <a:pPr eaLnBrk="1" hangingPunct="1"/>
            <a:r>
              <a:rPr lang="en-US" altLang="zh-CN" sz="2800">
                <a:latin typeface="Times New Roman" panose="02020603050405020304" pitchFamily="18" charset="0"/>
                <a:ea typeface="微软雅黑" panose="020B0503020204020204" pitchFamily="34" charset="-122"/>
              </a:rPr>
              <a:t>  </a:t>
            </a:r>
            <a:r>
              <a:rPr lang="en-US" altLang="zh-CN" sz="1400">
                <a:latin typeface="Times New Roman" panose="02020603050405020304" pitchFamily="18" charset="0"/>
                <a:ea typeface="微软雅黑" panose="020B0503020204020204" pitchFamily="34" charset="-122"/>
              </a:rPr>
              <a:t> </a:t>
            </a:r>
            <a:r>
              <a:rPr lang="en-US" altLang="zh-CN" sz="2800">
                <a:latin typeface="Times New Roman" panose="02020603050405020304" pitchFamily="18" charset="0"/>
                <a:ea typeface="微软雅黑" panose="020B0503020204020204" pitchFamily="34" charset="-122"/>
              </a:rPr>
              <a:t>2  </a:t>
            </a:r>
            <a:r>
              <a:rPr lang="en-US" altLang="zh-CN" sz="2800">
                <a:ea typeface="微软雅黑" panose="020B0503020204020204" pitchFamily="34" charset="-122"/>
              </a:rPr>
              <a:t>…                            </a:t>
            </a:r>
          </a:p>
        </p:txBody>
      </p:sp>
      <p:sp>
        <p:nvSpPr>
          <p:cNvPr id="11274" name="Text Box 10"/>
          <p:cNvSpPr txBox="1">
            <a:spLocks noChangeArrowheads="1"/>
          </p:cNvSpPr>
          <p:nvPr/>
        </p:nvSpPr>
        <p:spPr bwMode="auto">
          <a:xfrm>
            <a:off x="1066800" y="4038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11275" name="Line 11"/>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6" name="Line 12"/>
          <p:cNvSpPr>
            <a:spLocks noChangeShapeType="1"/>
          </p:cNvSpPr>
          <p:nvPr/>
        </p:nvSpPr>
        <p:spPr bwMode="auto">
          <a:xfrm>
            <a:off x="7010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7" name="Text Box 13"/>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11278" name="Text Box 14"/>
          <p:cNvSpPr txBox="1">
            <a:spLocks noChangeArrowheads="1"/>
          </p:cNvSpPr>
          <p:nvPr/>
        </p:nvSpPr>
        <p:spPr bwMode="auto">
          <a:xfrm>
            <a:off x="7164388"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11279" name="Text Box 19"/>
          <p:cNvSpPr txBox="1">
            <a:spLocks noChangeArrowheads="1"/>
          </p:cNvSpPr>
          <p:nvPr/>
        </p:nvSpPr>
        <p:spPr bwMode="auto">
          <a:xfrm>
            <a:off x="2051050" y="2895600"/>
            <a:ext cx="489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11280" name="Text Box 20"/>
          <p:cNvSpPr txBox="1">
            <a:spLocks noChangeArrowheads="1"/>
          </p:cNvSpPr>
          <p:nvPr/>
        </p:nvSpPr>
        <p:spPr bwMode="auto">
          <a:xfrm>
            <a:off x="2195513" y="4038600"/>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mn</a:t>
            </a:r>
          </a:p>
        </p:txBody>
      </p:sp>
      <p:sp>
        <p:nvSpPr>
          <p:cNvPr id="11281" name="Text Box 21"/>
          <p:cNvSpPr txBox="1">
            <a:spLocks noChangeArrowheads="1"/>
          </p:cNvSpPr>
          <p:nvPr/>
        </p:nvSpPr>
        <p:spPr bwMode="auto">
          <a:xfrm>
            <a:off x="2195513" y="2057400"/>
            <a:ext cx="467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11282" name="Text Box 22"/>
          <p:cNvSpPr txBox="1">
            <a:spLocks noChangeArrowheads="1"/>
          </p:cNvSpPr>
          <p:nvPr/>
        </p:nvSpPr>
        <p:spPr bwMode="auto">
          <a:xfrm>
            <a:off x="3727450" y="3124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1283" name="Text Box 23"/>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i="1">
              <a:solidFill>
                <a:srgbClr val="800000"/>
              </a:solidFill>
              <a:latin typeface="Times New Roman" panose="02020603050405020304" pitchFamily="18" charset="0"/>
              <a:ea typeface="微软雅黑" panose="020B0503020204020204" pitchFamily="34" charset="-122"/>
            </a:endParaRPr>
          </a:p>
        </p:txBody>
      </p:sp>
      <p:sp>
        <p:nvSpPr>
          <p:cNvPr id="11284" name="Text Box 27"/>
          <p:cNvSpPr txBox="1">
            <a:spLocks noChangeArrowheads="1"/>
          </p:cNvSpPr>
          <p:nvPr/>
        </p:nvSpPr>
        <p:spPr bwMode="auto">
          <a:xfrm>
            <a:off x="2209800" y="56388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p>
        </p:txBody>
      </p:sp>
      <p:sp>
        <p:nvSpPr>
          <p:cNvPr id="11285" name="Text Box 28"/>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22554" name="Text Box 29"/>
          <p:cNvSpPr txBox="1">
            <a:spLocks noChangeArrowheads="1"/>
          </p:cNvSpPr>
          <p:nvPr/>
        </p:nvSpPr>
        <p:spPr bwMode="auto">
          <a:xfrm>
            <a:off x="893763" y="4953000"/>
            <a:ext cx="1301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m</a:t>
            </a:r>
            <a:r>
              <a:rPr lang="en-US" altLang="zh-CN" sz="3200" b="1">
                <a:solidFill>
                  <a:srgbClr val="FF0000"/>
                </a:solidFill>
                <a:ea typeface="微软雅黑" panose="020B0503020204020204" pitchFamily="34" charset="-122"/>
              </a:rPr>
              <a:t>+1</a:t>
            </a:r>
          </a:p>
        </p:txBody>
      </p:sp>
      <p:sp>
        <p:nvSpPr>
          <p:cNvPr id="22556" name="Text Box 31"/>
          <p:cNvSpPr txBox="1">
            <a:spLocks noChangeArrowheads="1"/>
          </p:cNvSpPr>
          <p:nvPr/>
        </p:nvSpPr>
        <p:spPr bwMode="auto">
          <a:xfrm>
            <a:off x="7164388" y="48768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i="1">
                <a:solidFill>
                  <a:srgbClr val="FF0000"/>
                </a:solidFill>
                <a:latin typeface="Times New Roman" panose="02020603050405020304" pitchFamily="18" charset="0"/>
                <a:ea typeface="微软雅黑" panose="020B0503020204020204" pitchFamily="34" charset="-122"/>
              </a:rPr>
              <a:t>a</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3600" b="1">
              <a:solidFill>
                <a:srgbClr val="FF0000"/>
              </a:solidFill>
              <a:latin typeface="Times New Roman" panose="02020603050405020304" pitchFamily="18" charset="0"/>
              <a:ea typeface="微软雅黑" panose="020B0503020204020204" pitchFamily="34" charset="-122"/>
            </a:endParaRPr>
          </a:p>
        </p:txBody>
      </p:sp>
      <p:sp>
        <p:nvSpPr>
          <p:cNvPr id="29" name="Text Box 20"/>
          <p:cNvSpPr txBox="1">
            <a:spLocks noChangeArrowheads="1"/>
          </p:cNvSpPr>
          <p:nvPr/>
        </p:nvSpPr>
        <p:spPr bwMode="auto">
          <a:xfrm>
            <a:off x="2124075" y="4941888"/>
            <a:ext cx="5327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+1,1</a:t>
            </a:r>
            <a:r>
              <a:rPr lang="en-US" altLang="zh-CN" sz="3200" b="1">
                <a:solidFill>
                  <a:srgbClr val="FF0000"/>
                </a:solidFill>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+1,2</a:t>
            </a:r>
            <a:r>
              <a:rPr lang="en-US" altLang="zh-CN" sz="3200" b="1">
                <a:solidFill>
                  <a:srgbClr val="FF0000"/>
                </a:solidFill>
                <a:latin typeface="Times New Roman" panose="02020603050405020304" pitchFamily="18" charset="0"/>
                <a:ea typeface="微软雅黑" panose="020B0503020204020204" pitchFamily="34" charset="-122"/>
              </a:rPr>
              <a:t>      …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r>
              <a:rPr lang="en-US" altLang="zh-CN" sz="1200" b="1" i="1">
                <a:solidFill>
                  <a:srgbClr val="FF0000"/>
                </a:solidFill>
                <a:latin typeface="Times New Roman" panose="02020603050405020304" pitchFamily="18" charset="0"/>
                <a:ea typeface="微软雅黑" panose="020B0503020204020204" pitchFamily="34" charset="-122"/>
              </a:rPr>
              <a:t>n</a:t>
            </a:r>
          </a:p>
        </p:txBody>
      </p:sp>
      <p:sp>
        <p:nvSpPr>
          <p:cNvPr id="11289" name="Text Box 18"/>
          <p:cNvSpPr txBox="1">
            <a:spLocks noChangeArrowheads="1"/>
          </p:cNvSpPr>
          <p:nvPr/>
        </p:nvSpPr>
        <p:spPr bwMode="auto">
          <a:xfrm>
            <a:off x="7350125" y="2997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1290" name="Text Box 19"/>
          <p:cNvSpPr txBox="1">
            <a:spLocks noChangeArrowheads="1"/>
          </p:cNvSpPr>
          <p:nvPr/>
        </p:nvSpPr>
        <p:spPr bwMode="auto">
          <a:xfrm>
            <a:off x="7177088" y="28527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11291" name="Text Box 19"/>
          <p:cNvSpPr txBox="1">
            <a:spLocks noChangeArrowheads="1"/>
          </p:cNvSpPr>
          <p:nvPr/>
        </p:nvSpPr>
        <p:spPr bwMode="auto">
          <a:xfrm>
            <a:off x="7164388" y="40052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
        <p:nvSpPr>
          <p:cNvPr id="11292" name="Text Box 19"/>
          <p:cNvSpPr txBox="1">
            <a:spLocks noChangeArrowheads="1"/>
          </p:cNvSpPr>
          <p:nvPr/>
        </p:nvSpPr>
        <p:spPr bwMode="auto">
          <a:xfrm>
            <a:off x="7164388" y="19891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54"/>
                                        </p:tgtEl>
                                        <p:attrNameLst>
                                          <p:attrName>style.visibility</p:attrName>
                                        </p:attrNameLst>
                                      </p:cBhvr>
                                      <p:to>
                                        <p:strVal val="visible"/>
                                      </p:to>
                                    </p:set>
                                    <p:animEffect transition="in" filter="blinds(horizontal)">
                                      <p:cBhvr>
                                        <p:cTn id="10" dur="500"/>
                                        <p:tgtEl>
                                          <p:spTgt spid="2255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56"/>
                                        </p:tgtEl>
                                        <p:attrNameLst>
                                          <p:attrName>style.visibility</p:attrName>
                                        </p:attrNameLst>
                                      </p:cBhvr>
                                      <p:to>
                                        <p:strVal val="visible"/>
                                      </p:to>
                                    </p:set>
                                    <p:animEffect transition="in" filter="blinds(horizontal)">
                                      <p:cBhvr>
                                        <p:cTn id="13" dur="500"/>
                                        <p:tgtEl>
                                          <p:spTgt spid="22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4" grpId="0"/>
      <p:bldP spid="22556" grpId="0"/>
      <p:bldP spid="2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700213"/>
            <a:ext cx="8569325"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2"/>
          <p:cNvSpPr txBox="1">
            <a:spLocks noChangeArrowheads="1"/>
          </p:cNvSpPr>
          <p:nvPr/>
        </p:nvSpPr>
        <p:spPr bwMode="auto">
          <a:xfrm>
            <a:off x="71438" y="44450"/>
            <a:ext cx="9037637" cy="15573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solidFill>
                  <a:schemeClr val="hlink"/>
                </a:solidFill>
                <a:latin typeface="Times New Roman" panose="02020603050405020304" pitchFamily="18" charset="0"/>
                <a:ea typeface="微软雅黑" panose="020B0503020204020204" pitchFamily="34" charset="-122"/>
              </a:rPr>
              <a:t>例</a:t>
            </a:r>
            <a:r>
              <a:rPr lang="en-US" altLang="zh-CN" b="1" dirty="0">
                <a:solidFill>
                  <a:schemeClr val="hlink"/>
                </a:solidFill>
                <a:latin typeface="Times New Roman" panose="02020603050405020304" pitchFamily="18" charset="0"/>
                <a:ea typeface="微软雅黑" panose="020B0503020204020204" pitchFamily="34" charset="-122"/>
              </a:rPr>
              <a:t>4-2</a:t>
            </a:r>
            <a:r>
              <a:rPr lang="en-US" altLang="zh-CN" b="1" dirty="0">
                <a:latin typeface="Times New Roman" panose="02020603050405020304" pitchFamily="18" charset="0"/>
                <a:ea typeface="微软雅黑" panose="020B0503020204020204" pitchFamily="34" charset="-122"/>
              </a:rPr>
              <a:t>  </a:t>
            </a:r>
            <a:r>
              <a:rPr lang="zh-CN" altLang="en-US" b="1" dirty="0">
                <a:latin typeface="Times New Roman" panose="02020603050405020304" pitchFamily="18" charset="0"/>
                <a:ea typeface="微软雅黑" panose="020B0503020204020204" pitchFamily="34" charset="-122"/>
              </a:rPr>
              <a:t>设有三个化肥厂</a:t>
            </a:r>
            <a:r>
              <a:rPr lang="en-US" altLang="zh-CN" b="1" dirty="0">
                <a:latin typeface="Times New Roman" panose="02020603050405020304" pitchFamily="18" charset="0"/>
                <a:ea typeface="微软雅黑" panose="020B0503020204020204" pitchFamily="34" charset="-122"/>
              </a:rPr>
              <a:t>(A</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B</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C)</a:t>
            </a:r>
            <a:r>
              <a:rPr lang="zh-CN" altLang="en-US" b="1" dirty="0">
                <a:latin typeface="Times New Roman" panose="02020603050405020304" pitchFamily="18" charset="0"/>
                <a:ea typeface="微软雅黑" panose="020B0503020204020204" pitchFamily="34" charset="-122"/>
              </a:rPr>
              <a:t>供应四个地区</a:t>
            </a:r>
            <a:r>
              <a:rPr lang="en-US" altLang="zh-CN" b="1" dirty="0">
                <a:latin typeface="Times New Roman" panose="02020603050405020304" pitchFamily="18" charset="0"/>
                <a:ea typeface="微软雅黑" panose="020B0503020204020204" pitchFamily="34" charset="-122"/>
              </a:rPr>
              <a:t>(Ⅰ</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Ⅱ</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Ⅲ</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的农用化肥。假定等量的化肥在这些地区使用效果相同。各化肥厂年产量</a:t>
            </a:r>
            <a:r>
              <a:rPr lang="zh-CN" altLang="en-US" b="1" dirty="0">
                <a:latin typeface="微软雅黑" panose="020B0503020204020204" pitchFamily="34" charset="-122"/>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各地区年需要量及从各化肥厂到各地区运送单位化肥的运价如表</a:t>
            </a:r>
            <a:r>
              <a:rPr lang="en-US" altLang="zh-CN" b="1" dirty="0">
                <a:latin typeface="Times New Roman" panose="02020603050405020304" pitchFamily="18" charset="0"/>
                <a:ea typeface="微软雅黑" panose="020B0503020204020204" pitchFamily="34" charset="-122"/>
              </a:rPr>
              <a:t>4-25</a:t>
            </a:r>
            <a:r>
              <a:rPr lang="zh-CN" altLang="en-US" b="1" dirty="0">
                <a:latin typeface="Times New Roman" panose="02020603050405020304" pitchFamily="18" charset="0"/>
                <a:ea typeface="微软雅黑" panose="020B0503020204020204" pitchFamily="34" charset="-122"/>
              </a:rPr>
              <a:t>所示。试求出总的运费最节省的化肥调拨方案。</a:t>
            </a:r>
            <a:endParaRPr lang="en-US" altLang="zh-CN" b="1" dirty="0">
              <a:solidFill>
                <a:schemeClr val="tx2"/>
              </a:solidFill>
              <a:latin typeface="Times New Roman" panose="02020603050405020304" pitchFamily="18" charset="0"/>
              <a:ea typeface="微软雅黑" panose="020B0503020204020204" pitchFamily="34" charset="-122"/>
            </a:endParaRPr>
          </a:p>
        </p:txBody>
      </p:sp>
      <p:sp>
        <p:nvSpPr>
          <p:cNvPr id="4" name="矩形 3"/>
          <p:cNvSpPr>
            <a:spLocks noChangeArrowheads="1"/>
          </p:cNvSpPr>
          <p:nvPr/>
        </p:nvSpPr>
        <p:spPr bwMode="auto">
          <a:xfrm>
            <a:off x="3492500" y="4437063"/>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表</a:t>
            </a:r>
            <a:r>
              <a:rPr lang="en-US" altLang="zh-CN">
                <a:latin typeface="微软雅黑" panose="020B0503020204020204" pitchFamily="34" charset="-122"/>
                <a:ea typeface="微软雅黑" panose="020B0503020204020204" pitchFamily="34" charset="-122"/>
              </a:rPr>
              <a:t>4-26</a:t>
            </a:r>
            <a:endParaRPr lang="zh-CN" altLang="en-US">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0" y="4824413"/>
            <a:ext cx="9144000" cy="2033587"/>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solidFill>
                  <a:schemeClr val="hlink"/>
                </a:solidFill>
                <a:latin typeface="Times New Roman" panose="02020603050405020304" pitchFamily="18" charset="0"/>
                <a:ea typeface="微软雅黑" panose="020B0503020204020204" pitchFamily="34" charset="-122"/>
              </a:rPr>
              <a:t>解 </a:t>
            </a:r>
            <a:r>
              <a:rPr lang="zh-CN" altLang="en-US" b="1" dirty="0">
                <a:latin typeface="Times New Roman" panose="02020603050405020304" pitchFamily="18" charset="0"/>
                <a:ea typeface="微软雅黑" panose="020B0503020204020204" pitchFamily="34" charset="-122"/>
              </a:rPr>
              <a:t> 总产量为</a:t>
            </a:r>
            <a:r>
              <a:rPr lang="en-US" altLang="zh-CN" b="1" dirty="0">
                <a:latin typeface="Times New Roman" panose="02020603050405020304" pitchFamily="18" charset="0"/>
                <a:ea typeface="微软雅黑" panose="020B0503020204020204" pitchFamily="34" charset="-122"/>
              </a:rPr>
              <a:t>160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四个地区的最低需求为</a:t>
            </a:r>
            <a:r>
              <a:rPr lang="en-US" altLang="zh-CN" b="1" dirty="0">
                <a:latin typeface="Times New Roman" panose="02020603050405020304" pitchFamily="18" charset="0"/>
                <a:ea typeface="微软雅黑" panose="020B0503020204020204" pitchFamily="34" charset="-122"/>
              </a:rPr>
              <a:t>110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最高需求为无限。这是一个产销不平衡的运输问题</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根据现有产量</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第</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个地区每年最多能分配到</a:t>
            </a:r>
            <a:r>
              <a:rPr lang="en-US" altLang="zh-CN" b="1" dirty="0">
                <a:latin typeface="Times New Roman" panose="02020603050405020304" pitchFamily="18" charset="0"/>
                <a:ea typeface="微软雅黑" panose="020B0503020204020204" pitchFamily="34" charset="-122"/>
              </a:rPr>
              <a:t>60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这样</a:t>
            </a:r>
            <a:r>
              <a:rPr lang="zh-CN" altLang="en-US" b="1" dirty="0">
                <a:solidFill>
                  <a:schemeClr val="hlink"/>
                </a:solidFill>
                <a:latin typeface="Times New Roman" panose="02020603050405020304" pitchFamily="18" charset="0"/>
                <a:ea typeface="微软雅黑" panose="020B0503020204020204" pitchFamily="34" charset="-122"/>
              </a:rPr>
              <a:t>最高需求为</a:t>
            </a:r>
            <a:r>
              <a:rPr lang="en-US" altLang="zh-CN" b="1" dirty="0">
                <a:solidFill>
                  <a:schemeClr val="hlink"/>
                </a:solidFill>
                <a:latin typeface="Times New Roman" panose="02020603050405020304" pitchFamily="18" charset="0"/>
                <a:ea typeface="微软雅黑" panose="020B0503020204020204" pitchFamily="34" charset="-122"/>
              </a:rPr>
              <a:t>210</a:t>
            </a:r>
            <a:r>
              <a:rPr lang="zh-CN" altLang="en-US" b="1" dirty="0">
                <a:solidFill>
                  <a:schemeClr val="hlink"/>
                </a:solidFill>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大于产量</a:t>
            </a:r>
            <a:r>
              <a:rPr lang="zh-CN" altLang="en-US" b="1" dirty="0">
                <a:latin typeface="Times New Roman" panose="02020603050405020304" pitchFamily="18" charset="0"/>
                <a:ea typeface="微软雅黑" panose="020B0503020204020204" pitchFamily="34" charset="-122"/>
              </a:rPr>
              <a:t>。为了求得平衡</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在产销平衡表中增加一个假想的化肥厂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其年产量为</a:t>
            </a:r>
            <a:r>
              <a:rPr lang="en-US" altLang="zh-CN" b="1" dirty="0">
                <a:latin typeface="Times New Roman" panose="02020603050405020304" pitchFamily="18" charset="0"/>
                <a:ea typeface="微软雅黑" panose="020B0503020204020204" pitchFamily="34" charset="-122"/>
              </a:rPr>
              <a:t>50</a:t>
            </a:r>
            <a:r>
              <a:rPr lang="zh-CN" altLang="en-US" b="1" dirty="0">
                <a:latin typeface="Times New Roman" panose="02020603050405020304" pitchFamily="18" charset="0"/>
                <a:ea typeface="微软雅黑" panose="020B0503020204020204" pitchFamily="34" charset="-122"/>
              </a:rPr>
              <a:t>万吨</a:t>
            </a:r>
            <a:endParaRPr lang="en-US" altLang="zh-CN" b="1" dirty="0">
              <a:latin typeface="Times New Roman" panose="02020603050405020304" pitchFamily="18" charset="0"/>
              <a:ea typeface="微软雅黑" panose="020B0503020204020204" pitchFamily="34" charset="-122"/>
            </a:endParaRPr>
          </a:p>
        </p:txBody>
      </p:sp>
      <p:graphicFrame>
        <p:nvGraphicFramePr>
          <p:cNvPr id="2" name="表格 1"/>
          <p:cNvGraphicFramePr/>
          <p:nvPr/>
        </p:nvGraphicFramePr>
        <p:xfrm>
          <a:off x="323850" y="1700213"/>
          <a:ext cx="8589962" cy="2813051"/>
        </p:xfrm>
        <a:graphic>
          <a:graphicData uri="http://schemas.openxmlformats.org/drawingml/2006/table">
            <a:tbl>
              <a:tblPr firstRow="1" bandRow="1">
                <a:tableStyleId>{5940675A-B579-460E-94D1-54222C63F5DA}</a:tableStyleId>
              </a:tblPr>
              <a:tblGrid>
                <a:gridCol w="3307202">
                  <a:extLst>
                    <a:ext uri="{9D8B030D-6E8A-4147-A177-3AD203B41FA5}">
                      <a16:colId xmlns:a16="http://schemas.microsoft.com/office/drawing/2014/main" val="20000"/>
                    </a:ext>
                  </a:extLst>
                </a:gridCol>
                <a:gridCol w="787429">
                  <a:extLst>
                    <a:ext uri="{9D8B030D-6E8A-4147-A177-3AD203B41FA5}">
                      <a16:colId xmlns:a16="http://schemas.microsoft.com/office/drawing/2014/main" val="20001"/>
                    </a:ext>
                  </a:extLst>
                </a:gridCol>
                <a:gridCol w="784889">
                  <a:extLst>
                    <a:ext uri="{9D8B030D-6E8A-4147-A177-3AD203B41FA5}">
                      <a16:colId xmlns:a16="http://schemas.microsoft.com/office/drawing/2014/main" val="20002"/>
                    </a:ext>
                  </a:extLst>
                </a:gridCol>
                <a:gridCol w="784889">
                  <a:extLst>
                    <a:ext uri="{9D8B030D-6E8A-4147-A177-3AD203B41FA5}">
                      <a16:colId xmlns:a16="http://schemas.microsoft.com/office/drawing/2014/main" val="20003"/>
                    </a:ext>
                  </a:extLst>
                </a:gridCol>
                <a:gridCol w="1082715">
                  <a:extLst>
                    <a:ext uri="{9D8B030D-6E8A-4147-A177-3AD203B41FA5}">
                      <a16:colId xmlns:a16="http://schemas.microsoft.com/office/drawing/2014/main" val="20004"/>
                    </a:ext>
                  </a:extLst>
                </a:gridCol>
                <a:gridCol w="1842838">
                  <a:extLst>
                    <a:ext uri="{9D8B030D-6E8A-4147-A177-3AD203B41FA5}">
                      <a16:colId xmlns:a16="http://schemas.microsoft.com/office/drawing/2014/main" val="20005"/>
                    </a:ext>
                  </a:extLst>
                </a:gridCol>
              </a:tblGrid>
              <a:tr h="785953">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宋体" panose="02010600030101010101" pitchFamily="2" charset="-122"/>
                        </a:rPr>
                        <a:t>产量（万吨）</a:t>
                      </a:r>
                      <a:endParaRPr lang="en-US" altLang="en-US" sz="2400" b="0">
                        <a:latin typeface="Times New Roman" panose="02020603050405020304" pitchFamily="18" charset="0"/>
                        <a:ea typeface="宋体" panose="02010600030101010101" pitchFamily="2"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79564">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C</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16</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14</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19</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20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22</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23</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17</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15</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7534">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最低需求(万吨)</a:t>
                      </a:r>
                    </a:p>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最高需求(万吨)</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70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70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不限</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2324" name="直接连接符 5"/>
          <p:cNvCxnSpPr>
            <a:cxnSpLocks noChangeShapeType="1"/>
          </p:cNvCxnSpPr>
          <p:nvPr/>
        </p:nvCxnSpPr>
        <p:spPr bwMode="auto">
          <a:xfrm>
            <a:off x="334963" y="1709738"/>
            <a:ext cx="3300412" cy="78263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dissolve">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4049713"/>
            <a:ext cx="8669338"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3"/>
          <p:cNvSpPr txBox="1">
            <a:spLocks noChangeArrowheads="1"/>
          </p:cNvSpPr>
          <p:nvPr/>
        </p:nvSpPr>
        <p:spPr bwMode="auto">
          <a:xfrm>
            <a:off x="0" y="0"/>
            <a:ext cx="9144000"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解 </a:t>
            </a:r>
            <a:r>
              <a:rPr lang="zh-CN" altLang="en-US" b="1">
                <a:latin typeface="Times New Roman" panose="02020603050405020304" pitchFamily="18" charset="0"/>
                <a:ea typeface="微软雅黑" panose="020B0503020204020204" pitchFamily="34" charset="-122"/>
              </a:rPr>
              <a:t> 总产量为</a:t>
            </a:r>
            <a:r>
              <a:rPr lang="en-US" altLang="zh-CN" b="1">
                <a:latin typeface="Times New Roman" panose="02020603050405020304" pitchFamily="18" charset="0"/>
                <a:ea typeface="微软雅黑" panose="020B0503020204020204" pitchFamily="34" charset="-122"/>
              </a:rPr>
              <a:t>160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四个地区的最低需求为</a:t>
            </a:r>
            <a:r>
              <a:rPr lang="en-US" altLang="zh-CN" b="1">
                <a:latin typeface="Times New Roman" panose="02020603050405020304" pitchFamily="18" charset="0"/>
                <a:ea typeface="微软雅黑" panose="020B0503020204020204" pitchFamily="34" charset="-122"/>
              </a:rPr>
              <a:t>110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最高需求为无限。这是一个产销不平衡的运输问题</a:t>
            </a:r>
            <a:endParaRPr lang="en-US" altLang="zh-CN" b="1">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根据现有产量</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第</a:t>
            </a:r>
            <a:r>
              <a:rPr lang="en-US" altLang="zh-CN" b="1">
                <a:latin typeface="Times New Roman" panose="02020603050405020304" pitchFamily="18" charset="0"/>
                <a:ea typeface="微软雅黑" panose="020B0503020204020204" pitchFamily="34" charset="-122"/>
              </a:rPr>
              <a:t>Ⅳ</a:t>
            </a:r>
            <a:r>
              <a:rPr lang="zh-CN" altLang="en-US" b="1">
                <a:latin typeface="Times New Roman" panose="02020603050405020304" pitchFamily="18" charset="0"/>
                <a:ea typeface="微软雅黑" panose="020B0503020204020204" pitchFamily="34" charset="-122"/>
              </a:rPr>
              <a:t>个地区每年最多能分配到</a:t>
            </a:r>
            <a:r>
              <a:rPr lang="en-US" altLang="zh-CN" b="1">
                <a:latin typeface="Times New Roman" panose="02020603050405020304" pitchFamily="18" charset="0"/>
                <a:ea typeface="微软雅黑" panose="020B0503020204020204" pitchFamily="34" charset="-122"/>
              </a:rPr>
              <a:t>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这样最高需求为</a:t>
            </a:r>
            <a:r>
              <a:rPr lang="en-US" altLang="zh-CN" b="1">
                <a:latin typeface="Times New Roman" panose="02020603050405020304" pitchFamily="18" charset="0"/>
                <a:ea typeface="微软雅黑" panose="020B0503020204020204" pitchFamily="34" charset="-122"/>
              </a:rPr>
              <a:t>210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大于产量。为了求得平衡</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在产销平衡表中增加一个假想的化肥厂</a:t>
            </a:r>
            <a:r>
              <a:rPr lang="en-US" altLang="zh-CN" b="1">
                <a:latin typeface="Times New Roman" panose="02020603050405020304" pitchFamily="18" charset="0"/>
                <a:ea typeface="微软雅黑" panose="020B0503020204020204" pitchFamily="34" charset="-122"/>
              </a:rPr>
              <a:t>D</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其年产量为</a:t>
            </a:r>
            <a:r>
              <a:rPr lang="en-US" altLang="zh-CN" b="1">
                <a:latin typeface="Times New Roman" panose="02020603050405020304" pitchFamily="18" charset="0"/>
                <a:ea typeface="微软雅黑" panose="020B0503020204020204" pitchFamily="34" charset="-122"/>
              </a:rPr>
              <a:t>50</a:t>
            </a:r>
            <a:r>
              <a:rPr lang="zh-CN" altLang="en-US" b="1">
                <a:latin typeface="Times New Roman" panose="02020603050405020304" pitchFamily="18" charset="0"/>
                <a:ea typeface="微软雅黑" panose="020B0503020204020204" pitchFamily="34" charset="-122"/>
              </a:rPr>
              <a:t>万吨</a:t>
            </a:r>
            <a:endParaRPr lang="en-US" altLang="zh-CN" b="1">
              <a:latin typeface="Times New Roman" panose="02020603050405020304" pitchFamily="18" charset="0"/>
              <a:ea typeface="微软雅黑" panose="020B0503020204020204" pitchFamily="34" charset="-122"/>
            </a:endParaRPr>
          </a:p>
        </p:txBody>
      </p:sp>
      <p:sp>
        <p:nvSpPr>
          <p:cNvPr id="7" name="TextBox 6"/>
          <p:cNvSpPr txBox="1">
            <a:spLocks noChangeArrowheads="1"/>
          </p:cNvSpPr>
          <p:nvPr/>
        </p:nvSpPr>
        <p:spPr bwMode="auto">
          <a:xfrm>
            <a:off x="1187450" y="5876925"/>
            <a:ext cx="7089775" cy="3492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8" name="矩形 7"/>
          <p:cNvSpPr>
            <a:spLocks noChangeArrowheads="1"/>
          </p:cNvSpPr>
          <p:nvPr/>
        </p:nvSpPr>
        <p:spPr bwMode="auto">
          <a:xfrm>
            <a:off x="144463" y="1773238"/>
            <a:ext cx="8748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对凡是需求分两种情况的地区</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实际上可按照两个地区看待</a:t>
            </a:r>
            <a:endParaRPr lang="zh-CN" altLang="en-US">
              <a:ea typeface="微软雅黑" panose="020B0503020204020204" pitchFamily="34" charset="-122"/>
            </a:endParaRPr>
          </a:p>
        </p:txBody>
      </p:sp>
      <p:graphicFrame>
        <p:nvGraphicFramePr>
          <p:cNvPr id="2" name="表格 1"/>
          <p:cNvGraphicFramePr/>
          <p:nvPr/>
        </p:nvGraphicFramePr>
        <p:xfrm>
          <a:off x="395288" y="4076700"/>
          <a:ext cx="3130550" cy="2560638"/>
        </p:xfrm>
        <a:graphic>
          <a:graphicData uri="http://schemas.openxmlformats.org/drawingml/2006/table">
            <a:tbl>
              <a:tblPr firstRow="1" bandRow="1">
                <a:tableStyleId>{5940675A-B579-460E-94D1-54222C63F5DA}</a:tableStyleId>
              </a:tblPr>
              <a:tblGrid>
                <a:gridCol w="2270125">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tblGrid>
              <a:tr h="731611">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222">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C</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05">
                <a:tc>
                  <a:txBody>
                    <a:bodyPr/>
                    <a:lstStyle/>
                    <a:p>
                      <a:pPr indent="0">
                        <a:buNone/>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销量（万吨）</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3332" name="直接连接符 9"/>
          <p:cNvCxnSpPr>
            <a:cxnSpLocks noChangeShapeType="1"/>
          </p:cNvCxnSpPr>
          <p:nvPr/>
        </p:nvCxnSpPr>
        <p:spPr bwMode="auto">
          <a:xfrm>
            <a:off x="406400" y="4098925"/>
            <a:ext cx="2293938" cy="6985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aphicFrame>
        <p:nvGraphicFramePr>
          <p:cNvPr id="11" name="表格 10"/>
          <p:cNvGraphicFramePr/>
          <p:nvPr/>
        </p:nvGraphicFramePr>
        <p:xfrm>
          <a:off x="3924300" y="4098925"/>
          <a:ext cx="2768600" cy="2562225"/>
        </p:xfrm>
        <a:graphic>
          <a:graphicData uri="http://schemas.openxmlformats.org/drawingml/2006/table">
            <a:tbl>
              <a:tblPr firstRow="1" bandRow="1">
                <a:tableStyleId>{5940675A-B579-460E-94D1-54222C63F5DA}</a:tableStyleId>
              </a:tblPr>
              <a:tblGrid>
                <a:gridCol w="819150">
                  <a:extLst>
                    <a:ext uri="{9D8B030D-6E8A-4147-A177-3AD203B41FA5}">
                      <a16:colId xmlns:a16="http://schemas.microsoft.com/office/drawing/2014/main" val="20000"/>
                    </a:ext>
                  </a:extLst>
                </a:gridCol>
                <a:gridCol w="819785">
                  <a:extLst>
                    <a:ext uri="{9D8B030D-6E8A-4147-A177-3AD203B41FA5}">
                      <a16:colId xmlns:a16="http://schemas.microsoft.com/office/drawing/2014/main" val="20001"/>
                    </a:ext>
                  </a:extLst>
                </a:gridCol>
                <a:gridCol w="1129665">
                  <a:extLst>
                    <a:ext uri="{9D8B030D-6E8A-4147-A177-3AD203B41FA5}">
                      <a16:colId xmlns:a16="http://schemas.microsoft.com/office/drawing/2014/main" val="20002"/>
                    </a:ext>
                  </a:extLst>
                </a:gridCol>
              </a:tblGrid>
              <a:tr h="713563">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80453">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209">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70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10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3" name="表格 12"/>
          <p:cNvGraphicFramePr/>
          <p:nvPr/>
        </p:nvGraphicFramePr>
        <p:xfrm>
          <a:off x="7091363" y="4098925"/>
          <a:ext cx="1873250" cy="2586139"/>
        </p:xfrm>
        <a:graphic>
          <a:graphicData uri="http://schemas.openxmlformats.org/drawingml/2006/table">
            <a:tbl>
              <a:tblPr firstRow="1" bandRow="1">
                <a:tableStyleId>{5940675A-B579-460E-94D1-54222C63F5DA}</a:tableStyleId>
              </a:tblPr>
              <a:tblGrid>
                <a:gridCol w="1873250">
                  <a:extLst>
                    <a:ext uri="{9D8B030D-6E8A-4147-A177-3AD203B41FA5}">
                      <a16:colId xmlns:a16="http://schemas.microsoft.com/office/drawing/2014/main" val="20000"/>
                    </a:ext>
                  </a:extLst>
                </a:gridCol>
              </a:tblGrid>
              <a:tr h="747886">
                <a:tc>
                  <a:txBody>
                    <a:bodyPr/>
                    <a:lstStyle/>
                    <a:p>
                      <a:pPr indent="0" algn="ctr">
                        <a:buNone/>
                      </a:pPr>
                      <a:r>
                        <a:rPr lang="en-US" sz="2400" b="0">
                          <a:latin typeface="Times New Roman" panose="02020603050405020304" pitchFamily="18" charset="0"/>
                          <a:ea typeface="宋体" panose="02010600030101010101" pitchFamily="2" charset="-122"/>
                          <a:cs typeface="宋体" panose="02010600030101010101" pitchFamily="2" charset="-122"/>
                        </a:rPr>
                        <a:t>产量（万吨）</a:t>
                      </a:r>
                      <a:endParaRPr lang="en-US" altLang="en-US" sz="2400" b="0">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2939">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213">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13361"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205038"/>
            <a:ext cx="5151438"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708275"/>
            <a:ext cx="8650288"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3"/>
          <p:cNvSpPr txBox="1">
            <a:spLocks noChangeArrowheads="1"/>
          </p:cNvSpPr>
          <p:nvPr/>
        </p:nvSpPr>
        <p:spPr bwMode="auto">
          <a:xfrm>
            <a:off x="0" y="0"/>
            <a:ext cx="9144000"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解 </a:t>
            </a:r>
            <a:r>
              <a:rPr lang="zh-CN" altLang="en-US" b="1">
                <a:latin typeface="Times New Roman" panose="02020603050405020304" pitchFamily="18" charset="0"/>
                <a:ea typeface="微软雅黑" panose="020B0503020204020204" pitchFamily="34" charset="-122"/>
              </a:rPr>
              <a:t> 总产量为</a:t>
            </a:r>
            <a:r>
              <a:rPr lang="en-US" altLang="zh-CN" b="1">
                <a:latin typeface="Times New Roman" panose="02020603050405020304" pitchFamily="18" charset="0"/>
                <a:ea typeface="微软雅黑" panose="020B0503020204020204" pitchFamily="34" charset="-122"/>
              </a:rPr>
              <a:t>160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四个地区的最低需求为</a:t>
            </a:r>
            <a:r>
              <a:rPr lang="en-US" altLang="zh-CN" b="1">
                <a:latin typeface="Times New Roman" panose="02020603050405020304" pitchFamily="18" charset="0"/>
                <a:ea typeface="微软雅黑" panose="020B0503020204020204" pitchFamily="34" charset="-122"/>
              </a:rPr>
              <a:t>110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最高需求为无限。这是一个产销不平衡的运输问题</a:t>
            </a:r>
            <a:endParaRPr lang="en-US" altLang="zh-CN" b="1">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根据现有产量</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第</a:t>
            </a:r>
            <a:r>
              <a:rPr lang="en-US" altLang="zh-CN" b="1">
                <a:latin typeface="Times New Roman" panose="02020603050405020304" pitchFamily="18" charset="0"/>
                <a:ea typeface="微软雅黑" panose="020B0503020204020204" pitchFamily="34" charset="-122"/>
              </a:rPr>
              <a:t>Ⅳ</a:t>
            </a:r>
            <a:r>
              <a:rPr lang="zh-CN" altLang="en-US" b="1">
                <a:latin typeface="Times New Roman" panose="02020603050405020304" pitchFamily="18" charset="0"/>
                <a:ea typeface="微软雅黑" panose="020B0503020204020204" pitchFamily="34" charset="-122"/>
              </a:rPr>
              <a:t>个地区每年最多能分配到</a:t>
            </a:r>
            <a:r>
              <a:rPr lang="en-US" altLang="zh-CN" b="1">
                <a:latin typeface="Times New Roman" panose="02020603050405020304" pitchFamily="18" charset="0"/>
                <a:ea typeface="微软雅黑" panose="020B0503020204020204" pitchFamily="34" charset="-122"/>
              </a:rPr>
              <a:t>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这样最高需求为</a:t>
            </a:r>
            <a:r>
              <a:rPr lang="en-US" altLang="zh-CN" b="1">
                <a:latin typeface="Times New Roman" panose="02020603050405020304" pitchFamily="18" charset="0"/>
                <a:ea typeface="微软雅黑" panose="020B0503020204020204" pitchFamily="34" charset="-122"/>
              </a:rPr>
              <a:t>210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大于产量。为了求得平衡</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在产销平衡表中增加一个假想的化肥厂</a:t>
            </a:r>
            <a:r>
              <a:rPr lang="en-US" altLang="zh-CN" b="1">
                <a:latin typeface="Times New Roman" panose="02020603050405020304" pitchFamily="18" charset="0"/>
                <a:ea typeface="微软雅黑" panose="020B0503020204020204" pitchFamily="34" charset="-122"/>
              </a:rPr>
              <a:t>D</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其年产量为</a:t>
            </a:r>
            <a:r>
              <a:rPr lang="en-US" altLang="zh-CN" b="1">
                <a:latin typeface="Times New Roman" panose="02020603050405020304" pitchFamily="18" charset="0"/>
                <a:ea typeface="微软雅黑" panose="020B0503020204020204" pitchFamily="34" charset="-122"/>
              </a:rPr>
              <a:t>50</a:t>
            </a:r>
            <a:r>
              <a:rPr lang="zh-CN" altLang="en-US" b="1">
                <a:latin typeface="Times New Roman" panose="02020603050405020304" pitchFamily="18" charset="0"/>
                <a:ea typeface="微软雅黑" panose="020B0503020204020204" pitchFamily="34" charset="-122"/>
              </a:rPr>
              <a:t>万吨</a:t>
            </a:r>
            <a:endParaRPr lang="en-US" altLang="zh-CN" b="1">
              <a:latin typeface="Times New Roman" panose="02020603050405020304" pitchFamily="18" charset="0"/>
              <a:ea typeface="微软雅黑" panose="020B0503020204020204" pitchFamily="34" charset="-122"/>
            </a:endParaRPr>
          </a:p>
        </p:txBody>
      </p:sp>
      <p:sp>
        <p:nvSpPr>
          <p:cNvPr id="14340" name="矩形 7"/>
          <p:cNvSpPr>
            <a:spLocks noChangeArrowheads="1"/>
          </p:cNvSpPr>
          <p:nvPr/>
        </p:nvSpPr>
        <p:spPr bwMode="auto">
          <a:xfrm>
            <a:off x="144463" y="1916113"/>
            <a:ext cx="8748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对凡是需求分两种情况的地区</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实际上可按照两个地区看待</a:t>
            </a:r>
            <a:endParaRPr lang="zh-CN" altLang="en-US">
              <a:ea typeface="微软雅黑" panose="020B0503020204020204" pitchFamily="34" charset="-122"/>
            </a:endParaRPr>
          </a:p>
        </p:txBody>
      </p:sp>
      <p:graphicFrame>
        <p:nvGraphicFramePr>
          <p:cNvPr id="2" name="表格 1"/>
          <p:cNvGraphicFramePr/>
          <p:nvPr>
            <p:custDataLst>
              <p:tags r:id="rId1"/>
            </p:custDataLst>
          </p:nvPr>
        </p:nvGraphicFramePr>
        <p:xfrm>
          <a:off x="252413" y="2708275"/>
          <a:ext cx="8650288" cy="2930525"/>
        </p:xfrm>
        <a:graphic>
          <a:graphicData uri="http://schemas.openxmlformats.org/drawingml/2006/table">
            <a:tbl>
              <a:tblPr firstRow="1" bandRow="1">
                <a:tableStyleId>{5940675A-B579-460E-94D1-54222C63F5DA}</a:tableStyleId>
              </a:tblPr>
              <a:tblGrid>
                <a:gridCol w="2735045">
                  <a:extLst>
                    <a:ext uri="{9D8B030D-6E8A-4147-A177-3AD203B41FA5}">
                      <a16:colId xmlns:a16="http://schemas.microsoft.com/office/drawing/2014/main" val="20000"/>
                    </a:ext>
                  </a:extLst>
                </a:gridCol>
                <a:gridCol w="651534">
                  <a:extLst>
                    <a:ext uri="{9D8B030D-6E8A-4147-A177-3AD203B41FA5}">
                      <a16:colId xmlns:a16="http://schemas.microsoft.com/office/drawing/2014/main" val="20001"/>
                    </a:ext>
                  </a:extLst>
                </a:gridCol>
                <a:gridCol w="650264">
                  <a:extLst>
                    <a:ext uri="{9D8B030D-6E8A-4147-A177-3AD203B41FA5}">
                      <a16:colId xmlns:a16="http://schemas.microsoft.com/office/drawing/2014/main" val="20002"/>
                    </a:ext>
                  </a:extLst>
                </a:gridCol>
                <a:gridCol w="649629">
                  <a:extLst>
                    <a:ext uri="{9D8B030D-6E8A-4147-A177-3AD203B41FA5}">
                      <a16:colId xmlns:a16="http://schemas.microsoft.com/office/drawing/2014/main" val="20003"/>
                    </a:ext>
                  </a:extLst>
                </a:gridCol>
                <a:gridCol w="648994">
                  <a:extLst>
                    <a:ext uri="{9D8B030D-6E8A-4147-A177-3AD203B41FA5}">
                      <a16:colId xmlns:a16="http://schemas.microsoft.com/office/drawing/2014/main" val="20004"/>
                    </a:ext>
                  </a:extLst>
                </a:gridCol>
                <a:gridCol w="895383">
                  <a:extLst>
                    <a:ext uri="{9D8B030D-6E8A-4147-A177-3AD203B41FA5}">
                      <a16:colId xmlns:a16="http://schemas.microsoft.com/office/drawing/2014/main" val="20005"/>
                    </a:ext>
                  </a:extLst>
                </a:gridCol>
                <a:gridCol w="896018">
                  <a:extLst>
                    <a:ext uri="{9D8B030D-6E8A-4147-A177-3AD203B41FA5}">
                      <a16:colId xmlns:a16="http://schemas.microsoft.com/office/drawing/2014/main" val="20006"/>
                    </a:ext>
                  </a:extLst>
                </a:gridCol>
                <a:gridCol w="1523421">
                  <a:extLst>
                    <a:ext uri="{9D8B030D-6E8A-4147-A177-3AD203B41FA5}">
                      <a16:colId xmlns:a16="http://schemas.microsoft.com/office/drawing/2014/main" val="20007"/>
                    </a:ext>
                  </a:extLst>
                </a:gridCol>
              </a:tblGrid>
              <a:tr h="732790">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a:latin typeface="Times New Roman" panose="02020603050405020304" pitchFamily="18" charset="0"/>
                          <a:ea typeface="宋体" panose="02010600030101010101" pitchFamily="2" charset="-122"/>
                          <a:cs typeface="宋体" panose="02010600030101010101" pitchFamily="2" charset="-122"/>
                        </a:rPr>
                        <a:t>产量（万吨）</a:t>
                      </a:r>
                      <a:endParaRPr lang="en-US" altLang="en-US" sz="2400" b="0">
                        <a:latin typeface="Times New Roman" panose="02020603050405020304" pitchFamily="18" charset="0"/>
                        <a:ea typeface="宋体" panose="02010600030101010101" pitchFamily="2"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6215">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C</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D</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520">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最低需求(万吨)</a:t>
                      </a:r>
                    </a:p>
                    <a:p>
                      <a:pPr indent="0">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20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70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4379" name="直接连接符 2"/>
          <p:cNvCxnSpPr>
            <a:cxnSpLocks noChangeShapeType="1"/>
          </p:cNvCxnSpPr>
          <p:nvPr/>
        </p:nvCxnSpPr>
        <p:spPr bwMode="auto">
          <a:xfrm>
            <a:off x="234950" y="2716213"/>
            <a:ext cx="2752725" cy="71278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3429000"/>
            <a:ext cx="8658225"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3"/>
          <p:cNvSpPr txBox="1">
            <a:spLocks noChangeArrowheads="1"/>
          </p:cNvSpPr>
          <p:nvPr/>
        </p:nvSpPr>
        <p:spPr bwMode="auto">
          <a:xfrm>
            <a:off x="0" y="0"/>
            <a:ext cx="9144000" cy="400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solidFill>
                  <a:schemeClr val="hlink"/>
                </a:solidFill>
                <a:latin typeface="Times New Roman" panose="02020603050405020304" pitchFamily="18" charset="0"/>
                <a:ea typeface="微软雅黑" panose="020B0503020204020204" pitchFamily="34" charset="-122"/>
              </a:rPr>
              <a:t>解 </a:t>
            </a:r>
            <a:r>
              <a:rPr lang="zh-CN" altLang="en-US" b="1" dirty="0">
                <a:latin typeface="Times New Roman" panose="02020603050405020304" pitchFamily="18" charset="0"/>
                <a:ea typeface="微软雅黑" panose="020B0503020204020204" pitchFamily="34" charset="-122"/>
              </a:rPr>
              <a:t> 总产量为</a:t>
            </a:r>
            <a:r>
              <a:rPr lang="en-US" altLang="zh-CN" b="1" dirty="0">
                <a:latin typeface="Times New Roman" panose="02020603050405020304" pitchFamily="18" charset="0"/>
                <a:ea typeface="微软雅黑" panose="020B0503020204020204" pitchFamily="34" charset="-122"/>
              </a:rPr>
              <a:t>160</a:t>
            </a:r>
            <a:r>
              <a:rPr lang="zh-CN" altLang="en-US" b="1" dirty="0">
                <a:latin typeface="Times New Roman" panose="02020603050405020304" pitchFamily="18" charset="0"/>
                <a:ea typeface="微软雅黑" panose="020B0503020204020204" pitchFamily="34" charset="-122"/>
              </a:rPr>
              <a:t>万吨，四个地区的最低需求为</a:t>
            </a:r>
            <a:r>
              <a:rPr lang="en-US" altLang="zh-CN" b="1" dirty="0">
                <a:latin typeface="Times New Roman" panose="02020603050405020304" pitchFamily="18" charset="0"/>
                <a:ea typeface="微软雅黑" panose="020B0503020204020204" pitchFamily="34" charset="-122"/>
              </a:rPr>
              <a:t>110</a:t>
            </a:r>
            <a:r>
              <a:rPr lang="zh-CN" altLang="en-US" b="1" dirty="0">
                <a:latin typeface="Times New Roman" panose="02020603050405020304" pitchFamily="18" charset="0"/>
                <a:ea typeface="微软雅黑" panose="020B0503020204020204" pitchFamily="34" charset="-122"/>
              </a:rPr>
              <a:t>万吨，最高需求为无限。这是一个产销不平衡的运输问题</a:t>
            </a:r>
            <a:r>
              <a:rPr lang="en-US" altLang="zh-CN" b="1" dirty="0">
                <a:latin typeface="Times New Roman" panose="02020603050405020304" pitchFamily="18" charset="0"/>
                <a:ea typeface="微软雅黑" panose="020B0503020204020204" pitchFamily="34" charset="-122"/>
              </a:rPr>
              <a:t>.</a:t>
            </a: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根据现有产量，第</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个地区每年最多能分配到</a:t>
            </a:r>
            <a:r>
              <a:rPr lang="en-US" altLang="zh-CN" b="1" dirty="0">
                <a:latin typeface="Times New Roman" panose="02020603050405020304" pitchFamily="18" charset="0"/>
                <a:ea typeface="微软雅黑" panose="020B0503020204020204" pitchFamily="34" charset="-122"/>
              </a:rPr>
              <a:t>60</a:t>
            </a:r>
            <a:r>
              <a:rPr lang="zh-CN" altLang="en-US" b="1" dirty="0">
                <a:latin typeface="Times New Roman" panose="02020603050405020304" pitchFamily="18" charset="0"/>
                <a:ea typeface="微软雅黑" panose="020B0503020204020204" pitchFamily="34" charset="-122"/>
              </a:rPr>
              <a:t>万吨，这样最高需求为</a:t>
            </a:r>
            <a:r>
              <a:rPr lang="en-US" altLang="zh-CN" b="1" dirty="0">
                <a:latin typeface="Times New Roman" panose="02020603050405020304" pitchFamily="18" charset="0"/>
                <a:ea typeface="微软雅黑" panose="020B0503020204020204" pitchFamily="34" charset="-122"/>
              </a:rPr>
              <a:t>210</a:t>
            </a:r>
            <a:r>
              <a:rPr lang="zh-CN" altLang="en-US" b="1" dirty="0">
                <a:latin typeface="Times New Roman" panose="02020603050405020304" pitchFamily="18" charset="0"/>
                <a:ea typeface="微软雅黑" panose="020B0503020204020204" pitchFamily="34" charset="-122"/>
              </a:rPr>
              <a:t>万吨，大于产量。为了求得平衡，在产销平衡表中增加一个假想的化肥厂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，其年产量为</a:t>
            </a:r>
            <a:r>
              <a:rPr lang="en-US" altLang="zh-CN" b="1" dirty="0">
                <a:latin typeface="Times New Roman" panose="02020603050405020304" pitchFamily="18" charset="0"/>
                <a:ea typeface="微软雅黑" panose="020B0503020204020204" pitchFamily="34" charset="-122"/>
              </a:rPr>
              <a:t>50</a:t>
            </a:r>
            <a:r>
              <a:rPr lang="zh-CN" altLang="en-US" b="1" dirty="0">
                <a:latin typeface="Times New Roman" panose="02020603050405020304" pitchFamily="18" charset="0"/>
                <a:ea typeface="微软雅黑" panose="020B0503020204020204" pitchFamily="34" charset="-122"/>
              </a:rPr>
              <a:t>万吨。</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由于各地区的需要量包含两部分，如地区</a:t>
            </a:r>
            <a:r>
              <a:rPr lang="en-US" altLang="zh-CN" b="1" dirty="0">
                <a:latin typeface="Times New Roman" panose="02020603050405020304" pitchFamily="18" charset="0"/>
                <a:ea typeface="微软雅黑" panose="020B0503020204020204" pitchFamily="34" charset="-122"/>
              </a:rPr>
              <a:t>Ⅰ</a:t>
            </a:r>
            <a:r>
              <a:rPr lang="zh-CN" altLang="en-US" b="1" dirty="0">
                <a:latin typeface="Times New Roman" panose="02020603050405020304" pitchFamily="18" charset="0"/>
                <a:ea typeface="微软雅黑" panose="020B0503020204020204" pitchFamily="34" charset="-122"/>
              </a:rPr>
              <a:t>，其中</a:t>
            </a:r>
            <a:r>
              <a:rPr lang="en-US" altLang="zh-CN" b="1" dirty="0">
                <a:latin typeface="Times New Roman" panose="02020603050405020304" pitchFamily="18" charset="0"/>
                <a:ea typeface="微软雅黑" panose="020B0503020204020204" pitchFamily="34" charset="-122"/>
              </a:rPr>
              <a:t>30</a:t>
            </a:r>
            <a:r>
              <a:rPr lang="zh-CN" altLang="en-US" b="1" dirty="0">
                <a:latin typeface="Times New Roman" panose="02020603050405020304" pitchFamily="18" charset="0"/>
                <a:ea typeface="微软雅黑" panose="020B0503020204020204" pitchFamily="34" charset="-122"/>
              </a:rPr>
              <a:t>万吨是最低需求，故不能由假想化肥厂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供给，令相应运价为</a:t>
            </a:r>
            <a:r>
              <a:rPr lang="en-US" altLang="zh-CN" b="1" dirty="0">
                <a:latin typeface="Times New Roman" panose="02020603050405020304" pitchFamily="18" charset="0"/>
                <a:ea typeface="微软雅黑" panose="020B0503020204020204" pitchFamily="34" charset="-122"/>
              </a:rPr>
              <a:t>M(</a:t>
            </a:r>
            <a:r>
              <a:rPr lang="zh-CN" altLang="en-US" b="1" dirty="0">
                <a:latin typeface="Times New Roman" panose="02020603050405020304" pitchFamily="18" charset="0"/>
                <a:ea typeface="微软雅黑" panose="020B0503020204020204" pitchFamily="34" charset="-122"/>
              </a:rPr>
              <a:t>任意大正数</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，而另一部分</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万吨满足或不满足均可以，因此可以由假想化肥厂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供给，按前面讲的，令相应运价为</a:t>
            </a:r>
            <a:r>
              <a:rPr lang="en-US" altLang="zh-CN" b="1" dirty="0">
                <a:latin typeface="Times New Roman" panose="02020603050405020304" pitchFamily="18" charset="0"/>
                <a:ea typeface="微软雅黑" panose="020B0503020204020204" pitchFamily="34" charset="-122"/>
              </a:rPr>
              <a:t>0</a:t>
            </a:r>
            <a:r>
              <a:rPr lang="zh-CN" altLang="en-US" b="1" dirty="0">
                <a:latin typeface="Times New Roman" panose="02020603050405020304" pitchFamily="18" charset="0"/>
                <a:ea typeface="微软雅黑" panose="020B0503020204020204" pitchFamily="34" charset="-122"/>
              </a:rPr>
              <a:t>。</a:t>
            </a:r>
            <a:endParaRPr lang="en-US" altLang="zh-CN" b="1" dirty="0">
              <a:latin typeface="Times New Roman" panose="02020603050405020304" pitchFamily="18" charset="0"/>
              <a:ea typeface="微软雅黑" panose="020B0503020204020204" pitchFamily="34" charset="-122"/>
            </a:endParaRPr>
          </a:p>
        </p:txBody>
      </p:sp>
      <p:graphicFrame>
        <p:nvGraphicFramePr>
          <p:cNvPr id="2" name="表格 1"/>
          <p:cNvGraphicFramePr/>
          <p:nvPr>
            <p:custDataLst>
              <p:tags r:id="rId1"/>
            </p:custDataLst>
          </p:nvPr>
        </p:nvGraphicFramePr>
        <p:xfrm>
          <a:off x="213677" y="3429000"/>
          <a:ext cx="8649970" cy="2930525"/>
        </p:xfrm>
        <a:graphic>
          <a:graphicData uri="http://schemas.openxmlformats.org/drawingml/2006/table">
            <a:tbl>
              <a:tblPr firstRow="1" bandRow="1">
                <a:tableStyleId>{5940675A-B579-460E-94D1-54222C63F5DA}</a:tableStyleId>
              </a:tblPr>
              <a:tblGrid>
                <a:gridCol w="2734945">
                  <a:extLst>
                    <a:ext uri="{9D8B030D-6E8A-4147-A177-3AD203B41FA5}">
                      <a16:colId xmlns:a16="http://schemas.microsoft.com/office/drawing/2014/main" val="20000"/>
                    </a:ext>
                  </a:extLst>
                </a:gridCol>
                <a:gridCol w="651510">
                  <a:extLst>
                    <a:ext uri="{9D8B030D-6E8A-4147-A177-3AD203B41FA5}">
                      <a16:colId xmlns:a16="http://schemas.microsoft.com/office/drawing/2014/main" val="20001"/>
                    </a:ext>
                  </a:extLst>
                </a:gridCol>
                <a:gridCol w="650240">
                  <a:extLst>
                    <a:ext uri="{9D8B030D-6E8A-4147-A177-3AD203B41FA5}">
                      <a16:colId xmlns:a16="http://schemas.microsoft.com/office/drawing/2014/main" val="20002"/>
                    </a:ext>
                  </a:extLst>
                </a:gridCol>
                <a:gridCol w="649605">
                  <a:extLst>
                    <a:ext uri="{9D8B030D-6E8A-4147-A177-3AD203B41FA5}">
                      <a16:colId xmlns:a16="http://schemas.microsoft.com/office/drawing/2014/main" val="20003"/>
                    </a:ext>
                  </a:extLst>
                </a:gridCol>
                <a:gridCol w="648970">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681955">
                  <a:extLst>
                    <a:ext uri="{9D8B030D-6E8A-4147-A177-3AD203B41FA5}">
                      <a16:colId xmlns:a16="http://schemas.microsoft.com/office/drawing/2014/main" val="20006"/>
                    </a:ext>
                  </a:extLst>
                </a:gridCol>
                <a:gridCol w="1737395">
                  <a:extLst>
                    <a:ext uri="{9D8B030D-6E8A-4147-A177-3AD203B41FA5}">
                      <a16:colId xmlns:a16="http://schemas.microsoft.com/office/drawing/2014/main" val="20007"/>
                    </a:ext>
                  </a:extLst>
                </a:gridCol>
              </a:tblGrid>
              <a:tr h="732790">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dirty="0" err="1">
                          <a:latin typeface="Times New Roman" panose="02020603050405020304" pitchFamily="18" charset="0"/>
                          <a:ea typeface="宋体" panose="02010600030101010101" pitchFamily="2" charset="-122"/>
                          <a:cs typeface="宋体" panose="02010600030101010101" pitchFamily="2" charset="-122"/>
                        </a:rPr>
                        <a:t>产量</a:t>
                      </a:r>
                      <a:r>
                        <a:rPr lang="en-US" sz="2400" b="0" dirty="0">
                          <a:latin typeface="Times New Roman" panose="02020603050405020304" pitchFamily="18" charset="0"/>
                          <a:ea typeface="宋体" panose="02010600030101010101" pitchFamily="2" charset="-122"/>
                          <a:cs typeface="宋体" panose="02010600030101010101" pitchFamily="2" charset="-122"/>
                        </a:rPr>
                        <a:t>(</a:t>
                      </a:r>
                      <a:r>
                        <a:rPr lang="en-US" altLang="zh-CN" sz="2400" b="0" dirty="0" err="1">
                          <a:latin typeface="Times New Roman" panose="02020603050405020304" pitchFamily="18" charset="0"/>
                          <a:ea typeface="宋体" panose="02010600030101010101" pitchFamily="2" charset="-122"/>
                          <a:cs typeface="宋体" panose="02010600030101010101" pitchFamily="2" charset="-122"/>
                        </a:rPr>
                        <a:t>万吨</a:t>
                      </a:r>
                      <a:r>
                        <a:rPr lang="en-US" sz="2400" b="0" dirty="0">
                          <a:latin typeface="Times New Roman" panose="02020603050405020304" pitchFamily="18" charset="0"/>
                          <a:ea typeface="宋体" panose="02010600030101010101" pitchFamily="2" charset="-122"/>
                          <a:cs typeface="宋体" panose="02010600030101010101" pitchFamily="2" charset="-122"/>
                        </a:rPr>
                        <a:t>)</a:t>
                      </a:r>
                      <a:endParaRPr lang="en-US" altLang="en-US" sz="2400" b="0" dirty="0">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6215">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C</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16</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14</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16</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14</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20</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22</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23</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17</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15</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17</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15</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p>
                      <a:pPr indent="0" algn="ctr">
                        <a:buNone/>
                      </a:pPr>
                      <a:r>
                        <a:rPr lang="en-US" altLang="en-US" sz="24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520">
                <a:tc>
                  <a:txBody>
                    <a:bodyPr/>
                    <a:lstStyle/>
                    <a:p>
                      <a:pPr indent="0">
                        <a:buNone/>
                      </a:pPr>
                      <a:r>
                        <a:rPr lang="en-US" sz="2400" b="0">
                          <a:latin typeface="Times New Roman" panose="02020603050405020304" pitchFamily="18" charset="0"/>
                          <a:ea typeface="宋体" panose="02010600030101010101" pitchFamily="2" charset="-122"/>
                          <a:cs typeface="Times New Roman" panose="02020603050405020304" pitchFamily="18" charset="0"/>
                        </a:rPr>
                        <a:t>最低需求(万吨)</a:t>
                      </a:r>
                    </a:p>
                    <a:p>
                      <a:pPr indent="0">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20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70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endParaRPr lang="en-US" altLang="en-US" sz="24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a:latin typeface="Times New Roman" panose="02020603050405020304" pitchFamily="18" charset="0"/>
                          <a:ea typeface="宋体" panose="02010600030101010101" pitchFamily="2"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TextBox 5"/>
          <p:cNvSpPr txBox="1">
            <a:spLocks noChangeArrowheads="1"/>
          </p:cNvSpPr>
          <p:nvPr/>
        </p:nvSpPr>
        <p:spPr bwMode="auto">
          <a:xfrm>
            <a:off x="2844800" y="4159250"/>
            <a:ext cx="4464050" cy="1149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en-US" altLang="zh-CN" sz="2000">
              <a:ea typeface="微软雅黑" panose="020B0503020204020204" pitchFamily="34" charset="-122"/>
            </a:endParaRPr>
          </a:p>
          <a:p>
            <a:pPr eaLnBrk="1" hangingPunct="1"/>
            <a:endParaRPr lang="en-US" altLang="zh-CN" sz="2000">
              <a:ea typeface="微软雅黑" panose="020B0503020204020204" pitchFamily="34" charset="-122"/>
            </a:endParaRPr>
          </a:p>
          <a:p>
            <a:pPr eaLnBrk="1" hangingPunct="1"/>
            <a:r>
              <a:rPr lang="en-US" altLang="zh-CN" sz="2000">
                <a:ea typeface="微软雅黑" panose="020B0503020204020204" pitchFamily="34" charset="-122"/>
              </a:rPr>
              <a:t>  </a:t>
            </a:r>
            <a:endParaRPr lang="zh-CN" altLang="en-US" sz="2000">
              <a:ea typeface="微软雅黑" panose="020B0503020204020204" pitchFamily="34" charset="-122"/>
            </a:endParaRPr>
          </a:p>
        </p:txBody>
      </p:sp>
      <p:sp>
        <p:nvSpPr>
          <p:cNvPr id="4" name="TextBox 6"/>
          <p:cNvSpPr txBox="1">
            <a:spLocks noChangeArrowheads="1"/>
          </p:cNvSpPr>
          <p:nvPr/>
        </p:nvSpPr>
        <p:spPr bwMode="auto">
          <a:xfrm>
            <a:off x="4211638" y="5229225"/>
            <a:ext cx="30257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2000">
              <a:ea typeface="微软雅黑" panose="020B0503020204020204" pitchFamily="34" charset="-122"/>
            </a:endParaRPr>
          </a:p>
        </p:txBody>
      </p:sp>
      <p:sp>
        <p:nvSpPr>
          <p:cNvPr id="5" name="圆角矩形 4"/>
          <p:cNvSpPr>
            <a:spLocks noChangeArrowheads="1"/>
          </p:cNvSpPr>
          <p:nvPr/>
        </p:nvSpPr>
        <p:spPr bwMode="auto">
          <a:xfrm>
            <a:off x="5508625" y="4910683"/>
            <a:ext cx="1584325" cy="390525"/>
          </a:xfrm>
          <a:prstGeom prst="roundRect">
            <a:avLst>
              <a:gd name="adj" fmla="val 16667"/>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6" name="图片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260350"/>
            <a:ext cx="8429625"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xit" presetSubtype="10" fill="hold" grpId="0"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 y="579438"/>
            <a:ext cx="8666163"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 y="3630613"/>
            <a:ext cx="8702675"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2555875" y="6153150"/>
            <a:ext cx="3382963" cy="431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rPr>
              <a:t>单位运价表</a:t>
            </a:r>
            <a:r>
              <a:rPr lang="en-US" altLang="zh-CN"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表</a:t>
            </a:r>
            <a:r>
              <a:rPr lang="en-US" altLang="zh-CN" b="1">
                <a:latin typeface="微软雅黑" panose="020B0503020204020204" pitchFamily="34" charset="-122"/>
                <a:ea typeface="微软雅黑" panose="020B0503020204020204" pitchFamily="34" charset="-122"/>
              </a:rPr>
              <a:t>4-28)</a:t>
            </a:r>
          </a:p>
        </p:txBody>
      </p:sp>
      <p:sp>
        <p:nvSpPr>
          <p:cNvPr id="16389" name="Rectangle 3"/>
          <p:cNvSpPr txBox="1">
            <a:spLocks noChangeArrowheads="1"/>
          </p:cNvSpPr>
          <p:nvPr/>
        </p:nvSpPr>
        <p:spPr bwMode="auto">
          <a:xfrm>
            <a:off x="0" y="188913"/>
            <a:ext cx="914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这样可以写出这个问题的产销平衡表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4-26)</a:t>
            </a:r>
            <a:r>
              <a:rPr lang="zh-CN" altLang="en-US" b="1" dirty="0">
                <a:latin typeface="Times New Roman" panose="02020603050405020304" pitchFamily="18" charset="0"/>
                <a:ea typeface="微软雅黑" panose="020B0503020204020204" pitchFamily="34" charset="-122"/>
              </a:rPr>
              <a:t>和单位运价表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4-27)</a:t>
            </a:r>
          </a:p>
        </p:txBody>
      </p:sp>
      <p:sp>
        <p:nvSpPr>
          <p:cNvPr id="5" name="TextBox 4"/>
          <p:cNvSpPr txBox="1">
            <a:spLocks noChangeArrowheads="1"/>
          </p:cNvSpPr>
          <p:nvPr/>
        </p:nvSpPr>
        <p:spPr bwMode="auto">
          <a:xfrm>
            <a:off x="2608263" y="3068638"/>
            <a:ext cx="3276600" cy="45720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产销平衡表</a:t>
            </a:r>
            <a:r>
              <a:rPr lang="en-US" altLang="zh-CN"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表</a:t>
            </a:r>
            <a:r>
              <a:rPr lang="en-US" altLang="zh-CN" b="1">
                <a:latin typeface="微软雅黑" panose="020B0503020204020204" pitchFamily="34" charset="-122"/>
                <a:ea typeface="微软雅黑" panose="020B0503020204020204" pitchFamily="34" charset="-122"/>
              </a:rPr>
              <a:t>4-27)</a:t>
            </a:r>
            <a:endParaRPr lang="zh-CN" altLang="en-US" b="1">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387350" y="3640455"/>
          <a:ext cx="8616315" cy="1969135"/>
        </p:xfrm>
        <a:graphic>
          <a:graphicData uri="http://schemas.openxmlformats.org/drawingml/2006/table">
            <a:tbl>
              <a:tblPr firstRow="1" bandRow="1">
                <a:tableStyleId>{5940675A-B579-460E-94D1-54222C63F5DA}</a:tableStyleId>
              </a:tblPr>
              <a:tblGrid>
                <a:gridCol w="2724150">
                  <a:extLst>
                    <a:ext uri="{9D8B030D-6E8A-4147-A177-3AD203B41FA5}">
                      <a16:colId xmlns:a16="http://schemas.microsoft.com/office/drawing/2014/main" val="20000"/>
                    </a:ext>
                  </a:extLst>
                </a:gridCol>
                <a:gridCol w="649605">
                  <a:extLst>
                    <a:ext uri="{9D8B030D-6E8A-4147-A177-3AD203B41FA5}">
                      <a16:colId xmlns:a16="http://schemas.microsoft.com/office/drawing/2014/main" val="20001"/>
                    </a:ext>
                  </a:extLst>
                </a:gridCol>
                <a:gridCol w="647065">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45160">
                  <a:extLst>
                    <a:ext uri="{9D8B030D-6E8A-4147-A177-3AD203B41FA5}">
                      <a16:colId xmlns:a16="http://schemas.microsoft.com/office/drawing/2014/main" val="20004"/>
                    </a:ext>
                  </a:extLst>
                </a:gridCol>
                <a:gridCol w="891540">
                  <a:extLst>
                    <a:ext uri="{9D8B030D-6E8A-4147-A177-3AD203B41FA5}">
                      <a16:colId xmlns:a16="http://schemas.microsoft.com/office/drawing/2014/main" val="20005"/>
                    </a:ext>
                  </a:extLst>
                </a:gridCol>
                <a:gridCol w="894080">
                  <a:extLst>
                    <a:ext uri="{9D8B030D-6E8A-4147-A177-3AD203B41FA5}">
                      <a16:colId xmlns:a16="http://schemas.microsoft.com/office/drawing/2014/main" val="20006"/>
                    </a:ext>
                  </a:extLst>
                </a:gridCol>
                <a:gridCol w="1517015">
                  <a:extLst>
                    <a:ext uri="{9D8B030D-6E8A-4147-A177-3AD203B41FA5}">
                      <a16:colId xmlns:a16="http://schemas.microsoft.com/office/drawing/2014/main" val="20007"/>
                    </a:ext>
                  </a:extLst>
                </a:gridCol>
              </a:tblGrid>
              <a:tr h="707390">
                <a:tc>
                  <a:txBody>
                    <a:bodyPr/>
                    <a:lstStyle/>
                    <a:p>
                      <a:pPr indent="0">
                        <a:buNone/>
                      </a:pPr>
                      <a:r>
                        <a:rPr lang="en-US" sz="18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18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5"/>
                    </a:blip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5"/>
                    </a:blipFill>
                  </a:tcPr>
                </a:tc>
                <a:tc>
                  <a:txBody>
                    <a:bodyPr/>
                    <a:lstStyle/>
                    <a:p>
                      <a:pPr indent="0" algn="ctr">
                        <a:buNone/>
                      </a:pPr>
                      <a:r>
                        <a:rPr lang="en-US" sz="1800" b="0">
                          <a:latin typeface="Times New Roman" panose="02020603050405020304" pitchFamily="18" charset="0"/>
                          <a:ea typeface="宋体" panose="02010600030101010101" pitchFamily="2" charset="-122"/>
                          <a:cs typeface="宋体" panose="02010600030101010101" pitchFamily="2" charset="-122"/>
                        </a:rPr>
                        <a:t>产量（万吨）</a:t>
                      </a:r>
                      <a:endParaRPr lang="en-US" altLang="en-US" sz="1800" b="0">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1745">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C</a:t>
                      </a:r>
                    </a:p>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16</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14</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16</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14</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13</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20</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22</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19</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23</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17</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15</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17</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15</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M</a:t>
                      </a:r>
                    </a:p>
                    <a:p>
                      <a:pPr indent="0" algn="ctr">
                        <a:buNone/>
                      </a:pPr>
                      <a:r>
                        <a:rPr lang="en-US" altLang="en-US" sz="1800" b="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表格 3"/>
          <p:cNvGraphicFramePr/>
          <p:nvPr>
            <p:custDataLst>
              <p:tags r:id="rId2"/>
            </p:custDataLst>
          </p:nvPr>
        </p:nvGraphicFramePr>
        <p:xfrm>
          <a:off x="323850" y="620713"/>
          <a:ext cx="8650289" cy="2425733"/>
        </p:xfrm>
        <a:graphic>
          <a:graphicData uri="http://schemas.openxmlformats.org/drawingml/2006/table">
            <a:tbl>
              <a:tblPr firstRow="1" bandRow="1">
                <a:tableStyleId>{5940675A-B579-460E-94D1-54222C63F5DA}</a:tableStyleId>
              </a:tblPr>
              <a:tblGrid>
                <a:gridCol w="2735046">
                  <a:extLst>
                    <a:ext uri="{9D8B030D-6E8A-4147-A177-3AD203B41FA5}">
                      <a16:colId xmlns:a16="http://schemas.microsoft.com/office/drawing/2014/main" val="20000"/>
                    </a:ext>
                  </a:extLst>
                </a:gridCol>
                <a:gridCol w="651534">
                  <a:extLst>
                    <a:ext uri="{9D8B030D-6E8A-4147-A177-3AD203B41FA5}">
                      <a16:colId xmlns:a16="http://schemas.microsoft.com/office/drawing/2014/main" val="20001"/>
                    </a:ext>
                  </a:extLst>
                </a:gridCol>
                <a:gridCol w="650264">
                  <a:extLst>
                    <a:ext uri="{9D8B030D-6E8A-4147-A177-3AD203B41FA5}">
                      <a16:colId xmlns:a16="http://schemas.microsoft.com/office/drawing/2014/main" val="20002"/>
                    </a:ext>
                  </a:extLst>
                </a:gridCol>
                <a:gridCol w="649629">
                  <a:extLst>
                    <a:ext uri="{9D8B030D-6E8A-4147-A177-3AD203B41FA5}">
                      <a16:colId xmlns:a16="http://schemas.microsoft.com/office/drawing/2014/main" val="20003"/>
                    </a:ext>
                  </a:extLst>
                </a:gridCol>
                <a:gridCol w="648994">
                  <a:extLst>
                    <a:ext uri="{9D8B030D-6E8A-4147-A177-3AD203B41FA5}">
                      <a16:colId xmlns:a16="http://schemas.microsoft.com/office/drawing/2014/main" val="20004"/>
                    </a:ext>
                  </a:extLst>
                </a:gridCol>
                <a:gridCol w="895383">
                  <a:extLst>
                    <a:ext uri="{9D8B030D-6E8A-4147-A177-3AD203B41FA5}">
                      <a16:colId xmlns:a16="http://schemas.microsoft.com/office/drawing/2014/main" val="20005"/>
                    </a:ext>
                  </a:extLst>
                </a:gridCol>
                <a:gridCol w="896018">
                  <a:extLst>
                    <a:ext uri="{9D8B030D-6E8A-4147-A177-3AD203B41FA5}">
                      <a16:colId xmlns:a16="http://schemas.microsoft.com/office/drawing/2014/main" val="20006"/>
                    </a:ext>
                  </a:extLst>
                </a:gridCol>
                <a:gridCol w="1523421">
                  <a:extLst>
                    <a:ext uri="{9D8B030D-6E8A-4147-A177-3AD203B41FA5}">
                      <a16:colId xmlns:a16="http://schemas.microsoft.com/office/drawing/2014/main" val="20007"/>
                    </a:ext>
                  </a:extLst>
                </a:gridCol>
              </a:tblGrid>
              <a:tr h="732555">
                <a:tc>
                  <a:txBody>
                    <a:bodyPr/>
                    <a:lstStyle/>
                    <a:p>
                      <a:pPr indent="0">
                        <a:buNone/>
                      </a:pPr>
                      <a:r>
                        <a:rPr lang="en-US" sz="18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18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sz="1800"/>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6"/>
                    </a:blip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sz="1800"/>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6"/>
                    </a:blipFill>
                  </a:tcPr>
                </a:tc>
                <a:tc>
                  <a:txBody>
                    <a:bodyPr/>
                    <a:lstStyle/>
                    <a:p>
                      <a:pPr indent="0" algn="ctr">
                        <a:buNone/>
                      </a:pPr>
                      <a:r>
                        <a:rPr lang="en-US" sz="1800" b="0">
                          <a:latin typeface="Times New Roman" panose="02020603050405020304" pitchFamily="18" charset="0"/>
                          <a:ea typeface="宋体" panose="02010600030101010101" pitchFamily="2" charset="-122"/>
                          <a:cs typeface="宋体" panose="02010600030101010101" pitchFamily="2" charset="-122"/>
                        </a:rPr>
                        <a:t>产量（万吨）</a:t>
                      </a:r>
                      <a:endParaRPr lang="en-US" altLang="en-US" sz="1800" b="0">
                        <a:latin typeface="Times New Roman" panose="02020603050405020304" pitchFamily="18" charset="0"/>
                        <a:ea typeface="宋体" panose="02010600030101010101" pitchFamily="2"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4538">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A</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B</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C</a:t>
                      </a:r>
                    </a:p>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D</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60</a:t>
                      </a:r>
                    </a:p>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50</a:t>
                      </a:r>
                    </a:p>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608">
                <a:tc>
                  <a:txBody>
                    <a:bodyPr/>
                    <a:lstStyle/>
                    <a:p>
                      <a:pPr indent="0" algn="ctr">
                        <a:buNone/>
                      </a:pPr>
                      <a:r>
                        <a:rPr lang="zh-CN" altLang="en-US" sz="1800" b="0">
                          <a:latin typeface="Times New Roman" panose="02020603050405020304" pitchFamily="18" charset="0"/>
                          <a:ea typeface="宋体" panose="02010600030101010101" pitchFamily="2" charset="-122"/>
                          <a:cs typeface="Times New Roman" panose="02020603050405020304" pitchFamily="18" charset="0"/>
                        </a:rPr>
                        <a:t>销量</a:t>
                      </a:r>
                      <a:r>
                        <a:rPr lang="en-US" sz="1800" b="0">
                          <a:latin typeface="Times New Roman" panose="02020603050405020304" pitchFamily="18" charset="0"/>
                          <a:ea typeface="宋体" panose="02010600030101010101" pitchFamily="2" charset="-122"/>
                          <a:cs typeface="Times New Roman" panose="02020603050405020304" pitchFamily="18" charset="0"/>
                        </a:rPr>
                        <a:t>(万吨)</a:t>
                      </a:r>
                    </a:p>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20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70</a:t>
                      </a:r>
                    </a:p>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a:latin typeface="Times New Roman" panose="02020603050405020304" pitchFamily="18" charset="0"/>
                          <a:ea typeface="宋体" panose="02010600030101010101" pitchFamily="2"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6392" name="直接连接符 7"/>
          <p:cNvCxnSpPr>
            <a:cxnSpLocks noChangeShapeType="1"/>
          </p:cNvCxnSpPr>
          <p:nvPr/>
        </p:nvCxnSpPr>
        <p:spPr bwMode="auto">
          <a:xfrm>
            <a:off x="322263" y="615950"/>
            <a:ext cx="2738437" cy="7239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6393" name="直接连接符 8"/>
          <p:cNvCxnSpPr>
            <a:cxnSpLocks noChangeShapeType="1"/>
          </p:cNvCxnSpPr>
          <p:nvPr/>
        </p:nvCxnSpPr>
        <p:spPr bwMode="auto">
          <a:xfrm>
            <a:off x="390525" y="3644900"/>
            <a:ext cx="2741613" cy="72072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639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409575" y="1773238"/>
            <a:ext cx="8648700" cy="3514725"/>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7411" name="Rectangle 2"/>
          <p:cNvSpPr txBox="1">
            <a:spLocks noChangeArrowheads="1"/>
          </p:cNvSpPr>
          <p:nvPr/>
        </p:nvSpPr>
        <p:spPr bwMode="auto">
          <a:xfrm>
            <a:off x="0" y="1052513"/>
            <a:ext cx="9144000" cy="5032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solidFill>
                  <a:schemeClr val="folHlink"/>
                </a:solidFill>
                <a:latin typeface="微软雅黑" panose="020B0503020204020204" pitchFamily="34" charset="-122"/>
                <a:ea typeface="微软雅黑" panose="020B0503020204020204" pitchFamily="34" charset="-122"/>
              </a:rPr>
              <a:t>根据表上作业法计算</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微软雅黑" panose="020B0503020204020204" pitchFamily="34" charset="-122"/>
                <a:ea typeface="微软雅黑" panose="020B0503020204020204" pitchFamily="34" charset="-122"/>
              </a:rPr>
              <a:t>可以求得这个问题的最优方案如表</a:t>
            </a:r>
            <a:r>
              <a:rPr lang="en-US" altLang="zh-CN" b="1" dirty="0">
                <a:solidFill>
                  <a:schemeClr val="folHlink"/>
                </a:solidFill>
                <a:latin typeface="微软雅黑" panose="020B0503020204020204" pitchFamily="34" charset="-122"/>
                <a:ea typeface="微软雅黑" panose="020B0503020204020204" pitchFamily="34" charset="-122"/>
              </a:rPr>
              <a:t>4-29</a:t>
            </a:r>
            <a:r>
              <a:rPr lang="zh-CN" altLang="en-US" b="1" dirty="0">
                <a:solidFill>
                  <a:schemeClr val="folHlink"/>
                </a:solidFill>
                <a:latin typeface="微软雅黑" panose="020B0503020204020204" pitchFamily="34" charset="-122"/>
                <a:ea typeface="微软雅黑" panose="020B0503020204020204" pitchFamily="34" charset="-122"/>
              </a:rPr>
              <a:t>所示</a:t>
            </a:r>
            <a:r>
              <a:rPr lang="zh-CN" altLang="en-US" sz="2800" dirty="0">
                <a:solidFill>
                  <a:schemeClr val="hlink"/>
                </a:solidFill>
                <a:latin typeface="Century Schoolbook" panose="02040604050505020304" pitchFamily="18" charset="0"/>
                <a:ea typeface="微软雅黑" panose="020B0503020204020204" pitchFamily="34" charset="-122"/>
              </a:rPr>
              <a:t> </a:t>
            </a:r>
          </a:p>
        </p:txBody>
      </p:sp>
      <p:sp>
        <p:nvSpPr>
          <p:cNvPr id="17412" name="矩形 3"/>
          <p:cNvSpPr>
            <a:spLocks noChangeArrowheads="1"/>
          </p:cNvSpPr>
          <p:nvPr/>
        </p:nvSpPr>
        <p:spPr bwMode="auto">
          <a:xfrm>
            <a:off x="3492500" y="5589588"/>
            <a:ext cx="211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表</a:t>
            </a:r>
            <a:r>
              <a:rPr lang="en-US" altLang="zh-CN" sz="2000" b="1">
                <a:latin typeface="微软雅黑" panose="020B0503020204020204" pitchFamily="34" charset="-122"/>
                <a:ea typeface="微软雅黑" panose="020B0503020204020204" pitchFamily="34" charset="-122"/>
              </a:rPr>
              <a:t>4-29</a:t>
            </a:r>
            <a:endParaRPr lang="zh-CN" altLang="en-US" sz="2000" b="1">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1"/>
            </p:custDataLst>
          </p:nvPr>
        </p:nvGraphicFramePr>
        <p:xfrm>
          <a:off x="409575" y="1773238"/>
          <a:ext cx="8648700" cy="3536950"/>
        </p:xfrm>
        <a:graphic>
          <a:graphicData uri="http://schemas.openxmlformats.org/drawingml/2006/table">
            <a:tbl>
              <a:tblPr firstRow="1" bandRow="1">
                <a:tableStyleId>{5940675A-B579-460E-94D1-54222C63F5DA}</a:tableStyleId>
              </a:tblPr>
              <a:tblGrid>
                <a:gridCol w="2734543">
                  <a:extLst>
                    <a:ext uri="{9D8B030D-6E8A-4147-A177-3AD203B41FA5}">
                      <a16:colId xmlns:a16="http://schemas.microsoft.com/office/drawing/2014/main" val="20000"/>
                    </a:ext>
                  </a:extLst>
                </a:gridCol>
                <a:gridCol w="651414">
                  <a:extLst>
                    <a:ext uri="{9D8B030D-6E8A-4147-A177-3AD203B41FA5}">
                      <a16:colId xmlns:a16="http://schemas.microsoft.com/office/drawing/2014/main" val="20001"/>
                    </a:ext>
                  </a:extLst>
                </a:gridCol>
                <a:gridCol w="650145">
                  <a:extLst>
                    <a:ext uri="{9D8B030D-6E8A-4147-A177-3AD203B41FA5}">
                      <a16:colId xmlns:a16="http://schemas.microsoft.com/office/drawing/2014/main" val="20002"/>
                    </a:ext>
                  </a:extLst>
                </a:gridCol>
                <a:gridCol w="649510">
                  <a:extLst>
                    <a:ext uri="{9D8B030D-6E8A-4147-A177-3AD203B41FA5}">
                      <a16:colId xmlns:a16="http://schemas.microsoft.com/office/drawing/2014/main" val="20003"/>
                    </a:ext>
                  </a:extLst>
                </a:gridCol>
                <a:gridCol w="648875">
                  <a:extLst>
                    <a:ext uri="{9D8B030D-6E8A-4147-A177-3AD203B41FA5}">
                      <a16:colId xmlns:a16="http://schemas.microsoft.com/office/drawing/2014/main" val="20004"/>
                    </a:ext>
                  </a:extLst>
                </a:gridCol>
                <a:gridCol w="895219">
                  <a:extLst>
                    <a:ext uri="{9D8B030D-6E8A-4147-A177-3AD203B41FA5}">
                      <a16:colId xmlns:a16="http://schemas.microsoft.com/office/drawing/2014/main" val="20005"/>
                    </a:ext>
                  </a:extLst>
                </a:gridCol>
                <a:gridCol w="741031">
                  <a:extLst>
                    <a:ext uri="{9D8B030D-6E8A-4147-A177-3AD203B41FA5}">
                      <a16:colId xmlns:a16="http://schemas.microsoft.com/office/drawing/2014/main" val="20006"/>
                    </a:ext>
                  </a:extLst>
                </a:gridCol>
                <a:gridCol w="1677963">
                  <a:extLst>
                    <a:ext uri="{9D8B030D-6E8A-4147-A177-3AD203B41FA5}">
                      <a16:colId xmlns:a16="http://schemas.microsoft.com/office/drawing/2014/main" val="20007"/>
                    </a:ext>
                  </a:extLst>
                </a:gridCol>
              </a:tblGrid>
              <a:tr h="793750">
                <a:tc>
                  <a:txBody>
                    <a:bodyPr/>
                    <a:lstStyle/>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需求地区 </a:t>
                      </a:r>
                    </a:p>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化工厂</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000" b="0" dirty="0" err="1">
                          <a:latin typeface="Times New Roman" panose="02020603050405020304" pitchFamily="18" charset="0"/>
                          <a:ea typeface="宋体" panose="02010600030101010101" pitchFamily="2" charset="-122"/>
                          <a:cs typeface="宋体" panose="02010600030101010101" pitchFamily="2" charset="-122"/>
                        </a:rPr>
                        <a:t>产量（万吨</a:t>
                      </a:r>
                      <a:r>
                        <a:rPr lang="en-US" sz="2000" b="0" dirty="0">
                          <a:latin typeface="Times New Roman" panose="02020603050405020304" pitchFamily="18" charset="0"/>
                          <a:ea typeface="宋体" panose="02010600030101010101" pitchFamily="2" charset="-122"/>
                          <a:cs typeface="宋体" panose="02010600030101010101" pitchFamily="2" charset="-122"/>
                        </a:rPr>
                        <a:t>）</a:t>
                      </a:r>
                      <a:endParaRPr lang="en-US" altLang="en-US" sz="2000" b="0" dirty="0">
                        <a:latin typeface="Times New Roman" panose="02020603050405020304" pitchFamily="18" charset="0"/>
                        <a:ea typeface="宋体" panose="02010600030101010101" pitchFamily="2" charset="-122"/>
                        <a:cs typeface="宋体" panose="02010600030101010101" pitchFamily="2" charset="-122"/>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54430">
                <a:tc>
                  <a:txBody>
                    <a:bodyPr/>
                    <a:lstStyle/>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A</a:t>
                      </a:r>
                    </a:p>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B</a:t>
                      </a:r>
                    </a:p>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C</a:t>
                      </a: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D</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50</a:t>
                      </a: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p>
                      <a:pPr indent="0" algn="ctr" fontAlgn="auto">
                        <a:lnSpc>
                          <a:spcPct val="15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50</a:t>
                      </a:r>
                    </a:p>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60</a:t>
                      </a:r>
                    </a:p>
                    <a:p>
                      <a:pPr indent="0" algn="ctr" fontAlgn="auto">
                        <a:lnSpc>
                          <a:spcPct val="15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50</a:t>
                      </a:r>
                    </a:p>
                    <a:p>
                      <a:pPr indent="0" algn="ctr" fontAlgn="auto">
                        <a:lnSpc>
                          <a:spcPct val="15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50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indent="0" algn="ctr">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rPr>
                        <a:t>销量</a:t>
                      </a:r>
                      <a:r>
                        <a:rPr lang="en-US" sz="2000" b="0">
                          <a:latin typeface="Times New Roman" panose="02020603050405020304" pitchFamily="18" charset="0"/>
                          <a:ea typeface="宋体" panose="02010600030101010101" pitchFamily="2" charset="-122"/>
                          <a:cs typeface="Times New Roman" panose="02020603050405020304" pitchFamily="18" charset="0"/>
                        </a:rPr>
                        <a:t>(万吨)</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70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50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dirty="0">
                        <a:latin typeface="Times New Roman" panose="02020603050405020304" pitchFamily="18" charset="0"/>
                        <a:ea typeface="宋体" panose="02010600030101010101" pitchFamily="2"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7413" name="直接连接符 1"/>
          <p:cNvCxnSpPr>
            <a:cxnSpLocks noChangeShapeType="1"/>
          </p:cNvCxnSpPr>
          <p:nvPr/>
        </p:nvCxnSpPr>
        <p:spPr bwMode="auto">
          <a:xfrm>
            <a:off x="409575" y="1779588"/>
            <a:ext cx="2722563" cy="7858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gtEl>
                                        <p:attrNameLst>
                                          <p:attrName>style.visibility</p:attrName>
                                        </p:attrNameLst>
                                      </p:cBhvr>
                                      <p:to>
                                        <p:strVal val="visible"/>
                                      </p:to>
                                    </p:set>
                                  </p:childTnLst>
                                </p:cTn>
                              </p:par>
                              <p:par>
                                <p:cTn id="9" presetID="3" presetClass="entr" presetSubtype="1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0" y="116632"/>
            <a:ext cx="9144000" cy="5032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342900" indent="-342900">
              <a:buFont typeface="Wingdings" pitchFamily="2" charset="2"/>
              <a:buChar char="l"/>
            </a:pPr>
            <a:r>
              <a:rPr lang="zh-CN" altLang="en-US" b="1" dirty="0">
                <a:solidFill>
                  <a:schemeClr val="folHlink"/>
                </a:solidFill>
                <a:latin typeface="微软雅黑" panose="020B0503020204020204" pitchFamily="34" charset="-122"/>
                <a:ea typeface="微软雅黑" panose="020B0503020204020204" pitchFamily="34" charset="-122"/>
              </a:rPr>
              <a:t>运输问题特殊情况的讨论</a:t>
            </a:r>
            <a:endParaRPr lang="zh-CN" altLang="en-US" sz="2800" dirty="0">
              <a:solidFill>
                <a:schemeClr val="hlink"/>
              </a:solidFill>
              <a:latin typeface="Century Schoolbook" panose="02040604050505020304" pitchFamily="18" charset="0"/>
              <a:ea typeface="微软雅黑" panose="020B0503020204020204" pitchFamily="34" charset="-122"/>
            </a:endParaRPr>
          </a:p>
        </p:txBody>
      </p:sp>
      <p:sp>
        <p:nvSpPr>
          <p:cNvPr id="2" name="Rectangle 3">
            <a:extLst>
              <a:ext uri="{FF2B5EF4-FFF2-40B4-BE49-F238E27FC236}">
                <a16:creationId xmlns:a16="http://schemas.microsoft.com/office/drawing/2014/main" id="{686316C7-E79D-3C87-4D34-8E1065E6F623}"/>
              </a:ext>
            </a:extLst>
          </p:cNvPr>
          <p:cNvSpPr txBox="1">
            <a:spLocks noChangeArrowheads="1"/>
          </p:cNvSpPr>
          <p:nvPr/>
        </p:nvSpPr>
        <p:spPr bwMode="auto">
          <a:xfrm>
            <a:off x="0" y="764927"/>
            <a:ext cx="9144000" cy="504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indent="0" algn="just">
              <a:spcBef>
                <a:spcPts val="600"/>
              </a:spcBef>
              <a:buClr>
                <a:schemeClr val="accent1"/>
              </a:buClr>
              <a:buSzPct val="70000"/>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 产销不平衡问题</a:t>
            </a: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添加一行销售地或一列产地，改为产销平衡问题</a:t>
            </a:r>
            <a:endParaRPr lang="en-US" altLang="zh-CN" b="1" dirty="0">
              <a:latin typeface="微软雅黑" panose="020B0503020204020204" pitchFamily="34" charset="-122"/>
              <a:ea typeface="微软雅黑" panose="020B0503020204020204" pitchFamily="34" charset="-122"/>
            </a:endParaRP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实际上不运输，格子运价为</a:t>
            </a:r>
            <a:r>
              <a:rPr lang="en-US" altLang="zh-CN" b="1" dirty="0">
                <a:latin typeface="微软雅黑" panose="020B0503020204020204" pitchFamily="34" charset="-122"/>
                <a:ea typeface="微软雅黑" panose="020B0503020204020204" pitchFamily="34" charset="-122"/>
              </a:rPr>
              <a:t>0</a:t>
            </a: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不允许的路线运价为</a:t>
            </a:r>
            <a:r>
              <a:rPr lang="en-US" altLang="zh-CN" b="1" dirty="0">
                <a:latin typeface="微软雅黑" panose="020B0503020204020204" pitchFamily="34" charset="-122"/>
                <a:ea typeface="微软雅黑" panose="020B0503020204020204" pitchFamily="34" charset="-122"/>
              </a:rPr>
              <a:t>M</a:t>
            </a:r>
            <a:r>
              <a:rPr lang="zh-CN" altLang="en-US" b="1" dirty="0">
                <a:latin typeface="微软雅黑" panose="020B0503020204020204" pitchFamily="34" charset="-122"/>
                <a:ea typeface="微软雅黑" panose="020B0503020204020204" pitchFamily="34" charset="-122"/>
              </a:rPr>
              <a:t>，任意大，意味着不可能</a:t>
            </a:r>
            <a:endParaRPr lang="en-US" altLang="zh-CN" b="1" dirty="0">
              <a:latin typeface="微软雅黑" panose="020B0503020204020204" pitchFamily="34" charset="-122"/>
              <a:ea typeface="微软雅黑" panose="020B0503020204020204" pitchFamily="34" charset="-122"/>
            </a:endParaRPr>
          </a:p>
          <a:p>
            <a:pPr marL="342900" indent="-342900" algn="just">
              <a:spcBef>
                <a:spcPts val="600"/>
              </a:spcBef>
              <a:buClr>
                <a:schemeClr val="accent1"/>
              </a:buClr>
              <a:buSzPct val="70000"/>
              <a:buFont typeface="Wingdings" pitchFamily="2" charset="2"/>
              <a:buChar char="l"/>
            </a:pPr>
            <a:endParaRPr lang="en-US" altLang="zh-CN" b="1" dirty="0">
              <a:latin typeface="微软雅黑" panose="020B0503020204020204" pitchFamily="34" charset="-122"/>
              <a:ea typeface="微软雅黑" panose="020B0503020204020204" pitchFamily="34" charset="-122"/>
            </a:endParaRPr>
          </a:p>
          <a:p>
            <a:pPr marL="0" indent="0" algn="just">
              <a:spcBef>
                <a:spcPts val="600"/>
              </a:spcBef>
              <a:buClr>
                <a:schemeClr val="accent1"/>
              </a:buClr>
              <a:buSzPct val="70000"/>
            </a:pPr>
            <a:endParaRPr lang="en-US" altLang="zh-CN" b="1" dirty="0">
              <a:latin typeface="微软雅黑" panose="020B0503020204020204" pitchFamily="34" charset="-122"/>
              <a:ea typeface="微软雅黑" panose="020B0503020204020204" pitchFamily="34" charset="-122"/>
            </a:endParaRPr>
          </a:p>
          <a:p>
            <a:pPr marL="0" indent="0" algn="just">
              <a:spcBef>
                <a:spcPts val="600"/>
              </a:spcBef>
              <a:buClr>
                <a:schemeClr val="accent1"/>
              </a:buClr>
              <a:buSzPct val="70000"/>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 弹性运输问题</a:t>
            </a:r>
            <a:endParaRPr lang="en-US" altLang="zh-CN" b="1" dirty="0">
              <a:latin typeface="微软雅黑" panose="020B0503020204020204" pitchFamily="34" charset="-122"/>
              <a:ea typeface="微软雅黑" panose="020B0503020204020204" pitchFamily="34" charset="-122"/>
            </a:endParaRP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把销售地看成两个销售地，一个是最低需求量，一个是弹性需求量</a:t>
            </a:r>
            <a:endParaRPr lang="en-US" altLang="zh-CN" b="1" dirty="0">
              <a:latin typeface="微软雅黑" panose="020B0503020204020204" pitchFamily="34" charset="-122"/>
              <a:ea typeface="微软雅黑" panose="020B0503020204020204" pitchFamily="34" charset="-122"/>
            </a:endParaRP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实际上不运输，格子运价为</a:t>
            </a:r>
            <a:r>
              <a:rPr lang="en-US" altLang="zh-CN" b="1">
                <a:latin typeface="微软雅黑" panose="020B0503020204020204" pitchFamily="34" charset="-122"/>
                <a:ea typeface="微软雅黑" panose="020B0503020204020204" pitchFamily="34" charset="-122"/>
              </a:rPr>
              <a:t>0</a:t>
            </a:r>
            <a:endParaRPr lang="en-US" altLang="zh-CN" b="1" dirty="0">
              <a:latin typeface="微软雅黑" panose="020B0503020204020204" pitchFamily="34" charset="-122"/>
              <a:ea typeface="微软雅黑" panose="020B0503020204020204" pitchFamily="34" charset="-122"/>
            </a:endParaRPr>
          </a:p>
          <a:p>
            <a:pPr marL="342900" indent="-342900" algn="just">
              <a:spcBef>
                <a:spcPts val="600"/>
              </a:spcBef>
              <a:buClr>
                <a:schemeClr val="accent1"/>
              </a:buClr>
              <a:buSzPct val="70000"/>
              <a:buFont typeface="Wingdings" pitchFamily="2" charset="2"/>
              <a:buChar char="l"/>
            </a:pPr>
            <a:r>
              <a:rPr lang="zh-CN" altLang="en-US" b="1" dirty="0">
                <a:latin typeface="微软雅黑" panose="020B0503020204020204" pitchFamily="34" charset="-122"/>
                <a:ea typeface="微软雅黑" panose="020B0503020204020204" pitchFamily="34" charset="-122"/>
              </a:rPr>
              <a:t>不允许的路线运价为</a:t>
            </a:r>
            <a:r>
              <a:rPr lang="en-US" altLang="zh-CN" b="1" dirty="0">
                <a:latin typeface="微软雅黑" panose="020B0503020204020204" pitchFamily="34" charset="-122"/>
                <a:ea typeface="微软雅黑" panose="020B0503020204020204" pitchFamily="34" charset="-122"/>
              </a:rPr>
              <a:t>M</a:t>
            </a:r>
            <a:r>
              <a:rPr lang="zh-CN" altLang="en-US" b="1" dirty="0">
                <a:latin typeface="微软雅黑" panose="020B0503020204020204" pitchFamily="34" charset="-122"/>
                <a:ea typeface="微软雅黑" panose="020B0503020204020204" pitchFamily="34" charset="-122"/>
              </a:rPr>
              <a:t>，任意大，意味着不可能</a:t>
            </a:r>
            <a:endParaRPr lang="en-US" altLang="zh-CN" b="1" dirty="0">
              <a:latin typeface="微软雅黑" panose="020B0503020204020204" pitchFamily="34" charset="-122"/>
              <a:ea typeface="微软雅黑" panose="020B0503020204020204" pitchFamily="34" charset="-122"/>
            </a:endParaRPr>
          </a:p>
          <a:p>
            <a:pPr marL="0" indent="0" algn="just">
              <a:spcBef>
                <a:spcPts val="600"/>
              </a:spcBef>
              <a:buClr>
                <a:schemeClr val="accent1"/>
              </a:buClr>
              <a:buSzPct val="70000"/>
            </a:pP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339658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dissolve">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dissolve">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dissolve">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dissolve">
                                      <p:cBhvr>
                                        <p:cTn id="4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1260475" y="4365625"/>
            <a:ext cx="7097713" cy="20129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nvSpPr>
        <p:spPr bwMode="auto">
          <a:xfrm>
            <a:off x="0" y="0"/>
            <a:ext cx="91440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50000"/>
              </a:lnSpc>
              <a:spcBef>
                <a:spcPts val="600"/>
              </a:spcBef>
              <a:buClr>
                <a:schemeClr val="accent1"/>
              </a:buClr>
              <a:buSzPct val="70000"/>
              <a:buFont typeface="Wingdings" panose="05000000000000000000" pitchFamily="2" charset="2"/>
              <a:buNone/>
            </a:pPr>
            <a:r>
              <a:rPr lang="zh-CN" altLang="en-US" b="1">
                <a:latin typeface="微软雅黑" panose="020B0503020204020204" pitchFamily="34" charset="-122"/>
                <a:ea typeface="微软雅黑" panose="020B0503020204020204" pitchFamily="34" charset="-122"/>
              </a:rPr>
              <a:t>由于在变量个数相等的情况下，表上作业法的计算远比单纯形法简单得多。所以在解决实际问题时，人们常常尽可能把某些线性规划的问题化为运输问题的数学模型。</a:t>
            </a:r>
            <a:endParaRPr lang="en-US" altLang="zh-CN" b="1">
              <a:latin typeface="微软雅黑" panose="020B0503020204020204" pitchFamily="34" charset="-122"/>
              <a:ea typeface="微软雅黑" panose="020B0503020204020204" pitchFamily="34" charset="-122"/>
            </a:endParaRPr>
          </a:p>
          <a:p>
            <a:pPr>
              <a:lnSpc>
                <a:spcPct val="150000"/>
              </a:lnSpc>
              <a:spcBef>
                <a:spcPts val="600"/>
              </a:spcBef>
              <a:buClr>
                <a:schemeClr val="accent1"/>
              </a:buClr>
              <a:buSzPct val="70000"/>
              <a:buFont typeface="Wingdings" panose="05000000000000000000" pitchFamily="2" charset="2"/>
              <a:buNone/>
            </a:pPr>
            <a:endParaRPr lang="en-US" altLang="zh-CN" b="1">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0" y="1657350"/>
            <a:ext cx="9144000" cy="26352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spcBef>
                <a:spcPts val="600"/>
              </a:spcBef>
              <a:buClr>
                <a:schemeClr val="accent1"/>
              </a:buClr>
              <a:buSzPct val="70000"/>
              <a:buFont typeface="Wingdings" panose="05000000000000000000" pitchFamily="2" charset="2"/>
              <a:buNone/>
            </a:pPr>
            <a:r>
              <a:rPr lang="zh-CN" altLang="en-US" b="1" dirty="0">
                <a:solidFill>
                  <a:srgbClr val="FF0000"/>
                </a:solidFill>
                <a:latin typeface="Times New Roman" panose="02020603050405020304" pitchFamily="18" charset="0"/>
                <a:ea typeface="微软雅黑" panose="020B0503020204020204" pitchFamily="34" charset="-122"/>
              </a:rPr>
              <a:t>例</a:t>
            </a:r>
            <a:r>
              <a:rPr lang="en-US" altLang="zh-CN" b="1" dirty="0">
                <a:solidFill>
                  <a:srgbClr val="FF0000"/>
                </a:solidFill>
                <a:latin typeface="Times New Roman" panose="02020603050405020304" pitchFamily="18" charset="0"/>
                <a:ea typeface="微软雅黑" panose="020B0503020204020204" pitchFamily="34" charset="-122"/>
              </a:rPr>
              <a:t>4-3  </a:t>
            </a:r>
            <a:r>
              <a:rPr lang="zh-CN" altLang="en-US" b="1" dirty="0">
                <a:latin typeface="Times New Roman" panose="02020603050405020304" pitchFamily="18" charset="0"/>
                <a:ea typeface="微软雅黑" panose="020B0503020204020204" pitchFamily="34" charset="-122"/>
              </a:rPr>
              <a:t>某厂按合同规定须于当年每个季度末分别提供</a:t>
            </a:r>
            <a:r>
              <a:rPr lang="en-US" altLang="zh-CN" b="1" dirty="0">
                <a:latin typeface="Times New Roman" panose="02020603050405020304" pitchFamily="18" charset="0"/>
                <a:ea typeface="微软雅黑" panose="020B0503020204020204" pitchFamily="34" charset="-122"/>
              </a:rPr>
              <a:t>10</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台同一规格的柴油机。已知该厂各季度的生产能力及生产每台柴油机的成本如表</a:t>
            </a:r>
            <a:r>
              <a:rPr lang="en-US" altLang="zh-CN" b="1" dirty="0">
                <a:latin typeface="Times New Roman" panose="02020603050405020304" pitchFamily="18" charset="0"/>
                <a:ea typeface="微软雅黑" panose="020B0503020204020204" pitchFamily="34" charset="-122"/>
              </a:rPr>
              <a:t>4-30</a:t>
            </a:r>
            <a:r>
              <a:rPr lang="zh-CN" altLang="en-US" b="1" dirty="0">
                <a:latin typeface="Times New Roman" panose="02020603050405020304" pitchFamily="18" charset="0"/>
                <a:ea typeface="微软雅黑" panose="020B0503020204020204" pitchFamily="34" charset="-122"/>
              </a:rPr>
              <a:t>所示。又如果生产出来的柴油机当季不交货的，每台每积压一个季度需储存、维护等费用</a:t>
            </a:r>
            <a:r>
              <a:rPr lang="en-US" altLang="zh-CN" b="1" dirty="0">
                <a:latin typeface="Times New Roman" panose="02020603050405020304" pitchFamily="18" charset="0"/>
                <a:ea typeface="微软雅黑" panose="020B0503020204020204" pitchFamily="34" charset="-122"/>
              </a:rPr>
              <a:t>0.15</a:t>
            </a:r>
            <a:r>
              <a:rPr lang="zh-CN" altLang="en-US" b="1" dirty="0">
                <a:latin typeface="Times New Roman" panose="02020603050405020304" pitchFamily="18" charset="0"/>
                <a:ea typeface="微软雅黑" panose="020B0503020204020204" pitchFamily="34" charset="-122"/>
              </a:rPr>
              <a:t>万元。要求在完成合同的情况下，作出使该厂全年生产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费用最小的决策 </a:t>
            </a:r>
          </a:p>
        </p:txBody>
      </p:sp>
      <p:graphicFrame>
        <p:nvGraphicFramePr>
          <p:cNvPr id="7" name="表格 6"/>
          <p:cNvGraphicFramePr/>
          <p:nvPr>
            <p:custDataLst>
              <p:tags r:id="rId1"/>
            </p:custDataLst>
          </p:nvPr>
        </p:nvGraphicFramePr>
        <p:xfrm>
          <a:off x="1260475" y="4365625"/>
          <a:ext cx="7097713" cy="2033598"/>
        </p:xfrm>
        <a:graphic>
          <a:graphicData uri="http://schemas.openxmlformats.org/drawingml/2006/table">
            <a:tbl>
              <a:tblPr firstRow="1" bandRow="1">
                <a:tableStyleId>{5940675A-B579-460E-94D1-54222C63F5DA}</a:tableStyleId>
              </a:tblPr>
              <a:tblGrid>
                <a:gridCol w="1943373">
                  <a:extLst>
                    <a:ext uri="{9D8B030D-6E8A-4147-A177-3AD203B41FA5}">
                      <a16:colId xmlns:a16="http://schemas.microsoft.com/office/drawing/2014/main" val="20000"/>
                    </a:ext>
                  </a:extLst>
                </a:gridCol>
                <a:gridCol w="2258234">
                  <a:extLst>
                    <a:ext uri="{9D8B030D-6E8A-4147-A177-3AD203B41FA5}">
                      <a16:colId xmlns:a16="http://schemas.microsoft.com/office/drawing/2014/main" val="20001"/>
                    </a:ext>
                  </a:extLst>
                </a:gridCol>
                <a:gridCol w="2896106">
                  <a:extLst>
                    <a:ext uri="{9D8B030D-6E8A-4147-A177-3AD203B41FA5}">
                      <a16:colId xmlns:a16="http://schemas.microsoft.com/office/drawing/2014/main" val="20002"/>
                    </a:ext>
                  </a:extLst>
                </a:gridCol>
              </a:tblGrid>
              <a:tr h="365750">
                <a:tc>
                  <a:txBody>
                    <a:bodyPr/>
                    <a:lstStyle/>
                    <a:p>
                      <a:pPr indent="0" algn="ctr">
                        <a:buNone/>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季度</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生产能力（台）</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单位成本（万元）</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67838">
                <a:tc>
                  <a:txBody>
                    <a:bodyPr/>
                    <a:lstStyle/>
                    <a:p>
                      <a:pPr indent="0" algn="ctr">
                        <a:buNone/>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Ⅰ</a:t>
                      </a:r>
                    </a:p>
                    <a:p>
                      <a:pPr indent="0" algn="ctr">
                        <a:buNone/>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Ⅱ</a:t>
                      </a:r>
                    </a:p>
                    <a:p>
                      <a:pPr indent="0" algn="ctr">
                        <a:buNone/>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Ⅲ</a:t>
                      </a:r>
                    </a:p>
                    <a:p>
                      <a:pPr indent="0" algn="ctr">
                        <a:buNone/>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Ⅳ</a:t>
                      </a:r>
                      <a:endParaRPr lang="en-US" altLang="en-US" sz="2400" b="0">
                        <a:latin typeface="微软雅黑" panose="020B0503020204020204" pitchFamily="34" charset="-122"/>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25</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35</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10.8</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11.1</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11.0</a:t>
                      </a:r>
                    </a:p>
                    <a:p>
                      <a:pPr indent="0" algn="ctr">
                        <a:buNone/>
                      </a:pPr>
                      <a:r>
                        <a:rPr lang="en-US" altLang="en-US" sz="2400" b="0" dirty="0">
                          <a:latin typeface="Times New Roman" panose="02020603050405020304" pitchFamily="18" charset="0"/>
                          <a:ea typeface="宋体" panose="02010600030101010101" pitchFamily="2" charset="-122"/>
                          <a:cs typeface="Times New Roman" panose="02020603050405020304" pitchFamily="18" charset="0"/>
                        </a:rPr>
                        <a:t>11.3</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a:spLocks noChangeArrowheads="1"/>
          </p:cNvSpPr>
          <p:nvPr/>
        </p:nvSpPr>
        <p:spPr bwMode="auto">
          <a:xfrm>
            <a:off x="3563938" y="6453188"/>
            <a:ext cx="1724025" cy="4572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表</a:t>
            </a:r>
            <a:r>
              <a:rPr lang="en-US" altLang="zh-CN">
                <a:latin typeface="微软雅黑" panose="020B0503020204020204" pitchFamily="34" charset="-122"/>
                <a:ea typeface="微软雅黑" panose="020B0503020204020204" pitchFamily="34" charset="-122"/>
              </a:rPr>
              <a:t>4-30</a:t>
            </a:r>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3"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8"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txBox="1">
            <a:spLocks noChangeArrowheads="1"/>
          </p:cNvSpPr>
          <p:nvPr/>
        </p:nvSpPr>
        <p:spPr bwMode="auto">
          <a:xfrm>
            <a:off x="0" y="3654425"/>
            <a:ext cx="9324975" cy="11430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Times New Roman" panose="02020603050405020304" pitchFamily="18" charset="0"/>
                <a:ea typeface="微软雅黑" panose="020B0503020204020204" pitchFamily="34" charset="-122"/>
              </a:rPr>
              <a:t>解：由于每个季度生产出来的柴油机不一定当季交货，所以设</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ij</a:t>
            </a:r>
            <a:r>
              <a:rPr lang="zh-CN" altLang="en-US" b="1" dirty="0">
                <a:latin typeface="Times New Roman" panose="02020603050405020304" pitchFamily="18" charset="0"/>
                <a:ea typeface="微软雅黑" panose="020B0503020204020204" pitchFamily="34" charset="-122"/>
              </a:rPr>
              <a:t>为第</a:t>
            </a:r>
            <a:r>
              <a:rPr lang="en-US" altLang="zh-CN" b="1" i="1" dirty="0" err="1">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季度生产的用于第</a:t>
            </a:r>
            <a:r>
              <a:rPr lang="en-US" altLang="zh-CN" b="1" i="1" dirty="0">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季度交货的柴油机数。根据合同要求，必须满足</a:t>
            </a:r>
            <a:r>
              <a:rPr lang="zh-CN" altLang="en-US" sz="2800" dirty="0">
                <a:latin typeface="Century Schoolbook" panose="02040604050505020304" pitchFamily="18" charset="0"/>
                <a:ea typeface="微软雅黑" panose="020B0503020204020204" pitchFamily="34" charset="-122"/>
              </a:rPr>
              <a:t> </a:t>
            </a:r>
            <a:endParaRPr lang="zh-CN" altLang="en-US" sz="2800" dirty="0">
              <a:solidFill>
                <a:schemeClr val="tx2"/>
              </a:solidFill>
              <a:latin typeface="微软雅黑" panose="020B0503020204020204" pitchFamily="34" charset="-122"/>
              <a:ea typeface="微软雅黑" panose="020B0503020204020204" pitchFamily="34" charset="-122"/>
            </a:endParaRPr>
          </a:p>
        </p:txBody>
      </p:sp>
      <p:graphicFrame>
        <p:nvGraphicFramePr>
          <p:cNvPr id="3" name="Object 2"/>
          <p:cNvGraphicFramePr>
            <a:graphicFrameLocks noChangeAspect="1"/>
          </p:cNvGraphicFramePr>
          <p:nvPr/>
        </p:nvGraphicFramePr>
        <p:xfrm>
          <a:off x="2268538" y="4541838"/>
          <a:ext cx="4032250" cy="2316162"/>
        </p:xfrm>
        <a:graphic>
          <a:graphicData uri="http://schemas.openxmlformats.org/presentationml/2006/ole">
            <mc:AlternateContent xmlns:mc="http://schemas.openxmlformats.org/markup-compatibility/2006">
              <mc:Choice xmlns:v="urn:schemas-microsoft-com:vml" Requires="v">
                <p:oleObj spid="_x0000_s25606" r:id="rId3" imgW="1879600" imgH="1079500" progId="Equation.3">
                  <p:embed/>
                </p:oleObj>
              </mc:Choice>
              <mc:Fallback>
                <p:oleObj r:id="rId3" imgW="1879600" imgH="1079500" progId="Equation.3">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4541838"/>
                        <a:ext cx="4032250" cy="2316162"/>
                      </a:xfrm>
                      <a:prstGeom prst="rect">
                        <a:avLst/>
                      </a:prstGeom>
                      <a:solidFill>
                        <a:srgbClr val="FFC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8" name="Rectangle 3"/>
          <p:cNvSpPr txBox="1">
            <a:spLocks noChangeArrowheads="1"/>
          </p:cNvSpPr>
          <p:nvPr/>
        </p:nvSpPr>
        <p:spPr bwMode="auto">
          <a:xfrm>
            <a:off x="0" y="-26988"/>
            <a:ext cx="9144000" cy="223202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None/>
            </a:pPr>
            <a:r>
              <a:rPr lang="zh-CN" altLang="en-US" b="1" dirty="0">
                <a:solidFill>
                  <a:srgbClr val="FF0000"/>
                </a:solidFill>
                <a:latin typeface="Times New Roman" panose="02020603050405020304" pitchFamily="18" charset="0"/>
                <a:ea typeface="微软雅黑" panose="020B0503020204020204" pitchFamily="34" charset="-122"/>
              </a:rPr>
              <a:t>例</a:t>
            </a:r>
            <a:r>
              <a:rPr lang="en-US" altLang="zh-CN" b="1" dirty="0">
                <a:solidFill>
                  <a:srgbClr val="FF0000"/>
                </a:solidFill>
                <a:latin typeface="Times New Roman" panose="02020603050405020304" pitchFamily="18" charset="0"/>
                <a:ea typeface="微软雅黑" panose="020B0503020204020204" pitchFamily="34" charset="-122"/>
              </a:rPr>
              <a:t>4-3  </a:t>
            </a:r>
            <a:r>
              <a:rPr lang="zh-CN" altLang="en-US" b="1" dirty="0">
                <a:latin typeface="Times New Roman" panose="02020603050405020304" pitchFamily="18" charset="0"/>
                <a:ea typeface="微软雅黑" panose="020B0503020204020204" pitchFamily="34" charset="-122"/>
              </a:rPr>
              <a:t>某厂按合同规定须于当年每个季度末分别提供</a:t>
            </a:r>
            <a:r>
              <a:rPr lang="en-US" altLang="zh-CN" b="1" dirty="0">
                <a:latin typeface="Times New Roman" panose="02020603050405020304" pitchFamily="18" charset="0"/>
                <a:ea typeface="微软雅黑" panose="020B0503020204020204" pitchFamily="34" charset="-122"/>
              </a:rPr>
              <a:t>10</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台同一规格的柴油机。已知该厂各季度的生产能力及生产每台柴油机的成本如表</a:t>
            </a:r>
            <a:r>
              <a:rPr lang="en-US" altLang="zh-CN" b="1" dirty="0">
                <a:latin typeface="Times New Roman" panose="02020603050405020304" pitchFamily="18" charset="0"/>
                <a:ea typeface="微软雅黑" panose="020B0503020204020204" pitchFamily="34" charset="-122"/>
              </a:rPr>
              <a:t>4-30</a:t>
            </a:r>
            <a:r>
              <a:rPr lang="zh-CN" altLang="en-US" b="1" dirty="0">
                <a:latin typeface="Times New Roman" panose="02020603050405020304" pitchFamily="18" charset="0"/>
                <a:ea typeface="微软雅黑" panose="020B0503020204020204" pitchFamily="34" charset="-122"/>
              </a:rPr>
              <a:t>所示。又如果生产出来的柴油机当季不交货的，每台每积压一个季度需储存、维护等费用</a:t>
            </a:r>
            <a:r>
              <a:rPr lang="en-US" altLang="zh-CN" b="1" dirty="0">
                <a:latin typeface="Times New Roman" panose="02020603050405020304" pitchFamily="18" charset="0"/>
                <a:ea typeface="微软雅黑" panose="020B0503020204020204" pitchFamily="34" charset="-122"/>
              </a:rPr>
              <a:t>0.15</a:t>
            </a:r>
            <a:r>
              <a:rPr lang="zh-CN" altLang="en-US" b="1" dirty="0">
                <a:latin typeface="Times New Roman" panose="02020603050405020304" pitchFamily="18" charset="0"/>
                <a:ea typeface="微软雅黑" panose="020B0503020204020204" pitchFamily="34" charset="-122"/>
              </a:rPr>
              <a:t>万元。要求在完成合同的情况下，作出使该厂全年生产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费用最小的决策 </a:t>
            </a:r>
            <a:r>
              <a:rPr lang="en-US" altLang="zh-CN" b="1" dirty="0">
                <a:latin typeface="Times New Roman" panose="02020603050405020304" pitchFamily="18" charset="0"/>
                <a:ea typeface="微软雅黑" panose="020B0503020204020204" pitchFamily="34" charset="-122"/>
              </a:rPr>
              <a:t>.</a:t>
            </a:r>
            <a:endParaRPr lang="zh-CN" altLang="en-US" b="1" dirty="0">
              <a:latin typeface="Times New Roman" panose="02020603050405020304" pitchFamily="18" charset="0"/>
              <a:ea typeface="微软雅黑" panose="020B0503020204020204" pitchFamily="34" charset="-122"/>
            </a:endParaRPr>
          </a:p>
        </p:txBody>
      </p:sp>
      <p:pic>
        <p:nvPicPr>
          <p:cNvPr id="2150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1971675"/>
            <a:ext cx="5040312" cy="16827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924050" y="4149725"/>
            <a:ext cx="5753100" cy="21336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5" name="矩形 4"/>
          <p:cNvSpPr>
            <a:spLocks noChangeArrowheads="1"/>
          </p:cNvSpPr>
          <p:nvPr/>
        </p:nvSpPr>
        <p:spPr bwMode="auto">
          <a:xfrm>
            <a:off x="4356100" y="6308725"/>
            <a:ext cx="1168400" cy="461963"/>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表</a:t>
            </a:r>
            <a:r>
              <a:rPr lang="en-US" altLang="zh-CN">
                <a:latin typeface="微软雅黑" panose="020B0503020204020204" pitchFamily="34" charset="-122"/>
                <a:ea typeface="微软雅黑" panose="020B0503020204020204" pitchFamily="34" charset="-122"/>
              </a:rPr>
              <a:t>4-30</a:t>
            </a:r>
            <a:endParaRPr lang="zh-CN" altLang="en-US">
              <a:latin typeface="微软雅黑" panose="020B0503020204020204" pitchFamily="34" charset="-122"/>
              <a:ea typeface="微软雅黑" panose="020B0503020204020204" pitchFamily="34" charset="-122"/>
            </a:endParaRPr>
          </a:p>
        </p:txBody>
      </p:sp>
      <p:sp>
        <p:nvSpPr>
          <p:cNvPr id="22532" name="Rectangle 2"/>
          <p:cNvSpPr txBox="1">
            <a:spLocks noChangeArrowheads="1"/>
          </p:cNvSpPr>
          <p:nvPr/>
        </p:nvSpPr>
        <p:spPr bwMode="auto">
          <a:xfrm>
            <a:off x="0" y="0"/>
            <a:ext cx="9144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rPr>
              <a:t>又每季度生产的用于当季和以后各季交货的柴油机数不可能超过该季度的生产能力，故又有：</a:t>
            </a:r>
            <a:endParaRPr lang="zh-CN" altLang="en-US" sz="3200">
              <a:latin typeface="Century Schoolbook" panose="02040604050505020304" pitchFamily="18" charset="0"/>
              <a:ea typeface="微软雅黑" panose="020B0503020204020204" pitchFamily="34" charset="-122"/>
            </a:endParaRPr>
          </a:p>
        </p:txBody>
      </p:sp>
      <p:graphicFrame>
        <p:nvGraphicFramePr>
          <p:cNvPr id="3" name="Object 2"/>
          <p:cNvGraphicFramePr>
            <a:graphicFrameLocks noChangeAspect="1"/>
          </p:cNvGraphicFramePr>
          <p:nvPr/>
        </p:nvGraphicFramePr>
        <p:xfrm>
          <a:off x="468313" y="765175"/>
          <a:ext cx="3519487" cy="2082800"/>
        </p:xfrm>
        <a:graphic>
          <a:graphicData uri="http://schemas.openxmlformats.org/presentationml/2006/ole">
            <mc:AlternateContent xmlns:mc="http://schemas.openxmlformats.org/markup-compatibility/2006">
              <mc:Choice xmlns:v="urn:schemas-microsoft-com:vml" Requires="v">
                <p:oleObj spid="_x0000_s26630" r:id="rId4" imgW="1587500" imgH="939800" progId="Equation.DSMT4">
                  <p:embed/>
                </p:oleObj>
              </mc:Choice>
              <mc:Fallback>
                <p:oleObj r:id="rId4" imgW="1587500" imgH="93980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765175"/>
                        <a:ext cx="3519487"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Rectangle 2"/>
          <p:cNvSpPr txBox="1">
            <a:spLocks noChangeArrowheads="1"/>
          </p:cNvSpPr>
          <p:nvPr/>
        </p:nvSpPr>
        <p:spPr bwMode="auto">
          <a:xfrm>
            <a:off x="0" y="2924175"/>
            <a:ext cx="9144000" cy="936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pPr>
            <a:r>
              <a:rPr lang="zh-CN" altLang="en-US" b="1">
                <a:latin typeface="Times New Roman" panose="02020603050405020304" pitchFamily="18" charset="0"/>
                <a:ea typeface="微软雅黑" panose="020B0503020204020204" pitchFamily="34" charset="-122"/>
              </a:rPr>
              <a:t>第</a:t>
            </a:r>
            <a:r>
              <a:rPr lang="en-US" altLang="zh-CN" b="1" i="1">
                <a:latin typeface="Times New Roman" panose="02020603050405020304" pitchFamily="18" charset="0"/>
                <a:ea typeface="微软雅黑" panose="020B0503020204020204" pitchFamily="34" charset="-122"/>
              </a:rPr>
              <a:t>i</a:t>
            </a:r>
            <a:r>
              <a:rPr lang="zh-CN" altLang="en-US" b="1">
                <a:latin typeface="Times New Roman" panose="02020603050405020304" pitchFamily="18" charset="0"/>
                <a:ea typeface="微软雅黑" panose="020B0503020204020204" pitchFamily="34" charset="-122"/>
              </a:rPr>
              <a:t>季度生产的用于</a:t>
            </a:r>
            <a:r>
              <a:rPr lang="en-US" altLang="zh-CN" b="1" i="1">
                <a:latin typeface="Times New Roman" panose="02020603050405020304" pitchFamily="18" charset="0"/>
                <a:ea typeface="微软雅黑" panose="020B0503020204020204" pitchFamily="34" charset="-122"/>
              </a:rPr>
              <a:t>j</a:t>
            </a:r>
            <a:r>
              <a:rPr lang="zh-CN" altLang="en-US" b="1">
                <a:latin typeface="Times New Roman" panose="02020603050405020304" pitchFamily="18" charset="0"/>
                <a:ea typeface="微软雅黑" panose="020B0503020204020204" pitchFamily="34" charset="-122"/>
              </a:rPr>
              <a:t>季度交货的每台柴油机的实际成本</a:t>
            </a:r>
            <a:r>
              <a:rPr lang="en-US" altLang="zh-CN" b="1" i="1">
                <a:latin typeface="Times New Roman" panose="02020603050405020304" pitchFamily="18" charset="0"/>
                <a:ea typeface="微软雅黑" panose="020B0503020204020204" pitchFamily="34" charset="-122"/>
              </a:rPr>
              <a:t>c</a:t>
            </a:r>
            <a:r>
              <a:rPr lang="en-US" altLang="zh-CN" b="1" i="1" baseline="-30000">
                <a:latin typeface="Times New Roman" panose="02020603050405020304" pitchFamily="18" charset="0"/>
                <a:ea typeface="微软雅黑" panose="020B0503020204020204" pitchFamily="34" charset="-122"/>
              </a:rPr>
              <a:t>ij</a:t>
            </a:r>
            <a:r>
              <a:rPr lang="zh-CN" altLang="en-US" b="1">
                <a:latin typeface="Times New Roman" panose="02020603050405020304" pitchFamily="18" charset="0"/>
                <a:ea typeface="微软雅黑" panose="020B0503020204020204" pitchFamily="34" charset="-122"/>
              </a:rPr>
              <a:t>应该是该季度单位成本加上储存、维护等费用。</a:t>
            </a:r>
            <a:r>
              <a:rPr lang="en-US" altLang="zh-CN" b="1" i="1">
                <a:latin typeface="Times New Roman" panose="02020603050405020304" pitchFamily="18" charset="0"/>
                <a:ea typeface="微软雅黑" panose="020B0503020204020204" pitchFamily="34" charset="-122"/>
              </a:rPr>
              <a:t>c</a:t>
            </a:r>
            <a:r>
              <a:rPr lang="en-US" altLang="zh-CN" b="1" i="1" baseline="-30000">
                <a:latin typeface="Times New Roman" panose="02020603050405020304" pitchFamily="18" charset="0"/>
                <a:ea typeface="微软雅黑" panose="020B0503020204020204" pitchFamily="34" charset="-122"/>
              </a:rPr>
              <a:t>ij</a:t>
            </a:r>
            <a:r>
              <a:rPr lang="zh-CN" altLang="en-US" b="1">
                <a:latin typeface="Times New Roman" panose="02020603050405020304" pitchFamily="18" charset="0"/>
                <a:ea typeface="微软雅黑" panose="020B0503020204020204" pitchFamily="34" charset="-122"/>
              </a:rPr>
              <a:t>的具体数值见表</a:t>
            </a:r>
            <a:r>
              <a:rPr lang="en-US" altLang="zh-CN" b="1">
                <a:latin typeface="Times New Roman" panose="02020603050405020304" pitchFamily="18" charset="0"/>
                <a:ea typeface="微软雅黑" panose="020B0503020204020204" pitchFamily="34" charset="-122"/>
              </a:rPr>
              <a:t>4-30</a:t>
            </a:r>
          </a:p>
        </p:txBody>
      </p:sp>
      <p:pic>
        <p:nvPicPr>
          <p:cNvPr id="22535"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3688" y="549275"/>
            <a:ext cx="5040312" cy="16827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4140200" y="2205038"/>
            <a:ext cx="500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FF0000"/>
                </a:solidFill>
                <a:latin typeface="Times New Roman" panose="02020603050405020304" pitchFamily="18" charset="0"/>
                <a:ea typeface="微软雅黑" panose="020B0503020204020204" pitchFamily="34" charset="-122"/>
              </a:rPr>
              <a:t>每台每积压一个季度需储存、维护等费用</a:t>
            </a:r>
            <a:r>
              <a:rPr lang="en-US" altLang="zh-CN" sz="2000" b="1">
                <a:solidFill>
                  <a:srgbClr val="FF0000"/>
                </a:solidFill>
                <a:latin typeface="Times New Roman" panose="02020603050405020304" pitchFamily="18" charset="0"/>
                <a:ea typeface="微软雅黑" panose="020B0503020204020204" pitchFamily="34" charset="-122"/>
              </a:rPr>
              <a:t>0.15</a:t>
            </a:r>
            <a:r>
              <a:rPr lang="zh-CN" altLang="en-US" sz="2000" b="1">
                <a:solidFill>
                  <a:srgbClr val="FF0000"/>
                </a:solidFill>
                <a:latin typeface="Times New Roman" panose="02020603050405020304" pitchFamily="18" charset="0"/>
                <a:ea typeface="微软雅黑" panose="020B0503020204020204" pitchFamily="34" charset="-122"/>
              </a:rPr>
              <a:t>万元</a:t>
            </a:r>
            <a:endParaRPr lang="zh-CN" altLang="en-US" sz="2000">
              <a:solidFill>
                <a:srgbClr val="FF0000"/>
              </a:solidFill>
              <a:ea typeface="微软雅黑" panose="020B0503020204020204" pitchFamily="34" charset="-122"/>
            </a:endParaRPr>
          </a:p>
        </p:txBody>
      </p:sp>
      <p:graphicFrame>
        <p:nvGraphicFramePr>
          <p:cNvPr id="2" name="表格 1"/>
          <p:cNvGraphicFramePr/>
          <p:nvPr>
            <p:custDataLst>
              <p:tags r:id="rId2"/>
            </p:custDataLst>
          </p:nvPr>
        </p:nvGraphicFramePr>
        <p:xfrm>
          <a:off x="1924050" y="4149725"/>
          <a:ext cx="5751514" cy="2133600"/>
        </p:xfrm>
        <a:graphic>
          <a:graphicData uri="http://schemas.openxmlformats.org/drawingml/2006/table">
            <a:tbl>
              <a:tblPr firstRow="1" bandRow="1">
                <a:tableStyleId>{5940675A-B579-460E-94D1-54222C63F5DA}</a:tableStyleId>
              </a:tblPr>
              <a:tblGrid>
                <a:gridCol w="1826794">
                  <a:extLst>
                    <a:ext uri="{9D8B030D-6E8A-4147-A177-3AD203B41FA5}">
                      <a16:colId xmlns:a16="http://schemas.microsoft.com/office/drawing/2014/main" val="20000"/>
                    </a:ext>
                  </a:extLst>
                </a:gridCol>
                <a:gridCol w="897841">
                  <a:extLst>
                    <a:ext uri="{9D8B030D-6E8A-4147-A177-3AD203B41FA5}">
                      <a16:colId xmlns:a16="http://schemas.microsoft.com/office/drawing/2014/main" val="20001"/>
                    </a:ext>
                  </a:extLst>
                </a:gridCol>
                <a:gridCol w="895301">
                  <a:extLst>
                    <a:ext uri="{9D8B030D-6E8A-4147-A177-3AD203B41FA5}">
                      <a16:colId xmlns:a16="http://schemas.microsoft.com/office/drawing/2014/main" val="20002"/>
                    </a:ext>
                  </a:extLst>
                </a:gridCol>
                <a:gridCol w="895301">
                  <a:extLst>
                    <a:ext uri="{9D8B030D-6E8A-4147-A177-3AD203B41FA5}">
                      <a16:colId xmlns:a16="http://schemas.microsoft.com/office/drawing/2014/main" val="20003"/>
                    </a:ext>
                  </a:extLst>
                </a:gridCol>
                <a:gridCol w="1236277">
                  <a:extLst>
                    <a:ext uri="{9D8B030D-6E8A-4147-A177-3AD203B41FA5}">
                      <a16:colId xmlns:a16="http://schemas.microsoft.com/office/drawing/2014/main" val="20004"/>
                    </a:ext>
                  </a:extLst>
                </a:gridCol>
              </a:tblGrid>
              <a:tr h="609600">
                <a:tc>
                  <a:txBody>
                    <a:bodyPr/>
                    <a:lstStyle/>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i </a:t>
                      </a:r>
                    </a:p>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j</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5580">
                <a:tc>
                  <a:txBody>
                    <a:bodyPr/>
                    <a:lstStyle/>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Ⅰ</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Ⅱ</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Ⅲ</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10.8</a:t>
                      </a: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10.95</a:t>
                      </a:r>
                    </a:p>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11.10</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11.10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11.25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11.00</a:t>
                      </a: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11.25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11.40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11.15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11.30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7" name="直接连接符 6"/>
          <p:cNvCxnSpPr>
            <a:cxnSpLocks noChangeShapeType="1"/>
          </p:cNvCxnSpPr>
          <p:nvPr/>
        </p:nvCxnSpPr>
        <p:spPr bwMode="auto">
          <a:xfrm>
            <a:off x="1946275" y="4149725"/>
            <a:ext cx="1762125" cy="5746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3" presetClass="entr" presetSubtype="1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linds(horizontal)">
                                      <p:cBhvr>
                                        <p:cTn id="24" dur="500"/>
                                        <p:tgtEl>
                                          <p:spTgt spid="6"/>
                                        </p:tgtEl>
                                      </p:cBhvr>
                                    </p:animEffec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3" presetClass="entr" presetSubtype="1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5" grpId="0" bldLvl="0" animBg="1"/>
      <p:bldP spid="4" grpId="0" bldLvl="0" animBg="1"/>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txBox="1">
            <a:spLocks noChangeArrowheads="1"/>
          </p:cNvSpPr>
          <p:nvPr/>
        </p:nvSpPr>
        <p:spPr bwMode="auto">
          <a:xfrm>
            <a:off x="0" y="0"/>
            <a:ext cx="91440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Times New Roman" panose="02020603050405020304" pitchFamily="18" charset="0"/>
                <a:ea typeface="微软雅黑" panose="020B0503020204020204" pitchFamily="34" charset="-122"/>
              </a:rPr>
              <a:t>用</a:t>
            </a:r>
            <a:r>
              <a:rPr lang="en-US" altLang="zh-CN" b="1" i="1" dirty="0">
                <a:latin typeface="Times New Roman" panose="02020603050405020304" pitchFamily="18" charset="0"/>
                <a:ea typeface="微软雅黑" panose="020B0503020204020204" pitchFamily="34" charset="-122"/>
              </a:rPr>
              <a:t>a</a:t>
            </a:r>
            <a:r>
              <a:rPr lang="en-US" altLang="zh-CN" b="1" i="1" baseline="-30000" dirty="0">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表示该厂第</a:t>
            </a:r>
            <a:r>
              <a:rPr lang="en-US" altLang="zh-CN" b="1" i="1" dirty="0" err="1">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季度的生产能力</a:t>
            </a:r>
            <a:r>
              <a:rPr lang="zh-CN" altLang="en-US" b="1" dirty="0">
                <a:latin typeface="仿宋" panose="02010609060101010101" pitchFamily="49" charset="-122"/>
                <a:ea typeface="仿宋" panose="02010609060101010101" pitchFamily="49" charset="-122"/>
              </a:rPr>
              <a:t>，</a:t>
            </a:r>
            <a:r>
              <a:rPr lang="en-US" altLang="zh-CN" b="1" i="1" dirty="0" err="1">
                <a:latin typeface="Times New Roman" panose="02020603050405020304" pitchFamily="18" charset="0"/>
                <a:ea typeface="微软雅黑" panose="020B0503020204020204" pitchFamily="34" charset="-122"/>
              </a:rPr>
              <a:t>b</a:t>
            </a:r>
            <a:r>
              <a:rPr lang="en-US" altLang="zh-CN" b="1" i="1" baseline="-30000" dirty="0" err="1">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表示第</a:t>
            </a:r>
            <a:r>
              <a:rPr lang="en-US" altLang="zh-CN" b="1" i="1" dirty="0">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季度的合同供应量，则问题可写成：</a:t>
            </a:r>
          </a:p>
        </p:txBody>
      </p:sp>
      <p:sp>
        <p:nvSpPr>
          <p:cNvPr id="3" name="Rectangle 3"/>
          <p:cNvSpPr txBox="1">
            <a:spLocks noChangeArrowheads="1"/>
          </p:cNvSpPr>
          <p:nvPr/>
        </p:nvSpPr>
        <p:spPr bwMode="auto">
          <a:xfrm>
            <a:off x="755650" y="836613"/>
            <a:ext cx="7848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Char char=""/>
            </a:pPr>
            <a:r>
              <a:rPr lang="zh-CN" altLang="en-US" b="1">
                <a:latin typeface="Times New Roman" panose="02020603050405020304" pitchFamily="18" charset="0"/>
                <a:ea typeface="微软雅黑" panose="020B0503020204020204" pitchFamily="34" charset="-122"/>
              </a:rPr>
              <a:t>目标函数：</a:t>
            </a:r>
          </a:p>
          <a:p>
            <a:pPr>
              <a:spcBef>
                <a:spcPts val="600"/>
              </a:spcBef>
              <a:buClr>
                <a:schemeClr val="accent1"/>
              </a:buClr>
              <a:buSzPct val="70000"/>
              <a:buFont typeface="Wingdings" panose="05000000000000000000" pitchFamily="2" charset="2"/>
              <a:buChar char=""/>
            </a:pPr>
            <a:endParaRPr lang="zh-CN" altLang="en-US" b="1">
              <a:latin typeface="Times New Roman" panose="02020603050405020304" pitchFamily="18" charset="0"/>
              <a:ea typeface="微软雅黑" panose="020B0503020204020204" pitchFamily="34" charset="-122"/>
            </a:endParaRPr>
          </a:p>
          <a:p>
            <a:pPr>
              <a:spcBef>
                <a:spcPts val="600"/>
              </a:spcBef>
              <a:buClr>
                <a:schemeClr val="accent1"/>
              </a:buClr>
              <a:buSzPct val="70000"/>
              <a:buFont typeface="Wingdings" panose="05000000000000000000" pitchFamily="2" charset="2"/>
              <a:buChar char=""/>
            </a:pPr>
            <a:r>
              <a:rPr lang="zh-CN" altLang="en-US" b="1">
                <a:latin typeface="Times New Roman" panose="02020603050405020304" pitchFamily="18" charset="0"/>
                <a:ea typeface="微软雅黑" panose="020B0503020204020204" pitchFamily="34" charset="-122"/>
              </a:rPr>
              <a:t>满足</a:t>
            </a:r>
          </a:p>
        </p:txBody>
      </p:sp>
      <p:graphicFrame>
        <p:nvGraphicFramePr>
          <p:cNvPr id="4" name="Object 2"/>
          <p:cNvGraphicFramePr>
            <a:graphicFrameLocks noChangeAspect="1"/>
          </p:cNvGraphicFramePr>
          <p:nvPr/>
        </p:nvGraphicFramePr>
        <p:xfrm>
          <a:off x="2627313" y="549275"/>
          <a:ext cx="2667000" cy="1090613"/>
        </p:xfrm>
        <a:graphic>
          <a:graphicData uri="http://schemas.openxmlformats.org/presentationml/2006/ole">
            <mc:AlternateContent xmlns:mc="http://schemas.openxmlformats.org/markup-compatibility/2006">
              <mc:Choice xmlns:v="urn:schemas-microsoft-com:vml" Requires="v">
                <p:oleObj spid="_x0000_s27666" r:id="rId3" imgW="1333500" imgH="546100" progId="Equation.3">
                  <p:embed/>
                </p:oleObj>
              </mc:Choice>
              <mc:Fallback>
                <p:oleObj r:id="rId3" imgW="1333500" imgH="546100" progId="Equation.3">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549275"/>
                        <a:ext cx="266700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nvGraphicFramePr>
        <p:xfrm>
          <a:off x="2411413" y="1628775"/>
          <a:ext cx="1592262" cy="3014663"/>
        </p:xfrm>
        <a:graphic>
          <a:graphicData uri="http://schemas.openxmlformats.org/presentationml/2006/ole">
            <mc:AlternateContent xmlns:mc="http://schemas.openxmlformats.org/markup-compatibility/2006">
              <mc:Choice xmlns:v="urn:schemas-microsoft-com:vml" Requires="v">
                <p:oleObj spid="_x0000_s27667" r:id="rId5" imgW="723900" imgH="1371600" progId="Equation.DSMT4">
                  <p:embed/>
                </p:oleObj>
              </mc:Choice>
              <mc:Fallback>
                <p:oleObj r:id="rId5" imgW="723900" imgH="1371600" progId="Equation.DSMT4">
                  <p:embed/>
                  <p:pic>
                    <p:nvPicPr>
                      <p:cNvPr id="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1628775"/>
                        <a:ext cx="1592262" cy="30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558" name="Object 6"/>
          <p:cNvGraphicFramePr>
            <a:graphicFrameLocks noChangeAspect="1"/>
          </p:cNvGraphicFramePr>
          <p:nvPr/>
        </p:nvGraphicFramePr>
        <p:xfrm>
          <a:off x="1135063" y="5084763"/>
          <a:ext cx="2789237" cy="1651000"/>
        </p:xfrm>
        <a:graphic>
          <a:graphicData uri="http://schemas.openxmlformats.org/presentationml/2006/ole">
            <mc:AlternateContent xmlns:mc="http://schemas.openxmlformats.org/markup-compatibility/2006">
              <mc:Choice xmlns:v="urn:schemas-microsoft-com:vml" Requires="v">
                <p:oleObj spid="_x0000_s27668" r:id="rId7" imgW="1587500" imgH="939800" progId="Equation.DSMT4">
                  <p:embed/>
                </p:oleObj>
              </mc:Choice>
              <mc:Fallback>
                <p:oleObj r:id="rId7" imgW="1587500" imgH="939800" progId="Equation.DSMT4">
                  <p:embed/>
                  <p:pic>
                    <p:nvPicPr>
                      <p:cNvPr id="2355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5063" y="5084763"/>
                        <a:ext cx="2789237"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559" name="Object 7"/>
          <p:cNvGraphicFramePr>
            <a:graphicFrameLocks noChangeAspect="1"/>
          </p:cNvGraphicFramePr>
          <p:nvPr/>
        </p:nvGraphicFramePr>
        <p:xfrm>
          <a:off x="5632450" y="4892675"/>
          <a:ext cx="2686050" cy="1628775"/>
        </p:xfrm>
        <a:graphic>
          <a:graphicData uri="http://schemas.openxmlformats.org/presentationml/2006/ole">
            <mc:AlternateContent xmlns:mc="http://schemas.openxmlformats.org/markup-compatibility/2006">
              <mc:Choice xmlns:v="urn:schemas-microsoft-com:vml" Requires="v">
                <p:oleObj spid="_x0000_s27669" r:id="rId9" imgW="1549080" imgH="939600" progId="Equation.3">
                  <p:embed/>
                </p:oleObj>
              </mc:Choice>
              <mc:Fallback>
                <p:oleObj r:id="rId9" imgW="1549080" imgH="939600" progId="Equation.3">
                  <p:embed/>
                  <p:pic>
                    <p:nvPicPr>
                      <p:cNvPr id="2355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2450" y="4892675"/>
                        <a:ext cx="2686050" cy="1628775"/>
                      </a:xfrm>
                      <a:prstGeom prst="rect">
                        <a:avLst/>
                      </a:prstGeom>
                      <a:solidFill>
                        <a:srgbClr val="FFC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60" name="TextBox 8"/>
          <p:cNvSpPr txBox="1">
            <a:spLocks noChangeArrowheads="1"/>
          </p:cNvSpPr>
          <p:nvPr/>
        </p:nvSpPr>
        <p:spPr bwMode="auto">
          <a:xfrm>
            <a:off x="6138863" y="4437063"/>
            <a:ext cx="1657350"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合同要求</a:t>
            </a:r>
          </a:p>
        </p:txBody>
      </p:sp>
      <p:sp>
        <p:nvSpPr>
          <p:cNvPr id="23561" name="TextBox 9"/>
          <p:cNvSpPr txBox="1">
            <a:spLocks noChangeArrowheads="1"/>
          </p:cNvSpPr>
          <p:nvPr/>
        </p:nvSpPr>
        <p:spPr bwMode="auto">
          <a:xfrm>
            <a:off x="1711325" y="4652963"/>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生产能力</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dissolv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a:spLocks noChangeArrowheads="1"/>
          </p:cNvSpPr>
          <p:nvPr/>
        </p:nvSpPr>
        <p:spPr bwMode="auto">
          <a:xfrm>
            <a:off x="568325" y="4083050"/>
            <a:ext cx="7883525" cy="24257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sp>
        <p:nvSpPr>
          <p:cNvPr id="30722" name="Rectangle 2"/>
          <p:cNvSpPr txBox="1">
            <a:spLocks noChangeArrowheads="1"/>
          </p:cNvSpPr>
          <p:nvPr/>
        </p:nvSpPr>
        <p:spPr bwMode="auto">
          <a:xfrm>
            <a:off x="0" y="2303463"/>
            <a:ext cx="914400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pPr>
            <a:r>
              <a:rPr lang="zh-CN" altLang="en-US" b="1" dirty="0">
                <a:latin typeface="Times New Roman" panose="02020603050405020304" pitchFamily="18" charset="0"/>
                <a:ea typeface="微软雅黑" panose="020B0503020204020204" pitchFamily="34" charset="-122"/>
              </a:rPr>
              <a:t>显然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这是一个产大于销的运输问题模型</a:t>
            </a:r>
            <a:endParaRPr lang="en-US" altLang="zh-CN" b="1" dirty="0">
              <a:latin typeface="Times New Roman" panose="02020603050405020304" pitchFamily="18" charset="0"/>
              <a:ea typeface="微软雅黑" panose="020B0503020204020204" pitchFamily="34" charset="-122"/>
            </a:endParaRPr>
          </a:p>
          <a:p>
            <a:pPr>
              <a:lnSpc>
                <a:spcPct val="120000"/>
              </a:lnSpc>
            </a:pPr>
            <a:r>
              <a:rPr lang="zh-CN" altLang="en-US" b="1" dirty="0">
                <a:latin typeface="Times New Roman" panose="02020603050405020304" pitchFamily="18" charset="0"/>
                <a:ea typeface="微软雅黑" panose="020B0503020204020204" pitchFamily="34" charset="-122"/>
              </a:rPr>
              <a:t>注意到这个问题中当</a:t>
            </a:r>
            <a:r>
              <a:rPr lang="en-US" altLang="zh-CN" b="1" i="1" dirty="0" err="1">
                <a:latin typeface="Times New Roman" panose="02020603050405020304" pitchFamily="18" charset="0"/>
                <a:ea typeface="微软雅黑" panose="020B0503020204020204" pitchFamily="34" charset="-122"/>
              </a:rPr>
              <a:t>i</a:t>
            </a:r>
            <a:r>
              <a:rPr lang="zh-CN" altLang="en-US" b="1" i="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时</a:t>
            </a:r>
            <a:r>
              <a:rPr lang="zh-CN" altLang="en-US" b="1" dirty="0">
                <a:latin typeface="仿宋" panose="02010609060101010101" pitchFamily="49" charset="-122"/>
                <a:ea typeface="仿宋" panose="02010609060101010101" pitchFamily="49" charset="-122"/>
              </a:rPr>
              <a:t>，</a:t>
            </a:r>
            <a:r>
              <a:rPr lang="en-US" altLang="zh-CN" b="1" i="1" dirty="0" err="1">
                <a:latin typeface="Times New Roman" panose="02020603050405020304" pitchFamily="18" charset="0"/>
                <a:ea typeface="微软雅黑" panose="020B0503020204020204" pitchFamily="34" charset="-122"/>
              </a:rPr>
              <a:t>x</a:t>
            </a:r>
            <a:r>
              <a:rPr lang="en-US" altLang="zh-CN" b="1" i="1" baseline="-30000" dirty="0" err="1">
                <a:latin typeface="Times New Roman" panose="02020603050405020304" pitchFamily="18" charset="0"/>
                <a:ea typeface="微软雅黑" panose="020B0503020204020204" pitchFamily="34" charset="-122"/>
              </a:rPr>
              <a:t>ij</a:t>
            </a:r>
            <a:r>
              <a:rPr lang="en-US" altLang="zh-CN" b="1" dirty="0">
                <a:latin typeface="Times New Roman" panose="02020603050405020304" pitchFamily="18" charset="0"/>
                <a:ea typeface="微软雅黑" panose="020B0503020204020204" pitchFamily="34" charset="-122"/>
              </a:rPr>
              <a:t>=0</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所以应令对应的</a:t>
            </a:r>
            <a:r>
              <a:rPr lang="en-US" altLang="zh-CN" b="1" i="1" dirty="0" err="1">
                <a:latin typeface="Times New Roman" panose="02020603050405020304" pitchFamily="18" charset="0"/>
                <a:ea typeface="微软雅黑" panose="020B0503020204020204" pitchFamily="34" charset="-122"/>
              </a:rPr>
              <a:t>c</a:t>
            </a:r>
            <a:r>
              <a:rPr lang="en-US" altLang="zh-CN" b="1" i="1" baseline="-30000" dirty="0" err="1">
                <a:latin typeface="Times New Roman" panose="02020603050405020304" pitchFamily="18" charset="0"/>
                <a:ea typeface="微软雅黑" panose="020B0503020204020204" pitchFamily="34" charset="-122"/>
              </a:rPr>
              <a:t>ij</a:t>
            </a:r>
            <a:r>
              <a:rPr lang="en-US" altLang="zh-CN" b="1" dirty="0">
                <a:latin typeface="Times New Roman" panose="02020603050405020304" pitchFamily="18" charset="0"/>
                <a:ea typeface="微软雅黑" panose="020B0503020204020204" pitchFamily="34" charset="-122"/>
              </a:rPr>
              <a:t>=</a:t>
            </a:r>
            <a:r>
              <a:rPr lang="en-US" altLang="zh-CN" b="1" i="1" dirty="0">
                <a:latin typeface="Times New Roman" panose="02020603050405020304" pitchFamily="18" charset="0"/>
                <a:ea typeface="微软雅黑" panose="020B0503020204020204" pitchFamily="34" charset="-122"/>
              </a:rPr>
              <a:t>M</a:t>
            </a:r>
            <a:endParaRPr lang="en-US" altLang="zh-CN" b="1" dirty="0">
              <a:latin typeface="Times New Roman" panose="02020603050405020304" pitchFamily="18" charset="0"/>
              <a:ea typeface="微软雅黑" panose="020B0503020204020204" pitchFamily="34" charset="-122"/>
            </a:endParaRPr>
          </a:p>
          <a:p>
            <a:pPr>
              <a:lnSpc>
                <a:spcPct val="120000"/>
              </a:lnSpc>
            </a:pPr>
            <a:r>
              <a:rPr lang="zh-CN" altLang="en-US" b="1" dirty="0">
                <a:latin typeface="Times New Roman" panose="02020603050405020304" pitchFamily="18" charset="0"/>
                <a:ea typeface="微软雅黑" panose="020B0503020204020204" pitchFamily="34" charset="-122"/>
              </a:rPr>
              <a:t>再加上一个假想的需求</a:t>
            </a:r>
            <a:r>
              <a:rPr lang="en-US" altLang="zh-CN" b="1" i="1" dirty="0">
                <a:latin typeface="Times New Roman" panose="02020603050405020304" pitchFamily="18" charset="0"/>
                <a:ea typeface="微软雅黑" panose="020B0503020204020204" pitchFamily="34" charset="-122"/>
              </a:rPr>
              <a:t>D</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就可以把这个问题变成产销平衡的运输模型</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并写出产销平衡表和单位运价表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合在一起</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见表</a:t>
            </a:r>
            <a:r>
              <a:rPr lang="en-US" altLang="zh-CN" b="1" dirty="0">
                <a:latin typeface="Times New Roman" panose="02020603050405020304" pitchFamily="18" charset="0"/>
                <a:ea typeface="微软雅黑" panose="020B0503020204020204" pitchFamily="34" charset="-122"/>
              </a:rPr>
              <a:t>4-31)</a:t>
            </a:r>
            <a:endParaRPr lang="zh-CN" altLang="en-US" b="1" dirty="0">
              <a:latin typeface="Times New Roman" panose="02020603050405020304" pitchFamily="18" charset="0"/>
              <a:ea typeface="微软雅黑" panose="020B0503020204020204" pitchFamily="34" charset="-122"/>
            </a:endParaRPr>
          </a:p>
        </p:txBody>
      </p:sp>
      <p:sp>
        <p:nvSpPr>
          <p:cNvPr id="30723" name="矩形 3"/>
          <p:cNvSpPr>
            <a:spLocks noChangeArrowheads="1"/>
          </p:cNvSpPr>
          <p:nvPr/>
        </p:nvSpPr>
        <p:spPr bwMode="auto">
          <a:xfrm>
            <a:off x="3916363" y="6548438"/>
            <a:ext cx="1176337" cy="309562"/>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latin typeface="微软雅黑" panose="020B0503020204020204" pitchFamily="34" charset="-122"/>
                <a:ea typeface="微软雅黑" panose="020B0503020204020204" pitchFamily="34" charset="-122"/>
              </a:rPr>
              <a:t>表</a:t>
            </a:r>
            <a:r>
              <a:rPr lang="en-US" altLang="zh-CN" sz="1800">
                <a:latin typeface="微软雅黑" panose="020B0503020204020204" pitchFamily="34" charset="-122"/>
                <a:ea typeface="微软雅黑" panose="020B0503020204020204" pitchFamily="34" charset="-122"/>
              </a:rPr>
              <a:t>4-32</a:t>
            </a:r>
            <a:endParaRPr lang="zh-CN" altLang="en-US" sz="1800">
              <a:latin typeface="微软雅黑" panose="020B0503020204020204" pitchFamily="34" charset="-122"/>
              <a:ea typeface="微软雅黑" panose="020B0503020204020204" pitchFamily="34" charset="-122"/>
            </a:endParaRPr>
          </a:p>
        </p:txBody>
      </p:sp>
      <p:graphicFrame>
        <p:nvGraphicFramePr>
          <p:cNvPr id="24581" name="Object 6"/>
          <p:cNvGraphicFramePr>
            <a:graphicFrameLocks noChangeAspect="1"/>
          </p:cNvGraphicFramePr>
          <p:nvPr/>
        </p:nvGraphicFramePr>
        <p:xfrm>
          <a:off x="5508625" y="476250"/>
          <a:ext cx="2789238" cy="1651000"/>
        </p:xfrm>
        <a:graphic>
          <a:graphicData uri="http://schemas.openxmlformats.org/presentationml/2006/ole">
            <mc:AlternateContent xmlns:mc="http://schemas.openxmlformats.org/markup-compatibility/2006">
              <mc:Choice xmlns:v="urn:schemas-microsoft-com:vml" Requires="v">
                <p:oleObj spid="_x0000_s28682" r:id="rId4" imgW="1587500" imgH="939800" progId="Equation.DSMT4">
                  <p:embed/>
                </p:oleObj>
              </mc:Choice>
              <mc:Fallback>
                <p:oleObj r:id="rId4" imgW="1587500" imgH="939800" progId="Equation.DSMT4">
                  <p:embed/>
                  <p:pic>
                    <p:nvPicPr>
                      <p:cNvPr id="2458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76250"/>
                        <a:ext cx="2789238"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2" name="Object 7"/>
          <p:cNvGraphicFramePr>
            <a:graphicFrameLocks noChangeAspect="1"/>
          </p:cNvGraphicFramePr>
          <p:nvPr/>
        </p:nvGraphicFramePr>
        <p:xfrm>
          <a:off x="1258888" y="379413"/>
          <a:ext cx="3257550" cy="1870075"/>
        </p:xfrm>
        <a:graphic>
          <a:graphicData uri="http://schemas.openxmlformats.org/presentationml/2006/ole">
            <mc:AlternateContent xmlns:mc="http://schemas.openxmlformats.org/markup-compatibility/2006">
              <mc:Choice xmlns:v="urn:schemas-microsoft-com:vml" Requires="v">
                <p:oleObj spid="_x0000_s28683" r:id="rId6" imgW="1879600" imgH="1079500" progId="Equation.3">
                  <p:embed/>
                </p:oleObj>
              </mc:Choice>
              <mc:Fallback>
                <p:oleObj r:id="rId6" imgW="1879600" imgH="1079500" progId="Equation.3">
                  <p:embed/>
                  <p:pic>
                    <p:nvPicPr>
                      <p:cNvPr id="2458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379413"/>
                        <a:ext cx="3257550" cy="1870075"/>
                      </a:xfrm>
                      <a:prstGeom prst="rect">
                        <a:avLst/>
                      </a:prstGeom>
                      <a:solidFill>
                        <a:srgbClr val="FFC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3" name="TextBox 8"/>
          <p:cNvSpPr txBox="1">
            <a:spLocks noChangeArrowheads="1"/>
          </p:cNvSpPr>
          <p:nvPr/>
        </p:nvSpPr>
        <p:spPr bwMode="auto">
          <a:xfrm>
            <a:off x="2051050" y="44450"/>
            <a:ext cx="1657350"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合同要求</a:t>
            </a:r>
          </a:p>
        </p:txBody>
      </p:sp>
      <p:sp>
        <p:nvSpPr>
          <p:cNvPr id="24584" name="TextBox 9"/>
          <p:cNvSpPr txBox="1">
            <a:spLocks noChangeArrowheads="1"/>
          </p:cNvSpPr>
          <p:nvPr/>
        </p:nvSpPr>
        <p:spPr bwMode="auto">
          <a:xfrm>
            <a:off x="6084888" y="44450"/>
            <a:ext cx="1655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生产能力</a:t>
            </a:r>
          </a:p>
        </p:txBody>
      </p:sp>
      <p:graphicFrame>
        <p:nvGraphicFramePr>
          <p:cNvPr id="2" name="表格 1"/>
          <p:cNvGraphicFramePr/>
          <p:nvPr>
            <p:custDataLst>
              <p:tags r:id="rId2"/>
            </p:custDataLst>
          </p:nvPr>
        </p:nvGraphicFramePr>
        <p:xfrm>
          <a:off x="573088" y="4070350"/>
          <a:ext cx="7878760" cy="2438400"/>
        </p:xfrm>
        <a:graphic>
          <a:graphicData uri="http://schemas.openxmlformats.org/drawingml/2006/table">
            <a:tbl>
              <a:tblPr firstRow="1" bandRow="1">
                <a:tableStyleId>{5940675A-B579-460E-94D1-54222C63F5DA}</a:tableStyleId>
              </a:tblPr>
              <a:tblGrid>
                <a:gridCol w="1748719">
                  <a:extLst>
                    <a:ext uri="{9D8B030D-6E8A-4147-A177-3AD203B41FA5}">
                      <a16:colId xmlns:a16="http://schemas.microsoft.com/office/drawing/2014/main" val="20000"/>
                    </a:ext>
                  </a:extLst>
                </a:gridCol>
                <a:gridCol w="861660">
                  <a:extLst>
                    <a:ext uri="{9D8B030D-6E8A-4147-A177-3AD203B41FA5}">
                      <a16:colId xmlns:a16="http://schemas.microsoft.com/office/drawing/2014/main" val="20001"/>
                    </a:ext>
                  </a:extLst>
                </a:gridCol>
                <a:gridCol w="857850">
                  <a:extLst>
                    <a:ext uri="{9D8B030D-6E8A-4147-A177-3AD203B41FA5}">
                      <a16:colId xmlns:a16="http://schemas.microsoft.com/office/drawing/2014/main" val="20002"/>
                    </a:ext>
                  </a:extLst>
                </a:gridCol>
                <a:gridCol w="857215">
                  <a:extLst>
                    <a:ext uri="{9D8B030D-6E8A-4147-A177-3AD203B41FA5}">
                      <a16:colId xmlns:a16="http://schemas.microsoft.com/office/drawing/2014/main" val="20003"/>
                    </a:ext>
                  </a:extLst>
                </a:gridCol>
                <a:gridCol w="1184227">
                  <a:extLst>
                    <a:ext uri="{9D8B030D-6E8A-4147-A177-3AD203B41FA5}">
                      <a16:colId xmlns:a16="http://schemas.microsoft.com/office/drawing/2014/main" val="20004"/>
                    </a:ext>
                  </a:extLst>
                </a:gridCol>
                <a:gridCol w="1184862">
                  <a:extLst>
                    <a:ext uri="{9D8B030D-6E8A-4147-A177-3AD203B41FA5}">
                      <a16:colId xmlns:a16="http://schemas.microsoft.com/office/drawing/2014/main" val="20005"/>
                    </a:ext>
                  </a:extLst>
                </a:gridCol>
                <a:gridCol w="1184227">
                  <a:extLst>
                    <a:ext uri="{9D8B030D-6E8A-4147-A177-3AD203B41FA5}">
                      <a16:colId xmlns:a16="http://schemas.microsoft.com/office/drawing/2014/main" val="20006"/>
                    </a:ext>
                  </a:extLst>
                </a:gridCol>
              </a:tblGrid>
              <a:tr h="609600">
                <a:tc>
                  <a:txBody>
                    <a:bodyPr/>
                    <a:lstStyle/>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0">
                          <a:latin typeface="Times New Roman" panose="02020603050405020304" pitchFamily="18" charset="0"/>
                          <a:ea typeface="宋体" panose="02010600030101010101" pitchFamily="2" charset="-122"/>
                          <a:cs typeface="Times New Roman" panose="02020603050405020304" pitchFamily="18" charset="0"/>
                        </a:rPr>
                        <a:t>销地</a:t>
                      </a:r>
                      <a:endParaRPr 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0">
                          <a:latin typeface="Times New Roman" panose="02020603050405020304" pitchFamily="18" charset="0"/>
                          <a:ea typeface="宋体" panose="02010600030101010101" pitchFamily="2" charset="-122"/>
                          <a:cs typeface="Times New Roman" panose="02020603050405020304" pitchFamily="18" charset="0"/>
                        </a:rPr>
                        <a:t>产地</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D</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rPr>
                        <a:t>产量</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4000">
                <a:tc>
                  <a:txBody>
                    <a:bodyPr/>
                    <a:lstStyle/>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Ⅰ</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Ⅱ</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Ⅲ</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10.8</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10.95</a:t>
                      </a:r>
                    </a:p>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11.10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11.10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11.25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11.00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11.25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11.40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11.15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11.30</a:t>
                      </a: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25</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35</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fontAlgn="auto">
                        <a:lnSpc>
                          <a:spcPct val="100000"/>
                        </a:lnSpc>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sym typeface="+mn-ea"/>
                        </a:rPr>
                        <a:t>销量</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15</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25</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4618" name="直接连接符 3"/>
          <p:cNvCxnSpPr>
            <a:cxnSpLocks noChangeShapeType="1"/>
          </p:cNvCxnSpPr>
          <p:nvPr/>
        </p:nvCxnSpPr>
        <p:spPr bwMode="auto">
          <a:xfrm>
            <a:off x="547688" y="4087813"/>
            <a:ext cx="1720850" cy="5651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1" end="1"/>
                                            </p:txEl>
                                          </p:spTgt>
                                        </p:tgtEl>
                                        <p:attrNameLst>
                                          <p:attrName>style.visibility</p:attrName>
                                        </p:attrNameLst>
                                      </p:cBhvr>
                                      <p:to>
                                        <p:strVal val="visible"/>
                                      </p:to>
                                    </p:set>
                                    <p:animEffect transition="in" filter="blinds(horizontal)">
                                      <p:cBhvr>
                                        <p:cTn id="7" dur="500"/>
                                        <p:tgtEl>
                                          <p:spTgt spid="3072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2">
                                            <p:txEl>
                                              <p:pRg st="2" end="2"/>
                                            </p:txEl>
                                          </p:spTgt>
                                        </p:tgtEl>
                                        <p:attrNameLst>
                                          <p:attrName>style.visibility</p:attrName>
                                        </p:attrNameLst>
                                      </p:cBhvr>
                                      <p:to>
                                        <p:strVal val="visible"/>
                                      </p:to>
                                    </p:set>
                                    <p:animEffect transition="in" filter="blinds(horizontal)">
                                      <p:cBhvr>
                                        <p:cTn id="12" dur="500"/>
                                        <p:tgtEl>
                                          <p:spTgt spid="3072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618"/>
                                        </p:tgtEl>
                                        <p:attrNameLst>
                                          <p:attrName>style.visibility</p:attrName>
                                        </p:attrNameLst>
                                      </p:cBhvr>
                                      <p:to>
                                        <p:strVal val="visible"/>
                                      </p:to>
                                    </p:set>
                                  </p:childTnLst>
                                </p:cTn>
                              </p:par>
                              <p:par>
                                <p:cTn id="21" presetID="3" presetClass="entr" presetSubtype="10" fill="hold" grpId="0" nodeType="withEffect">
                                  <p:stCondLst>
                                    <p:cond delay="0"/>
                                  </p:stCondLst>
                                  <p:childTnLst>
                                    <p:set>
                                      <p:cBhvr>
                                        <p:cTn id="22" dur="1" fill="hold">
                                          <p:stCondLst>
                                            <p:cond delay="0"/>
                                          </p:stCondLst>
                                        </p:cTn>
                                        <p:tgtEl>
                                          <p:spTgt spid="30723"/>
                                        </p:tgtEl>
                                        <p:attrNameLst>
                                          <p:attrName>style.visibility</p:attrName>
                                        </p:attrNameLst>
                                      </p:cBhvr>
                                      <p:to>
                                        <p:strVal val="visible"/>
                                      </p:to>
                                    </p:set>
                                    <p:animEffect transition="in" filter="blinds(horizontal)">
                                      <p:cBhvr>
                                        <p:cTn id="23"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0723"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p:cNvSpPr txBox="1">
            <a:spLocks noChangeArrowheads="1"/>
          </p:cNvSpPr>
          <p:nvPr/>
        </p:nvSpPr>
        <p:spPr bwMode="auto">
          <a:xfrm>
            <a:off x="468313" y="3933825"/>
            <a:ext cx="8239125" cy="24320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2" name="Rectangle 3"/>
          <p:cNvSpPr txBox="1">
            <a:spLocks noChangeArrowheads="1"/>
          </p:cNvSpPr>
          <p:nvPr/>
        </p:nvSpPr>
        <p:spPr bwMode="auto">
          <a:xfrm>
            <a:off x="0" y="0"/>
            <a:ext cx="91440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经用表上作业法求解</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可得多个最优方案</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4-33</a:t>
            </a:r>
            <a:r>
              <a:rPr lang="zh-CN" altLang="en-US" b="1" dirty="0">
                <a:latin typeface="Times New Roman" panose="02020603050405020304" pitchFamily="18" charset="0"/>
                <a:ea typeface="微软雅黑" panose="020B0503020204020204" pitchFamily="34" charset="-122"/>
              </a:rPr>
              <a:t>中列出最优方案之一</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即第</a:t>
            </a:r>
            <a:r>
              <a:rPr lang="en-US" altLang="zh-CN" b="1" dirty="0">
                <a:latin typeface="Times New Roman" panose="02020603050405020304" pitchFamily="18" charset="0"/>
                <a:ea typeface="微软雅黑" panose="020B0503020204020204" pitchFamily="34" charset="-122"/>
              </a:rPr>
              <a:t>Ⅰ</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25</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台当季交货</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Times New Roman" panose="02020603050405020304" pitchFamily="18" charset="0"/>
                <a:ea typeface="微软雅黑" panose="020B0503020204020204" pitchFamily="34" charset="-122"/>
              </a:rPr>
              <a:t>台</a:t>
            </a:r>
            <a:r>
              <a:rPr lang="en-US" altLang="zh-CN" b="1" dirty="0">
                <a:latin typeface="Times New Roman" panose="02020603050405020304" pitchFamily="18" charset="0"/>
                <a:ea typeface="微软雅黑" panose="020B0503020204020204" pitchFamily="34" charset="-122"/>
              </a:rPr>
              <a:t>Ⅱ</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Ⅱ</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5</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用于</a:t>
            </a:r>
            <a:r>
              <a:rPr lang="en-US" altLang="zh-CN" b="1" dirty="0">
                <a:latin typeface="Times New Roman" panose="02020603050405020304" pitchFamily="18" charset="0"/>
                <a:ea typeface="微软雅黑" panose="020B0503020204020204" pitchFamily="34" charset="-122"/>
              </a:rPr>
              <a:t>Ⅲ</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Ⅲ</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30</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其中</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台于当季交货</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台于</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Ⅳ</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于当季交货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按此方案生产</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该厂总的生产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的费用为</a:t>
            </a:r>
            <a:r>
              <a:rPr lang="en-US" altLang="zh-CN" b="1" dirty="0">
                <a:latin typeface="Times New Roman" panose="02020603050405020304" pitchFamily="18" charset="0"/>
                <a:ea typeface="微软雅黑" panose="020B0503020204020204" pitchFamily="34" charset="-122"/>
              </a:rPr>
              <a:t>773</a:t>
            </a:r>
            <a:r>
              <a:rPr lang="zh-CN" altLang="en-US" b="1" dirty="0">
                <a:latin typeface="Times New Roman" panose="02020603050405020304" pitchFamily="18" charset="0"/>
                <a:ea typeface="微软雅黑" panose="020B0503020204020204" pitchFamily="34" charset="-122"/>
              </a:rPr>
              <a:t>万元</a:t>
            </a:r>
          </a:p>
        </p:txBody>
      </p:sp>
      <p:sp>
        <p:nvSpPr>
          <p:cNvPr id="3" name="TextBox 2"/>
          <p:cNvSpPr txBox="1">
            <a:spLocks noChangeArrowheads="1"/>
          </p:cNvSpPr>
          <p:nvPr/>
        </p:nvSpPr>
        <p:spPr bwMode="auto">
          <a:xfrm>
            <a:off x="3563938" y="6453188"/>
            <a:ext cx="175260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表</a:t>
            </a:r>
            <a:r>
              <a:rPr lang="en-US" altLang="zh-CN">
                <a:latin typeface="微软雅黑" panose="020B0503020204020204" pitchFamily="34" charset="-122"/>
                <a:ea typeface="微软雅黑" panose="020B0503020204020204" pitchFamily="34" charset="-122"/>
              </a:rPr>
              <a:t>4-33</a:t>
            </a:r>
            <a:endParaRPr lang="zh-CN" altLang="en-US">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1"/>
            </p:custDataLst>
          </p:nvPr>
        </p:nvGraphicFramePr>
        <p:xfrm>
          <a:off x="446088" y="3933825"/>
          <a:ext cx="8251826" cy="2438400"/>
        </p:xfrm>
        <a:graphic>
          <a:graphicData uri="http://schemas.openxmlformats.org/drawingml/2006/table">
            <a:tbl>
              <a:tblPr firstRow="1" bandRow="1">
                <a:tableStyleId>{5940675A-B579-460E-94D1-54222C63F5DA}</a:tableStyleId>
              </a:tblPr>
              <a:tblGrid>
                <a:gridCol w="2122007">
                  <a:extLst>
                    <a:ext uri="{9D8B030D-6E8A-4147-A177-3AD203B41FA5}">
                      <a16:colId xmlns:a16="http://schemas.microsoft.com/office/drawing/2014/main" val="20000"/>
                    </a:ext>
                  </a:extLst>
                </a:gridCol>
                <a:gridCol w="861629">
                  <a:extLst>
                    <a:ext uri="{9D8B030D-6E8A-4147-A177-3AD203B41FA5}">
                      <a16:colId xmlns:a16="http://schemas.microsoft.com/office/drawing/2014/main" val="20001"/>
                    </a:ext>
                  </a:extLst>
                </a:gridCol>
                <a:gridCol w="857819">
                  <a:extLst>
                    <a:ext uri="{9D8B030D-6E8A-4147-A177-3AD203B41FA5}">
                      <a16:colId xmlns:a16="http://schemas.microsoft.com/office/drawing/2014/main" val="20002"/>
                    </a:ext>
                  </a:extLst>
                </a:gridCol>
                <a:gridCol w="857184">
                  <a:extLst>
                    <a:ext uri="{9D8B030D-6E8A-4147-A177-3AD203B41FA5}">
                      <a16:colId xmlns:a16="http://schemas.microsoft.com/office/drawing/2014/main" val="20003"/>
                    </a:ext>
                  </a:extLst>
                </a:gridCol>
                <a:gridCol w="1184184">
                  <a:extLst>
                    <a:ext uri="{9D8B030D-6E8A-4147-A177-3AD203B41FA5}">
                      <a16:colId xmlns:a16="http://schemas.microsoft.com/office/drawing/2014/main" val="20004"/>
                    </a:ext>
                  </a:extLst>
                </a:gridCol>
                <a:gridCol w="1184819">
                  <a:extLst>
                    <a:ext uri="{9D8B030D-6E8A-4147-A177-3AD203B41FA5}">
                      <a16:colId xmlns:a16="http://schemas.microsoft.com/office/drawing/2014/main" val="20005"/>
                    </a:ext>
                  </a:extLst>
                </a:gridCol>
                <a:gridCol w="1184184">
                  <a:extLst>
                    <a:ext uri="{9D8B030D-6E8A-4147-A177-3AD203B41FA5}">
                      <a16:colId xmlns:a16="http://schemas.microsoft.com/office/drawing/2014/main" val="20006"/>
                    </a:ext>
                  </a:extLst>
                </a:gridCol>
              </a:tblGrid>
              <a:tr h="609600">
                <a:tc>
                  <a:txBody>
                    <a:bodyPr/>
                    <a:lstStyle/>
                    <a:p>
                      <a:pPr indent="0">
                        <a:buNone/>
                      </a:pPr>
                      <a:r>
                        <a:rPr lang="en-US" sz="2000" b="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0">
                          <a:latin typeface="Times New Roman" panose="02020603050405020304" pitchFamily="18" charset="0"/>
                          <a:ea typeface="宋体" panose="02010600030101010101" pitchFamily="2" charset="-122"/>
                          <a:cs typeface="Times New Roman" panose="02020603050405020304" pitchFamily="18" charset="0"/>
                        </a:rPr>
                        <a:t>销售季度</a:t>
                      </a:r>
                      <a:endParaRPr 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rPr>
                        <a:t>生产季度</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Ⅰ</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Ⅱ</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Ⅲ</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Times New Roman" panose="02020603050405020304" pitchFamily="18" charset="0"/>
                          <a:ea typeface="宋体" panose="02010600030101010101" pitchFamily="2" charset="-122"/>
                          <a:cs typeface="Times New Roman" panose="02020603050405020304" pitchFamily="18" charset="0"/>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D</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rPr>
                        <a:t>产量</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4000">
                <a:tc>
                  <a:txBody>
                    <a:bodyPr/>
                    <a:lstStyle/>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Ⅰ</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Ⅱ</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Ⅲ</a:t>
                      </a:r>
                    </a:p>
                    <a:p>
                      <a:pPr indent="0" algn="ctr" fontAlgn="auto">
                        <a:lnSpc>
                          <a:spcPct val="100000"/>
                        </a:lnSpc>
                        <a:buNone/>
                      </a:pP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Ⅳ</a:t>
                      </a:r>
                      <a:endParaRPr lang="en-US" altLang="en-US" sz="2000" b="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p>
                      <a:pPr indent="0" algn="ctr" fontAlgn="auto">
                        <a:lnSpc>
                          <a:spcPct val="100000"/>
                        </a:lnSpc>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a:latin typeface="Times New Roman" panose="02020603050405020304" pitchFamily="18" charset="0"/>
                          <a:ea typeface="宋体" panose="02010600030101010101" pitchFamily="2" charset="-122"/>
                          <a:cs typeface="Times New Roman" panose="02020603050405020304" pitchFamily="18" charset="0"/>
                        </a:rPr>
                        <a:t>15</a:t>
                      </a: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0</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5</a:t>
                      </a:r>
                    </a:p>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a:latin typeface="Times New Roman" panose="02020603050405020304" pitchFamily="18" charset="0"/>
                        <a:ea typeface="宋体" panose="02010600030101010101" pitchFamily="2" charset="-122"/>
                        <a:cs typeface="Times New Roman" panose="02020603050405020304" pitchFamily="18" charset="0"/>
                      </a:endParaRP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25</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35</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fontAlgn="auto">
                        <a:lnSpc>
                          <a:spcPct val="100000"/>
                        </a:lnSpc>
                        <a:buNone/>
                      </a:pPr>
                      <a:r>
                        <a:rPr lang="zh-CN" altLang="en-US" sz="2000" b="0">
                          <a:latin typeface="Times New Roman" panose="02020603050405020304" pitchFamily="18" charset="0"/>
                          <a:ea typeface="宋体" panose="02010600030101010101" pitchFamily="2" charset="-122"/>
                          <a:cs typeface="Times New Roman" panose="02020603050405020304" pitchFamily="18" charset="0"/>
                          <a:sym typeface="+mn-ea"/>
                        </a:rPr>
                        <a:t>销量</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15</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25</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20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30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a:latin typeface="Times New Roman" panose="02020603050405020304" pitchFamily="18" charset="0"/>
                          <a:ea typeface="宋体" panose="02010600030101010101" pitchFamily="2" charset="-122"/>
                          <a:cs typeface="Times New Roman" panose="02020603050405020304" pitchFamily="18" charset="0"/>
                        </a:rPr>
                        <a:t>100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6" name="直接连接符 5"/>
          <p:cNvCxnSpPr>
            <a:cxnSpLocks noChangeShapeType="1"/>
          </p:cNvCxnSpPr>
          <p:nvPr/>
        </p:nvCxnSpPr>
        <p:spPr bwMode="auto">
          <a:xfrm>
            <a:off x="452438" y="3967163"/>
            <a:ext cx="2103437" cy="61436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dissolve">
                                      <p:cBhvr>
                                        <p:cTn id="20" dur="500"/>
                                        <p:tgtEl>
                                          <p:spTgt spid="2">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dissolve">
                                      <p:cBhvr>
                                        <p:cTn id="25" dur="500"/>
                                        <p:tgtEl>
                                          <p:spTgt spid="2">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dissolve">
                                      <p:cBhvr>
                                        <p:cTn id="30" dur="500"/>
                                        <p:tgtEl>
                                          <p:spTgt spid="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dissolve">
                                      <p:cBhvr>
                                        <p:cTn id="35" dur="500"/>
                                        <p:tgtEl>
                                          <p:spTgt spid="2">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dissolve">
                                      <p:cBhvr>
                                        <p:cTn id="4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3"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692696"/>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a:solidFill>
                  <a:srgbClr val="0033CC"/>
                </a:solidFill>
                <a:latin typeface="微软雅黑" panose="020B0503020204020204" pitchFamily="34" charset="-122"/>
                <a:ea typeface="微软雅黑" panose="020B0503020204020204" pitchFamily="34" charset="-122"/>
              </a:rPr>
              <a:t>例 </a:t>
            </a:r>
            <a:r>
              <a:rPr kumimoji="0" lang="en-US" altLang="zh-CN" sz="3200" b="1">
                <a:solidFill>
                  <a:srgbClr val="0033CC"/>
                </a:solidFill>
                <a:latin typeface="微软雅黑" panose="020B0503020204020204" pitchFamily="34" charset="-122"/>
                <a:ea typeface="微软雅黑" panose="020B0503020204020204" pitchFamily="34" charset="-122"/>
              </a:rPr>
              <a:t>4-6</a:t>
            </a:r>
            <a:endParaRPr kumimoji="0" lang="zh-CN" altLang="en-US" sz="3200" b="1">
              <a:solidFill>
                <a:srgbClr val="0033CC"/>
              </a:solidFill>
              <a:latin typeface="微软雅黑" panose="020B0503020204020204" pitchFamily="34" charset="-122"/>
              <a:ea typeface="微软雅黑" panose="020B0503020204020204" pitchFamily="34" charset="-122"/>
            </a:endParaRPr>
          </a:p>
        </p:txBody>
      </p:sp>
      <p:sp>
        <p:nvSpPr>
          <p:cNvPr id="14339" name="Rectangle 2"/>
          <p:cNvSpPr txBox="1">
            <a:spLocks noChangeArrowheads="1"/>
          </p:cNvSpPr>
          <p:nvPr/>
        </p:nvSpPr>
        <p:spPr bwMode="auto">
          <a:xfrm>
            <a:off x="107504"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 </a:t>
            </a:r>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4340" name="文本框 6"/>
          <p:cNvSpPr txBox="1">
            <a:spLocks noChangeArrowheads="1"/>
          </p:cNvSpPr>
          <p:nvPr/>
        </p:nvSpPr>
        <p:spPr bwMode="auto">
          <a:xfrm>
            <a:off x="467544" y="1205081"/>
            <a:ext cx="8289925" cy="1130246"/>
          </a:xfrm>
          <a:prstGeom prst="rect">
            <a:avLst/>
          </a:prstGeom>
          <a:solidFill>
            <a:schemeClr val="accent1">
              <a:lumMod val="20000"/>
              <a:lumOff val="80000"/>
            </a:schemeClr>
          </a:solidFill>
          <a:ln>
            <a:noFill/>
          </a:ln>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软件计算</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个产地</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个销地的最小费用运输问题。产销单位运价如下表。</a:t>
            </a:r>
          </a:p>
        </p:txBody>
      </p:sp>
      <p:graphicFrame>
        <p:nvGraphicFramePr>
          <p:cNvPr id="7" name="表格 6"/>
          <p:cNvGraphicFramePr>
            <a:graphicFrameLocks noGrp="1"/>
          </p:cNvGraphicFramePr>
          <p:nvPr>
            <p:custDataLst>
              <p:tags r:id="rId1"/>
            </p:custDataLst>
          </p:nvPr>
        </p:nvGraphicFramePr>
        <p:xfrm>
          <a:off x="1042988" y="2442121"/>
          <a:ext cx="7417444" cy="3743953"/>
        </p:xfrm>
        <a:graphic>
          <a:graphicData uri="http://schemas.openxmlformats.org/drawingml/2006/table">
            <a:tbl>
              <a:tblPr>
                <a:tableStyleId>{5C22544A-7EE6-4342-B048-85BDC9FD1C3A}</a:tableStyleId>
              </a:tblPr>
              <a:tblGrid>
                <a:gridCol w="1586391">
                  <a:extLst>
                    <a:ext uri="{9D8B030D-6E8A-4147-A177-3AD203B41FA5}">
                      <a16:colId xmlns:a16="http://schemas.microsoft.com/office/drawing/2014/main" val="20000"/>
                    </a:ext>
                  </a:extLst>
                </a:gridCol>
                <a:gridCol w="647029">
                  <a:extLst>
                    <a:ext uri="{9D8B030D-6E8A-4147-A177-3AD203B41FA5}">
                      <a16:colId xmlns:a16="http://schemas.microsoft.com/office/drawing/2014/main" val="20001"/>
                    </a:ext>
                  </a:extLst>
                </a:gridCol>
                <a:gridCol w="648003">
                  <a:extLst>
                    <a:ext uri="{9D8B030D-6E8A-4147-A177-3AD203B41FA5}">
                      <a16:colId xmlns:a16="http://schemas.microsoft.com/office/drawing/2014/main" val="20002"/>
                    </a:ext>
                  </a:extLst>
                </a:gridCol>
                <a:gridCol w="648003">
                  <a:extLst>
                    <a:ext uri="{9D8B030D-6E8A-4147-A177-3AD203B41FA5}">
                      <a16:colId xmlns:a16="http://schemas.microsoft.com/office/drawing/2014/main" val="20003"/>
                    </a:ext>
                  </a:extLst>
                </a:gridCol>
                <a:gridCol w="648003">
                  <a:extLst>
                    <a:ext uri="{9D8B030D-6E8A-4147-A177-3AD203B41FA5}">
                      <a16:colId xmlns:a16="http://schemas.microsoft.com/office/drawing/2014/main" val="20004"/>
                    </a:ext>
                  </a:extLst>
                </a:gridCol>
                <a:gridCol w="648003">
                  <a:extLst>
                    <a:ext uri="{9D8B030D-6E8A-4147-A177-3AD203B41FA5}">
                      <a16:colId xmlns:a16="http://schemas.microsoft.com/office/drawing/2014/main" val="20005"/>
                    </a:ext>
                  </a:extLst>
                </a:gridCol>
                <a:gridCol w="648003">
                  <a:extLst>
                    <a:ext uri="{9D8B030D-6E8A-4147-A177-3AD203B41FA5}">
                      <a16:colId xmlns:a16="http://schemas.microsoft.com/office/drawing/2014/main" val="20006"/>
                    </a:ext>
                  </a:extLst>
                </a:gridCol>
                <a:gridCol w="648003">
                  <a:extLst>
                    <a:ext uri="{9D8B030D-6E8A-4147-A177-3AD203B41FA5}">
                      <a16:colId xmlns:a16="http://schemas.microsoft.com/office/drawing/2014/main" val="20007"/>
                    </a:ext>
                  </a:extLst>
                </a:gridCol>
                <a:gridCol w="648003">
                  <a:extLst>
                    <a:ext uri="{9D8B030D-6E8A-4147-A177-3AD203B41FA5}">
                      <a16:colId xmlns:a16="http://schemas.microsoft.com/office/drawing/2014/main" val="20008"/>
                    </a:ext>
                  </a:extLst>
                </a:gridCol>
                <a:gridCol w="648003">
                  <a:extLst>
                    <a:ext uri="{9D8B030D-6E8A-4147-A177-3AD203B41FA5}">
                      <a16:colId xmlns:a16="http://schemas.microsoft.com/office/drawing/2014/main" val="20009"/>
                    </a:ext>
                  </a:extLst>
                </a:gridCol>
              </a:tblGrid>
              <a:tr h="1290393">
                <a:tc>
                  <a:txBody>
                    <a:bodyPr/>
                    <a:lstStyle/>
                    <a:p>
                      <a:pPr algn="just">
                        <a:spcAft>
                          <a:spcPts val="0"/>
                        </a:spcAft>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单</a:t>
                      </a:r>
                    </a:p>
                    <a:p>
                      <a:pPr indent="133350"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位</a:t>
                      </a: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销地</a:t>
                      </a:r>
                    </a:p>
                    <a:p>
                      <a:pPr indent="266700"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运</a:t>
                      </a:r>
                    </a:p>
                    <a:p>
                      <a:pPr indent="417195"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价</a:t>
                      </a:r>
                    </a:p>
                    <a:p>
                      <a:pPr indent="133350" algn="just">
                        <a:spcAft>
                          <a:spcPts val="0"/>
                        </a:spcAft>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产地</a:t>
                      </a:r>
                    </a:p>
                  </a:txBody>
                  <a:tcPr marL="54944" marR="5494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产量</a:t>
                      </a: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50520">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50520">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50504">
                <a:tc>
                  <a:txBody>
                    <a:bodyPr/>
                    <a:lstStyle/>
                    <a:p>
                      <a:pPr algn="ctr">
                        <a:spcAft>
                          <a:spcPts val="0"/>
                        </a:spcAft>
                      </a:pP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销量</a:t>
                      </a: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cxnSp>
        <p:nvCxnSpPr>
          <p:cNvPr id="14442" name="直接连接符 7"/>
          <p:cNvCxnSpPr>
            <a:cxnSpLocks noChangeShapeType="1"/>
          </p:cNvCxnSpPr>
          <p:nvPr/>
        </p:nvCxnSpPr>
        <p:spPr bwMode="auto">
          <a:xfrm>
            <a:off x="1754188" y="2442121"/>
            <a:ext cx="746125" cy="1243013"/>
          </a:xfrm>
          <a:prstGeom prst="line">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4443" name="直接连接符 8"/>
          <p:cNvCxnSpPr>
            <a:cxnSpLocks noChangeShapeType="1"/>
          </p:cNvCxnSpPr>
          <p:nvPr/>
        </p:nvCxnSpPr>
        <p:spPr bwMode="auto">
          <a:xfrm flipH="1" flipV="1">
            <a:off x="1031875" y="3062834"/>
            <a:ext cx="1468438" cy="62230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dirty="0">
                <a:solidFill>
                  <a:srgbClr val="0033CC"/>
                </a:solidFill>
                <a:latin typeface="微软雅黑" panose="020B0503020204020204" pitchFamily="34" charset="-122"/>
                <a:ea typeface="微软雅黑" panose="020B0503020204020204" pitchFamily="34" charset="-122"/>
              </a:rPr>
              <a:t>例 </a:t>
            </a:r>
            <a:r>
              <a:rPr kumimoji="0" lang="en-US" altLang="zh-CN" sz="3200" b="1" dirty="0">
                <a:solidFill>
                  <a:srgbClr val="0033CC"/>
                </a:solidFill>
                <a:latin typeface="微软雅黑" panose="020B0503020204020204" pitchFamily="34" charset="-122"/>
                <a:ea typeface="微软雅黑" panose="020B0503020204020204" pitchFamily="34" charset="-122"/>
              </a:rPr>
              <a:t>4-6</a:t>
            </a:r>
            <a:endParaRPr kumimoji="0" lang="zh-CN" altLang="en-US" sz="3200" b="1" dirty="0">
              <a:solidFill>
                <a:srgbClr val="0033CC"/>
              </a:solidFill>
              <a:latin typeface="微软雅黑" panose="020B0503020204020204" pitchFamily="34" charset="-122"/>
              <a:ea typeface="微软雅黑" panose="020B0503020204020204" pitchFamily="34" charset="-122"/>
            </a:endParaRPr>
          </a:p>
        </p:txBody>
      </p:sp>
      <p:sp>
        <p:nvSpPr>
          <p:cNvPr id="15363" name="Rectangle 2"/>
          <p:cNvSpPr txBox="1">
            <a:spLocks noChangeArrowheads="1"/>
          </p:cNvSpPr>
          <p:nvPr/>
        </p:nvSpPr>
        <p:spPr bwMode="auto">
          <a:xfrm>
            <a:off x="360363"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5364" name="文本框 6"/>
          <p:cNvSpPr txBox="1">
            <a:spLocks noChangeArrowheads="1"/>
          </p:cNvSpPr>
          <p:nvPr/>
        </p:nvSpPr>
        <p:spPr bwMode="auto">
          <a:xfrm>
            <a:off x="185562" y="1399166"/>
            <a:ext cx="8289925" cy="461962"/>
          </a:xfrm>
          <a:prstGeom prst="rect">
            <a:avLst/>
          </a:prstGeom>
          <a:solidFill>
            <a:schemeClr val="accent1">
              <a:lumMod val="20000"/>
              <a:lumOff val="80000"/>
            </a:schemeClr>
          </a:solidFill>
          <a:ln>
            <a:noFill/>
          </a:ln>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软件，编制程序如下：</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65" name="文本框 9"/>
          <p:cNvSpPr txBox="1">
            <a:spLocks noChangeArrowheads="1"/>
          </p:cNvSpPr>
          <p:nvPr/>
        </p:nvSpPr>
        <p:spPr bwMode="auto">
          <a:xfrm>
            <a:off x="342900" y="1863725"/>
            <a:ext cx="42291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2000" dirty="0"/>
              <a:t>model:</a:t>
            </a:r>
            <a:endParaRPr lang="zh-CN" altLang="zh-CN" sz="2000" dirty="0"/>
          </a:p>
          <a:p>
            <a:r>
              <a:rPr lang="en-US" altLang="zh-CN" sz="2000" dirty="0"/>
              <a:t>!6</a:t>
            </a:r>
            <a:r>
              <a:rPr lang="zh-CN" altLang="zh-CN" sz="2000" dirty="0"/>
              <a:t>发点</a:t>
            </a:r>
            <a:r>
              <a:rPr lang="en-US" altLang="zh-CN" sz="2000" dirty="0"/>
              <a:t>8</a:t>
            </a:r>
            <a:r>
              <a:rPr lang="zh-CN" altLang="zh-CN" sz="2000" dirty="0"/>
              <a:t>收点运输问题</a:t>
            </a:r>
            <a:r>
              <a:rPr lang="en-US" altLang="zh-CN" sz="2000" dirty="0"/>
              <a:t>;</a:t>
            </a:r>
            <a:endParaRPr lang="zh-CN" altLang="zh-CN" sz="2000" dirty="0"/>
          </a:p>
          <a:p>
            <a:r>
              <a:rPr lang="en-US" altLang="zh-CN" sz="2000" dirty="0"/>
              <a:t>sets:</a:t>
            </a:r>
            <a:endParaRPr lang="zh-CN" altLang="zh-CN" sz="2000" dirty="0"/>
          </a:p>
          <a:p>
            <a:r>
              <a:rPr lang="en-US" altLang="zh-CN" sz="2000" dirty="0"/>
              <a:t>  warehouses/wh1..wh6/: capacity;</a:t>
            </a:r>
            <a:endParaRPr lang="zh-CN" altLang="zh-CN" sz="2000" dirty="0"/>
          </a:p>
          <a:p>
            <a:r>
              <a:rPr lang="en-US" altLang="zh-CN" sz="2000" dirty="0"/>
              <a:t>  vendors/v1..v8/: demand;</a:t>
            </a:r>
            <a:endParaRPr lang="zh-CN" altLang="zh-CN" sz="2000" dirty="0"/>
          </a:p>
          <a:p>
            <a:r>
              <a:rPr lang="en-US" altLang="zh-CN" sz="2000" dirty="0"/>
              <a:t>  links(</a:t>
            </a:r>
            <a:r>
              <a:rPr lang="en-US" altLang="zh-CN" sz="2000" dirty="0" err="1"/>
              <a:t>warehouses,vendors</a:t>
            </a:r>
            <a:r>
              <a:rPr lang="en-US" altLang="zh-CN" sz="2000" dirty="0"/>
              <a:t>): cost, volume;</a:t>
            </a:r>
            <a:endParaRPr lang="zh-CN" altLang="zh-CN" sz="2000" dirty="0"/>
          </a:p>
          <a:p>
            <a:r>
              <a:rPr lang="en-US" altLang="zh-CN" sz="2000" dirty="0" err="1"/>
              <a:t>endsets</a:t>
            </a:r>
            <a:endParaRPr lang="zh-CN" altLang="zh-CN" sz="2000" dirty="0"/>
          </a:p>
          <a:p>
            <a:r>
              <a:rPr lang="en-US" altLang="zh-CN" sz="2000" dirty="0"/>
              <a:t>!</a:t>
            </a:r>
            <a:r>
              <a:rPr lang="zh-CN" altLang="zh-CN" sz="2000" dirty="0"/>
              <a:t>目标函数</a:t>
            </a:r>
            <a:r>
              <a:rPr lang="en-US" altLang="zh-CN" sz="2000" dirty="0"/>
              <a:t>;</a:t>
            </a:r>
            <a:endParaRPr lang="zh-CN" altLang="zh-CN" sz="2000" dirty="0"/>
          </a:p>
          <a:p>
            <a:r>
              <a:rPr lang="en-US" altLang="zh-CN" sz="2000" dirty="0"/>
              <a:t>  min=@sum(links: cost*volume);</a:t>
            </a:r>
            <a:endParaRPr lang="zh-CN" altLang="zh-CN" sz="2000" dirty="0"/>
          </a:p>
          <a:p>
            <a:r>
              <a:rPr lang="en-US" altLang="zh-CN" sz="2000" dirty="0"/>
              <a:t>!</a:t>
            </a:r>
            <a:r>
              <a:rPr lang="zh-CN" altLang="zh-CN" sz="2000" dirty="0"/>
              <a:t>需求约束</a:t>
            </a:r>
            <a:r>
              <a:rPr lang="en-US" altLang="zh-CN" sz="2000" dirty="0"/>
              <a:t>;</a:t>
            </a:r>
            <a:endParaRPr lang="zh-CN" altLang="zh-CN" sz="2000" dirty="0"/>
          </a:p>
          <a:p>
            <a:r>
              <a:rPr lang="en-US" altLang="zh-CN" sz="2000" dirty="0"/>
              <a:t>  @for(vendors(J):</a:t>
            </a:r>
            <a:endParaRPr lang="zh-CN" altLang="zh-CN" sz="2000" dirty="0"/>
          </a:p>
          <a:p>
            <a:r>
              <a:rPr lang="en-US" altLang="zh-CN" sz="2000" dirty="0"/>
              <a:t>    @sum(warehouses(I): volume(I,J))=demand(J));</a:t>
            </a:r>
            <a:endParaRPr lang="zh-CN" altLang="en-US" sz="2000" dirty="0"/>
          </a:p>
        </p:txBody>
      </p:sp>
      <p:sp>
        <p:nvSpPr>
          <p:cNvPr id="15366" name="文本框 10"/>
          <p:cNvSpPr txBox="1">
            <a:spLocks noChangeArrowheads="1"/>
          </p:cNvSpPr>
          <p:nvPr/>
        </p:nvSpPr>
        <p:spPr bwMode="auto">
          <a:xfrm>
            <a:off x="4862513" y="1798638"/>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sz="2000" dirty="0"/>
              <a:t>!产量约束;</a:t>
            </a:r>
          </a:p>
          <a:p>
            <a:r>
              <a:rPr lang="zh-CN" altLang="zh-CN" sz="2000" dirty="0"/>
              <a:t>  @for(warehouses(I):</a:t>
            </a:r>
          </a:p>
          <a:p>
            <a:r>
              <a:rPr lang="zh-CN" altLang="zh-CN" sz="2000" dirty="0"/>
              <a:t>    </a:t>
            </a:r>
            <a:r>
              <a:rPr lang="en-US" altLang="zh-CN" sz="2000" dirty="0"/>
              <a:t>@sum(vendors(J): volume(I,J))&lt;=capacity(I)); </a:t>
            </a:r>
            <a:endParaRPr lang="zh-CN" altLang="zh-CN" sz="2000" dirty="0"/>
          </a:p>
          <a:p>
            <a:r>
              <a:rPr lang="en-US" altLang="zh-CN" sz="2000" dirty="0"/>
              <a:t>!</a:t>
            </a:r>
            <a:r>
              <a:rPr lang="zh-CN" altLang="zh-CN" sz="2000" dirty="0"/>
              <a:t>这里是数据</a:t>
            </a:r>
            <a:r>
              <a:rPr lang="en-US" altLang="zh-CN" sz="2000" dirty="0"/>
              <a:t>;</a:t>
            </a:r>
            <a:endParaRPr lang="zh-CN" altLang="zh-CN" sz="2000" dirty="0"/>
          </a:p>
          <a:p>
            <a:r>
              <a:rPr lang="en-US" altLang="zh-CN" sz="2000" dirty="0"/>
              <a:t>data:</a:t>
            </a:r>
            <a:endParaRPr lang="zh-CN" altLang="zh-CN" sz="2000" dirty="0"/>
          </a:p>
          <a:p>
            <a:r>
              <a:rPr lang="en-US" altLang="zh-CN" sz="2000" dirty="0"/>
              <a:t>  capacity=60 55 51 43 41 52;</a:t>
            </a:r>
            <a:endParaRPr lang="zh-CN" altLang="zh-CN" sz="2000" dirty="0"/>
          </a:p>
          <a:p>
            <a:r>
              <a:rPr lang="en-US" altLang="zh-CN" sz="2000" dirty="0"/>
              <a:t>  demand=35 37 22 32 41 32 43 38;</a:t>
            </a:r>
            <a:endParaRPr lang="zh-CN" altLang="zh-CN" sz="2000" dirty="0"/>
          </a:p>
          <a:p>
            <a:r>
              <a:rPr lang="en-US" altLang="zh-CN" sz="2000" dirty="0"/>
              <a:t>  cost=6 2 6 7 4 2 9 5</a:t>
            </a:r>
            <a:endParaRPr lang="zh-CN" altLang="zh-CN" sz="2000" dirty="0"/>
          </a:p>
          <a:p>
            <a:r>
              <a:rPr lang="en-US" altLang="zh-CN" sz="2000" dirty="0"/>
              <a:t>       4 9 5 3 8 5 8 2</a:t>
            </a:r>
            <a:endParaRPr lang="zh-CN" altLang="zh-CN" sz="2000" dirty="0"/>
          </a:p>
          <a:p>
            <a:r>
              <a:rPr lang="en-US" altLang="zh-CN" sz="2000" dirty="0"/>
              <a:t>       5 2 1 9 7 4 3 3</a:t>
            </a:r>
            <a:endParaRPr lang="zh-CN" altLang="zh-CN" sz="2000" dirty="0"/>
          </a:p>
          <a:p>
            <a:r>
              <a:rPr lang="en-US" altLang="zh-CN" sz="2000" dirty="0"/>
              <a:t>       7 6 7 3 9 2 7 1</a:t>
            </a:r>
            <a:endParaRPr lang="zh-CN" altLang="zh-CN" sz="2000" dirty="0"/>
          </a:p>
          <a:p>
            <a:r>
              <a:rPr lang="en-US" altLang="zh-CN" sz="2000" dirty="0"/>
              <a:t>       2 3 9 5 7 2 6 5</a:t>
            </a:r>
            <a:endParaRPr lang="zh-CN" altLang="zh-CN" sz="2000" dirty="0"/>
          </a:p>
          <a:p>
            <a:r>
              <a:rPr lang="en-US" altLang="zh-CN" sz="2000" dirty="0"/>
              <a:t>       5 5 2 2 8 1 4 3;</a:t>
            </a:r>
            <a:endParaRPr lang="zh-CN" altLang="zh-CN" sz="2000" dirty="0"/>
          </a:p>
          <a:p>
            <a:r>
              <a:rPr lang="en-US" altLang="zh-CN" sz="2000" dirty="0" err="1"/>
              <a:t>enddata</a:t>
            </a:r>
            <a:endParaRPr lang="zh-CN" altLang="zh-CN" sz="2000" dirty="0"/>
          </a:p>
          <a:p>
            <a:r>
              <a:rPr lang="en-US" altLang="zh-CN" sz="2000" dirty="0"/>
              <a:t>end</a:t>
            </a:r>
            <a:endParaRPr lang="zh-CN" altLang="zh-CN" sz="2000" dirty="0"/>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a:solidFill>
                  <a:srgbClr val="0033CC"/>
                </a:solidFill>
                <a:latin typeface="微软雅黑" panose="020B0503020204020204" pitchFamily="34" charset="-122"/>
                <a:ea typeface="微软雅黑" panose="020B0503020204020204" pitchFamily="34" charset="-122"/>
              </a:rPr>
              <a:t>例 </a:t>
            </a:r>
            <a:r>
              <a:rPr kumimoji="0" lang="en-US" altLang="zh-CN" sz="3200" b="1">
                <a:solidFill>
                  <a:srgbClr val="0033CC"/>
                </a:solidFill>
                <a:latin typeface="微软雅黑" panose="020B0503020204020204" pitchFamily="34" charset="-122"/>
                <a:ea typeface="微软雅黑" panose="020B0503020204020204" pitchFamily="34" charset="-122"/>
              </a:rPr>
              <a:t>4-6</a:t>
            </a:r>
            <a:endParaRPr kumimoji="0" lang="zh-CN" altLang="en-US" sz="3200" b="1">
              <a:solidFill>
                <a:srgbClr val="0033CC"/>
              </a:solidFill>
              <a:latin typeface="微软雅黑" panose="020B0503020204020204" pitchFamily="34" charset="-122"/>
              <a:ea typeface="微软雅黑" panose="020B0503020204020204" pitchFamily="34" charset="-122"/>
            </a:endParaRPr>
          </a:p>
        </p:txBody>
      </p:sp>
      <p:sp>
        <p:nvSpPr>
          <p:cNvPr id="16388" name="文本框 6"/>
          <p:cNvSpPr txBox="1">
            <a:spLocks noChangeArrowheads="1"/>
          </p:cNvSpPr>
          <p:nvPr/>
        </p:nvSpPr>
        <p:spPr bwMode="auto">
          <a:xfrm>
            <a:off x="427038" y="1401763"/>
            <a:ext cx="8289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求解结果报告如下：</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389" name="图片 7"/>
          <p:cNvPicPr>
            <a:picLocks noChangeAspect="1" noChangeArrowheads="1"/>
          </p:cNvPicPr>
          <p:nvPr/>
        </p:nvPicPr>
        <p:blipFill>
          <a:blip r:embed="rId2" cstate="print">
            <a:extLst>
              <a:ext uri="{28A0092B-C50C-407E-A947-70E740481C1C}">
                <a14:useLocalDpi xmlns:a14="http://schemas.microsoft.com/office/drawing/2010/main" val="0"/>
              </a:ext>
            </a:extLst>
          </a:blip>
          <a:srcRect l="2202" t="10281" r="12827" b="7468"/>
          <a:stretch>
            <a:fillRect/>
          </a:stretch>
        </p:blipFill>
        <p:spPr bwMode="auto">
          <a:xfrm>
            <a:off x="827584" y="1979375"/>
            <a:ext cx="7661275"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E79DC4CF-060D-4CB6-9567-E252C7B9D805}"/>
              </a:ext>
            </a:extLst>
          </p:cNvPr>
          <p:cNvSpPr txBox="1">
            <a:spLocks noChangeArrowheads="1"/>
          </p:cNvSpPr>
          <p:nvPr/>
        </p:nvSpPr>
        <p:spPr bwMode="auto">
          <a:xfrm>
            <a:off x="107504"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 </a:t>
            </a:r>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dirty="0">
                <a:solidFill>
                  <a:srgbClr val="0033CC"/>
                </a:solidFill>
                <a:latin typeface="微软雅黑" panose="020B0503020204020204" pitchFamily="34" charset="-122"/>
                <a:ea typeface="微软雅黑" panose="020B0503020204020204" pitchFamily="34" charset="-122"/>
              </a:rPr>
              <a:t>例 </a:t>
            </a:r>
            <a:r>
              <a:rPr kumimoji="0" lang="en-US" altLang="zh-CN" sz="3200" b="1" dirty="0">
                <a:solidFill>
                  <a:srgbClr val="0033CC"/>
                </a:solidFill>
                <a:latin typeface="微软雅黑" panose="020B0503020204020204" pitchFamily="34" charset="-122"/>
                <a:ea typeface="微软雅黑" panose="020B0503020204020204" pitchFamily="34" charset="-122"/>
              </a:rPr>
              <a:t>4-6</a:t>
            </a:r>
            <a:endParaRPr kumimoji="0" lang="zh-CN" altLang="en-US" sz="3200" b="1" dirty="0">
              <a:solidFill>
                <a:srgbClr val="0033CC"/>
              </a:solidFill>
              <a:latin typeface="微软雅黑" panose="020B0503020204020204" pitchFamily="34" charset="-122"/>
              <a:ea typeface="微软雅黑" panose="020B0503020204020204" pitchFamily="34" charset="-122"/>
            </a:endParaRPr>
          </a:p>
        </p:txBody>
      </p:sp>
      <p:sp>
        <p:nvSpPr>
          <p:cNvPr id="17412" name="文本框 6"/>
          <p:cNvSpPr txBox="1">
            <a:spLocks noChangeArrowheads="1"/>
          </p:cNvSpPr>
          <p:nvPr/>
        </p:nvSpPr>
        <p:spPr bwMode="auto">
          <a:xfrm>
            <a:off x="389574" y="1439990"/>
            <a:ext cx="8289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最小运输费用为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664</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，最优解为</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7" name="表格 6"/>
          <p:cNvGraphicFramePr>
            <a:graphicFrameLocks noGrp="1"/>
          </p:cNvGraphicFramePr>
          <p:nvPr>
            <p:custDataLst>
              <p:tags r:id="rId1"/>
            </p:custDataLst>
          </p:nvPr>
        </p:nvGraphicFramePr>
        <p:xfrm>
          <a:off x="900113" y="2205038"/>
          <a:ext cx="7156450" cy="3667124"/>
        </p:xfrm>
        <a:graphic>
          <a:graphicData uri="http://schemas.openxmlformats.org/drawingml/2006/table">
            <a:tbl>
              <a:tblPr firstRow="1" firstCol="1" bandRow="1">
                <a:tableStyleId>{5C22544A-7EE6-4342-B048-85BDC9FD1C3A}</a:tableStyleId>
              </a:tblPr>
              <a:tblGrid>
                <a:gridCol w="715224">
                  <a:extLst>
                    <a:ext uri="{9D8B030D-6E8A-4147-A177-3AD203B41FA5}">
                      <a16:colId xmlns:a16="http://schemas.microsoft.com/office/drawing/2014/main" val="20000"/>
                    </a:ext>
                  </a:extLst>
                </a:gridCol>
                <a:gridCol w="715224">
                  <a:extLst>
                    <a:ext uri="{9D8B030D-6E8A-4147-A177-3AD203B41FA5}">
                      <a16:colId xmlns:a16="http://schemas.microsoft.com/office/drawing/2014/main" val="20001"/>
                    </a:ext>
                  </a:extLst>
                </a:gridCol>
                <a:gridCol w="715224">
                  <a:extLst>
                    <a:ext uri="{9D8B030D-6E8A-4147-A177-3AD203B41FA5}">
                      <a16:colId xmlns:a16="http://schemas.microsoft.com/office/drawing/2014/main" val="20002"/>
                    </a:ext>
                  </a:extLst>
                </a:gridCol>
                <a:gridCol w="715224">
                  <a:extLst>
                    <a:ext uri="{9D8B030D-6E8A-4147-A177-3AD203B41FA5}">
                      <a16:colId xmlns:a16="http://schemas.microsoft.com/office/drawing/2014/main" val="20003"/>
                    </a:ext>
                  </a:extLst>
                </a:gridCol>
                <a:gridCol w="715224">
                  <a:extLst>
                    <a:ext uri="{9D8B030D-6E8A-4147-A177-3AD203B41FA5}">
                      <a16:colId xmlns:a16="http://schemas.microsoft.com/office/drawing/2014/main" val="20004"/>
                    </a:ext>
                  </a:extLst>
                </a:gridCol>
                <a:gridCol w="716066">
                  <a:extLst>
                    <a:ext uri="{9D8B030D-6E8A-4147-A177-3AD203B41FA5}">
                      <a16:colId xmlns:a16="http://schemas.microsoft.com/office/drawing/2014/main" val="20005"/>
                    </a:ext>
                  </a:extLst>
                </a:gridCol>
                <a:gridCol w="716066">
                  <a:extLst>
                    <a:ext uri="{9D8B030D-6E8A-4147-A177-3AD203B41FA5}">
                      <a16:colId xmlns:a16="http://schemas.microsoft.com/office/drawing/2014/main" val="20006"/>
                    </a:ext>
                  </a:extLst>
                </a:gridCol>
                <a:gridCol w="716066">
                  <a:extLst>
                    <a:ext uri="{9D8B030D-6E8A-4147-A177-3AD203B41FA5}">
                      <a16:colId xmlns:a16="http://schemas.microsoft.com/office/drawing/2014/main" val="20007"/>
                    </a:ext>
                  </a:extLst>
                </a:gridCol>
                <a:gridCol w="716066">
                  <a:extLst>
                    <a:ext uri="{9D8B030D-6E8A-4147-A177-3AD203B41FA5}">
                      <a16:colId xmlns:a16="http://schemas.microsoft.com/office/drawing/2014/main" val="20008"/>
                    </a:ext>
                  </a:extLst>
                </a:gridCol>
                <a:gridCol w="716066">
                  <a:extLst>
                    <a:ext uri="{9D8B030D-6E8A-4147-A177-3AD203B41FA5}">
                      <a16:colId xmlns:a16="http://schemas.microsoft.com/office/drawing/2014/main" val="20009"/>
                    </a:ext>
                  </a:extLst>
                </a:gridCol>
              </a:tblGrid>
              <a:tr h="488950">
                <a:tc>
                  <a:txBody>
                    <a:bodyPr/>
                    <a:lstStyle/>
                    <a:p>
                      <a:pPr algn="ctr">
                        <a:spcAft>
                          <a:spcPts val="0"/>
                        </a:spcAft>
                      </a:pPr>
                      <a:r>
                        <a:rPr lang="en-US" sz="1800" kern="100" dirty="0">
                          <a:solidFill>
                            <a:schemeClr val="tx1"/>
                          </a:solidFill>
                          <a:effectLst/>
                        </a:rPr>
                        <a:t> </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B</a:t>
                      </a:r>
                      <a:r>
                        <a:rPr lang="en-US" sz="1800" kern="100" baseline="-25000" dirty="0">
                          <a:solidFill>
                            <a:schemeClr val="tx1"/>
                          </a:solidFill>
                          <a:effectLst/>
                        </a:rPr>
                        <a:t>1</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B</a:t>
                      </a:r>
                      <a:r>
                        <a:rPr lang="en-US" sz="1800" kern="100" baseline="-25000" dirty="0">
                          <a:solidFill>
                            <a:schemeClr val="tx1"/>
                          </a:solidFill>
                          <a:effectLst/>
                        </a:rPr>
                        <a:t>2</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B</a:t>
                      </a:r>
                      <a:r>
                        <a:rPr lang="en-US" sz="1800" kern="100" baseline="-25000" dirty="0">
                          <a:solidFill>
                            <a:schemeClr val="tx1"/>
                          </a:solidFill>
                          <a:effectLst/>
                        </a:rPr>
                        <a:t>3</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B</a:t>
                      </a:r>
                      <a:r>
                        <a:rPr lang="en-US" sz="1800" kern="100" baseline="-25000" dirty="0">
                          <a:solidFill>
                            <a:schemeClr val="tx1"/>
                          </a:solidFill>
                          <a:effectLst/>
                        </a:rPr>
                        <a:t>4</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B</a:t>
                      </a:r>
                      <a:r>
                        <a:rPr lang="en-US" sz="1800" kern="100" baseline="-25000" dirty="0">
                          <a:solidFill>
                            <a:schemeClr val="tx1"/>
                          </a:solidFill>
                          <a:effectLst/>
                        </a:rPr>
                        <a:t>5</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B</a:t>
                      </a:r>
                      <a:r>
                        <a:rPr lang="en-US" sz="1800" kern="100" baseline="-25000">
                          <a:solidFill>
                            <a:schemeClr val="tx1"/>
                          </a:solidFill>
                          <a:effectLst/>
                        </a:rPr>
                        <a:t>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B</a:t>
                      </a:r>
                      <a:r>
                        <a:rPr lang="en-US" sz="1800" kern="100" baseline="-25000">
                          <a:solidFill>
                            <a:schemeClr val="tx1"/>
                          </a:solidFill>
                          <a:effectLst/>
                        </a:rPr>
                        <a:t>7</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B</a:t>
                      </a:r>
                      <a:r>
                        <a:rPr lang="en-US" sz="1800" kern="100" baseline="-25000">
                          <a:solidFill>
                            <a:schemeClr val="tx1"/>
                          </a:solidFill>
                          <a:effectLst/>
                        </a:rPr>
                        <a:t>8</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kern="100">
                          <a:solidFill>
                            <a:schemeClr val="tx1"/>
                          </a:solidFill>
                          <a:effectLst/>
                        </a:rPr>
                        <a:t>产量</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1</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19</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41</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0</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0</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0</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60</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1</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55</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3</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12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22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17</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51</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4</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37</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43</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5</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35</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41</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48204">
                <a:tc>
                  <a:txBody>
                    <a:bodyPr/>
                    <a:lstStyle/>
                    <a:p>
                      <a:pPr algn="ctr">
                        <a:spcAft>
                          <a:spcPts val="0"/>
                        </a:spcAft>
                      </a:pPr>
                      <a:r>
                        <a:rPr lang="en-US" sz="1800" kern="100">
                          <a:solidFill>
                            <a:schemeClr val="tx1"/>
                          </a:solidFill>
                          <a:effectLst/>
                        </a:rPr>
                        <a:t>A</a:t>
                      </a:r>
                      <a:r>
                        <a:rPr lang="en-US" sz="1800" kern="100" baseline="-25000">
                          <a:solidFill>
                            <a:schemeClr val="tx1"/>
                          </a:solidFill>
                          <a:effectLst/>
                        </a:rPr>
                        <a:t>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26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26</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0</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52</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88950">
                <a:tc>
                  <a:txBody>
                    <a:bodyPr/>
                    <a:lstStyle/>
                    <a:p>
                      <a:pPr algn="ctr">
                        <a:spcAft>
                          <a:spcPts val="0"/>
                        </a:spcAft>
                      </a:pPr>
                      <a:r>
                        <a:rPr lang="zh-CN" sz="1800" kern="100">
                          <a:solidFill>
                            <a:schemeClr val="tx1"/>
                          </a:solidFill>
                          <a:effectLst/>
                        </a:rPr>
                        <a:t>销量</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35</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37</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22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41</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32</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43</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a:solidFill>
                            <a:schemeClr val="tx1"/>
                          </a:solidFill>
                          <a:effectLst/>
                        </a:rPr>
                        <a:t>38</a:t>
                      </a:r>
                      <a:endParaRPr lang="zh-CN" sz="1800" kern="100">
                        <a:solidFill>
                          <a:schemeClr val="tx1"/>
                        </a:solidFill>
                        <a:effectLst/>
                        <a:latin typeface="Times New Roman" panose="02020603050405020304" pitchFamily="18" charset="0"/>
                        <a:ea typeface="宋体" panose="02010600030101010101" pitchFamily="2"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rPr>
                        <a:t> </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68573" marR="685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8" name="Rectangle 2">
            <a:extLst>
              <a:ext uri="{FF2B5EF4-FFF2-40B4-BE49-F238E27FC236}">
                <a16:creationId xmlns:a16="http://schemas.microsoft.com/office/drawing/2014/main" id="{CDD4DCEA-8808-4756-A54F-3A3429354840}"/>
              </a:ext>
            </a:extLst>
          </p:cNvPr>
          <p:cNvSpPr txBox="1">
            <a:spLocks noChangeArrowheads="1"/>
          </p:cNvSpPr>
          <p:nvPr/>
        </p:nvSpPr>
        <p:spPr bwMode="auto">
          <a:xfrm>
            <a:off x="107504"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 </a:t>
            </a:r>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7173b67f-5eec-4409-9cce-178f88fe07c7}"/>
  <p:tag name="TABLE_ENDDRAG_ORIGIN_RECT" val="681*240"/>
  <p:tag name="TABLE_ENDDRAG_RECT" val="14*229*681*240"/>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7e8a8fa2-aafc-4b02-a87c-9feea4182ec9}"/>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c3cbf4ce-a632-4df9-9c00-bfae663eada5}"/>
  <p:tag name="TABLE_ENDDRAG_ORIGIN_RECT" val="678*204"/>
  <p:tag name="TABLE_ENDDRAG_RECT" val="30*286*678*204"/>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4a0948d2-a90f-4ce0-afc7-28502e22e9f2}"/>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89d7b0b7-472b-419d-9caa-17b1e889df2e}"/>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5a6a1c32-a562-4ca8-afcf-badb30ea54b3}"/>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bc3fc5a5-de83-44ec-8881-c4caec28ef84}"/>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b789e94f-e94b-43b9-9157-7a301b482a1f}"/>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6edb7e4c-6bd5-413f-a4aa-ef320a80f56c}"/>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91a825cf-37c9-4956-ab38-899594199e91}"/>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bb332531-a677-41ef-b895-f9cd642f6698}"/>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726</TotalTime>
  <Words>7479</Words>
  <Application>Microsoft Office PowerPoint</Application>
  <PresentationFormat>全屏显示(4:3)</PresentationFormat>
  <Paragraphs>1077</Paragraphs>
  <Slides>87</Slides>
  <Notes>5</Notes>
  <HiddenSlides>2</HiddenSlides>
  <MMClips>0</MMClips>
  <ScaleCrop>false</ScaleCrop>
  <HeadingPairs>
    <vt:vector size="10"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87</vt:i4>
      </vt:variant>
      <vt:variant>
        <vt:lpstr>自定义放映</vt:lpstr>
      </vt:variant>
      <vt:variant>
        <vt:i4>1</vt:i4>
      </vt:variant>
    </vt:vector>
  </HeadingPairs>
  <TitlesOfParts>
    <vt:vector size="106" baseType="lpstr">
      <vt:lpstr>等线</vt:lpstr>
      <vt:lpstr>仿宋</vt:lpstr>
      <vt:lpstr>华文楷体</vt:lpstr>
      <vt:lpstr>宋体</vt:lpstr>
      <vt:lpstr>微软雅黑</vt:lpstr>
      <vt:lpstr>Century Schoolbook</vt:lpstr>
      <vt:lpstr>Gill Sans Ultra Bold</vt:lpstr>
      <vt:lpstr>Tahoma</vt:lpstr>
      <vt:lpstr>Times New Roman</vt:lpstr>
      <vt:lpstr>Verdana</vt:lpstr>
      <vt:lpstr>Wingdings</vt:lpstr>
      <vt:lpstr>Blends</vt:lpstr>
      <vt:lpstr>MathType 6.0 Equation</vt:lpstr>
      <vt:lpstr>Equation</vt:lpstr>
      <vt:lpstr>Microsoft Equation 3.0</vt:lpstr>
      <vt:lpstr>Paintbrush Picture</vt:lpstr>
      <vt:lpstr>Microsoft Word 97 - 2003 Document</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反馈控制理论基础</dc:title>
  <dc:creator>jakey</dc:creator>
  <cp:lastModifiedBy>建坤 孙</cp:lastModifiedBy>
  <cp:revision>1087</cp:revision>
  <dcterms:created xsi:type="dcterms:W3CDTF">2022-10-26T08:29:30Z</dcterms:created>
  <dcterms:modified xsi:type="dcterms:W3CDTF">2026-09-20T11:44:44Z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2052-4.6.1.7451</vt:lpwstr>
  </property>
  <property fmtid="{D5CDD505-2E9C-101B-9397-08002B2CF9AE}" pid="3" name="ICV">
    <vt:lpwstr>2FC08A62A2364E9AF39C58631C628110</vt:lpwstr>
  </property>
</Properties>
</file>